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LaDc/keUAlsNXtptzYNP63+tf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Presentación independiente para el Taller 7. Resume el Desk Research, la lista corregida, la caja negra, la secuencia de operaciones y la estructura funcional.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El problema se formula sin comprometer todavía cámara, sensor de masa, Bluetooth, Wi-Fi o USB. El resultado debe ser corregible y trazable.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Los siete pasos siguen la diapositiva del Taller 6. Las cifras visibles proceden de las fuentes S01, S02 y S05 de la matriz.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LE25 fue añadida por indicación del equipo. El responsable y el medio de conexión están marcados como pendientes; las metas numéricas continúan pendientes de ensayo.</a:t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caja negra representa el sistema completo. El protocolo de conexión no se fija todavía. La materia solo cruza la frontera si el prototipo toca físicamente la porción.</a:t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secuencia se presenta en nivel usuario y nivel sistema. La respuesta ante pérdida de conexión deriva de LE25.</a:t>
            </a:r>
            <a:endParaRPr/>
          </a:p>
        </p:txBody>
      </p:sp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F2 y F4 incorporan explícitamente la conexión. F1-F4 y F11 corresponden al prototipo; F5-F10 al aplicativo.</a:t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Estas decisiones requieren acuerdo del equipo o evidencia de ensayo. No se inventó un protocolo, responsable o componente.</a:t>
            </a:r>
            <a:endParaRPr/>
          </a:p>
        </p:txBody>
      </p:sp>
      <p:sp>
        <p:nvSpPr>
          <p:cNvPr id="285" name="Google Shape;28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Las referencias completas y los enlaces están en el informe y en la matriz de Desk Research.</a:t>
            </a:r>
            <a:endParaRPr/>
          </a:p>
        </p:txBody>
      </p:sp>
      <p:sp>
        <p:nvSpPr>
          <p:cNvPr id="314" name="Google Shape;31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A8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66750" y="1123950"/>
            <a:ext cx="98107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Desk Research y avance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funcional del proyecto</a:t>
            </a:r>
            <a:endParaRPr sz="1500"/>
          </a:p>
        </p:txBody>
      </p:sp>
      <p:sp>
        <p:nvSpPr>
          <p:cNvPr id="18" name="Google Shape;18;p1"/>
          <p:cNvSpPr/>
          <p:nvPr/>
        </p:nvSpPr>
        <p:spPr>
          <a:xfrm>
            <a:off x="666750" y="2781300"/>
            <a:ext cx="2286000" cy="76200"/>
          </a:xfrm>
          <a:prstGeom prst="rect">
            <a:avLst/>
          </a:prstGeom>
          <a:solidFill>
            <a:srgbClr val="EA6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66750" y="3314700"/>
            <a:ext cx="952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2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Sistema de información nutricional de porciones</a:t>
            </a:r>
            <a:endParaRPr b="1" sz="1500"/>
          </a:p>
        </p:txBody>
      </p:sp>
      <p:sp>
        <p:nvSpPr>
          <p:cNvPr id="20" name="Google Shape;20;p1"/>
          <p:cNvSpPr/>
          <p:nvPr/>
        </p:nvSpPr>
        <p:spPr>
          <a:xfrm>
            <a:off x="666750" y="4333875"/>
            <a:ext cx="10572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Matriz de investigación · 25 requisitos · caja negra · conexión prototipo-aplicativo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66750" y="5943600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Equipo 10  |  Fundamentos de Diseño 2026-2  |  29 de septiembre de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A8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09600" y="2857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Problema técnico y alcance</a:t>
            </a:r>
            <a:endParaRPr/>
          </a:p>
        </p:txBody>
      </p:sp>
      <p:cxnSp>
        <p:nvCxnSpPr>
          <p:cNvPr id="29" name="Google Shape;29;p2"/>
          <p:cNvCxnSpPr/>
          <p:nvPr/>
        </p:nvCxnSpPr>
        <p:spPr>
          <a:xfrm>
            <a:off x="609600" y="11049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609600" y="6457950"/>
            <a:ext cx="933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Equipo 10  |  Taller 7  |  Revisión interna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1049000" y="64579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09600" y="14097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¿Cómo transformar la identidad y la cantidad de una porción real en información comprensible de gramos, energía y macronutrientes?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09600" y="2476500"/>
            <a:ext cx="2514600" cy="16764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81050" y="27051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81050" y="33528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Medida o estimada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143250" y="3028950"/>
            <a:ext cx="247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390900" y="2476500"/>
            <a:ext cx="2514600" cy="1676400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562350" y="27051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Identidad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562350" y="33528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Alimento corregible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924550" y="3028950"/>
            <a:ext cx="247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172200" y="2476500"/>
            <a:ext cx="2514600" cy="16764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343650" y="27051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Referencia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343650" y="33528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Datos por 100 g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705850" y="3028950"/>
            <a:ext cx="247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953500" y="2476500"/>
            <a:ext cx="2514600" cy="1676400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9124950" y="27051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9124950" y="33528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g, kcal y macros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09600" y="4591050"/>
            <a:ext cx="10972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Público inicial: personas que desean iniciar o mantener una alimentación controlada.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09600" y="4981575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Alcance: información y registro; no diagnóstico ni plan alimentario. La conexión con el aplicativo forma parte del sistema.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09600" y="5667375"/>
            <a:ext cx="10972800" cy="4191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81050" y="5667375"/>
            <a:ext cx="10629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Decisiones abiertas: principio de captura y medio de conexión.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" y="1571625"/>
            <a:ext cx="3524250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A8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09600" y="2857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Desk Research: evidencia y proceso</a:t>
            </a:r>
            <a:endParaRPr/>
          </a:p>
        </p:txBody>
      </p:sp>
      <p:cxnSp>
        <p:nvCxnSpPr>
          <p:cNvPr id="60" name="Google Shape;60;p3"/>
          <p:cNvCxnSpPr/>
          <p:nvPr/>
        </p:nvCxnSpPr>
        <p:spPr>
          <a:xfrm>
            <a:off x="609600" y="11049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"/>
          <p:cNvSpPr/>
          <p:nvPr/>
        </p:nvSpPr>
        <p:spPr>
          <a:xfrm>
            <a:off x="609600" y="6457950"/>
            <a:ext cx="933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Equipo 10  |  Taller 6 y Taller 7  |  Matriz editable adjunta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11049000" y="64579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610100" y="1428750"/>
            <a:ext cx="2857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12 fuentes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610100" y="1971675"/>
            <a:ext cx="6572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5 artículos · 2 patentes · 2 productos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2 tesis/propuestas · 1 base oficial</a:t>
            </a:r>
            <a:endParaRPr/>
          </a:p>
        </p:txBody>
      </p:sp>
      <p:cxnSp>
        <p:nvCxnSpPr>
          <p:cNvPr id="65" name="Google Shape;65;p3"/>
          <p:cNvCxnSpPr/>
          <p:nvPr/>
        </p:nvCxnSpPr>
        <p:spPr>
          <a:xfrm>
            <a:off x="4610100" y="2752725"/>
            <a:ext cx="657225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3"/>
          <p:cNvSpPr/>
          <p:nvPr/>
        </p:nvSpPr>
        <p:spPr>
          <a:xfrm>
            <a:off x="4610100" y="3000375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29 estudios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534150" y="3000375"/>
            <a:ext cx="4648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2 964 participantes; la porción fue una fuente frecuente de error.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610100" y="3781425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542 ayudas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534150" y="3781425"/>
            <a:ext cx="4648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Solo 21 estudios las validaron contra cantidades reales.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610100" y="4562475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302 estudiantes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534150" y="4562475"/>
            <a:ext cx="4648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79 % comprendía etiquetas; solo 4 % indicó leerlas siempre.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09600" y="5010150"/>
            <a:ext cx="3524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Imagen: Etekcity ESN00, antecedente comercial; no es prototipo del equipo.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09600" y="5619750"/>
            <a:ext cx="285750" cy="28575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A85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09600" y="56197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1550" y="556260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2019300" y="5600700"/>
            <a:ext cx="15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2171700" y="5619750"/>
            <a:ext cx="285750" cy="28575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A85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171700" y="56197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2533650" y="556260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Foco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3581400" y="5600700"/>
            <a:ext cx="15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733800" y="5619750"/>
            <a:ext cx="285750" cy="28575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A85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733800" y="56197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095750" y="556260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Buscar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5143500" y="5600700"/>
            <a:ext cx="15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5295900" y="5619750"/>
            <a:ext cx="285750" cy="28575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A85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295900" y="56197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657850" y="556260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Matriz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705600" y="5600700"/>
            <a:ext cx="15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858000" y="5619750"/>
            <a:ext cx="285750" cy="28575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EA6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858000" y="56197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7219950" y="556260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Exigencias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8267700" y="5600700"/>
            <a:ext cx="15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8420100" y="5619750"/>
            <a:ext cx="285750" cy="28575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A85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8420100" y="56197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8782050" y="556260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Funciones</a:t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9829800" y="5600700"/>
            <a:ext cx="15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9982200" y="5619750"/>
            <a:ext cx="285750" cy="28575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A85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9982200" y="56197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10344150" y="556260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Oportunidad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A8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09600" y="2857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Lista corregida: 25 requisitos trazables</a:t>
            </a:r>
            <a:endParaRPr/>
          </a:p>
        </p:txBody>
      </p:sp>
      <p:cxnSp>
        <p:nvCxnSpPr>
          <p:cNvPr id="107" name="Google Shape;107;p4"/>
          <p:cNvCxnSpPr/>
          <p:nvPr/>
        </p:nvCxnSpPr>
        <p:spPr>
          <a:xfrm>
            <a:off x="609600" y="11049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609600" y="6457950"/>
            <a:ext cx="933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Equipo 10  |  Lista completa y métodos de comprobación en el libro de cálculo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1049000" y="64579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09600" y="1333500"/>
            <a:ext cx="228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09600" y="1743075"/>
            <a:ext cx="228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EXIGENCIAS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09600" y="2009775"/>
            <a:ext cx="228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Condiciones obligatorias del sistema.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333750" y="1333500"/>
            <a:ext cx="228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3333750" y="1743075"/>
            <a:ext cx="228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DESEOS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333750" y="2009775"/>
            <a:ext cx="228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Mejoras o condiciones dependientes.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057900" y="1333500"/>
            <a:ext cx="228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057900" y="1743075"/>
            <a:ext cx="228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ENTRADAS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057900" y="2009775"/>
            <a:ext cx="228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Se conservan 24 y se agrega LE25.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8782050" y="1333500"/>
            <a:ext cx="2800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8782050" y="17430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CONEXIÓN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8782050" y="2009775"/>
            <a:ext cx="28003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Prototipo y aplicativo; medio por definir.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09600" y="3333750"/>
            <a:ext cx="10972800" cy="47625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762000" y="3333750"/>
            <a:ext cx="1047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LE25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1809750" y="3333750"/>
            <a:ext cx="6191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Conectar prototipo y aplicativo; intercambiar cantidad, estado, errores y comandos.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8153400" y="3333750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Enlace, envío, interrupción y reconexión.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762000" y="3857625"/>
            <a:ext cx="1047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LE20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809750" y="3857625"/>
            <a:ext cx="6191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Error porcentual medio de cantidad ≤ 20 % en al menos 30 porciones.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8153400" y="3857625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Comparación con cantidades de referencia.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09600" y="4381500"/>
            <a:ext cx="10972800" cy="47625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762000" y="4381500"/>
            <a:ext cx="1047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LE13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1809750" y="4381500"/>
            <a:ext cx="6191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Error de cálculo ≤ 1 % al escalar valores nutricionales por 100 g.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8153400" y="4381500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Recálculo independiente.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762000" y="4905375"/>
            <a:ext cx="1047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LE17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809750" y="4905375"/>
            <a:ext cx="6191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Registro en español en ≤ 60 s y ≤ 5 acciones.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8153400" y="4905375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Prueba cronometrada con usuarios.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609600" y="5429250"/>
            <a:ext cx="10972800" cy="47625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762000" y="5429250"/>
            <a:ext cx="1047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LE11/16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1809750" y="5429250"/>
            <a:ext cx="6191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Corregir antes de confirmar y distinguir medido, estimado y calculado.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8153400" y="5429250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Pruebas de estados e inspección.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A8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09600" y="2857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Caja negra: prototipo conectado + aplicativo</a:t>
            </a:r>
            <a:endParaRPr/>
          </a:p>
        </p:txBody>
      </p:sp>
      <p:cxnSp>
        <p:nvCxnSpPr>
          <p:cNvPr id="147" name="Google Shape;147;p5"/>
          <p:cNvCxnSpPr/>
          <p:nvPr/>
        </p:nvCxnSpPr>
        <p:spPr>
          <a:xfrm>
            <a:off x="609600" y="11049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5"/>
          <p:cNvSpPr/>
          <p:nvPr/>
        </p:nvSpPr>
        <p:spPr>
          <a:xfrm>
            <a:off x="609600" y="6457950"/>
            <a:ext cx="933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Equipo 10  |  Taller 7  |  Revisión interna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1049000" y="64579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609600" y="1371600"/>
            <a:ext cx="285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Entradas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476750" y="1371600"/>
            <a:ext cx="3238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Función global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8343900" y="1371600"/>
            <a:ext cx="3238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Salidas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609600" y="1952625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Materia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609600" y="2257425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Porción y recipiente, solo si existe contacto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724275" y="2276475"/>
            <a:ext cx="400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457700" y="2066925"/>
            <a:ext cx="3276600" cy="7620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629150" y="2066925"/>
            <a:ext cx="2933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PROTOTIPO  ⇄  APLICATIVO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7953375" y="2276475"/>
            <a:ext cx="400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8572500" y="2162175"/>
            <a:ext cx="300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Misma porción, sin cambio intencional</a:t>
            </a:r>
            <a:endParaRPr/>
          </a:p>
        </p:txBody>
      </p:sp>
      <p:cxnSp>
        <p:nvCxnSpPr>
          <p:cNvPr id="160" name="Google Shape;160;p5"/>
          <p:cNvCxnSpPr/>
          <p:nvPr/>
        </p:nvCxnSpPr>
        <p:spPr>
          <a:xfrm>
            <a:off x="609600" y="301942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/>
          <p:nvPr/>
        </p:nvSpPr>
        <p:spPr>
          <a:xfrm>
            <a:off x="609600" y="3171825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Energía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09600" y="3476625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Alimentación eléctrica</a:t>
            </a:r>
            <a:r>
              <a:rPr lang="en-US" sz="1275">
                <a:solidFill>
                  <a:srgbClr val="193340"/>
                </a:solidFill>
              </a:rPr>
              <a:t> necesaria</a:t>
            </a:r>
            <a:r>
              <a:rPr lang="en-US" sz="1250">
                <a:solidFill>
                  <a:schemeClr val="dk1"/>
                </a:solidFill>
              </a:rPr>
              <a:t> </a:t>
            </a:r>
            <a:r>
              <a:rPr lang="en-US" sz="1250">
                <a:solidFill>
                  <a:schemeClr val="dk2"/>
                </a:solidFill>
              </a:rPr>
              <a:t>para el prototipo y sus módulos.</a:t>
            </a:r>
            <a:endParaRPr sz="1250">
              <a:solidFill>
                <a:schemeClr val="dk2"/>
              </a:solidFill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724275" y="3495675"/>
            <a:ext cx="400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457700" y="3286125"/>
            <a:ext cx="3276600" cy="7620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629150" y="3286125"/>
            <a:ext cx="2933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PROTOTIPO  ⇄  APLICATIVO</a:t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7953375" y="3495675"/>
            <a:ext cx="400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8572500" y="3381375"/>
            <a:ext cx="300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Consumo, calor y estado de alimentación</a:t>
            </a:r>
            <a:endParaRPr/>
          </a:p>
        </p:txBody>
      </p:sp>
      <p:cxnSp>
        <p:nvCxnSpPr>
          <p:cNvPr id="168" name="Google Shape;168;p5"/>
          <p:cNvCxnSpPr/>
          <p:nvPr/>
        </p:nvCxnSpPr>
        <p:spPr>
          <a:xfrm>
            <a:off x="609600" y="423862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5"/>
          <p:cNvSpPr/>
          <p:nvPr/>
        </p:nvSpPr>
        <p:spPr>
          <a:xfrm>
            <a:off x="609600" y="4391025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Señales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09600" y="4695825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Entrada física o digital + comandos del aplicativo + </a:t>
            </a:r>
            <a:r>
              <a:rPr lang="en-US" sz="1250">
                <a:solidFill>
                  <a:schemeClr val="dk2"/>
                </a:solidFill>
              </a:rPr>
              <a:t>datos nutricionales por 100 gramos</a:t>
            </a:r>
            <a:endParaRPr sz="1250">
              <a:solidFill>
                <a:schemeClr val="dk2"/>
              </a:solidFill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724275" y="4714875"/>
            <a:ext cx="400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4457700" y="4505325"/>
            <a:ext cx="3276600" cy="762000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4629150" y="4505325"/>
            <a:ext cx="2933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PROTOTIPO  ⇄  APLICATIVO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7953375" y="4714875"/>
            <a:ext cx="400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8572500" y="4600575"/>
            <a:ext cx="300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Cantidad y estado; resultado, fuente y aviso de conexión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09600" y="5791200"/>
            <a:ext cx="10972800" cy="40005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781050" y="5791200"/>
            <a:ext cx="10629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Transformar alimento + cantidad + referencia en gramos, kcal, macronutrientes y fuente trazable.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A8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609600" y="2857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Secuencia de operaciones en dos niveles</a:t>
            </a:r>
            <a:endParaRPr/>
          </a:p>
        </p:txBody>
      </p:sp>
      <p:cxnSp>
        <p:nvCxnSpPr>
          <p:cNvPr id="185" name="Google Shape;185;p6"/>
          <p:cNvCxnSpPr/>
          <p:nvPr/>
        </p:nvCxnSpPr>
        <p:spPr>
          <a:xfrm>
            <a:off x="609600" y="11049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6"/>
          <p:cNvSpPr/>
          <p:nvPr/>
        </p:nvSpPr>
        <p:spPr>
          <a:xfrm>
            <a:off x="609600" y="6457950"/>
            <a:ext cx="933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Equipo 10  |  Taller 7  |  Revisión interna</a:t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11049000" y="64579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09600" y="1257300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6343650" y="1257300"/>
            <a:ext cx="5238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Prototipo + aplicativo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609600" y="1771650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1066800" y="1771650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Encender el prototipo y abrir el aplicativo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343650" y="1771650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800850" y="1771650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Iniciar módulos y verificar alimentación</a:t>
            </a:r>
            <a:endParaRPr/>
          </a:p>
        </p:txBody>
      </p:sp>
      <p:cxnSp>
        <p:nvCxnSpPr>
          <p:cNvPr id="194" name="Google Shape;194;p6"/>
          <p:cNvCxnSpPr/>
          <p:nvPr/>
        </p:nvCxnSpPr>
        <p:spPr>
          <a:xfrm>
            <a:off x="609600" y="2266950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6"/>
          <p:cNvCxnSpPr/>
          <p:nvPr/>
        </p:nvCxnSpPr>
        <p:spPr>
          <a:xfrm>
            <a:off x="6343650" y="2266950"/>
            <a:ext cx="493395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6"/>
          <p:cNvSpPr/>
          <p:nvPr/>
        </p:nvSpPr>
        <p:spPr>
          <a:xfrm>
            <a:off x="609600" y="2409825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1066800" y="2409825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Conectar ambos sistemas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6343650" y="2409825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6800850" y="2409825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Establecer enlace y reportar estado</a:t>
            </a:r>
            <a:endParaRPr/>
          </a:p>
        </p:txBody>
      </p:sp>
      <p:cxnSp>
        <p:nvCxnSpPr>
          <p:cNvPr id="200" name="Google Shape;200;p6"/>
          <p:cNvCxnSpPr/>
          <p:nvPr/>
        </p:nvCxnSpPr>
        <p:spPr>
          <a:xfrm>
            <a:off x="609600" y="2905125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6"/>
          <p:cNvCxnSpPr/>
          <p:nvPr/>
        </p:nvCxnSpPr>
        <p:spPr>
          <a:xfrm>
            <a:off x="6343650" y="2905125"/>
            <a:ext cx="493395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6"/>
          <p:cNvSpPr/>
          <p:nvPr/>
        </p:nvSpPr>
        <p:spPr>
          <a:xfrm>
            <a:off x="609600" y="3048000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1066800" y="3048000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Registrar alimento y cantidad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6343650" y="3048000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6800850" y="3048000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Capturar y transmitir los datos</a:t>
            </a:r>
            <a:endParaRPr/>
          </a:p>
        </p:txBody>
      </p:sp>
      <p:cxnSp>
        <p:nvCxnSpPr>
          <p:cNvPr id="206" name="Google Shape;206;p6"/>
          <p:cNvCxnSpPr/>
          <p:nvPr/>
        </p:nvCxnSpPr>
        <p:spPr>
          <a:xfrm>
            <a:off x="609600" y="3543300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6"/>
          <p:cNvCxnSpPr/>
          <p:nvPr/>
        </p:nvCxnSpPr>
        <p:spPr>
          <a:xfrm>
            <a:off x="6343650" y="3543300"/>
            <a:ext cx="493395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6"/>
          <p:cNvSpPr/>
          <p:nvPr/>
        </p:nvSpPr>
        <p:spPr>
          <a:xfrm>
            <a:off x="609600" y="3686175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1066800" y="3686175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Revisar origen del dato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6343650" y="3686175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6800850" y="3686175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Identificar y consultar la referencia</a:t>
            </a:r>
            <a:endParaRPr/>
          </a:p>
        </p:txBody>
      </p:sp>
      <p:cxnSp>
        <p:nvCxnSpPr>
          <p:cNvPr id="212" name="Google Shape;212;p6"/>
          <p:cNvCxnSpPr/>
          <p:nvPr/>
        </p:nvCxnSpPr>
        <p:spPr>
          <a:xfrm>
            <a:off x="609600" y="4181475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6"/>
          <p:cNvCxnSpPr/>
          <p:nvPr/>
        </p:nvCxnSpPr>
        <p:spPr>
          <a:xfrm>
            <a:off x="6343650" y="4181475"/>
            <a:ext cx="493395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6"/>
          <p:cNvSpPr/>
          <p:nvPr/>
        </p:nvSpPr>
        <p:spPr>
          <a:xfrm>
            <a:off x="609600" y="4324350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1066800" y="4324350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Corregir y confirmar</a:t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6343650" y="4324350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6800850" y="4324350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Calcular g, kcal y macronutrientes</a:t>
            </a:r>
            <a:endParaRPr/>
          </a:p>
        </p:txBody>
      </p:sp>
      <p:cxnSp>
        <p:nvCxnSpPr>
          <p:cNvPr id="218" name="Google Shape;218;p6"/>
          <p:cNvCxnSpPr/>
          <p:nvPr/>
        </p:nvCxnSpPr>
        <p:spPr>
          <a:xfrm>
            <a:off x="609600" y="4819650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6"/>
          <p:cNvCxnSpPr/>
          <p:nvPr/>
        </p:nvCxnSpPr>
        <p:spPr>
          <a:xfrm>
            <a:off x="6343650" y="4819650"/>
            <a:ext cx="493395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6"/>
          <p:cNvSpPr/>
          <p:nvPr/>
        </p:nvSpPr>
        <p:spPr>
          <a:xfrm>
            <a:off x="609600" y="4962525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1066800" y="4962525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Consultar el resultado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6343650" y="4962525"/>
            <a:ext cx="361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6800850" y="4962525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Mostrar y guardar tras confirmación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09600" y="5772150"/>
            <a:ext cx="10972800" cy="419100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781050" y="5772150"/>
            <a:ext cx="10629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Si se pierde el enlace, el sistema debe avisar y permitir reconectar sin confirmar datos desactualizados.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A8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09600" y="2857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Estructura de funciones preliminar</a:t>
            </a:r>
            <a:endParaRPr/>
          </a:p>
        </p:txBody>
      </p:sp>
      <p:cxnSp>
        <p:nvCxnSpPr>
          <p:cNvPr id="233" name="Google Shape;233;p7"/>
          <p:cNvCxnSpPr/>
          <p:nvPr/>
        </p:nvCxnSpPr>
        <p:spPr>
          <a:xfrm>
            <a:off x="609600" y="11049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7"/>
          <p:cNvSpPr/>
          <p:nvPr/>
        </p:nvSpPr>
        <p:spPr>
          <a:xfrm>
            <a:off x="609600" y="6457950"/>
            <a:ext cx="933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Equipo 10  |  Taller 7  |  Revisión interna</a:t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11049000" y="64579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09600" y="133350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Prototipo</a:t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609600" y="1781175"/>
            <a:ext cx="2324100" cy="78105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742950" y="18764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1085850" y="2019300"/>
            <a:ext cx="1676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Energizar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2990850" y="1971675"/>
            <a:ext cx="28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3333750" y="1781175"/>
            <a:ext cx="2324100" cy="781050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3467100" y="18764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3810000" y="2019300"/>
            <a:ext cx="1676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Conectar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5715000" y="1971675"/>
            <a:ext cx="28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6057900" y="1781175"/>
            <a:ext cx="2324100" cy="78105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6191250" y="18764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F3</a:t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6534150" y="2019300"/>
            <a:ext cx="1676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Capturar</a:t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8439150" y="1971675"/>
            <a:ext cx="28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8782050" y="1781175"/>
            <a:ext cx="2324100" cy="78105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8915400" y="187642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F4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9258300" y="2019300"/>
            <a:ext cx="1676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Transmitir</a:t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609600" y="2905125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Aplicativo</a:t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609600" y="3352800"/>
            <a:ext cx="1524000" cy="8763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704850" y="3419475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F5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781050" y="3638550"/>
            <a:ext cx="118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Determinar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2171700" y="3581400"/>
            <a:ext cx="238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2428875" y="3352800"/>
            <a:ext cx="1524000" cy="8763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2524125" y="3419475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F6</a:t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2600325" y="3638550"/>
            <a:ext cx="118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y corregir</a:t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3990975" y="3581400"/>
            <a:ext cx="238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4248150" y="3352800"/>
            <a:ext cx="1524000" cy="8763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4343400" y="3419475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F7</a:t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4419600" y="3638550"/>
            <a:ext cx="118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Consultar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referencia</a:t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5810250" y="3581400"/>
            <a:ext cx="238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6067425" y="3352800"/>
            <a:ext cx="1524000" cy="8763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6162675" y="3419475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F8</a:t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6238875" y="3638550"/>
            <a:ext cx="118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Calcular</a:t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7629525" y="3581400"/>
            <a:ext cx="238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7886700" y="3352800"/>
            <a:ext cx="1524000" cy="8763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7981950" y="3419475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F9</a:t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8058150" y="3638550"/>
            <a:ext cx="118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Informar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9448800" y="3581400"/>
            <a:ext cx="238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9D7D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9705975" y="3352800"/>
            <a:ext cx="1524000" cy="8763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9801225" y="3419475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F10</a:t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9877425" y="3638550"/>
            <a:ext cx="118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endParaRPr/>
          </a:p>
        </p:txBody>
      </p:sp>
      <p:cxnSp>
        <p:nvCxnSpPr>
          <p:cNvPr id="276" name="Google Shape;276;p7"/>
          <p:cNvCxnSpPr/>
          <p:nvPr/>
        </p:nvCxnSpPr>
        <p:spPr>
          <a:xfrm>
            <a:off x="609600" y="47434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7"/>
          <p:cNvSpPr/>
          <p:nvPr/>
        </p:nvSpPr>
        <p:spPr>
          <a:xfrm>
            <a:off x="609600" y="4972050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F11 · Sostener y permitir limpieza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09600" y="5334000"/>
            <a:ext cx="666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Función de soporte cuando existe contacto físico con la porción.</a:t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8058150" y="5010150"/>
            <a:ext cx="3524250" cy="590550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8229600" y="5010150"/>
            <a:ext cx="31813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MEDIO DE CONEXIÓN: POR DEFINIR</a:t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609600" y="5953125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Cada bloque expresa qué debe hacer el sistema; no prescribe componentes.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A8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609600" y="2857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Decisiones pendientes del equipo</a:t>
            </a:r>
            <a:endParaRPr/>
          </a:p>
        </p:txBody>
      </p:sp>
      <p:cxnSp>
        <p:nvCxnSpPr>
          <p:cNvPr id="289" name="Google Shape;289;p8"/>
          <p:cNvCxnSpPr/>
          <p:nvPr/>
        </p:nvCxnSpPr>
        <p:spPr>
          <a:xfrm>
            <a:off x="609600" y="11049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8"/>
          <p:cNvSpPr/>
          <p:nvPr/>
        </p:nvSpPr>
        <p:spPr>
          <a:xfrm>
            <a:off x="609600" y="6457950"/>
            <a:ext cx="933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Equipo 10  |  Taller 7  |  Revisión interna</a:t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11049000" y="64579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609600" y="1257300"/>
            <a:ext cx="590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1428750" y="123825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Definir el medio de conexión</a:t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1428750" y="161925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Bluetooth, Wi-Fi o USB; no se ha supuesto ninguno.</a:t>
            </a:r>
            <a:endParaRPr/>
          </a:p>
        </p:txBody>
      </p:sp>
      <p:cxnSp>
        <p:nvCxnSpPr>
          <p:cNvPr id="295" name="Google Shape;295;p8"/>
          <p:cNvCxnSpPr/>
          <p:nvPr/>
        </p:nvCxnSpPr>
        <p:spPr>
          <a:xfrm>
            <a:off x="609600" y="20383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8"/>
          <p:cNvSpPr/>
          <p:nvPr/>
        </p:nvSpPr>
        <p:spPr>
          <a:xfrm>
            <a:off x="609600" y="2228850"/>
            <a:ext cx="590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1428750" y="220980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Asignar responsable a LE25</a:t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1428750" y="259080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La fila permanece como “Por asignar” en la lista.</a:t>
            </a:r>
            <a:endParaRPr/>
          </a:p>
        </p:txBody>
      </p:sp>
      <p:cxnSp>
        <p:nvCxnSpPr>
          <p:cNvPr id="299" name="Google Shape;299;p8"/>
          <p:cNvCxnSpPr/>
          <p:nvPr/>
        </p:nvCxnSpPr>
        <p:spPr>
          <a:xfrm>
            <a:off x="609600" y="30099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8"/>
          <p:cNvSpPr/>
          <p:nvPr/>
        </p:nvSpPr>
        <p:spPr>
          <a:xfrm>
            <a:off x="609600" y="3200400"/>
            <a:ext cx="590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1428750" y="318135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Elegir el principio de captura</a:t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1428750" y="356235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Sensor de masa, otra señal física o estimación asistida.</a:t>
            </a:r>
            <a:endParaRPr/>
          </a:p>
        </p:txBody>
      </p:sp>
      <p:cxnSp>
        <p:nvCxnSpPr>
          <p:cNvPr id="303" name="Google Shape;303;p8"/>
          <p:cNvCxnSpPr/>
          <p:nvPr/>
        </p:nvCxnSpPr>
        <p:spPr>
          <a:xfrm>
            <a:off x="609600" y="39814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8"/>
          <p:cNvSpPr/>
          <p:nvPr/>
        </p:nvSpPr>
        <p:spPr>
          <a:xfrm>
            <a:off x="609600" y="4171950"/>
            <a:ext cx="590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1428750" y="415290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Validar los umbrales existentes</a:t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1428750" y="453390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3–5000 g, 20 %, 1 %, 60 s y cinco acciones.</a:t>
            </a:r>
            <a:endParaRPr/>
          </a:p>
        </p:txBody>
      </p:sp>
      <p:cxnSp>
        <p:nvCxnSpPr>
          <p:cNvPr id="307" name="Google Shape;307;p8"/>
          <p:cNvCxnSpPr/>
          <p:nvPr/>
        </p:nvCxnSpPr>
        <p:spPr>
          <a:xfrm>
            <a:off x="609600" y="49530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8"/>
          <p:cNvSpPr/>
          <p:nvPr/>
        </p:nvSpPr>
        <p:spPr>
          <a:xfrm>
            <a:off x="609600" y="5143500"/>
            <a:ext cx="590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A6A4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1428750" y="512445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Definir alimentos y participantes</a:t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1428750" y="550545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Casos simples, preparaciones mixtas y usuarios del público inicial.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9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A8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609600" y="2857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Referencias principales</a:t>
            </a:r>
            <a:endParaRPr/>
          </a:p>
        </p:txBody>
      </p:sp>
      <p:cxnSp>
        <p:nvCxnSpPr>
          <p:cNvPr id="318" name="Google Shape;318;p9"/>
          <p:cNvCxnSpPr/>
          <p:nvPr/>
        </p:nvCxnSpPr>
        <p:spPr>
          <a:xfrm>
            <a:off x="609600" y="11049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D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9"/>
          <p:cNvSpPr/>
          <p:nvPr/>
        </p:nvSpPr>
        <p:spPr>
          <a:xfrm>
            <a:off x="609600" y="6457950"/>
            <a:ext cx="933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Equipo 10  |  Taller 7  |  Revisión interna</a:t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11049000" y="64579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36B77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609600" y="146685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[S01] Whitton C, et al. Adv Nutr. 2022;13(6):2620–2665.</a:t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609600" y="213360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[S02] Amoutzopoulos B, et al. Nutr Rev. 2020;78(11):885–900.</a:t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609600" y="280035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[S03] König LM, et al. Nutrients. 2019;11(10):2425.</a:t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609600" y="346710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[S04] Instituto Nacional de Salud. Tablas Peruanas, 11.ª ed.; 2023.</a:t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609600" y="413385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[S05] Somocurcio Carrión LF. Universidad del Pacífico; 2021.</a:t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609600" y="480060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[S06] Fang S, et al. IEEE ICIP; 2016.</a:t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6400800" y="1466850"/>
            <a:ext cx="5181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[S07] Konstantakopoulos FS, et al. Sci Rep. 2023;13:21040.</a:t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6400800" y="2133600"/>
            <a:ext cx="5181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[S08] Wan J. CN114360689A; 2022.</a:t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6400800" y="2800350"/>
            <a:ext cx="5181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[S09] Sharma A. US20140063180A1; 2014.</a:t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6400800" y="3467100"/>
            <a:ext cx="5181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[S10] Etekcity. ESN00 Smart Nutrition Scale.</a:t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6400800" y="4133850"/>
            <a:ext cx="5181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[S11] Fitia. Contador de calorías y dietas con IA.</a:t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6400800" y="4800600"/>
            <a:ext cx="5181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93340"/>
                </a:solidFill>
                <a:latin typeface="Arial"/>
                <a:ea typeface="Arial"/>
                <a:cs typeface="Arial"/>
                <a:sym typeface="Arial"/>
              </a:rPr>
              <a:t>[S12] Romero De Chorié GE, et al. Checkifood. PUCP; 2024.</a:t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609600" y="5695950"/>
            <a:ext cx="10972800" cy="4572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781050" y="5695950"/>
            <a:ext cx="1062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8588"/>
                </a:solidFill>
                <a:latin typeface="Arial"/>
                <a:ea typeface="Arial"/>
                <a:cs typeface="Arial"/>
                <a:sym typeface="Arial"/>
              </a:rPr>
              <a:t>Referencias completas, enlaces y valoración de cada fuente en el informe y la matriz editable.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