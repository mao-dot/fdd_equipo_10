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UP65ceyXy8yz7+ibIseYl8xaR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ChartSnapshot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ChartSnapshot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Participantes</c:v>
          </c:tx>
          <c:spPr>
            <a:solidFill xmlns:a="http://schemas.openxmlformats.org/drawingml/2006/main">
              <a:srgbClr val="F5B82E"/>
            </a:solidFill>
          </c:spPr>
          <c:cat>
            <c:strRef>
              <c:f>'Chart Data'!$A$2:$A$3</c:f>
              <c:strCache>
                <c:ptCount val="2"/>
                <c:pt idx="0">
                  <c:v>Menor proporción</c:v>
                </c:pt>
                <c:pt idx="1">
                  <c:v>Mayor proporción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0.621</c:v>
                </c:pt>
                <c:pt idx="1">
                  <c:v>0.985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B2029"/>
                  </a:solidFill>
                  <a:latin typeface="Bahnschrift"/>
                  <a:ea typeface="Bahnschrift"/>
                  <a:cs typeface="Bahnschrif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0B151C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7FBFB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E2530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E2530"/>
    </a:solidFill>
    <a:ln xmlns:a="http://schemas.openxmlformats.org/drawingml/2006/main" w="0">
      <a:noFill/>
    </a:ln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Participantes</c:v>
          </c:tx>
          <c:spPr>
            <a:solidFill xmlns:a="http://schemas.openxmlformats.org/drawingml/2006/main">
              <a:srgbClr val="0DB9C6"/>
            </a:solidFill>
          </c:spPr>
          <c:cat>
            <c:strRef>
              <c:f>'Chart Data'!$A$2:$A$3</c:f>
              <c:strCache>
                <c:ptCount val="2"/>
                <c:pt idx="0">
                  <c:v>Comprenden la etiqueta</c:v>
                </c:pt>
                <c:pt idx="1">
                  <c:v>Siempre la revisan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0.79</c:v>
                </c:pt>
                <c:pt idx="1">
                  <c:v>0.04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0B2029"/>
                  </a:solidFill>
                  <a:latin typeface="Bahnschrift"/>
                  <a:ea typeface="Bahnschrift"/>
                  <a:cs typeface="Bahnschrif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2029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EAF4F4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AF4F4"/>
    </a:solidFill>
    <a:ln xmlns:a="http://schemas.openxmlformats.org/drawingml/2006/main" w="0">
      <a:noFill/>
    </a:ln>
  </c:spPr>
  <c:externalData r:id="rIdChartSnapshot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del contenido del proyecto: Equipo 10. Repositorio Fdd_Equipo_10.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https://github.com/Mao-dot/Fdd_Equipo_10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imagen de portada es una visualización conceptual generada para comunicar la dirección del producto; no representa el diseño final.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FAO. Food Composition Data: Production, Management and Use. Los datos suelen expresarse por 100 g de porción comestible.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https://www.fao.org/4/y4705e/y4705e14.htm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Instituto Nacional de Salud. Tablas Peruanas de Composición de Alimentos, 11.ª edición digital.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https://repositorio.ins.gob.pe/bitstreams/6cc030c5-daf4-4f19-9357-6910343796d9/download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Whitton C et al. A Systematic Review Examining Contributors to Misestimation of Food and Beverage Intake. Adv Nutr. 2022;13(6):2620-2665.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https://pubmed.ncbi.nlm.nih.gov/36041186/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Amoutzopoulos B et al. Portion size estimation in dietary assessment. Nutr Rev. 2020;78(11):885-900.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https://pubmed.ncbi.nlm.nih.gov/31999347/</a:t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König LM, Ziesemer K, Renner B. Quantifying Actual and Perceived Inaccuracy When Estimating the Sugar, Energy Content and Portion Size of Foods. Nutrients. 2019;11(10):2425.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https://pubmed.ncbi.nlm.nih.gov/31614559/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El rango 62.1%-98.5% corresponde a participantes que sobreestimaron el azúcar según el alimento, no al error porcentual de la porción.</a:t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Instituto Nacional de Salud. Tablas Peruanas de Composición de Alimentos. 11.ª edición digital, marzo de 2025. Reporta 1125 alimentos y 567 preparaciones, con energía y 19 nutrientes.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https://repositorio.ins.gob.pe/bitstreams/6cc030c5-daf4-4f19-9357-6910343796d9/download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Somocurcio Carrión LF. Influencia del etiquetado de alimentos procesados en el comportamiento del consumidor universitario peruano. 2021.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https://repositorio.ausjal.org/handle/20.500.12032/163440?locale-attribute=es</a:t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Público inicial, pregunta de investigación y alcance tomados del README del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https://github.com/Mao-dot/Fdd_Equipo_10</a:t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propuesta sintetiza la lista de exigencias del Taller 04: entradas, corrección, escalamiento, salidas, trazabilidad y distinción entre valores medidos y estimados.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https://github.com/Mao-dot/Fdd_Equipo_10/blob/main/Fundamentos%20de%20dise%C3%B1o/Talleres/Taller_04_LE.md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combinación final de cámara, voz, texto o sensor de masa debe definirse después de validar el flujo con usuarios.</a:t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Criterios extraídos de la Lista de exigencias del Taller 04: registro &lt;=60 s y &lt;=5 acciones; validación de &gt;=30 porciones con error porcentual medio &lt;=20%; error de cálculo &lt;=1%.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https://github.com/Mao-dot/Fdd_Equipo_10/blob/main/Fundamentos%20de%20dise%C3%B1o/Talleres/Taller_04_LE.md</a:t>
            </a:r>
            <a:endParaRPr/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b81d0e54c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g3fb81d0e54c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Naciones Unidas. Meta 12.8 e indicador 12.8.1. El indicador oficial mide características del sistema educativo a nivel país, no el desempeño de un prototipo.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https://unstats.un.org/sdgs/metadata/files/Metadata-12-08-01.pdf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Naciones Unidas. Meta 13.3 e indicador 13.3.1. El indicador oficial se mide a nivel de políticas y educación; la contribución del prototipo es indirecta y debe validarse.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https://sdgs.un.org/goals/goal13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PNUMA. La pérdida y el desperdicio de alimentos generan entre 8 % y 10 % de las emisiones mundiales de gases de efecto invernadero.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https://www.unep.org/topics/food-systems/food-loss-and-waste</a:t>
            </a:r>
            <a:endParaRPr/>
          </a:p>
        </p:txBody>
      </p:sp>
      <p:sp>
        <p:nvSpPr>
          <p:cNvPr id="241" name="Google Shape;241;g3fb81d0e54c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Esta diapositiva reúne las referencias citadas en el cuerpo de la presentación.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Los vínculos son clicables en la presentación.</a:t>
            </a:r>
            <a:endParaRPr/>
          </a:p>
        </p:txBody>
      </p:sp>
      <p:sp>
        <p:nvSpPr>
          <p:cNvPr id="271" name="Google Shape;27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repositorio.ausjal.org/handle/20.500.12032/163440?locale-attribute=es" TargetMode="External"/><Relationship Id="rId10" Type="http://schemas.openxmlformats.org/officeDocument/2006/relationships/hyperlink" Target="https://repositorio.ins.gob.pe/bitstreams/6cc030c5-daf4-4f19-9357-6910343796d9/download" TargetMode="External"/><Relationship Id="rId13" Type="http://schemas.openxmlformats.org/officeDocument/2006/relationships/hyperlink" Target="https://unstats.un.org/sdgs/metadata/" TargetMode="External"/><Relationship Id="rId12" Type="http://schemas.openxmlformats.org/officeDocument/2006/relationships/hyperlink" Target="https://repositorio.ausjal.org/handle/20.500.12032/163440?locale-attribute=es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i.org/10.1093/nutrit/nuz107" TargetMode="External"/><Relationship Id="rId4" Type="http://schemas.openxmlformats.org/officeDocument/2006/relationships/hyperlink" Target="https://doi.org/10.1093/nutrit/nuz107" TargetMode="External"/><Relationship Id="rId9" Type="http://schemas.openxmlformats.org/officeDocument/2006/relationships/hyperlink" Target="https://repositorio.ins.gob.pe/bitstreams/6cc030c5-daf4-4f19-9357-6910343796d9/download" TargetMode="External"/><Relationship Id="rId15" Type="http://schemas.openxmlformats.org/officeDocument/2006/relationships/hyperlink" Target="https://www.fao.org/4/y4705e/y4705e14.htm" TargetMode="External"/><Relationship Id="rId14" Type="http://schemas.openxmlformats.org/officeDocument/2006/relationships/hyperlink" Target="https://unstats.un.org/sdgs/metadata/" TargetMode="External"/><Relationship Id="rId17" Type="http://schemas.openxmlformats.org/officeDocument/2006/relationships/hyperlink" Target="https://github.com/Mao-dot/Fdd_Equipo_10" TargetMode="External"/><Relationship Id="rId16" Type="http://schemas.openxmlformats.org/officeDocument/2006/relationships/hyperlink" Target="https://www.fao.org/4/y4705e/y4705e14.htm" TargetMode="External"/><Relationship Id="rId5" Type="http://schemas.openxmlformats.org/officeDocument/2006/relationships/hyperlink" Target="https://doi.org/10.1093/advances/nmac085" TargetMode="External"/><Relationship Id="rId6" Type="http://schemas.openxmlformats.org/officeDocument/2006/relationships/hyperlink" Target="https://doi.org/10.1093/advances/nmac085" TargetMode="External"/><Relationship Id="rId18" Type="http://schemas.openxmlformats.org/officeDocument/2006/relationships/hyperlink" Target="https://github.com/Mao-dot/Fdd_Equipo_10" TargetMode="External"/><Relationship Id="rId7" Type="http://schemas.openxmlformats.org/officeDocument/2006/relationships/hyperlink" Target="https://doi.org/10.3390/nu11102425" TargetMode="External"/><Relationship Id="rId8" Type="http://schemas.openxmlformats.org/officeDocument/2006/relationships/hyperlink" Target="https://doi.org/10.3390/nu111024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0A">
                  <a:alpha val="98039"/>
                </a:srgbClr>
              </a:gs>
              <a:gs pos="37000">
                <a:srgbClr val="061118">
                  <a:alpha val="92157"/>
                </a:srgbClr>
              </a:gs>
              <a:gs pos="67000">
                <a:srgbClr val="061118">
                  <a:alpha val="34902"/>
                </a:srgbClr>
              </a:gs>
              <a:gs pos="100000">
                <a:srgbClr val="061118">
                  <a:alpha val="392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5098"/>
                </a:srgbClr>
              </a:gs>
              <a:gs pos="62000">
                <a:srgbClr val="000000">
                  <a:alpha val="0"/>
                </a:srgbClr>
              </a:gs>
              <a:gs pos="100000">
                <a:srgbClr val="000000">
                  <a:alpha val="72157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gradFill>
            <a:gsLst>
              <a:gs pos="0">
                <a:srgbClr val="35E7F2"/>
              </a:gs>
              <a:gs pos="55000">
                <a:srgbClr val="0DB9C6"/>
              </a:gs>
              <a:gs pos="100000">
                <a:srgbClr val="0B151C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47700" y="5143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UPCH · FUNDAMENTOS DE DISEÑO · 2026-2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47700" y="1333500"/>
            <a:ext cx="5905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B9F8FB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B9F8FB"/>
                </a:solidFill>
                <a:latin typeface="Arial"/>
                <a:ea typeface="Arial"/>
                <a:cs typeface="Arial"/>
                <a:sym typeface="Arial"/>
              </a:rPr>
              <a:t>DE LA PORCIÓN REAL A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47700" y="1847850"/>
            <a:ext cx="6286500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INFORMACIÓN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NUTRICIONAL ÚTIL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85800" y="3676650"/>
            <a:ext cx="4857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8DADF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C8DADF"/>
                </a:solidFill>
                <a:latin typeface="Arial"/>
                <a:ea typeface="Arial"/>
                <a:cs typeface="Arial"/>
                <a:sym typeface="Arial"/>
              </a:rPr>
              <a:t>Sistema de información nutricional de porciones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66750" y="4429125"/>
            <a:ext cx="2190750" cy="400050"/>
          </a:xfrm>
          <a:prstGeom prst="roundRect">
            <a:avLst>
              <a:gd fmla="val 28571" name="adj"/>
            </a:avLst>
          </a:prstGeom>
          <a:gradFill>
            <a:gsLst>
              <a:gs pos="0">
                <a:srgbClr val="F5B82E"/>
              </a:gs>
              <a:gs pos="100000">
                <a:srgbClr val="D18E12"/>
              </a:gs>
            </a:gsLst>
            <a:lin ang="5400000" scaled="0"/>
          </a:gradFill>
          <a:ln>
            <a:noFill/>
          </a:ln>
          <a:effectLst>
            <a:outerShdw blurRad="171450" dir="5400000" dist="47625">
              <a:srgbClr val="000000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66750" y="4429125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2029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ODS PRINCIPAL  ·  12.8</a:t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66750" y="560070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EQUIPO 10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66750" y="5915025"/>
            <a:ext cx="476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9C0C7"/>
              </a:buClr>
              <a:buSzPts val="1125"/>
              <a:buFont typeface="Arial"/>
              <a:buNone/>
            </a:pPr>
            <a:r>
              <a:rPr b="0" lang="en-US" sz="1125">
                <a:solidFill>
                  <a:srgbClr val="A9C0C7"/>
                </a:solidFill>
                <a:latin typeface="Arial"/>
                <a:ea typeface="Arial"/>
                <a:cs typeface="Arial"/>
                <a:sym typeface="Arial"/>
              </a:rPr>
              <a:t>Ingeniería Informática e Ingeniería Industrial</a:t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277675" y="6314400"/>
            <a:ext cx="31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8BA8B1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8BA8B1"/>
                </a:solidFill>
                <a:latin typeface="Arial"/>
                <a:ea typeface="Arial"/>
                <a:cs typeface="Arial"/>
                <a:sym typeface="Arial"/>
              </a:rPr>
              <a:t>CONCEPTO VISUAL · NO ES EL DISEÑO FINAL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50A0E"/>
            </a:gs>
            <a:gs pos="58000">
              <a:srgbClr val="0B1E27"/>
            </a:gs>
            <a:gs pos="100000">
              <a:srgbClr val="123946"/>
            </a:gs>
          </a:gsLst>
          <a:lin ang="6900000" scaled="0"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5E7F2">
                  <a:alpha val="14902"/>
                </a:srgbClr>
              </a:gs>
              <a:gs pos="67000">
                <a:srgbClr val="35E7F2">
                  <a:alpha val="0"/>
                </a:srgbClr>
              </a:gs>
              <a:gs pos="100000">
                <a:srgbClr val="35E7F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gradFill>
            <a:gsLst>
              <a:gs pos="0">
                <a:srgbClr val="35E7F2"/>
              </a:gs>
              <a:gs pos="55000">
                <a:srgbClr val="0DB9C6"/>
              </a:gs>
              <a:gs pos="100000">
                <a:srgbClr val="0B151C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09600" y="4000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01 / PROBLEMA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09600" y="723900"/>
            <a:ext cx="9810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De valores por 100 g a una porción real</a:t>
            </a:r>
            <a:endParaRPr/>
          </a:p>
        </p:txBody>
      </p:sp>
      <p:cxnSp>
        <p:nvCxnSpPr>
          <p:cNvPr id="38" name="Google Shape;38;p2"/>
          <p:cNvCxnSpPr/>
          <p:nvPr/>
        </p:nvCxnSpPr>
        <p:spPr>
          <a:xfrm>
            <a:off x="609600" y="1514475"/>
            <a:ext cx="1047750" cy="0"/>
          </a:xfrm>
          <a:prstGeom prst="straightConnector1">
            <a:avLst/>
          </a:prstGeom>
          <a:noFill/>
          <a:ln cap="flat" cmpd="sng" w="3810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2"/>
          <p:cNvSpPr/>
          <p:nvPr/>
        </p:nvSpPr>
        <p:spPr>
          <a:xfrm>
            <a:off x="609600" y="165735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FC3C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AFC3C9"/>
                </a:solidFill>
                <a:latin typeface="Arial"/>
                <a:ea typeface="Arial"/>
                <a:cs typeface="Arial"/>
                <a:sym typeface="Arial"/>
              </a:rPr>
              <a:t>La información existe; el esfuerzo está en convertirla en el plato que la persona tiene delante.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04850" y="2438400"/>
            <a:ext cx="400050" cy="400050"/>
          </a:xfrm>
          <a:prstGeom prst="ellipse">
            <a:avLst/>
          </a:prstGeom>
          <a:solidFill>
            <a:srgbClr val="0E2530"/>
          </a:solidFill>
          <a:ln cap="flat" cmpd="sng" w="1905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dir="5400000" dist="38100">
              <a:srgbClr val="35E7F2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04850" y="24384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314450" y="23622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CONSULTAR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314450" y="2686050"/>
            <a:ext cx="2476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Valores nutricionales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por 100 g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524250" y="2438400"/>
            <a:ext cx="400050" cy="400050"/>
          </a:xfrm>
          <a:prstGeom prst="ellipse">
            <a:avLst/>
          </a:prstGeom>
          <a:solidFill>
            <a:srgbClr val="0E2530"/>
          </a:solidFill>
          <a:ln cap="flat" cmpd="sng" w="1905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dir="5400000" dist="38100">
              <a:srgbClr val="35E7F2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524250" y="24384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133850" y="23622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133850" y="2686050"/>
            <a:ext cx="2476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Elegir el alimento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correcto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343650" y="2438400"/>
            <a:ext cx="400050" cy="400050"/>
          </a:xfrm>
          <a:prstGeom prst="ellipse">
            <a:avLst/>
          </a:prstGeom>
          <a:solidFill>
            <a:srgbClr val="F5B82E"/>
          </a:solidFill>
          <a:ln cap="flat" cmpd="sng" w="19050">
            <a:solidFill>
              <a:srgbClr val="F5B82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dir="5400000" dist="38100">
              <a:srgbClr val="F5B82E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343650" y="24384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2029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953250" y="23622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ESTIMAR</a:t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953250" y="2686050"/>
            <a:ext cx="2476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Adivinar cuántos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gramos hay</a:t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9163050" y="2438400"/>
            <a:ext cx="400050" cy="400050"/>
          </a:xfrm>
          <a:prstGeom prst="ellipse">
            <a:avLst/>
          </a:prstGeom>
          <a:solidFill>
            <a:srgbClr val="0E2530"/>
          </a:solidFill>
          <a:ln cap="flat" cmpd="sng" w="1905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dir="5400000" dist="38100">
              <a:srgbClr val="35E7F2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9163050" y="24384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9772650" y="23622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ESCALAR</a:t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9772650" y="2686050"/>
            <a:ext cx="2476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Convertir a kcal y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macronutrientes</a:t>
            </a:r>
            <a:endParaRPr/>
          </a:p>
        </p:txBody>
      </p:sp>
      <p:cxnSp>
        <p:nvCxnSpPr>
          <p:cNvPr id="56" name="Google Shape;56;p2"/>
          <p:cNvCxnSpPr/>
          <p:nvPr/>
        </p:nvCxnSpPr>
        <p:spPr>
          <a:xfrm>
            <a:off x="3257550" y="2714625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4D6B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2"/>
          <p:cNvSpPr/>
          <p:nvPr/>
        </p:nvSpPr>
        <p:spPr>
          <a:xfrm>
            <a:off x="3448050" y="2667000"/>
            <a:ext cx="95250" cy="95250"/>
          </a:xfrm>
          <a:prstGeom prst="triangle">
            <a:avLst>
              <a:gd fmla="val 50000" name="adj"/>
            </a:avLst>
          </a:prstGeom>
          <a:solidFill>
            <a:srgbClr val="35E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" name="Google Shape;58;p2"/>
          <p:cNvCxnSpPr/>
          <p:nvPr/>
        </p:nvCxnSpPr>
        <p:spPr>
          <a:xfrm>
            <a:off x="6076950" y="2714625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4D6B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2"/>
          <p:cNvSpPr/>
          <p:nvPr/>
        </p:nvSpPr>
        <p:spPr>
          <a:xfrm>
            <a:off x="6267450" y="2667000"/>
            <a:ext cx="95250" cy="95250"/>
          </a:xfrm>
          <a:prstGeom prst="triangle">
            <a:avLst>
              <a:gd fmla="val 50000" name="adj"/>
            </a:avLst>
          </a:prstGeom>
          <a:solidFill>
            <a:srgbClr val="35E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2"/>
          <p:cNvCxnSpPr/>
          <p:nvPr/>
        </p:nvCxnSpPr>
        <p:spPr>
          <a:xfrm>
            <a:off x="8896350" y="2714625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4D6B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2"/>
          <p:cNvSpPr/>
          <p:nvPr/>
        </p:nvSpPr>
        <p:spPr>
          <a:xfrm>
            <a:off x="9086850" y="2667000"/>
            <a:ext cx="95250" cy="95250"/>
          </a:xfrm>
          <a:prstGeom prst="triangle">
            <a:avLst>
              <a:gd fmla="val 50000" name="adj"/>
            </a:avLst>
          </a:prstGeom>
          <a:solidFill>
            <a:srgbClr val="35E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09600" y="3886200"/>
            <a:ext cx="10972800" cy="1467000"/>
          </a:xfrm>
          <a:prstGeom prst="roundRect">
            <a:avLst>
              <a:gd fmla="val 11688" name="adj"/>
            </a:avLst>
          </a:prstGeom>
          <a:gradFill>
            <a:gsLst>
              <a:gs pos="0">
                <a:srgbClr val="102D38"/>
              </a:gs>
              <a:gs pos="64000">
                <a:srgbClr val="0D222B"/>
              </a:gs>
              <a:gs pos="100000">
                <a:srgbClr val="143944"/>
              </a:gs>
            </a:gsLst>
            <a:lin ang="6300000" scaled="0"/>
          </a:gradFill>
          <a:ln cap="flat" cmpd="sng" w="9525">
            <a:solidFill>
              <a:srgbClr val="2A5663"/>
            </a:solidFill>
            <a:prstDash val="solid"/>
            <a:round/>
            <a:headEnd len="sm" w="sm" type="none"/>
            <a:tailEnd len="sm" w="sm" type="none"/>
          </a:ln>
          <a:effectLst>
            <a:outerShdw blurRad="247650" dir="5400000" dist="9525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895350" y="4057650"/>
            <a:ext cx="161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EL QUIEBRE</a:t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838200" y="4381500"/>
            <a:ext cx="100965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Las personas físicamente activas no obtienen de forma rápida y consistente la cantidad, energía y macronutrientes de la porción que realmente consumen.</a:t>
            </a:r>
            <a:endParaRPr/>
          </a:p>
        </p:txBody>
      </p:sp>
      <p:cxnSp>
        <p:nvCxnSpPr>
          <p:cNvPr id="65" name="Google Shape;65;p2"/>
          <p:cNvCxnSpPr/>
          <p:nvPr/>
        </p:nvCxnSpPr>
        <p:spPr>
          <a:xfrm>
            <a:off x="609600" y="64008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3350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2"/>
          <p:cNvSpPr/>
          <p:nvPr/>
        </p:nvSpPr>
        <p:spPr>
          <a:xfrm>
            <a:off x="609600" y="6496050"/>
            <a:ext cx="962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6BBC1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A6BBC1"/>
                </a:solidFill>
                <a:latin typeface="Arial"/>
                <a:ea typeface="Arial"/>
                <a:cs typeface="Arial"/>
                <a:sym typeface="Arial"/>
              </a:rPr>
              <a:t>Fuentes: FAO; INS, Tablas Peruanas de Composición de Alimentos; repositorio del equipo.</a:t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10934700" y="64579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090D">
                  <a:alpha val="98039"/>
                </a:srgbClr>
              </a:gs>
              <a:gs pos="43000">
                <a:srgbClr val="061016">
                  <a:alpha val="92157"/>
                </a:srgbClr>
              </a:gs>
              <a:gs pos="74000">
                <a:srgbClr val="061016">
                  <a:alpha val="32157"/>
                </a:srgbClr>
              </a:gs>
              <a:gs pos="100000">
                <a:srgbClr val="061016">
                  <a:alpha val="7843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5240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25098"/>
                </a:srgbClr>
              </a:gs>
              <a:gs pos="58000">
                <a:srgbClr val="000000">
                  <a:alpha val="0"/>
                </a:srgbClr>
              </a:gs>
              <a:gs pos="100000">
                <a:srgbClr val="000000">
                  <a:alpha val="74118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DB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09600" y="4000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02 / EVIDENCIA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09600" y="723900"/>
            <a:ext cx="82869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2775"/>
              <a:buFont typeface="Arial"/>
              <a:buNone/>
            </a:pPr>
            <a:r>
              <a:rPr b="1" lang="en-US" sz="277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La porción es una fuente recurrente de error</a:t>
            </a:r>
            <a:endParaRPr/>
          </a:p>
        </p:txBody>
      </p:sp>
      <p:cxnSp>
        <p:nvCxnSpPr>
          <p:cNvPr id="79" name="Google Shape;79;p3"/>
          <p:cNvCxnSpPr/>
          <p:nvPr/>
        </p:nvCxnSpPr>
        <p:spPr>
          <a:xfrm>
            <a:off x="609600" y="1514475"/>
            <a:ext cx="1047750" cy="0"/>
          </a:xfrm>
          <a:prstGeom prst="straightConnector1">
            <a:avLst/>
          </a:prstGeom>
          <a:noFill/>
          <a:ln cap="flat" cmpd="sng" w="3810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3"/>
          <p:cNvSpPr/>
          <p:nvPr/>
        </p:nvSpPr>
        <p:spPr>
          <a:xfrm>
            <a:off x="609600" y="1585913"/>
            <a:ext cx="5283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4800"/>
              <a:buFont typeface="Arial"/>
              <a:buNone/>
            </a:pPr>
            <a:r>
              <a:rPr b="1" lang="en-US" sz="450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2 964 participantes</a:t>
            </a:r>
            <a:endParaRPr sz="1100"/>
          </a:p>
        </p:txBody>
      </p:sp>
      <p:sp>
        <p:nvSpPr>
          <p:cNvPr id="81" name="Google Shape;81;p3"/>
          <p:cNvSpPr/>
          <p:nvPr/>
        </p:nvSpPr>
        <p:spPr>
          <a:xfrm>
            <a:off x="609600" y="2541963"/>
            <a:ext cx="3619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29 estudios · 15 países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09600" y="2849188"/>
            <a:ext cx="4095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7D8DD"/>
              </a:buClr>
              <a:buSzPts val="1575"/>
              <a:buFont typeface="Arial"/>
              <a:buNone/>
            </a:pPr>
            <a:r>
              <a:rPr b="0" lang="en-US" sz="1475">
                <a:solidFill>
                  <a:srgbClr val="C7D8DD"/>
                </a:solidFill>
                <a:latin typeface="Arial"/>
                <a:ea typeface="Arial"/>
                <a:cs typeface="Arial"/>
                <a:sym typeface="Arial"/>
              </a:rPr>
              <a:t>Las omisiones y los errores al estimar porciones fueron los contribuyentes más frecuentes al error del autorreporte.</a:t>
            </a:r>
            <a:endParaRPr sz="1300"/>
          </a:p>
        </p:txBody>
      </p:sp>
      <p:sp>
        <p:nvSpPr>
          <p:cNvPr id="83" name="Google Shape;83;p3"/>
          <p:cNvSpPr/>
          <p:nvPr/>
        </p:nvSpPr>
        <p:spPr>
          <a:xfrm>
            <a:off x="685800" y="3836163"/>
            <a:ext cx="25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900"/>
              <a:buFont typeface="Arial"/>
              <a:buNone/>
            </a:pPr>
            <a:r>
              <a:rPr b="1" lang="en-US" sz="110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WHITTON ET AL., 2022</a:t>
            </a:r>
            <a:endParaRPr sz="1600"/>
          </a:p>
        </p:txBody>
      </p:sp>
      <p:cxnSp>
        <p:nvCxnSpPr>
          <p:cNvPr id="84" name="Google Shape;84;p3"/>
          <p:cNvCxnSpPr/>
          <p:nvPr/>
        </p:nvCxnSpPr>
        <p:spPr>
          <a:xfrm>
            <a:off x="609600" y="4219800"/>
            <a:ext cx="4095900" cy="0"/>
          </a:xfrm>
          <a:prstGeom prst="straightConnector1">
            <a:avLst/>
          </a:prstGeom>
          <a:noFill/>
          <a:ln cap="flat" cmpd="sng" w="9525">
            <a:solidFill>
              <a:srgbClr val="3D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3"/>
          <p:cNvSpPr/>
          <p:nvPr/>
        </p:nvSpPr>
        <p:spPr>
          <a:xfrm>
            <a:off x="273050" y="3929950"/>
            <a:ext cx="2444700" cy="1635000"/>
          </a:xfrm>
          <a:prstGeom prst="ellipse">
            <a:avLst/>
          </a:prstGeom>
          <a:gradFill>
            <a:gsLst>
              <a:gs pos="0">
                <a:srgbClr val="F5B82E">
                  <a:alpha val="21961"/>
                </a:srgbClr>
              </a:gs>
              <a:gs pos="68000">
                <a:srgbClr val="F5B82E">
                  <a:alpha val="0"/>
                </a:srgbClr>
              </a:gs>
              <a:gs pos="100000">
                <a:srgbClr val="F5B82E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38150" y="4476750"/>
            <a:ext cx="1714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4050"/>
              <a:buFont typeface="Arial"/>
              <a:buNone/>
            </a:pPr>
            <a:r>
              <a:rPr b="1" lang="en-US" sz="4550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542</a:t>
            </a:r>
            <a:endParaRPr sz="1900"/>
          </a:p>
        </p:txBody>
      </p:sp>
      <p:sp>
        <p:nvSpPr>
          <p:cNvPr id="87" name="Google Shape;87;p3"/>
          <p:cNvSpPr/>
          <p:nvPr/>
        </p:nvSpPr>
        <p:spPr>
          <a:xfrm>
            <a:off x="1797000" y="4476738"/>
            <a:ext cx="40959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F5B82E"/>
                </a:solidFill>
              </a:rPr>
              <a:t>elementos</a:t>
            </a:r>
            <a:r>
              <a:rPr b="1" lang="en-US" sz="1800">
                <a:solidFill>
                  <a:srgbClr val="F5B82E"/>
                </a:solidFill>
              </a:rPr>
              <a:t> de estimación del tamaño de las raciones </a:t>
            </a:r>
            <a:r>
              <a:rPr lang="en-US" sz="1800">
                <a:solidFill>
                  <a:srgbClr val="F5B82E"/>
                </a:solidFill>
              </a:rPr>
              <a:t>(PSEE)</a:t>
            </a:r>
            <a:endParaRPr b="1" sz="1800">
              <a:solidFill>
                <a:srgbClr val="F5B82E"/>
              </a:solidFill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09600" y="5214275"/>
            <a:ext cx="4476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7D8DD"/>
              </a:buClr>
              <a:buSzPts val="1350"/>
              <a:buFont typeface="Arial"/>
              <a:buNone/>
            </a:pPr>
            <a:r>
              <a:rPr b="0" lang="en-US" sz="1550">
                <a:solidFill>
                  <a:srgbClr val="C7D8DD"/>
                </a:solidFill>
                <a:latin typeface="Arial"/>
                <a:ea typeface="Arial"/>
                <a:cs typeface="Arial"/>
                <a:sym typeface="Arial"/>
              </a:rPr>
              <a:t>Solo 21 estudios las validaron contra cantidades reales; las ayudas con imágenes fueron más exactas.</a:t>
            </a:r>
            <a:endParaRPr sz="1600"/>
          </a:p>
        </p:txBody>
      </p:sp>
      <p:sp>
        <p:nvSpPr>
          <p:cNvPr id="89" name="Google Shape;89;p3"/>
          <p:cNvSpPr/>
          <p:nvPr/>
        </p:nvSpPr>
        <p:spPr>
          <a:xfrm>
            <a:off x="685800" y="6172050"/>
            <a:ext cx="3143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900"/>
              <a:buFont typeface="Arial"/>
              <a:buNone/>
            </a:pPr>
            <a:r>
              <a:rPr b="1" lang="en-US" sz="1100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AMOUTZOPOULOS ET AL., 2020</a:t>
            </a:r>
            <a:endParaRPr sz="1600">
              <a:solidFill>
                <a:srgbClr val="F5B82E"/>
              </a:solidFill>
            </a:endParaRPr>
          </a:p>
        </p:txBody>
      </p:sp>
      <p:cxnSp>
        <p:nvCxnSpPr>
          <p:cNvPr id="90" name="Google Shape;90;p3"/>
          <p:cNvCxnSpPr/>
          <p:nvPr/>
        </p:nvCxnSpPr>
        <p:spPr>
          <a:xfrm>
            <a:off x="609600" y="64008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3350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3"/>
          <p:cNvSpPr/>
          <p:nvPr/>
        </p:nvSpPr>
        <p:spPr>
          <a:xfrm>
            <a:off x="609600" y="6515100"/>
            <a:ext cx="962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6BBC1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A6BBC1"/>
                </a:solidFill>
                <a:latin typeface="Arial"/>
                <a:ea typeface="Arial"/>
                <a:cs typeface="Arial"/>
                <a:sym typeface="Arial"/>
              </a:rPr>
              <a:t>Whitton et al. (2022), PMID 36041186 · Amoutzopoulos et al. (2020), PMID 31999347.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0934700" y="64579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-187325" y="1246113"/>
            <a:ext cx="3048000" cy="1848000"/>
          </a:xfrm>
          <a:prstGeom prst="ellipse">
            <a:avLst/>
          </a:prstGeom>
          <a:gradFill>
            <a:gsLst>
              <a:gs pos="0">
                <a:srgbClr val="F5B82E">
                  <a:alpha val="21961"/>
                </a:srgbClr>
              </a:gs>
              <a:gs pos="68000">
                <a:srgbClr val="F5B82E">
                  <a:alpha val="0"/>
                </a:srgbClr>
              </a:gs>
              <a:gs pos="100000">
                <a:srgbClr val="F5B82E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71017"/>
            </a:gs>
            <a:gs pos="52000">
              <a:srgbClr val="102C37"/>
            </a:gs>
            <a:gs pos="100000">
              <a:srgbClr val="0A1820"/>
            </a:gs>
          </a:gsLst>
          <a:lin ang="6900000" scaled="0"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5E7F2">
                  <a:alpha val="14902"/>
                </a:srgbClr>
              </a:gs>
              <a:gs pos="67000">
                <a:srgbClr val="35E7F2">
                  <a:alpha val="0"/>
                </a:srgbClr>
              </a:gs>
              <a:gs pos="100000">
                <a:srgbClr val="35E7F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gradFill>
            <a:gsLst>
              <a:gs pos="0">
                <a:srgbClr val="35E7F2"/>
              </a:gs>
              <a:gs pos="55000">
                <a:srgbClr val="0DB9C6"/>
              </a:gs>
              <a:gs pos="100000">
                <a:srgbClr val="0B151C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09600" y="4000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03 / EVIDENCIA</a:t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09600" y="723900"/>
            <a:ext cx="9810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La confianza del usuario no predice la exactitud</a:t>
            </a:r>
            <a:endParaRPr/>
          </a:p>
        </p:txBody>
      </p:sp>
      <p:cxnSp>
        <p:nvCxnSpPr>
          <p:cNvPr id="103" name="Google Shape;103;p4"/>
          <p:cNvCxnSpPr/>
          <p:nvPr/>
        </p:nvCxnSpPr>
        <p:spPr>
          <a:xfrm>
            <a:off x="609600" y="1514475"/>
            <a:ext cx="1047750" cy="0"/>
          </a:xfrm>
          <a:prstGeom prst="straightConnector1">
            <a:avLst/>
          </a:prstGeom>
          <a:noFill/>
          <a:ln cap="flat" cmpd="sng" w="3810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4"/>
          <p:cNvSpPr/>
          <p:nvPr/>
        </p:nvSpPr>
        <p:spPr>
          <a:xfrm>
            <a:off x="19050" y="1133475"/>
            <a:ext cx="3714750" cy="2076450"/>
          </a:xfrm>
          <a:prstGeom prst="ellipse">
            <a:avLst/>
          </a:prstGeom>
          <a:gradFill>
            <a:gsLst>
              <a:gs pos="0">
                <a:srgbClr val="35E7F2">
                  <a:alpha val="21961"/>
                </a:srgbClr>
              </a:gs>
              <a:gs pos="68000">
                <a:srgbClr val="35E7F2">
                  <a:alpha val="0"/>
                </a:srgbClr>
              </a:gs>
              <a:gs pos="100000">
                <a:srgbClr val="35E7F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09600" y="1584975"/>
            <a:ext cx="18414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5400"/>
              <a:buFont typeface="Arial"/>
              <a:buNone/>
            </a:pPr>
            <a:r>
              <a:rPr b="1" lang="en-US" sz="6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197</a:t>
            </a:r>
            <a:endParaRPr sz="2800">
              <a:solidFill>
                <a:schemeClr val="accent4"/>
              </a:solidFill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23900" y="2714613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500"/>
              <a:buFont typeface="Arial"/>
              <a:buNone/>
            </a:pPr>
            <a:r>
              <a:rPr b="1" lang="en-US" sz="25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participantes</a:t>
            </a:r>
            <a:endParaRPr sz="2400">
              <a:solidFill>
                <a:schemeClr val="accent4"/>
              </a:solidFill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09600" y="3486075"/>
            <a:ext cx="32385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DEBE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DDEBED"/>
                </a:solidFill>
                <a:latin typeface="Arial"/>
                <a:ea typeface="Arial"/>
                <a:cs typeface="Arial"/>
                <a:sym typeface="Arial"/>
              </a:rPr>
              <a:t>Hubo error al estimar azúcar, energía, peso y tamaño de porción.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723900" y="4543425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8EA5AD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EXACTITUD PERCIBIDA ↔ EXACTITUD REAL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23900" y="4810125"/>
            <a:ext cx="2857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6B5F"/>
              </a:buClr>
              <a:buSzPts val="3075"/>
              <a:buFont typeface="Arial"/>
              <a:buNone/>
            </a:pPr>
            <a:r>
              <a:rPr b="1" lang="en-US" sz="3075">
                <a:solidFill>
                  <a:srgbClr val="FF6B5F"/>
                </a:solidFill>
                <a:latin typeface="Arial"/>
                <a:ea typeface="Arial"/>
                <a:cs typeface="Arial"/>
                <a:sym typeface="Arial"/>
              </a:rPr>
              <a:t>rₛ ≤ |0.20|</a:t>
            </a:r>
            <a:endParaRPr>
              <a:solidFill>
                <a:srgbClr val="FF6B5F"/>
              </a:solidFill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23900" y="5410200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B6C9CE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B6C9CE"/>
                </a:solidFill>
                <a:latin typeface="Arial"/>
                <a:ea typeface="Arial"/>
                <a:cs typeface="Arial"/>
                <a:sym typeface="Arial"/>
              </a:rPr>
              <a:t>Asociación débil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4686300" y="1657350"/>
            <a:ext cx="619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500"/>
              <a:buFont typeface="Arial"/>
              <a:buNone/>
            </a:pPr>
            <a:r>
              <a:rPr b="1" lang="en-US" sz="170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Participantes que sobreestimaron el azúcar</a:t>
            </a:r>
            <a:endParaRPr sz="1600"/>
          </a:p>
        </p:txBody>
      </p:sp>
      <p:sp>
        <p:nvSpPr>
          <p:cNvPr id="112" name="Google Shape;112;p4"/>
          <p:cNvSpPr/>
          <p:nvPr/>
        </p:nvSpPr>
        <p:spPr>
          <a:xfrm>
            <a:off x="4686300" y="1962150"/>
            <a:ext cx="581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8EA5AD"/>
              </a:buClr>
              <a:buSzPts val="1125"/>
              <a:buFont typeface="Arial"/>
              <a:buNone/>
            </a:pPr>
            <a:r>
              <a:rPr b="0" lang="en-US" sz="1125">
                <a:solidFill>
                  <a:srgbClr val="8EA5AD"/>
                </a:solidFill>
                <a:latin typeface="Arial"/>
                <a:ea typeface="Arial"/>
                <a:cs typeface="Arial"/>
                <a:sym typeface="Arial"/>
              </a:rPr>
              <a:t>El porcentaje varió según el alimento evaluado.</a:t>
            </a:r>
            <a:endParaRPr/>
          </a:p>
        </p:txBody>
      </p:sp>
      <p:graphicFrame>
        <p:nvGraphicFramePr>
          <p:cNvPr id="113" name="Google Shape;113;p4"/>
          <p:cNvGraphicFramePr/>
          <p:nvPr/>
        </p:nvGraphicFramePr>
        <p:xfrm>
          <a:off x="4540200" y="2351933"/>
          <a:ext cx="7042200" cy="3382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4" name="Google Shape;114;p4"/>
          <p:cNvSpPr/>
          <p:nvPr/>
        </p:nvSpPr>
        <p:spPr>
          <a:xfrm>
            <a:off x="4686300" y="4953000"/>
            <a:ext cx="6419850" cy="419100"/>
          </a:xfrm>
          <a:prstGeom prst="rect">
            <a:avLst/>
          </a:prstGeom>
          <a:solidFill>
            <a:srgbClr val="0E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921375" y="5895900"/>
            <a:ext cx="4095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275"/>
              <a:buFont typeface="Arial"/>
              <a:buNone/>
            </a:pPr>
            <a:r>
              <a:rPr b="1" lang="en-US" sz="1475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62.1%—98.5% según el alimento</a:t>
            </a:r>
            <a:endParaRPr sz="1600"/>
          </a:p>
        </p:txBody>
      </p:sp>
      <p:cxnSp>
        <p:nvCxnSpPr>
          <p:cNvPr id="116" name="Google Shape;116;p4"/>
          <p:cNvCxnSpPr/>
          <p:nvPr/>
        </p:nvCxnSpPr>
        <p:spPr>
          <a:xfrm>
            <a:off x="609600" y="64008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3350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4"/>
          <p:cNvSpPr/>
          <p:nvPr/>
        </p:nvSpPr>
        <p:spPr>
          <a:xfrm>
            <a:off x="609600" y="6496050"/>
            <a:ext cx="962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6BBC1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A6BBC1"/>
                </a:solidFill>
                <a:latin typeface="Arial"/>
                <a:ea typeface="Arial"/>
                <a:cs typeface="Arial"/>
                <a:sym typeface="Arial"/>
              </a:rPr>
              <a:t>Fuente: König, Ziesemer y Renner (2019), Nutrients 11(10):2425, PMID 31614559.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10934700" y="64579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BFB"/>
            </a:gs>
            <a:gs pos="56000">
              <a:srgbClr val="E7F1F1"/>
            </a:gs>
            <a:gs pos="100000">
              <a:srgbClr val="D4E8E9"/>
            </a:gs>
          </a:gsLst>
          <a:lin ang="6600000" scaled="0"/>
        </a:gra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5E7F2">
                  <a:alpha val="20000"/>
                </a:srgbClr>
              </a:gs>
              <a:gs pos="70000">
                <a:srgbClr val="35E7F2">
                  <a:alpha val="0"/>
                </a:srgbClr>
              </a:gs>
              <a:gs pos="100000">
                <a:srgbClr val="35E7F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gradFill>
            <a:gsLst>
              <a:gs pos="0">
                <a:srgbClr val="0DB9C6"/>
              </a:gs>
              <a:gs pos="100000">
                <a:srgbClr val="35E7F2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09600" y="4000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DB9C6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B9C6"/>
                </a:solidFill>
                <a:latin typeface="Arial"/>
                <a:ea typeface="Arial"/>
                <a:cs typeface="Arial"/>
                <a:sym typeface="Arial"/>
              </a:rPr>
              <a:t>04 / CONTEXTO PERUANO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09600" y="723900"/>
            <a:ext cx="103822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B2029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Hay datos nutricionales; el uso cotidiano sigue siendo bajo</a:t>
            </a:r>
            <a:endParaRPr/>
          </a:p>
        </p:txBody>
      </p:sp>
      <p:cxnSp>
        <p:nvCxnSpPr>
          <p:cNvPr id="128" name="Google Shape;128;p5"/>
          <p:cNvCxnSpPr/>
          <p:nvPr/>
        </p:nvCxnSpPr>
        <p:spPr>
          <a:xfrm>
            <a:off x="609600" y="1514475"/>
            <a:ext cx="1047750" cy="0"/>
          </a:xfrm>
          <a:prstGeom prst="straightConnector1">
            <a:avLst/>
          </a:prstGeom>
          <a:noFill/>
          <a:ln cap="flat" cmpd="sng" w="38100">
            <a:solidFill>
              <a:srgbClr val="0DB9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5"/>
          <p:cNvSpPr/>
          <p:nvPr/>
        </p:nvSpPr>
        <p:spPr>
          <a:xfrm>
            <a:off x="685800" y="1743075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DB9C6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DB9C6"/>
                </a:solidFill>
                <a:latin typeface="Arial"/>
                <a:ea typeface="Arial"/>
                <a:cs typeface="Arial"/>
                <a:sym typeface="Arial"/>
              </a:rPr>
              <a:t>TPCA · MARZO 2025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85800" y="1981200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2029"/>
              </a:buClr>
              <a:buSzPts val="4950"/>
              <a:buFont typeface="Arial"/>
              <a:buNone/>
            </a:pPr>
            <a:r>
              <a:rPr b="1" lang="en-US" sz="4950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1 125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723900" y="272415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2029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alimentos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85800" y="3190875"/>
            <a:ext cx="3333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18E12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D18E12"/>
                </a:solidFill>
                <a:latin typeface="Arial"/>
                <a:ea typeface="Arial"/>
                <a:cs typeface="Arial"/>
                <a:sym typeface="Arial"/>
              </a:rPr>
              <a:t>+ 567 preparaciones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704850" y="3800475"/>
            <a:ext cx="333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5761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395761"/>
                </a:solidFill>
                <a:latin typeface="Arial"/>
                <a:ea typeface="Arial"/>
                <a:cs typeface="Arial"/>
                <a:sym typeface="Arial"/>
              </a:rPr>
              <a:t>Energía y 19 nutrientes disponibles; el usuario todavía debe ingresar y escalar la cantidad.</a:t>
            </a:r>
            <a:endParaRPr/>
          </a:p>
        </p:txBody>
      </p:sp>
      <p:cxnSp>
        <p:nvCxnSpPr>
          <p:cNvPr id="134" name="Google Shape;134;p5"/>
          <p:cNvCxnSpPr/>
          <p:nvPr/>
        </p:nvCxnSpPr>
        <p:spPr>
          <a:xfrm>
            <a:off x="704850" y="4895850"/>
            <a:ext cx="3143250" cy="0"/>
          </a:xfrm>
          <a:prstGeom prst="straightConnector1">
            <a:avLst/>
          </a:prstGeom>
          <a:noFill/>
          <a:ln cap="flat" cmpd="sng" w="9525">
            <a:solidFill>
              <a:srgbClr val="7FA8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5"/>
          <p:cNvSpPr/>
          <p:nvPr/>
        </p:nvSpPr>
        <p:spPr>
          <a:xfrm>
            <a:off x="704850" y="510540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DB9C6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DB9C6"/>
                </a:solidFill>
                <a:latin typeface="Arial"/>
                <a:ea typeface="Arial"/>
                <a:cs typeface="Arial"/>
                <a:sym typeface="Arial"/>
              </a:rPr>
              <a:t>DATO CONFIABLE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2362200" y="5105400"/>
            <a:ext cx="1809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18E12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D18E12"/>
                </a:solidFill>
                <a:latin typeface="Arial"/>
                <a:ea typeface="Arial"/>
                <a:cs typeface="Arial"/>
                <a:sym typeface="Arial"/>
              </a:rPr>
              <a:t>INTERACCIÓN MANUAL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714875" y="1752600"/>
            <a:ext cx="6572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2029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Lectura de etiquetas en dos universidades peruanas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4714875" y="2076450"/>
            <a:ext cx="4762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58737B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8737B"/>
                </a:solidFill>
                <a:latin typeface="Arial"/>
                <a:ea typeface="Arial"/>
                <a:cs typeface="Arial"/>
                <a:sym typeface="Arial"/>
              </a:rPr>
              <a:t>Muestra por conveniencia · n = 302</a:t>
            </a:r>
            <a:endParaRPr/>
          </a:p>
        </p:txBody>
      </p:sp>
      <p:graphicFrame>
        <p:nvGraphicFramePr>
          <p:cNvPr id="139" name="Google Shape;139;p5"/>
          <p:cNvGraphicFramePr/>
          <p:nvPr/>
        </p:nvGraphicFramePr>
        <p:xfrm>
          <a:off x="4648200" y="2476500"/>
          <a:ext cx="6572250" cy="2714625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0" name="Google Shape;140;p5"/>
          <p:cNvSpPr/>
          <p:nvPr/>
        </p:nvSpPr>
        <p:spPr>
          <a:xfrm>
            <a:off x="5429250" y="5362575"/>
            <a:ext cx="495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2029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Brecha: comprender no garantiza usar la información.</a:t>
            </a:r>
            <a:endParaRPr/>
          </a:p>
        </p:txBody>
      </p:sp>
      <p:cxnSp>
        <p:nvCxnSpPr>
          <p:cNvPr id="141" name="Google Shape;141;p5"/>
          <p:cNvCxnSpPr/>
          <p:nvPr/>
        </p:nvCxnSpPr>
        <p:spPr>
          <a:xfrm>
            <a:off x="609600" y="64008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AEC8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5"/>
          <p:cNvSpPr/>
          <p:nvPr/>
        </p:nvSpPr>
        <p:spPr>
          <a:xfrm>
            <a:off x="609600" y="6496050"/>
            <a:ext cx="962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58737B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58737B"/>
                </a:solidFill>
                <a:latin typeface="Arial"/>
                <a:ea typeface="Arial"/>
                <a:cs typeface="Arial"/>
                <a:sym typeface="Arial"/>
              </a:rPr>
              <a:t>Fuentes: INS, TPCA 11.ª ed.; Somocurcio Carrión (2021), tesis de licenciatura.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0934700" y="64579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DB9C6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B9C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50A0E"/>
            </a:gs>
            <a:gs pos="47000">
              <a:srgbClr val="0D222B"/>
            </a:gs>
            <a:gs pos="100000">
              <a:srgbClr val="16404B"/>
            </a:gs>
          </a:gsLst>
          <a:lin ang="7200000" scaled="0"/>
        </a:gra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5E7F2">
                  <a:alpha val="14902"/>
                </a:srgbClr>
              </a:gs>
              <a:gs pos="67000">
                <a:srgbClr val="35E7F2">
                  <a:alpha val="0"/>
                </a:srgbClr>
              </a:gs>
              <a:gs pos="100000">
                <a:srgbClr val="35E7F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gradFill>
            <a:gsLst>
              <a:gs pos="0">
                <a:srgbClr val="35E7F2"/>
              </a:gs>
              <a:gs pos="55000">
                <a:srgbClr val="0DB9C6"/>
              </a:gs>
              <a:gs pos="100000">
                <a:srgbClr val="0B151C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09600" y="4000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05 / USUARIO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09600" y="723900"/>
            <a:ext cx="9810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Público inicial y pregunta de diseño</a:t>
            </a:r>
            <a:endParaRPr/>
          </a:p>
        </p:txBody>
      </p:sp>
      <p:cxnSp>
        <p:nvCxnSpPr>
          <p:cNvPr id="153" name="Google Shape;153;p6"/>
          <p:cNvCxnSpPr/>
          <p:nvPr/>
        </p:nvCxnSpPr>
        <p:spPr>
          <a:xfrm>
            <a:off x="609600" y="1514475"/>
            <a:ext cx="1047750" cy="0"/>
          </a:xfrm>
          <a:prstGeom prst="straightConnector1">
            <a:avLst/>
          </a:prstGeom>
          <a:noFill/>
          <a:ln cap="flat" cmpd="sng" w="3810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6"/>
          <p:cNvSpPr/>
          <p:nvPr/>
        </p:nvSpPr>
        <p:spPr>
          <a:xfrm>
            <a:off x="7962900" y="1428750"/>
            <a:ext cx="4381500" cy="4381500"/>
          </a:xfrm>
          <a:prstGeom prst="ellipse">
            <a:avLst/>
          </a:prstGeom>
          <a:gradFill>
            <a:gsLst>
              <a:gs pos="0">
                <a:srgbClr val="35E7F2">
                  <a:alpha val="25098"/>
                </a:srgbClr>
              </a:gs>
              <a:gs pos="69000">
                <a:srgbClr val="35E7F2">
                  <a:alpha val="0"/>
                </a:srgbClr>
              </a:gs>
              <a:gs pos="100000">
                <a:srgbClr val="35E7F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10002950" y="857400"/>
            <a:ext cx="2238900" cy="40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22500"/>
              <a:buFont typeface="Arial"/>
              <a:buNone/>
            </a:pPr>
            <a:r>
              <a:rPr b="1" lang="en-US" sz="2250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85800" y="1857375"/>
            <a:ext cx="390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PERSONAS FÍSICAMENTE ACTIVAS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85800" y="2209800"/>
            <a:ext cx="4572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Registran sus comidas y necesitan conocer la composición de la porción que realmente consumen.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85800" y="37528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685800" y="4067175"/>
            <a:ext cx="41910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7D9DE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C7D9DE"/>
                </a:solidFill>
                <a:latin typeface="Arial"/>
                <a:ea typeface="Arial"/>
                <a:cs typeface="Arial"/>
                <a:sym typeface="Arial"/>
              </a:rPr>
              <a:t>Información rápida, comprensible, corregible y vinculada a una fuente nutricional.</a:t>
            </a:r>
            <a:endParaRPr/>
          </a:p>
        </p:txBody>
      </p:sp>
      <p:cxnSp>
        <p:nvCxnSpPr>
          <p:cNvPr id="160" name="Google Shape;160;p6"/>
          <p:cNvCxnSpPr/>
          <p:nvPr/>
        </p:nvCxnSpPr>
        <p:spPr>
          <a:xfrm>
            <a:off x="5448300" y="1866900"/>
            <a:ext cx="0" cy="3714750"/>
          </a:xfrm>
          <a:prstGeom prst="straightConnector1">
            <a:avLst/>
          </a:prstGeom>
          <a:noFill/>
          <a:ln cap="flat" cmpd="sng" w="9525">
            <a:solidFill>
              <a:srgbClr val="3656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6"/>
          <p:cNvSpPr/>
          <p:nvPr/>
        </p:nvSpPr>
        <p:spPr>
          <a:xfrm>
            <a:off x="5981700" y="2000250"/>
            <a:ext cx="4953000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¿Qué dificultades enfrentan las personas físicamente activas al obtener información práctica y comprensible sobre la cantidad y la composición nutricional de sus porciones?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981700" y="4829175"/>
            <a:ext cx="4857750" cy="514350"/>
          </a:xfrm>
          <a:prstGeom prst="roundRect">
            <a:avLst>
              <a:gd fmla="val 22222" name="adj"/>
            </a:avLst>
          </a:prstGeom>
          <a:solidFill>
            <a:srgbClr val="0A171D">
              <a:alpha val="65098"/>
            </a:srgbClr>
          </a:solidFill>
          <a:ln cap="flat" cmpd="sng" w="9525">
            <a:solidFill>
              <a:srgbClr val="3153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6191250" y="4953000"/>
            <a:ext cx="4438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B6C9CE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B6C9CE"/>
                </a:solidFill>
                <a:latin typeface="Arial"/>
                <a:ea typeface="Arial"/>
                <a:cs typeface="Arial"/>
                <a:sym typeface="Arial"/>
              </a:rPr>
              <a:t>Fuera de alcance: diagnósticos, tratamientos y planes personalizados.</a:t>
            </a:r>
            <a:endParaRPr/>
          </a:p>
        </p:txBody>
      </p:sp>
      <p:cxnSp>
        <p:nvCxnSpPr>
          <p:cNvPr id="164" name="Google Shape;164;p6"/>
          <p:cNvCxnSpPr/>
          <p:nvPr/>
        </p:nvCxnSpPr>
        <p:spPr>
          <a:xfrm>
            <a:off x="609600" y="64008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3350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6"/>
          <p:cNvSpPr/>
          <p:nvPr/>
        </p:nvSpPr>
        <p:spPr>
          <a:xfrm>
            <a:off x="609600" y="6496050"/>
            <a:ext cx="962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6BBC1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A6BBC1"/>
                </a:solidFill>
                <a:latin typeface="Arial"/>
                <a:ea typeface="Arial"/>
                <a:cs typeface="Arial"/>
                <a:sym typeface="Arial"/>
              </a:rPr>
              <a:t>Fuente: definición de público, pregunta y alcance del repositorio Fdd_Equipo_10.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10934700" y="64579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7"/>
          <p:cNvPicPr preferRelativeResize="0"/>
          <p:nvPr/>
        </p:nvPicPr>
        <p:blipFill rotWithShape="1">
          <a:blip r:embed="rId3">
            <a:alphaModFix/>
          </a:blip>
          <a:srcRect b="12500" l="0" r="0" t="1250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090D">
                  <a:alpha val="98824"/>
                </a:srgbClr>
              </a:gs>
              <a:gs pos="44000">
                <a:srgbClr val="07131A">
                  <a:alpha val="96863"/>
                </a:srgbClr>
              </a:gs>
              <a:gs pos="65000">
                <a:srgbClr val="07131A">
                  <a:alpha val="54902"/>
                </a:srgbClr>
              </a:gs>
              <a:gs pos="100000">
                <a:srgbClr val="07131A">
                  <a:alpha val="12157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10196"/>
                </a:srgbClr>
              </a:gs>
              <a:gs pos="55000">
                <a:srgbClr val="000000">
                  <a:alpha val="0"/>
                </a:srgbClr>
              </a:gs>
              <a:gs pos="100000">
                <a:srgbClr val="000000">
                  <a:alpha val="81961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DB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609600" y="4000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06 / PROPUESTA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609600" y="723900"/>
            <a:ext cx="7143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Un sistema nutricional para porciones</a:t>
            </a:r>
            <a:endParaRPr/>
          </a:p>
        </p:txBody>
      </p:sp>
      <p:cxnSp>
        <p:nvCxnSpPr>
          <p:cNvPr id="178" name="Google Shape;178;p7"/>
          <p:cNvCxnSpPr/>
          <p:nvPr/>
        </p:nvCxnSpPr>
        <p:spPr>
          <a:xfrm>
            <a:off x="609600" y="1514475"/>
            <a:ext cx="1047750" cy="0"/>
          </a:xfrm>
          <a:prstGeom prst="straightConnector1">
            <a:avLst/>
          </a:prstGeom>
          <a:noFill/>
          <a:ln cap="flat" cmpd="sng" w="3810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7"/>
          <p:cNvSpPr/>
          <p:nvPr/>
        </p:nvSpPr>
        <p:spPr>
          <a:xfrm>
            <a:off x="609600" y="1600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B2C7CD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B2C7CD"/>
                </a:solidFill>
                <a:latin typeface="Arial"/>
                <a:ea typeface="Arial"/>
                <a:cs typeface="Arial"/>
                <a:sym typeface="Arial"/>
              </a:rPr>
              <a:t>Concepto inicial sujeto a validación con usuarios</a:t>
            </a:r>
            <a:endParaRPr/>
          </a:p>
        </p:txBody>
      </p:sp>
      <p:cxnSp>
        <p:nvCxnSpPr>
          <p:cNvPr id="180" name="Google Shape;180;p7"/>
          <p:cNvCxnSpPr/>
          <p:nvPr/>
        </p:nvCxnSpPr>
        <p:spPr>
          <a:xfrm>
            <a:off x="838200" y="2552700"/>
            <a:ext cx="0" cy="552450"/>
          </a:xfrm>
          <a:prstGeom prst="straightConnector1">
            <a:avLst/>
          </a:prstGeom>
          <a:noFill/>
          <a:ln cap="flat" cmpd="sng" w="19050">
            <a:solidFill>
              <a:srgbClr val="37616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7"/>
          <p:cNvSpPr/>
          <p:nvPr/>
        </p:nvSpPr>
        <p:spPr>
          <a:xfrm>
            <a:off x="676275" y="2181225"/>
            <a:ext cx="323850" cy="323850"/>
          </a:xfrm>
          <a:prstGeom prst="ellipse">
            <a:avLst/>
          </a:prstGeom>
          <a:solidFill>
            <a:srgbClr val="0C2A34"/>
          </a:solidFill>
          <a:ln cap="flat" cmpd="sng" w="1905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76275" y="2181225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1219200" y="2133600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REGISTRAR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219200" y="2390775"/>
            <a:ext cx="3810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Foto, texto, voz o sensor de masa</a:t>
            </a:r>
            <a:endParaRPr/>
          </a:p>
        </p:txBody>
      </p:sp>
      <p:cxnSp>
        <p:nvCxnSpPr>
          <p:cNvPr id="185" name="Google Shape;185;p7"/>
          <p:cNvCxnSpPr/>
          <p:nvPr/>
        </p:nvCxnSpPr>
        <p:spPr>
          <a:xfrm>
            <a:off x="838200" y="3429000"/>
            <a:ext cx="0" cy="552450"/>
          </a:xfrm>
          <a:prstGeom prst="straightConnector1">
            <a:avLst/>
          </a:prstGeom>
          <a:noFill/>
          <a:ln cap="flat" cmpd="sng" w="19050">
            <a:solidFill>
              <a:srgbClr val="37616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7"/>
          <p:cNvSpPr/>
          <p:nvPr/>
        </p:nvSpPr>
        <p:spPr>
          <a:xfrm>
            <a:off x="676275" y="3057525"/>
            <a:ext cx="323850" cy="323850"/>
          </a:xfrm>
          <a:prstGeom prst="ellipse">
            <a:avLst/>
          </a:prstGeom>
          <a:solidFill>
            <a:srgbClr val="0C2A34"/>
          </a:solidFill>
          <a:ln cap="flat" cmpd="sng" w="1905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676275" y="3057525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1219200" y="3009900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1219200" y="3267075"/>
            <a:ext cx="3810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Alimento y cantidad; el usuario puede corregir</a:t>
            </a:r>
            <a:endParaRPr/>
          </a:p>
        </p:txBody>
      </p:sp>
      <p:cxnSp>
        <p:nvCxnSpPr>
          <p:cNvPr id="190" name="Google Shape;190;p7"/>
          <p:cNvCxnSpPr/>
          <p:nvPr/>
        </p:nvCxnSpPr>
        <p:spPr>
          <a:xfrm>
            <a:off x="838200" y="4305300"/>
            <a:ext cx="0" cy="552450"/>
          </a:xfrm>
          <a:prstGeom prst="straightConnector1">
            <a:avLst/>
          </a:prstGeom>
          <a:noFill/>
          <a:ln cap="flat" cmpd="sng" w="19050">
            <a:solidFill>
              <a:srgbClr val="37616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7"/>
          <p:cNvSpPr/>
          <p:nvPr/>
        </p:nvSpPr>
        <p:spPr>
          <a:xfrm>
            <a:off x="676275" y="3933825"/>
            <a:ext cx="323850" cy="323850"/>
          </a:xfrm>
          <a:prstGeom prst="ellipse">
            <a:avLst/>
          </a:prstGeom>
          <a:solidFill>
            <a:srgbClr val="0C2A34"/>
          </a:solidFill>
          <a:ln cap="flat" cmpd="sng" w="1905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76275" y="3933825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1219200" y="3886200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CALCULAR</a:t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1219200" y="4143375"/>
            <a:ext cx="3810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Escalar la composición a la porción real</a:t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76275" y="4810125"/>
            <a:ext cx="323850" cy="323850"/>
          </a:xfrm>
          <a:prstGeom prst="ellipse">
            <a:avLst/>
          </a:prstGeom>
          <a:solidFill>
            <a:srgbClr val="F5B82E"/>
          </a:solidFill>
          <a:ln cap="flat" cmpd="sng" w="19050">
            <a:solidFill>
              <a:srgbClr val="F5B8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76275" y="4810125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2029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1219200" y="4762500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INFORMAR</a:t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1219200" y="5019675"/>
            <a:ext cx="3810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Gramos, kcal, macros y fuente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6096000" y="1543050"/>
            <a:ext cx="5619900" cy="1028700"/>
          </a:xfrm>
          <a:prstGeom prst="roundRect">
            <a:avLst>
              <a:gd fmla="val 12963" name="adj"/>
            </a:avLst>
          </a:prstGeom>
          <a:gradFill>
            <a:gsLst>
              <a:gs pos="0">
                <a:srgbClr val="050A0E">
                  <a:alpha val="90196"/>
                </a:srgbClr>
              </a:gs>
              <a:gs pos="100000">
                <a:srgbClr val="0B1B23">
                  <a:alpha val="74902"/>
                </a:srgbClr>
              </a:gs>
            </a:gsLst>
            <a:lin ang="5400000" scaled="0"/>
          </a:gradFill>
          <a:ln cap="flat" cmpd="sng" w="9525">
            <a:solidFill>
              <a:srgbClr val="2A56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6381825" y="1691475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PRINCIPIO DE CONFIANZA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6381825" y="1930700"/>
            <a:ext cx="5048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Distinguir qué fue medido y qué fue estimado; permitir corregir antes de confirmar.</a:t>
            </a:r>
            <a:endParaRPr/>
          </a:p>
        </p:txBody>
      </p:sp>
      <p:cxnSp>
        <p:nvCxnSpPr>
          <p:cNvPr id="202" name="Google Shape;202;p7"/>
          <p:cNvCxnSpPr/>
          <p:nvPr/>
        </p:nvCxnSpPr>
        <p:spPr>
          <a:xfrm>
            <a:off x="609600" y="64008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3350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7"/>
          <p:cNvSpPr/>
          <p:nvPr/>
        </p:nvSpPr>
        <p:spPr>
          <a:xfrm>
            <a:off x="609600" y="6496050"/>
            <a:ext cx="962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6BBC1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A6BBC1"/>
                </a:solidFill>
                <a:latin typeface="Arial"/>
                <a:ea typeface="Arial"/>
                <a:cs typeface="Arial"/>
                <a:sym typeface="Arial"/>
              </a:rPr>
              <a:t>Fuente: lista de exigencias y síntesis de antecedentes del equipo, repositorio Fdd_Equipo_10.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10934700" y="64579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gradFill>
          <a:gsLst>
            <a:gs pos="0">
              <a:srgbClr val="061017"/>
            </a:gs>
            <a:gs pos="60000">
              <a:srgbClr val="102B35"/>
            </a:gs>
            <a:gs pos="100000">
              <a:srgbClr val="071219"/>
            </a:gs>
          </a:gsLst>
          <a:lin ang="7080000" scaled="0"/>
        </a:gra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5E7F2">
                  <a:alpha val="14902"/>
                </a:srgbClr>
              </a:gs>
              <a:gs pos="67000">
                <a:srgbClr val="35E7F2">
                  <a:alpha val="0"/>
                </a:srgbClr>
              </a:gs>
              <a:gs pos="100000">
                <a:srgbClr val="35E7F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gradFill>
            <a:gsLst>
              <a:gs pos="0">
                <a:srgbClr val="35E7F2"/>
              </a:gs>
              <a:gs pos="55000">
                <a:srgbClr val="0DB9C6"/>
              </a:gs>
              <a:gs pos="100000">
                <a:srgbClr val="0B151C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609600" y="4000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07 / VALIDACIÓN</a:t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609600" y="723900"/>
            <a:ext cx="9810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Criterios de éxito del prototipo</a:t>
            </a:r>
            <a:endParaRPr/>
          </a:p>
        </p:txBody>
      </p:sp>
      <p:cxnSp>
        <p:nvCxnSpPr>
          <p:cNvPr id="214" name="Google Shape;214;p8"/>
          <p:cNvCxnSpPr/>
          <p:nvPr/>
        </p:nvCxnSpPr>
        <p:spPr>
          <a:xfrm>
            <a:off x="609600" y="1514475"/>
            <a:ext cx="1047750" cy="0"/>
          </a:xfrm>
          <a:prstGeom prst="straightConnector1">
            <a:avLst/>
          </a:prstGeom>
          <a:noFill/>
          <a:ln cap="flat" cmpd="sng" w="3810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8"/>
          <p:cNvSpPr/>
          <p:nvPr/>
        </p:nvSpPr>
        <p:spPr>
          <a:xfrm>
            <a:off x="609600" y="16383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8EA5AD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8EA5AD"/>
                </a:solidFill>
                <a:latin typeface="Arial"/>
                <a:ea typeface="Arial"/>
                <a:cs typeface="Arial"/>
                <a:sym typeface="Arial"/>
              </a:rPr>
              <a:t>Metas de validación; todavía no son resultados.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228600" y="1828800"/>
            <a:ext cx="3429000" cy="2571750"/>
          </a:xfrm>
          <a:prstGeom prst="ellipse">
            <a:avLst/>
          </a:prstGeom>
          <a:gradFill>
            <a:gsLst>
              <a:gs pos="0">
                <a:srgbClr val="35E7F2">
                  <a:alpha val="20000"/>
                </a:srgbClr>
              </a:gs>
              <a:gs pos="72000">
                <a:srgbClr val="35E7F2">
                  <a:alpha val="0"/>
                </a:srgbClr>
              </a:gs>
              <a:gs pos="100000">
                <a:srgbClr val="35E7F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685800" y="220980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REGISTRO</a:t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685800" y="2571750"/>
            <a:ext cx="2952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4125"/>
              <a:buFont typeface="Arial"/>
              <a:buNone/>
            </a:pPr>
            <a:r>
              <a:rPr b="1" lang="en-US" sz="412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≤ 60 s</a:t>
            </a:r>
            <a:endParaRPr/>
          </a:p>
        </p:txBody>
      </p:sp>
      <p:cxnSp>
        <p:nvCxnSpPr>
          <p:cNvPr id="219" name="Google Shape;219;p8"/>
          <p:cNvCxnSpPr/>
          <p:nvPr/>
        </p:nvCxnSpPr>
        <p:spPr>
          <a:xfrm>
            <a:off x="685800" y="3495675"/>
            <a:ext cx="2381250" cy="0"/>
          </a:xfrm>
          <a:prstGeom prst="straightConnector1">
            <a:avLst/>
          </a:prstGeom>
          <a:noFill/>
          <a:ln cap="flat" cmpd="sng" w="28575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8"/>
          <p:cNvSpPr/>
          <p:nvPr/>
        </p:nvSpPr>
        <p:spPr>
          <a:xfrm>
            <a:off x="685800" y="3752850"/>
            <a:ext cx="2762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4D7DC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C4D7DC"/>
                </a:solidFill>
                <a:latin typeface="Arial"/>
                <a:ea typeface="Arial"/>
                <a:cs typeface="Arial"/>
                <a:sym typeface="Arial"/>
              </a:rPr>
              <a:t>Completar una comida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4D7DC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C4D7DC"/>
                </a:solidFill>
                <a:latin typeface="Arial"/>
                <a:ea typeface="Arial"/>
                <a:cs typeface="Arial"/>
                <a:sym typeface="Arial"/>
              </a:rPr>
              <a:t>en no más de 5 acciones.</a:t>
            </a:r>
            <a:endParaRPr/>
          </a:p>
        </p:txBody>
      </p:sp>
      <p:cxnSp>
        <p:nvCxnSpPr>
          <p:cNvPr id="221" name="Google Shape;221;p8"/>
          <p:cNvCxnSpPr/>
          <p:nvPr/>
        </p:nvCxnSpPr>
        <p:spPr>
          <a:xfrm>
            <a:off x="3829050" y="2152650"/>
            <a:ext cx="0" cy="2438400"/>
          </a:xfrm>
          <a:prstGeom prst="straightConnector1">
            <a:avLst/>
          </a:prstGeom>
          <a:noFill/>
          <a:ln cap="flat" cmpd="sng" w="9525">
            <a:solidFill>
              <a:srgbClr val="3452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8"/>
          <p:cNvSpPr/>
          <p:nvPr/>
        </p:nvSpPr>
        <p:spPr>
          <a:xfrm>
            <a:off x="3848100" y="1828800"/>
            <a:ext cx="3429000" cy="2571750"/>
          </a:xfrm>
          <a:prstGeom prst="ellipse">
            <a:avLst/>
          </a:prstGeom>
          <a:gradFill>
            <a:gsLst>
              <a:gs pos="0">
                <a:srgbClr val="F5B82E">
                  <a:alpha val="20000"/>
                </a:srgbClr>
              </a:gs>
              <a:gs pos="72000">
                <a:srgbClr val="F5B82E">
                  <a:alpha val="0"/>
                </a:srgbClr>
              </a:gs>
              <a:gs pos="100000">
                <a:srgbClr val="F5B82E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4305300" y="220980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305300" y="2571750"/>
            <a:ext cx="2952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4125"/>
              <a:buFont typeface="Arial"/>
              <a:buNone/>
            </a:pPr>
            <a:r>
              <a:rPr b="1" lang="en-US" sz="412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≤ 20%</a:t>
            </a:r>
            <a:endParaRPr/>
          </a:p>
        </p:txBody>
      </p:sp>
      <p:cxnSp>
        <p:nvCxnSpPr>
          <p:cNvPr id="225" name="Google Shape;225;p8"/>
          <p:cNvCxnSpPr/>
          <p:nvPr/>
        </p:nvCxnSpPr>
        <p:spPr>
          <a:xfrm>
            <a:off x="4305300" y="3495675"/>
            <a:ext cx="2381250" cy="0"/>
          </a:xfrm>
          <a:prstGeom prst="straightConnector1">
            <a:avLst/>
          </a:prstGeom>
          <a:noFill/>
          <a:ln cap="flat" cmpd="sng" w="28575">
            <a:solidFill>
              <a:srgbClr val="F5B8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8"/>
          <p:cNvSpPr/>
          <p:nvPr/>
        </p:nvSpPr>
        <p:spPr>
          <a:xfrm>
            <a:off x="4305300" y="3752850"/>
            <a:ext cx="2762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4D7DC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C4D7DC"/>
                </a:solidFill>
                <a:latin typeface="Arial"/>
                <a:ea typeface="Arial"/>
                <a:cs typeface="Arial"/>
                <a:sym typeface="Arial"/>
              </a:rPr>
              <a:t>Error porcentual medio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4D7DC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C4D7DC"/>
                </a:solidFill>
                <a:latin typeface="Arial"/>
                <a:ea typeface="Arial"/>
                <a:cs typeface="Arial"/>
                <a:sym typeface="Arial"/>
              </a:rPr>
              <a:t>en al menos 30 porciones.</a:t>
            </a:r>
            <a:endParaRPr/>
          </a:p>
        </p:txBody>
      </p:sp>
      <p:cxnSp>
        <p:nvCxnSpPr>
          <p:cNvPr id="227" name="Google Shape;227;p8"/>
          <p:cNvCxnSpPr/>
          <p:nvPr/>
        </p:nvCxnSpPr>
        <p:spPr>
          <a:xfrm>
            <a:off x="7448550" y="2152650"/>
            <a:ext cx="0" cy="2438400"/>
          </a:xfrm>
          <a:prstGeom prst="straightConnector1">
            <a:avLst/>
          </a:prstGeom>
          <a:noFill/>
          <a:ln cap="flat" cmpd="sng" w="9525">
            <a:solidFill>
              <a:srgbClr val="3452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8"/>
          <p:cNvSpPr/>
          <p:nvPr/>
        </p:nvSpPr>
        <p:spPr>
          <a:xfrm>
            <a:off x="7467600" y="1828800"/>
            <a:ext cx="3429000" cy="2571750"/>
          </a:xfrm>
          <a:prstGeom prst="ellipse">
            <a:avLst/>
          </a:prstGeom>
          <a:gradFill>
            <a:gsLst>
              <a:gs pos="0">
                <a:srgbClr val="35E7F2">
                  <a:alpha val="20000"/>
                </a:srgbClr>
              </a:gs>
              <a:gs pos="72000">
                <a:srgbClr val="35E7F2">
                  <a:alpha val="0"/>
                </a:srgbClr>
              </a:gs>
              <a:gs pos="100000">
                <a:srgbClr val="35E7F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7924800" y="220980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CÁLCULO</a:t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7924800" y="2571750"/>
            <a:ext cx="2952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4125"/>
              <a:buFont typeface="Arial"/>
              <a:buNone/>
            </a:pPr>
            <a:r>
              <a:rPr b="1" lang="en-US" sz="412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≤ 1%</a:t>
            </a:r>
            <a:endParaRPr/>
          </a:p>
        </p:txBody>
      </p:sp>
      <p:cxnSp>
        <p:nvCxnSpPr>
          <p:cNvPr id="231" name="Google Shape;231;p8"/>
          <p:cNvCxnSpPr/>
          <p:nvPr/>
        </p:nvCxnSpPr>
        <p:spPr>
          <a:xfrm>
            <a:off x="7924800" y="3495675"/>
            <a:ext cx="2381250" cy="0"/>
          </a:xfrm>
          <a:prstGeom prst="straightConnector1">
            <a:avLst/>
          </a:prstGeom>
          <a:noFill/>
          <a:ln cap="flat" cmpd="sng" w="28575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8"/>
          <p:cNvSpPr/>
          <p:nvPr/>
        </p:nvSpPr>
        <p:spPr>
          <a:xfrm>
            <a:off x="7924800" y="3752850"/>
            <a:ext cx="2762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4D7DC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C4D7DC"/>
                </a:solidFill>
                <a:latin typeface="Arial"/>
                <a:ea typeface="Arial"/>
                <a:cs typeface="Arial"/>
                <a:sym typeface="Arial"/>
              </a:rPr>
              <a:t>Error al escalar nutrientes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4D7DC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C4D7DC"/>
                </a:solidFill>
                <a:latin typeface="Arial"/>
                <a:ea typeface="Arial"/>
                <a:cs typeface="Arial"/>
                <a:sym typeface="Arial"/>
              </a:rPr>
              <a:t>con cantidad conocida.</a:t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685800" y="4933950"/>
            <a:ext cx="10820400" cy="971550"/>
          </a:xfrm>
          <a:prstGeom prst="roundRect">
            <a:avLst>
              <a:gd fmla="val 15686" name="adj"/>
            </a:avLst>
          </a:prstGeom>
          <a:gradFill>
            <a:gsLst>
              <a:gs pos="0">
                <a:srgbClr val="0C222B"/>
              </a:gs>
              <a:gs pos="100000">
                <a:srgbClr val="123641"/>
              </a:gs>
            </a:gsLst>
            <a:lin ang="5400000" scaled="0"/>
          </a:gradFill>
          <a:ln cap="flat" cmpd="sng" w="9525">
            <a:solidFill>
              <a:srgbClr val="2D55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971550" y="5191125"/>
            <a:ext cx="10248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La persona podrá corregir alimento y cantidad antes de confirmar. La interfaz separará valores medidos de estimados y mostrará la fuente y versión nutricional.</a:t>
            </a:r>
            <a:endParaRPr/>
          </a:p>
        </p:txBody>
      </p:sp>
      <p:cxnSp>
        <p:nvCxnSpPr>
          <p:cNvPr id="235" name="Google Shape;235;p8"/>
          <p:cNvCxnSpPr/>
          <p:nvPr/>
        </p:nvCxnSpPr>
        <p:spPr>
          <a:xfrm>
            <a:off x="609600" y="64008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3350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8"/>
          <p:cNvSpPr/>
          <p:nvPr/>
        </p:nvSpPr>
        <p:spPr>
          <a:xfrm>
            <a:off x="609600" y="6496050"/>
            <a:ext cx="962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6BBC1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A6BBC1"/>
                </a:solidFill>
                <a:latin typeface="Arial"/>
                <a:ea typeface="Arial"/>
                <a:cs typeface="Arial"/>
                <a:sym typeface="Arial"/>
              </a:rPr>
              <a:t>Fuente: Lista de exigencias, Taller 04 del Equipo 10.</a:t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10934700" y="64579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BFB"/>
            </a:gs>
            <a:gs pos="56000">
              <a:srgbClr val="E7F1F1"/>
            </a:gs>
            <a:gs pos="100000">
              <a:srgbClr val="D4E8E9"/>
            </a:gs>
          </a:gsLst>
          <a:lin ang="6600130" scaled="0"/>
        </a:gra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b81d0e54c_1_0"/>
          <p:cNvSpPr/>
          <p:nvPr/>
        </p:nvSpPr>
        <p:spPr>
          <a:xfrm>
            <a:off x="0" y="47625"/>
            <a:ext cx="12192000" cy="6858000"/>
          </a:xfrm>
          <a:prstGeom prst="rect">
            <a:avLst/>
          </a:prstGeom>
          <a:gradFill>
            <a:gsLst>
              <a:gs pos="0">
                <a:srgbClr val="35E7F2">
                  <a:alpha val="20000"/>
                </a:srgbClr>
              </a:gs>
              <a:gs pos="70000">
                <a:srgbClr val="35E7F2">
                  <a:alpha val="0"/>
                </a:srgbClr>
              </a:gs>
              <a:gs pos="100000">
                <a:srgbClr val="35E7F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b81d0e54c_1_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gradFill>
            <a:gsLst>
              <a:gs pos="0">
                <a:srgbClr val="0DB9C6"/>
              </a:gs>
              <a:gs pos="100000">
                <a:srgbClr val="35E7F2"/>
              </a:gs>
            </a:gsLst>
            <a:lin ang="10800025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b81d0e54c_1_0"/>
          <p:cNvSpPr/>
          <p:nvPr/>
        </p:nvSpPr>
        <p:spPr>
          <a:xfrm>
            <a:off x="609600" y="400050"/>
            <a:ext cx="3048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DB9C6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B9C6"/>
                </a:solidFill>
                <a:latin typeface="Arial"/>
                <a:ea typeface="Arial"/>
                <a:cs typeface="Arial"/>
                <a:sym typeface="Arial"/>
              </a:rPr>
              <a:t>08 / ODS</a:t>
            </a:r>
            <a:endParaRPr/>
          </a:p>
        </p:txBody>
      </p:sp>
      <p:sp>
        <p:nvSpPr>
          <p:cNvPr id="246" name="Google Shape;246;g3fb81d0e54c_1_0"/>
          <p:cNvSpPr/>
          <p:nvPr/>
        </p:nvSpPr>
        <p:spPr>
          <a:xfrm>
            <a:off x="609600" y="723900"/>
            <a:ext cx="99060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B2029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ODS principal y contribución secundaria</a:t>
            </a:r>
            <a:endParaRPr/>
          </a:p>
        </p:txBody>
      </p:sp>
      <p:cxnSp>
        <p:nvCxnSpPr>
          <p:cNvPr id="247" name="Google Shape;247;g3fb81d0e54c_1_0"/>
          <p:cNvCxnSpPr/>
          <p:nvPr/>
        </p:nvCxnSpPr>
        <p:spPr>
          <a:xfrm>
            <a:off x="609600" y="1514475"/>
            <a:ext cx="1047900" cy="0"/>
          </a:xfrm>
          <a:prstGeom prst="straightConnector1">
            <a:avLst/>
          </a:prstGeom>
          <a:noFill/>
          <a:ln cap="flat" cmpd="sng" w="38100">
            <a:solidFill>
              <a:srgbClr val="0DB9C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8" name="Google Shape;248;g3fb81d0e54c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1762125"/>
            <a:ext cx="12573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fb81d0e54c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762125"/>
            <a:ext cx="12573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fb81d0e54c_1_0"/>
          <p:cNvSpPr/>
          <p:nvPr/>
        </p:nvSpPr>
        <p:spPr>
          <a:xfrm>
            <a:off x="2171700" y="1790700"/>
            <a:ext cx="123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BF8B2E"/>
              </a:buClr>
              <a:buSzPts val="900"/>
              <a:buFont typeface="Arial"/>
              <a:buNone/>
            </a:pPr>
            <a:r>
              <a:rPr b="1" lang="en-US" sz="1000">
                <a:solidFill>
                  <a:srgbClr val="BF8B2E"/>
                </a:solidFill>
                <a:latin typeface="Arial"/>
                <a:ea typeface="Arial"/>
                <a:cs typeface="Arial"/>
                <a:sym typeface="Arial"/>
              </a:rPr>
              <a:t>PRINCIPAL</a:t>
            </a:r>
            <a:endParaRPr sz="1500"/>
          </a:p>
        </p:txBody>
      </p:sp>
      <p:sp>
        <p:nvSpPr>
          <p:cNvPr id="251" name="Google Shape;251;g3fb81d0e54c_1_0"/>
          <p:cNvSpPr/>
          <p:nvPr/>
        </p:nvSpPr>
        <p:spPr>
          <a:xfrm>
            <a:off x="2171700" y="2066925"/>
            <a:ext cx="2667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2029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META 12.8</a:t>
            </a:r>
            <a:endParaRPr/>
          </a:p>
        </p:txBody>
      </p:sp>
      <p:sp>
        <p:nvSpPr>
          <p:cNvPr id="252" name="Google Shape;252;g3fb81d0e54c_1_0"/>
          <p:cNvSpPr/>
          <p:nvPr/>
        </p:nvSpPr>
        <p:spPr>
          <a:xfrm>
            <a:off x="2171700" y="2476500"/>
            <a:ext cx="3143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D6971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4D6971"/>
                </a:solidFill>
                <a:latin typeface="Arial"/>
                <a:ea typeface="Arial"/>
                <a:cs typeface="Arial"/>
                <a:sym typeface="Arial"/>
              </a:rPr>
              <a:t>Información y conciencia para estilos de vida sostenibles.</a:t>
            </a:r>
            <a:endParaRPr/>
          </a:p>
        </p:txBody>
      </p:sp>
      <p:sp>
        <p:nvSpPr>
          <p:cNvPr id="253" name="Google Shape;253;g3fb81d0e54c_1_0"/>
          <p:cNvSpPr/>
          <p:nvPr/>
        </p:nvSpPr>
        <p:spPr>
          <a:xfrm>
            <a:off x="666750" y="33813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BF8B2E"/>
              </a:buClr>
              <a:buSzPts val="900"/>
              <a:buFont typeface="Arial"/>
              <a:buNone/>
            </a:pPr>
            <a:r>
              <a:rPr b="1" lang="en-US" sz="1000">
                <a:solidFill>
                  <a:srgbClr val="BF8B2E"/>
                </a:solidFill>
                <a:latin typeface="Arial"/>
                <a:ea typeface="Arial"/>
                <a:cs typeface="Arial"/>
                <a:sym typeface="Arial"/>
              </a:rPr>
              <a:t>INDICADOR OFICIAL 12.8.1</a:t>
            </a:r>
            <a:endParaRPr sz="1500"/>
          </a:p>
        </p:txBody>
      </p:sp>
      <p:sp>
        <p:nvSpPr>
          <p:cNvPr id="254" name="Google Shape;254;g3fb81d0e54c_1_0"/>
          <p:cNvSpPr/>
          <p:nvPr/>
        </p:nvSpPr>
        <p:spPr>
          <a:xfrm>
            <a:off x="666750" y="3676650"/>
            <a:ext cx="476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B2029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Grado en que la educación para el desarrollo sostenible se incorpora en políticas, currículos, formación docente y evaluación.</a:t>
            </a:r>
            <a:endParaRPr/>
          </a:p>
        </p:txBody>
      </p:sp>
      <p:sp>
        <p:nvSpPr>
          <p:cNvPr id="255" name="Google Shape;255;g3fb81d0e54c_1_0"/>
          <p:cNvSpPr/>
          <p:nvPr/>
        </p:nvSpPr>
        <p:spPr>
          <a:xfrm>
            <a:off x="666750" y="4838700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DB9C6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DB9C6"/>
                </a:solidFill>
                <a:latin typeface="Arial"/>
                <a:ea typeface="Arial"/>
                <a:cs typeface="Arial"/>
                <a:sym typeface="Arial"/>
              </a:rPr>
              <a:t>MEDICIÓN DEL PROYECTO</a:t>
            </a:r>
            <a:endParaRPr/>
          </a:p>
        </p:txBody>
      </p:sp>
      <p:sp>
        <p:nvSpPr>
          <p:cNvPr id="256" name="Google Shape;256;g3fb81d0e54c_1_0"/>
          <p:cNvSpPr/>
          <p:nvPr/>
        </p:nvSpPr>
        <p:spPr>
          <a:xfrm>
            <a:off x="666750" y="5124450"/>
            <a:ext cx="4762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545D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5545D"/>
                </a:solidFill>
                <a:latin typeface="Arial"/>
                <a:ea typeface="Arial"/>
                <a:cs typeface="Arial"/>
                <a:sym typeface="Arial"/>
              </a:rPr>
              <a:t>Tiempo para obtener información y comprensión de porción, fuente y tipo de valor.</a:t>
            </a:r>
            <a:endParaRPr/>
          </a:p>
        </p:txBody>
      </p:sp>
      <p:cxnSp>
        <p:nvCxnSpPr>
          <p:cNvPr id="257" name="Google Shape;257;g3fb81d0e54c_1_0"/>
          <p:cNvCxnSpPr/>
          <p:nvPr/>
        </p:nvCxnSpPr>
        <p:spPr>
          <a:xfrm>
            <a:off x="5905500" y="1733550"/>
            <a:ext cx="0" cy="4095900"/>
          </a:xfrm>
          <a:prstGeom prst="straightConnector1">
            <a:avLst/>
          </a:prstGeom>
          <a:noFill/>
          <a:ln cap="flat" cmpd="sng" w="9525">
            <a:solidFill>
              <a:srgbClr val="A9C6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g3fb81d0e54c_1_0"/>
          <p:cNvSpPr/>
          <p:nvPr/>
        </p:nvSpPr>
        <p:spPr>
          <a:xfrm>
            <a:off x="7829550" y="1790700"/>
            <a:ext cx="1428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C9F38"/>
              </a:buClr>
              <a:buSzPts val="900"/>
              <a:buFont typeface="Arial"/>
              <a:buNone/>
            </a:pPr>
            <a:r>
              <a:rPr b="1" lang="en-US" sz="1000">
                <a:solidFill>
                  <a:srgbClr val="4C9F38"/>
                </a:solidFill>
                <a:latin typeface="Arial"/>
                <a:ea typeface="Arial"/>
                <a:cs typeface="Arial"/>
                <a:sym typeface="Arial"/>
              </a:rPr>
              <a:t>SECUNDARIO</a:t>
            </a:r>
            <a:endParaRPr sz="1500"/>
          </a:p>
        </p:txBody>
      </p:sp>
      <p:sp>
        <p:nvSpPr>
          <p:cNvPr id="259" name="Google Shape;259;g3fb81d0e54c_1_0"/>
          <p:cNvSpPr/>
          <p:nvPr/>
        </p:nvSpPr>
        <p:spPr>
          <a:xfrm>
            <a:off x="7829550" y="2066925"/>
            <a:ext cx="2476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2029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META 1</a:t>
            </a:r>
            <a:r>
              <a:rPr b="1" lang="en-US" sz="1950">
                <a:solidFill>
                  <a:srgbClr val="0B2029"/>
                </a:solidFill>
              </a:rPr>
              <a:t>2</a:t>
            </a:r>
            <a:r>
              <a:rPr b="1" lang="en-US" sz="1950">
                <a:solidFill>
                  <a:srgbClr val="0B2029"/>
                </a:solidFill>
                <a:latin typeface="Arial"/>
                <a:ea typeface="Arial"/>
                <a:cs typeface="Arial"/>
                <a:sym typeface="Arial"/>
              </a:rPr>
              <a:t>.3</a:t>
            </a:r>
            <a:endParaRPr/>
          </a:p>
        </p:txBody>
      </p:sp>
      <p:sp>
        <p:nvSpPr>
          <p:cNvPr id="260" name="Google Shape;260;g3fb81d0e54c_1_0"/>
          <p:cNvSpPr/>
          <p:nvPr/>
        </p:nvSpPr>
        <p:spPr>
          <a:xfrm>
            <a:off x="7829550" y="2476500"/>
            <a:ext cx="3556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D6971"/>
              </a:buClr>
              <a:buSzPts val="1350"/>
              <a:buFont typeface="Arial"/>
              <a:buNone/>
            </a:pPr>
            <a:r>
              <a:rPr lang="en-US" sz="1300">
                <a:solidFill>
                  <a:srgbClr val="3D5A64"/>
                </a:solidFill>
              </a:rPr>
              <a:t>Reducir a la mitad el desperdicio mundial de alimentos</a:t>
            </a:r>
            <a:r>
              <a:rPr lang="en-US" sz="1200">
                <a:solidFill>
                  <a:srgbClr val="3D5A64"/>
                </a:solidFill>
              </a:rPr>
              <a:t> por persona en tiendas y hogares para el año 2030</a:t>
            </a:r>
            <a:r>
              <a:rPr lang="en-US" sz="11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1" name="Google Shape;261;g3fb81d0e54c_1_0"/>
          <p:cNvSpPr/>
          <p:nvPr/>
        </p:nvSpPr>
        <p:spPr>
          <a:xfrm>
            <a:off x="6324600" y="4838700"/>
            <a:ext cx="276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DB9C6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DB9C6"/>
                </a:solidFill>
                <a:latin typeface="Arial"/>
                <a:ea typeface="Arial"/>
                <a:cs typeface="Arial"/>
                <a:sym typeface="Arial"/>
              </a:rPr>
              <a:t>VÍNCULO POR VALIDAR</a:t>
            </a:r>
            <a:endParaRPr/>
          </a:p>
        </p:txBody>
      </p:sp>
      <p:sp>
        <p:nvSpPr>
          <p:cNvPr id="262" name="Google Shape;262;g3fb81d0e54c_1_0"/>
          <p:cNvSpPr/>
          <p:nvPr/>
        </p:nvSpPr>
        <p:spPr>
          <a:xfrm>
            <a:off x="6324600" y="5124450"/>
            <a:ext cx="4762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545D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5545D"/>
                </a:solidFill>
                <a:latin typeface="Arial"/>
                <a:ea typeface="Arial"/>
                <a:cs typeface="Arial"/>
                <a:sym typeface="Arial"/>
              </a:rPr>
              <a:t>Registrar sobrantes permitiría evaluar si una mejor planificación reduce el desperdicio alimentario.</a:t>
            </a:r>
            <a:endParaRPr/>
          </a:p>
        </p:txBody>
      </p:sp>
      <p:cxnSp>
        <p:nvCxnSpPr>
          <p:cNvPr id="263" name="Google Shape;263;g3fb81d0e54c_1_0"/>
          <p:cNvCxnSpPr/>
          <p:nvPr/>
        </p:nvCxnSpPr>
        <p:spPr>
          <a:xfrm>
            <a:off x="609600" y="64008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AEC8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g3fb81d0e54c_1_0"/>
          <p:cNvSpPr/>
          <p:nvPr/>
        </p:nvSpPr>
        <p:spPr>
          <a:xfrm>
            <a:off x="609600" y="6496050"/>
            <a:ext cx="962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58737B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58737B"/>
                </a:solidFill>
                <a:latin typeface="Arial"/>
                <a:ea typeface="Arial"/>
                <a:cs typeface="Arial"/>
                <a:sym typeface="Arial"/>
              </a:rPr>
              <a:t>Fuentes: Naciones Unidas, indicadores 12.8.1 y 13.3.1; PNUMA, desperdicio alimentario.</a:t>
            </a:r>
            <a:endParaRPr/>
          </a:p>
        </p:txBody>
      </p:sp>
      <p:sp>
        <p:nvSpPr>
          <p:cNvPr id="265" name="Google Shape;265;g3fb81d0e54c_1_0"/>
          <p:cNvSpPr/>
          <p:nvPr/>
        </p:nvSpPr>
        <p:spPr>
          <a:xfrm>
            <a:off x="10934700" y="64579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DB9C6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B9C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66" name="Google Shape;266;g3fb81d0e54c_1_0"/>
          <p:cNvSpPr txBox="1"/>
          <p:nvPr/>
        </p:nvSpPr>
        <p:spPr>
          <a:xfrm>
            <a:off x="6381750" y="3373150"/>
            <a:ext cx="4617000" cy="1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3"/>
                </a:solidFill>
              </a:rPr>
              <a:t>INDICADOR 12.3.1.b </a:t>
            </a:r>
            <a:endParaRPr b="1" sz="13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La cantidad total de alimentos que se desechan en las etapas de venta minorista (supermercados, tiendas) y en los hogares o consumo final. </a:t>
            </a:r>
            <a:endParaRPr sz="1300"/>
          </a:p>
        </p:txBody>
      </p:sp>
      <p:pic>
        <p:nvPicPr>
          <p:cNvPr id="267" name="Google Shape;267;g3fb81d0e54c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762125"/>
            <a:ext cx="125730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090D"/>
            </a:gs>
            <a:gs pos="55000">
              <a:srgbClr val="0B1B23"/>
            </a:gs>
            <a:gs pos="100000">
              <a:srgbClr val="12323C"/>
            </a:gs>
          </a:gsLst>
          <a:lin ang="7200000" scaled="0"/>
        </a:gra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5E7F2">
                  <a:alpha val="14902"/>
                </a:srgbClr>
              </a:gs>
              <a:gs pos="67000">
                <a:srgbClr val="35E7F2">
                  <a:alpha val="0"/>
                </a:srgbClr>
              </a:gs>
              <a:gs pos="100000">
                <a:srgbClr val="35E7F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gradFill>
            <a:gsLst>
              <a:gs pos="0">
                <a:srgbClr val="35E7F2"/>
              </a:gs>
              <a:gs pos="55000">
                <a:srgbClr val="0DB9C6"/>
              </a:gs>
              <a:gs pos="100000">
                <a:srgbClr val="0B151C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609600" y="4000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09 / FUENTES</a:t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609600" y="723900"/>
            <a:ext cx="9810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7FBF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7FBFB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</p:txBody>
      </p:sp>
      <p:cxnSp>
        <p:nvCxnSpPr>
          <p:cNvPr id="277" name="Google Shape;277;p10"/>
          <p:cNvCxnSpPr/>
          <p:nvPr/>
        </p:nvCxnSpPr>
        <p:spPr>
          <a:xfrm>
            <a:off x="609600" y="1514475"/>
            <a:ext cx="1047750" cy="0"/>
          </a:xfrm>
          <a:prstGeom prst="straightConnector1">
            <a:avLst/>
          </a:prstGeom>
          <a:noFill/>
          <a:ln cap="flat" cmpd="sng" w="38100">
            <a:solidFill>
              <a:srgbClr val="35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0"/>
          <p:cNvSpPr/>
          <p:nvPr/>
        </p:nvSpPr>
        <p:spPr>
          <a:xfrm>
            <a:off x="685800" y="1676400"/>
            <a:ext cx="49530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6E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01  </a:t>
            </a:r>
            <a:r>
              <a:rPr b="0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Amoutzopoulos B. et al. Portion size estimation in dietary assessment. Nutr Rev. 2020;78(11):885–900.</a:t>
            </a:r>
            <a:b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doi:10.1093/nutrit/nuz107</a:t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685800" y="2628900"/>
            <a:ext cx="49530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6E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02  </a:t>
            </a:r>
            <a:r>
              <a:rPr b="0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Whitton C. et al. Contributors to misestimation of food and beverage intake. Adv Nutr. 2022;13(6):2620–2665.</a:t>
            </a:r>
            <a:b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doi:10.1093/advances/nmac085</a:t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685800" y="3581400"/>
            <a:ext cx="49530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6E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03  </a:t>
            </a:r>
            <a:r>
              <a:rPr b="0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König L.M., Ziesemer K., Renner B. Estimating sugar, energy and portion size. Nutrients. 2019;11(10):2425.</a:t>
            </a:r>
            <a:b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doi:10.3390/nu11102425</a:t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685800" y="4533900"/>
            <a:ext cx="49530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6E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04  </a:t>
            </a:r>
            <a:r>
              <a:rPr b="0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Instituto Nacional de Salud. Tablas Peruanas de Composición de Alimentos. 11.ª ed. digital. Lima; 2025.</a:t>
            </a:r>
            <a:b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repositorio.ins.gob.pe</a:t>
            </a:r>
            <a:endParaRPr/>
          </a:p>
        </p:txBody>
      </p:sp>
      <p:cxnSp>
        <p:nvCxnSpPr>
          <p:cNvPr id="282" name="Google Shape;282;p10"/>
          <p:cNvCxnSpPr/>
          <p:nvPr/>
        </p:nvCxnSpPr>
        <p:spPr>
          <a:xfrm>
            <a:off x="5943600" y="1676400"/>
            <a:ext cx="0" cy="3905250"/>
          </a:xfrm>
          <a:prstGeom prst="straightConnector1">
            <a:avLst/>
          </a:prstGeom>
          <a:noFill/>
          <a:ln cap="flat" cmpd="sng" w="9525">
            <a:solidFill>
              <a:srgbClr val="3651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0"/>
          <p:cNvSpPr/>
          <p:nvPr/>
        </p:nvSpPr>
        <p:spPr>
          <a:xfrm>
            <a:off x="6343650" y="1676400"/>
            <a:ext cx="4953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6E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05  </a:t>
            </a:r>
            <a:r>
              <a:rPr b="0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Somocurcio Carrión L.F. Influencia del etiquetado de alimentos procesados en el consumidor universitario peruano. Tesis; 2021.</a:t>
            </a:r>
            <a:b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repositorio.ausjal.org</a:t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6343650" y="2724150"/>
            <a:ext cx="4953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6E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06  </a:t>
            </a:r>
            <a:r>
              <a:rPr b="0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Naciones Unidas. Metadatos oficiales de los indicadores ODS 12.8.1 y 3.4.1.</a:t>
            </a:r>
            <a:b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unstats.un.org/sdgs/metadata</a:t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6343650" y="3714750"/>
            <a:ext cx="4953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6E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07  </a:t>
            </a:r>
            <a:r>
              <a:rPr b="0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FAO. Food Composition Data: Production, Management and Use.</a:t>
            </a:r>
            <a:b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fao.org/4/y4705e</a:t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343650" y="4705350"/>
            <a:ext cx="4953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6E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08  </a:t>
            </a:r>
            <a:r>
              <a:rPr b="0" lang="en-US" sz="1050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</a:rPr>
              <a:t>Equipo 10. Repositorio del proyecto y lista de exigencias. Fundamentos de Diseño, UPCH; 2026-2.</a:t>
            </a:r>
            <a:b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0" lang="en-US" sz="1050" u="sng">
                <a:solidFill>
                  <a:srgbClr val="D9E6E8"/>
                </a:solidFill>
                <a:latin typeface="Arial"/>
                <a:ea typeface="Arial"/>
                <a:cs typeface="Arial"/>
                <a:sym typeface="Arial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github.com/Mao-dot/Fdd_Equipo_10</a:t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685800" y="5810250"/>
            <a:ext cx="10610850" cy="381000"/>
          </a:xfrm>
          <a:prstGeom prst="roundRect">
            <a:avLst>
              <a:gd fmla="val 25000" name="adj"/>
            </a:avLst>
          </a:prstGeom>
          <a:solidFill>
            <a:srgbClr val="0E2933"/>
          </a:solidFill>
          <a:ln cap="flat" cmpd="sng" w="9525">
            <a:solidFill>
              <a:srgbClr val="2852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876300" y="5905500"/>
            <a:ext cx="10229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B9F8FB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B9F8FB"/>
                </a:solidFill>
                <a:latin typeface="Arial"/>
                <a:ea typeface="Arial"/>
                <a:cs typeface="Arial"/>
                <a:sym typeface="Arial"/>
              </a:rPr>
              <a:t>Los tres artículos propuestos por el equipo se conservaron porque aportan evidencia directa al problema.</a:t>
            </a:r>
            <a:endParaRPr/>
          </a:p>
        </p:txBody>
      </p:sp>
      <p:cxnSp>
        <p:nvCxnSpPr>
          <p:cNvPr id="289" name="Google Shape;289;p10"/>
          <p:cNvCxnSpPr/>
          <p:nvPr/>
        </p:nvCxnSpPr>
        <p:spPr>
          <a:xfrm>
            <a:off x="609600" y="64008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3350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0"/>
          <p:cNvSpPr/>
          <p:nvPr/>
        </p:nvSpPr>
        <p:spPr>
          <a:xfrm>
            <a:off x="609600" y="6496050"/>
            <a:ext cx="962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6BBC1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A6BBC1"/>
                </a:solidFill>
                <a:latin typeface="Arial"/>
                <a:ea typeface="Arial"/>
                <a:cs typeface="Arial"/>
                <a:sym typeface="Arial"/>
              </a:rPr>
              <a:t>Equipo 10 · Fundamentos de Diseño · UPCH</a:t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10934700" y="64579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5E7F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5E7F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