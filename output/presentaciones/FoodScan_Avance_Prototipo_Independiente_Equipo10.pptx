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b9186fd47447ba" /><Relationship Type="http://schemas.openxmlformats.org/officeDocument/2006/relationships/extended-properties" Target="/docProps/app.xml" Id="R6d54b91595c34ea8" /><Relationship Type="http://schemas.openxmlformats.org/officeDocument/2006/relationships/officeDocument" Target="/ppt/presentation.xml" Id="R80dd1d68230241e2" /></Relationships>
</file>

<file path=ppt/presentation.xml><?xml version="1.0" encoding="utf-8"?>
<p:presentation xmlns:p="http://schemas.openxmlformats.org/presentationml/2006/main">
  <p:sldMasterIdLst>
    <p:sldMasterId xmlns:r="http://schemas.openxmlformats.org/officeDocument/2006/relationships" id="2147483648" r:id="R186a19f3930f4eb1"/>
  </p:sldMasterIdLst>
  <p:notesMasterIdLst>
    <p:notesMasterId xmlns:r="http://schemas.openxmlformats.org/officeDocument/2006/relationships" r:id="R78ad17285f3043cb"/>
  </p:notesMasterIdLst>
  <p:sldIdLst>
    <p:sldId xmlns:r="http://schemas.openxmlformats.org/officeDocument/2006/relationships" id="256" r:id="R696aaf8259174496"/>
    <p:sldId xmlns:r="http://schemas.openxmlformats.org/officeDocument/2006/relationships" id="257" r:id="R731e1d4494194d8a"/>
    <p:sldId xmlns:r="http://schemas.openxmlformats.org/officeDocument/2006/relationships" id="258" r:id="R0d8a4b94b300452b"/>
    <p:sldId xmlns:r="http://schemas.openxmlformats.org/officeDocument/2006/relationships" id="259" r:id="Rea88090a2ca2406b"/>
    <p:sldId xmlns:r="http://schemas.openxmlformats.org/officeDocument/2006/relationships" id="260" r:id="R6b2d191de6094315"/>
    <p:sldId xmlns:r="http://schemas.openxmlformats.org/officeDocument/2006/relationships" id="261" r:id="Rdc11c953dc8e42f0"/>
    <p:sldId xmlns:r="http://schemas.openxmlformats.org/officeDocument/2006/relationships" id="262" r:id="R1d5abdc242a7490f"/>
    <p:sldId xmlns:r="http://schemas.openxmlformats.org/officeDocument/2006/relationships" id="263" r:id="Rd64ada2ca02d4c0d"/>
    <p:sldId xmlns:r="http://schemas.openxmlformats.org/officeDocument/2006/relationships" id="264" r:id="R581012b27aa045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94b11199824d77" /><Relationship Type="http://schemas.openxmlformats.org/officeDocument/2006/relationships/slideMaster" Target="/ppt/slideMasters/slideMaster1.xml" Id="R186a19f3930f4eb1" /><Relationship Type="http://schemas.openxmlformats.org/officeDocument/2006/relationships/notesMaster" Target="/ppt/notesMasters/notesMaster1.xml" Id="R78ad17285f3043cb" /><Relationship Type="http://schemas.openxmlformats.org/officeDocument/2006/relationships/presProps" Target="/ppt/presProps.xml" Id="Raa7783fc8e964d84" /><Relationship Type="http://schemas.openxmlformats.org/officeDocument/2006/relationships/tableStyles" Target="/ppt/tableStyles.xml" Id="R3ad8fd98a9e344c5" /><Relationship Type="http://schemas.openxmlformats.org/officeDocument/2006/relationships/slide" Target="/ppt/slides/slide1.xml" Id="R696aaf8259174496" /><Relationship Type="http://schemas.openxmlformats.org/officeDocument/2006/relationships/slide" Target="/ppt/slides/slide2.xml" Id="R731e1d4494194d8a" /><Relationship Type="http://schemas.openxmlformats.org/officeDocument/2006/relationships/slide" Target="/ppt/slides/slide3.xml" Id="R0d8a4b94b300452b" /><Relationship Type="http://schemas.openxmlformats.org/officeDocument/2006/relationships/slide" Target="/ppt/slides/slide4.xml" Id="Rea88090a2ca2406b" /><Relationship Type="http://schemas.openxmlformats.org/officeDocument/2006/relationships/slide" Target="/ppt/slides/slide5.xml" Id="R6b2d191de6094315" /><Relationship Type="http://schemas.openxmlformats.org/officeDocument/2006/relationships/slide" Target="/ppt/slides/slide6.xml" Id="Rdc11c953dc8e42f0" /><Relationship Type="http://schemas.openxmlformats.org/officeDocument/2006/relationships/slide" Target="/ppt/slides/slide7.xml" Id="R1d5abdc242a7490f" /><Relationship Type="http://schemas.openxmlformats.org/officeDocument/2006/relationships/slide" Target="/ppt/slides/slide8.xml" Id="Rd64ada2ca02d4c0d" /><Relationship Type="http://schemas.openxmlformats.org/officeDocument/2006/relationships/slide" Target="/ppt/slides/slide9.xml" Id="R581012b27aa045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9260913c2649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e389e8d6a548e7" /><Relationship Type="http://schemas.openxmlformats.org/officeDocument/2006/relationships/notesMaster" Target="/ppt/notesMasters/notesMaster1.xml" Id="Rba8f8a3b186a46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473f2b5f9749e2" /><Relationship Type="http://schemas.openxmlformats.org/officeDocument/2006/relationships/notesMaster" Target="/ppt/notesMasters/notesMaster1.xml" Id="R4573be9a15e741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cb544a3224e08" /><Relationship Type="http://schemas.openxmlformats.org/officeDocument/2006/relationships/notesMaster" Target="/ppt/notesMasters/notesMaster1.xml" Id="Re4ab3ded90dc40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784d8845fe4155" /><Relationship Type="http://schemas.openxmlformats.org/officeDocument/2006/relationships/notesMaster" Target="/ppt/notesMasters/notesMaster1.xml" Id="R58b3801f10a84e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d83fd0ba6f417e" /><Relationship Type="http://schemas.openxmlformats.org/officeDocument/2006/relationships/notesMaster" Target="/ppt/notesMasters/notesMaster1.xml" Id="R99b8555ab6f34e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3e5eaba89243d5" /><Relationship Type="http://schemas.openxmlformats.org/officeDocument/2006/relationships/notesMaster" Target="/ppt/notesMasters/notesMaster1.xml" Id="R12b28fa93f5146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0040d3d6794a15" /><Relationship Type="http://schemas.openxmlformats.org/officeDocument/2006/relationships/notesMaster" Target="/ppt/notesMasters/notesMaster1.xml" Id="R57775836bbd142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daad0bce524e91" /><Relationship Type="http://schemas.openxmlformats.org/officeDocument/2006/relationships/notesMaster" Target="/ppt/notesMasters/notesMaster1.xml" Id="R30cb45a8144f4b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4c5cd334174b24" /><Relationship Type="http://schemas.openxmlformats.org/officeDocument/2006/relationships/notesMaster" Target="/ppt/notesMasters/notesMaster1.xml" Id="Rded52f2e9d4a47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continuación presentamos el avance de nuestro prototipo FoodScan.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Nuestro avance del prototipo es FoodScan, la aplicación que relaciona la foto y el peso de una comida con información nutricional. Ya implementamos captura, ingreso de peso, reconocimiento con IA, cálculo y revisión antes de guardar.</a:t>
            </a:r>
          </a:p>
          <a:p xmlns:a="http://schemas.openxmlformats.org/drawingml/2006/main">
            <a:r>
              <a:t/>
            </a:r>
          </a:p>
          <a:p xmlns:a="http://schemas.openxmlformats.org/drawingml/2006/main">
            <a:r>
              <a:t>La pantalla inicial acumula comidas y nutrientes del día. La balanza externa aporta la medición física.</a:t>
            </a:r>
          </a:p>
          <a:p xmlns:a="http://schemas.openxmlformats.org/drawingml/2006/main">
            <a:r>
              <a:t/>
            </a:r>
          </a:p>
          <a:p xmlns:a="http://schemas.openxmlformats.org/drawingml/2006/main">
            <a:r>
              <a:t>Evidencia y alcance:</a:t>
            </a:r>
          </a:p>
          <a:p xmlns:a="http://schemas.openxmlformats.org/drawingml/2006/main">
            <a:r>
              <a:t>Captura real proporcionada por Mao. El resumen inicial muestra cero comidas. No se interpreta como resultado de reconocimiento. Implementación inspeccionada: FoodScan/components/foodscan.tsx, lib/gemini.ts, lib/nutrition.ts, data/foods.json. La aplicación usa Next.js, React y TypeScript, pero esos nombres no son necesarios para explicar el flujo a docentes de otras áreas. La integración del dispositivo de pesaje no está construida en este avance.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obtener la cantidad usamos una balanza TRUPER de cinco kilogramos. Primero colocamos el plato vacío y aplicamos la tara para descontarlo. Después agregamos la comida y leemos su peso neto en gramos.</a:t>
            </a:r>
          </a:p>
          <a:p xmlns:a="http://schemas.openxmlformats.org/drawingml/2006/main">
            <a:r>
              <a:t/>
            </a:r>
          </a:p>
          <a:p xmlns:a="http://schemas.openxmlformats.org/drawingml/2006/main">
            <a:r>
              <a:t>Por ahora escribimos la lectura en la aplicación. La transmisión automática queda pendiente. Distinguimos la capacidad de la balanza del rango del formulario: FoodScan admite de diez a tres mil gramos.</a:t>
            </a:r>
          </a:p>
          <a:p xmlns:a="http://schemas.openxmlformats.org/drawingml/2006/main">
            <a:r>
              <a:t/>
            </a:r>
          </a:p>
          <a:p xmlns:a="http://schemas.openxmlformats.org/drawingml/2006/main">
            <a:r>
              <a:t>Evidencia y alcance:</a:t>
            </a:r>
          </a:p>
          <a:p xmlns:a="http://schemas.openxmlformats.org/drawingml/2006/main">
            <a:r>
              <a:t>Fotos originales de la balanza y la porción proporcionadas por el usuario. El usuario confirmó marca TRUPER y capacidad 5 kg. No se afirma modelo, pila, exactitud o calibración. La imagen sin carga indica cero pero no acredita tara del recipiente. Las imágenes con carga no muestran una secuencia de tara y no prueban exactitud. La demostración requiere aplicar tara al plato vacío. El límite de la app es 10–3000 g (lib/nutrition.ts y app/api/analyze/route.ts), distinto de la capacidad de la balanza.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Escanear podemos abrir la cámara o elegir una foto guardada. Usamos la imagen del plato completo, con buena iluminación. Aquí observamos arroz, una preparación de quinua y huevos.</a:t>
            </a:r>
          </a:p>
          <a:p xmlns:a="http://schemas.openxmlformats.org/drawingml/2006/main">
            <a:r>
              <a:t/>
            </a:r>
          </a:p>
          <a:p xmlns:a="http://schemas.openxmlformats.org/drawingml/2006/main">
            <a:r>
              <a:t>También podemos describir la preparación. Esto ayuda a distinguir un alimento cocido de uno crudo o a señalar ingredientes poco visibles.</a:t>
            </a:r>
          </a:p>
          <a:p xmlns:a="http://schemas.openxmlformats.org/drawingml/2006/main">
            <a:r>
              <a:t/>
            </a:r>
          </a:p>
          <a:p xmlns:a="http://schemas.openxmlformats.org/drawingml/2006/main">
            <a:r>
              <a:t>Evidencia y alcance:</a:t>
            </a:r>
          </a:p>
          <a:p xmlns:a="http://schemas.openxmlformats.org/drawingml/2006/main">
            <a:r>
              <a:t>Fotografías reales y captura de la pantalla Escanear proporcionadas por Mao. Se ven arroz, una preparación de quinua y huevos, sin atribuir una receta o composición confirmada por IA. La foto de detalle es apoyo visual, no entrada adicional necesaria. FoodScan/components/foodscan.tsx implementa cámara y galería. La aplicación prepara JPEG con dimensión máxima 1280 px y calidad 0.8, detalle que no es necesario en el diálogo. No se debe inferir aceite o ingredientes ocultos.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Ingresamos un solo peso: el total comestible sin el plato. El cuatrocientos veinte de estas capturas es el ejemplo del campo vacío. En la grabación escribiremos la lectura neta real de la balanza.</a:t>
            </a:r>
          </a:p>
          <a:p xmlns:a="http://schemas.openxmlformats.org/drawingml/2006/main">
            <a:r>
              <a:t/>
            </a:r>
          </a:p>
          <a:p xmlns:a="http://schemas.openxmlformats.org/drawingml/2006/main">
            <a:r>
              <a:t>Podemos añadir una descripción y seleccionar desayuno, almuerzo, cena o snack. Al pulsar Analizar mi plato, enviamos la foto, el peso y los detalles al servicio de reconocimiento. Si falla, podemos reintentar o seleccionar los alimentos manualmente.</a:t>
            </a:r>
          </a:p>
          <a:p xmlns:a="http://schemas.openxmlformats.org/drawingml/2006/main">
            <a:r>
              <a:t/>
            </a:r>
          </a:p>
          <a:p xmlns:a="http://schemas.openxmlformats.org/drawingml/2006/main">
            <a:r>
              <a:t>Evidencia y alcance:</a:t>
            </a:r>
          </a:p>
          <a:p xmlns:a="http://schemas.openxmlformats.org/drawingml/2006/main">
            <a:r>
              <a:t>Capturas proporcionadas por Mao. En el código, el campo total-grams tiene placeholder="420" y total inicialmente vacío; el botón se deshabilita sin peso válido. Por eso no se interpreta 420 como masa medida. No se equiparan estas capturas a las lecturas diferentes de las fotos de balanza. La ruta /api/analyze recibe image, totalGrams y description. El tipo de comida se conserva para el guardado. El usuario puede reintentar o registrar manualmente cuando falla el reconocimiento.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Usamos Gemini tres punto ocho Flash, de Google. Le proporcionamos la foto, el peso total, la descripción y la lista de alimentos disponibles. Su tarea es proponer qué alimentos aparecen y qué proporción de la masa corresponde a cada uno. Estas proporciones son estimaciones que el usuario revisa.</a:t>
            </a:r>
          </a:p>
          <a:p xmlns:a="http://schemas.openxmlformats.org/drawingml/2006/main">
            <a:r>
              <a:t/>
            </a:r>
          </a:p>
          <a:p xmlns:a="http://schemas.openxmlformats.org/drawingml/2006/main">
            <a:r>
              <a:t>La aplicación tiene cargadas novecientas veinticuatro entradas de las Tablas Peruanas de Composición de Alimentos del INS, décima edición de dos mil diecisiete. Cada entrada conserva nombre, código, página de origen y calorías y macronutrientes por cien gramos. No entrenamos un modelo propio. Gemini utiliza la lista como referencia para elegir alimentos; el programa obtiene los nutrientes de la tabla.</a:t>
            </a:r>
          </a:p>
          <a:p xmlns:a="http://schemas.openxmlformats.org/drawingml/2006/main">
            <a:r>
              <a:t/>
            </a:r>
          </a:p>
          <a:p xmlns:a="http://schemas.openxmlformats.org/drawingml/2006/main">
            <a:r>
              <a:t>Evidencia y alcance:</a:t>
            </a:r>
          </a:p>
          <a:p xmlns:a="http://schemas.openxmlformats.org/drawingml/2006/main">
            <a:r>
              <a:t>Modelo configurado: gemini-3.8-flash, FoodScan/lib/gemini.ts y .env.example. Se invoca la API de Google desde el servidor, sin exponer la clave. La entrada incluye foto, masa neta, descripción y catálogo de identificadores/nombres. La salida incluye identidad, proporción relativa y claridad de reconocimiento, hasta 12 componentes. No proporciona nutrientes y no se ha entrenado un modelo del equipo. Catálogo verificado: 924 entradas, data/foods.json y data/provenance.json; INS, TPCA, 10.ª ed., 2017, impresión 2018. Conserva nombre original, grupo, código, página y kcal/proteína/carbohidratos/grasa por 100 g. Ejemplos exactos A 2, A 53 y J 3. El guiso de quinua no equivale automáticamente a la referencia de quinua cocida. Fuente primaria de los datos: PDF suministrado al equipo y https://repositorio.ins.gob.pe/items/7dd870ba-42db-449c-bef2-5d67d881383f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programa reparte el peso total según las proporciones propuestas y comprueba que los gramos asignados sumen ese total. Luego multiplica los gramos de cada alimento por su valor nutricional por cien gramos y divide entre cien.</a:t>
            </a:r>
          </a:p>
          <a:p xmlns:a="http://schemas.openxmlformats.org/drawingml/2006/main">
            <a:r>
              <a:t/>
            </a:r>
          </a:p>
          <a:p xmlns:a="http://schemas.openxmlformats.org/drawingml/2006/main">
            <a:r>
              <a:t>Por ejemplo, ciento cincuenta gramos de arroz cocido equivalen a ciento setenta y dos coma cinco kilocalorías según la referencia cargada. Es una comprobación del cálculo, no el resultado de este plato.</a:t>
            </a:r>
          </a:p>
          <a:p xmlns:a="http://schemas.openxmlformats.org/drawingml/2006/main">
            <a:r>
              <a:t/>
            </a:r>
          </a:p>
          <a:p xmlns:a="http://schemas.openxmlformats.org/drawingml/2006/main">
            <a:r>
              <a:t>Podemos cambiar alimentos o ajustar sus porciones y el programa recalcula. Si la tabla no informa un nutriente, lo indica como pendiente o parcial, sin inventar un cero.</a:t>
            </a:r>
          </a:p>
          <a:p xmlns:a="http://schemas.openxmlformats.org/drawingml/2006/main">
            <a:r>
              <a:t/>
            </a:r>
          </a:p>
          <a:p xmlns:a="http://schemas.openxmlformats.org/drawingml/2006/main">
            <a:r>
              <a:t>Evidencia y alcance:</a:t>
            </a:r>
          </a:p>
          <a:p xmlns:a="http://schemas.openxmlformats.org/drawingml/2006/main">
            <a:r>
              <a:t>Cálculo implementado en lib/nutrition.ts. Normaliza proporciones, asigna décimas de gramo conservando el total y escala cada nutriente. La resolución matemática 0.1 g no demuestra exactitud de la medición. Ejemplo independiente, no reconocimiento de la foto: TPCA-A-2, 150 g de arroz cocido, 172.5 kcal, 3.6 g proteína, 37.8 g carbohidratos, 0.15 g grasa. Valores de la tabla por100g: 115,2.4,25.2,0.1. Si un nutriente falta, se conserva null; se presenta parcial o pendiente. En J 3 faltan carbohidratos y no se inventa cero. El usuario puede cambiar referencia, añadir o quitar alimentos y redistribuir porciones antes de guardar.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comprobar la variación de masa durante la grabación, registraremos el peso del alimento, retiraremos una parte y volveremos a pesarlo con el mismo recipiente tarado. Compararemos ambas lecturas y las ingresaremos en FoodScan, conservando la evidencia del pesaje y del formulario.</a:t>
            </a:r>
          </a:p>
          <a:p xmlns:a="http://schemas.openxmlformats.org/drawingml/2006/main">
            <a:r>
              <a:t/>
            </a:r>
          </a:p>
          <a:p xmlns:a="http://schemas.openxmlformats.org/drawingml/2006/main">
            <a:r>
              <a:t>También podemos comprobar el cálculo con un solo alimento conocido y dos cantidades: al duplicar los gramos, sus nutrientes deben duplicarse. Esto permite verificar la respuesta del programa. La exactitud al reconocer y repartir un plato mixto todavía requiere pruebas con alimentos pesados por separado.</a:t>
            </a:r>
          </a:p>
          <a:p xmlns:a="http://schemas.openxmlformats.org/drawingml/2006/main">
            <a:r>
              <a:t/>
            </a:r>
          </a:p>
          <a:p xmlns:a="http://schemas.openxmlformats.org/drawingml/2006/main">
            <a:r>
              <a:t>Evidencia y alcance:</a:t>
            </a:r>
          </a:p>
          <a:p xmlns:a="http://schemas.openxmlformats.org/drawingml/2006/main">
            <a:r>
              <a:t>Imagen comparativa suministrada por el usuario como apoyo. Su lectura no se homologó con las otras fotos ni con el campo 420 vacío. No acredita una prueba de exactitud. Procedimiento previsto para la grabación: tara del mismo recipiente, masa inicial, retirar parte comestible, masa final, ingreso de ambas lecturas y registro de evidencia. Comprobación independiente del cálculo usando un solo alimento conocido y dos masas: duplicar gramos duplica nutrientes, salvo limitaciones de redondeo o valores ausentes. Para validar el reparto de un plato mixto, pesar componentes individualmente y comparar con proporciones estimadas; no se afirma que el equipo ya ejecutó esa validación. Rubrica Avance Proyecto1 criterio10 nivel4 exige medios probatorios de la variación y conocimiento del sensor. El equipo presenta avance software y balanza externa, no construcción del módulo seleccionado.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muestra el desglose por alimento y los nutrientes disponibles. Después de revisar, Guardar mi plato conserva foto, fecha, tipo de comida, cantidades y resultados. Podemos consultarlo en Mi día e Historial dentro del mismo navegador.</a:t>
            </a:r>
          </a:p>
          <a:p xmlns:a="http://schemas.openxmlformats.org/drawingml/2006/main">
            <a:r>
              <a:t/>
            </a:r>
          </a:p>
          <a:p xmlns:a="http://schemas.openxmlformats.org/drawingml/2006/main">
            <a:r>
              <a:t>El teléfono usa su batería y el reconocimiento necesita Internet. Las kilocalorías son información del alimento. Nuestro avance es la aplicación con datos cargados y cálculo revisable. La integración automática del pesaje y la validación completa son los siguientes pasos.</a:t>
            </a:r>
          </a:p>
          <a:p xmlns:a="http://schemas.openxmlformats.org/drawingml/2006/main">
            <a:r>
              <a:t/>
            </a:r>
          </a:p>
          <a:p xmlns:a="http://schemas.openxmlformats.org/drawingml/2006/main">
            <a:r>
              <a:t>Evidencia y alcance:</a:t>
            </a:r>
          </a:p>
          <a:p xmlns:a="http://schemas.openxmlformats.org/drawingml/2006/main">
            <a:r>
              <a:t>El usuario solicitó dejar la captura real de resultado pendiente. El espacio reservado se conserva editable y no se rellena con una captura ajena o cifras inventadas. Implementación comprobada en components/foodscan.tsx: desglose, kcal y macros, edición, Guardar mi plato, resumen diario e historial. Se almacena el registro en localStorage del navegador, con id, fecha, tipo de comida, foto, referencias y cantidades. No hay sincronización entre dispositivos. La app requiere Internet para Gemini; la energía proviene del celular y la infraestructura web, distinta de kcal alimentarias. Construcción y transmisión automática de masa pendientes. No se afirma validación de30porciones ni precisión alcanzada.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17decfc4fc40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0a7fce5dbe45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40ed9c739948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31279080e04d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a5ff83f7e74e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c46c9e43a949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139181-5C7C-4534-BE79-E857617866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9809C2-F8CF-402B-B9B1-C2AD90D046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7D63DA-56E6-4F99-A7D1-AE6E8BEA1B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0CD92E-A3B3-4114-823F-D20DAAF862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44F2DC-3AC7-4D91-AFED-147275BDD4B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F9A992-A5B7-4309-AFB8-63B32B7072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FD9C89-B27C-4E6E-ACD9-D9ED0121FF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F895EF-5A3B-4A8E-AF16-3A8C38E078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77D9B7-F4D3-4EA1-8045-1576D64C53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BD259-892C-4C67-963D-DC69C4F9AF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d8565703264dd8" /><Relationship Type="http://schemas.openxmlformats.org/officeDocument/2006/relationships/slideLayout" Target="/ppt/slideLayouts/slideLayout1.xml" Id="R883b4b17f1e74153" /><Relationship Type="http://schemas.openxmlformats.org/officeDocument/2006/relationships/slideLayout" Target="/ppt/slideLayouts/slideLayout2.xml" Id="R8f6cc54a48294562" /><Relationship Type="http://schemas.openxmlformats.org/officeDocument/2006/relationships/slideLayout" Target="/ppt/slideLayouts/slideLayout3.xml" Id="R8f3d519f192d4df8" /><Relationship Type="http://schemas.openxmlformats.org/officeDocument/2006/relationships/slideLayout" Target="/ppt/slideLayouts/slideLayout4.xml" Id="R7dd12da523374595" /><Relationship Type="http://schemas.openxmlformats.org/officeDocument/2006/relationships/slideLayout" Target="/ppt/slideLayouts/slideLayout5.xml" Id="Rc560abb92b114d1a" /><Relationship Type="http://schemas.openxmlformats.org/officeDocument/2006/relationships/slideLayout" Target="/ppt/slideLayouts/slideLayout6.xml" Id="Rdea80c154db64a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b4b17f1e74153"/>
    <p:sldLayoutId xmlns:r="http://schemas.openxmlformats.org/officeDocument/2006/relationships" id="2147483650" r:id="R8f6cc54a48294562"/>
    <p:sldLayoutId xmlns:r="http://schemas.openxmlformats.org/officeDocument/2006/relationships" id="2147483651" r:id="R8f3d519f192d4df8"/>
    <p:sldLayoutId xmlns:r="http://schemas.openxmlformats.org/officeDocument/2006/relationships" id="2147483652" r:id="R7dd12da523374595"/>
    <p:sldLayoutId xmlns:r="http://schemas.openxmlformats.org/officeDocument/2006/relationships" id="2147483653" r:id="Rc560abb92b114d1a"/>
    <p:sldLayoutId xmlns:r="http://schemas.openxmlformats.org/officeDocument/2006/relationships" id="2147483654" r:id="Rdea80c154db64a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f26d1b2fe84417" /><Relationship Type="http://schemas.openxmlformats.org/officeDocument/2006/relationships/notesSlide" Target="/ppt/notesSlides/notesSlide1.xml" Id="Rea37506d4b3746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d2783f00844050" /><Relationship Type="http://schemas.openxmlformats.org/officeDocument/2006/relationships/image" Target="/ppt/media/image.jpeg" Id="Rafa6851486c04fde" /><Relationship Type="http://schemas.openxmlformats.org/officeDocument/2006/relationships/notesSlide" Target="/ppt/notesSlides/notesSlide2.xml" Id="Rf97e2161655749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0a72480ef14469" /><Relationship Type="http://schemas.openxmlformats.org/officeDocument/2006/relationships/image" Target="/ppt/media/image2.jpeg" Id="Rdd696a6df1144c99" /><Relationship Type="http://schemas.openxmlformats.org/officeDocument/2006/relationships/image" Target="/ppt/media/image3.jpeg" Id="R344c6291e6384416" /><Relationship Type="http://schemas.openxmlformats.org/officeDocument/2006/relationships/notesSlide" Target="/ppt/notesSlides/notesSlide3.xml" Id="R395766bdde624c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548727a28041c9" /><Relationship Type="http://schemas.openxmlformats.org/officeDocument/2006/relationships/image" Target="/ppt/media/image4.jpeg" Id="R5916731593144625" /><Relationship Type="http://schemas.openxmlformats.org/officeDocument/2006/relationships/image" Target="/ppt/media/image5.jpeg" Id="Ra466d943e1324e5b" /><Relationship Type="http://schemas.openxmlformats.org/officeDocument/2006/relationships/image" Target="/ppt/media/image6.jpeg" Id="R1d0006da2dff450f" /><Relationship Type="http://schemas.openxmlformats.org/officeDocument/2006/relationships/notesSlide" Target="/ppt/notesSlides/notesSlide4.xml" Id="R0003456d13a445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e1d7e742524edb" /><Relationship Type="http://schemas.openxmlformats.org/officeDocument/2006/relationships/image" Target="/ppt/media/image7.jpeg" Id="Rbaa4b1d92d8046ee" /><Relationship Type="http://schemas.openxmlformats.org/officeDocument/2006/relationships/image" Target="/ppt/media/image8.jpeg" Id="Rb917cefd81374e0d" /><Relationship Type="http://schemas.openxmlformats.org/officeDocument/2006/relationships/notesSlide" Target="/ppt/notesSlides/notesSlide5.xml" Id="R9c00abd1ce3e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8a6dc645424506" /><Relationship Type="http://schemas.openxmlformats.org/officeDocument/2006/relationships/notesSlide" Target="/ppt/notesSlides/notesSlide6.xml" Id="R231db7d48d3441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764e85eb074671" /><Relationship Type="http://schemas.openxmlformats.org/officeDocument/2006/relationships/notesSlide" Target="/ppt/notesSlides/notesSlide7.xml" Id="R58bbead17c5040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b32f6886fe4486" /><Relationship Type="http://schemas.openxmlformats.org/officeDocument/2006/relationships/image" Target="/ppt/media/image9.jpeg" Id="R352671939e704f5d" /><Relationship Type="http://schemas.openxmlformats.org/officeDocument/2006/relationships/notesSlide" Target="/ppt/notesSlides/notesSlide8.xml" Id="R40641ec1e4cb4e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6de1511d3c4b6a" /><Relationship Type="http://schemas.openxmlformats.org/officeDocument/2006/relationships/notesSlide" Target="/ppt/notesSlides/notesSlide9.xml" Id="R118fe1e55c684743"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 name="Avance del prototipo">
            <a:extLst xmlns:a="http://schemas.openxmlformats.org/drawingml/2006/main">
              <a:ext uri="{FF2B5EF4-FFF2-40B4-BE49-F238E27FC236}">
                <a16:creationId xmlns:a16="http://schemas.microsoft.com/office/drawing/2014/main" id="{3379D8B2-4594-4935-BC20-81DE9E1FF47C}"/>
              </a:ext>
            </a:extLst>
          </p:cNvPr>
          <p:cNvSpPr>
            <a:spLocks xmlns:a="http://schemas.openxmlformats.org/drawingml/2006/main" noGrp="1"/>
          </p:cNvSpPr>
          <p:nvPr/>
        </p:nvSpPr>
        <p:spPr>
          <a:xfrm xmlns:a="http://schemas.openxmlformats.org/drawingml/2006/main">
            <a:off x="666750" y="27051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4800" b="1">
                <a:solidFill>
                  <a:srgbClr val="173F2F"/>
                </a:solidFill>
                <a:latin typeface="Arial"/>
                <a:ea typeface="Arial"/>
                <a:cs typeface="Arial"/>
              </a:defRPr>
            </a:defPPr>
          </a:lstStyle>
          <a:p xmlns:a="http://schemas.openxmlformats.org/drawingml/2006/main">
            <a:pPr algn="ctr">
              <a:defRPr sz="4800" b="1">
                <a:solidFill>
                  <a:srgbClr val="173F2F"/>
                </a:solidFill>
                <a:latin typeface="Arial"/>
                <a:ea typeface="Arial"/>
                <a:cs typeface="Arial"/>
              </a:defRPr>
            </a:pPr>
            <a:r>
              <a:rPr sz="4800" b="1">
                <a:solidFill>
                  <a:srgbClr val="173F2F"/>
                </a:solidFill>
                <a:latin typeface="Arial"/>
                <a:ea typeface="Arial"/>
                <a:cs typeface="Arial"/>
              </a:rPr>
              <a:t>Avance del prototipo</a:t>
            </a:r>
          </a:p>
        </p:txBody>
      </p:sp>
    </p:spTree>
    <p:extLst>
      <p:ext uri="{BB962C8B-B14F-4D97-AF65-F5344CB8AC3E}">
        <p14:creationId xmlns:p14="http://schemas.microsoft.com/office/powerpoint/2010/main" val="1736966757"/>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Aplicación FoodScan">
            <a:extLst xmlns:a="http://schemas.openxmlformats.org/drawingml/2006/main">
              <a:ext uri="{FF2B5EF4-FFF2-40B4-BE49-F238E27FC236}">
                <a16:creationId xmlns:a16="http://schemas.microsoft.com/office/drawing/2014/main" id="{8A76E5F6-206C-436B-A8A4-E1F6E1F4ECB9}"/>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Aplicación FoodScan</a:t>
            </a:r>
          </a:p>
        </p:txBody>
      </p:sp>
      <p:sp>
        <p:nvSpPr>
          <p:cNvPr id="2" name="FoodScan: aplicación web, alimentos cargados y cálculo nutri">
            <a:extLst xmlns:a="http://schemas.openxmlformats.org/drawingml/2006/main">
              <a:ext uri="{FF2B5EF4-FFF2-40B4-BE49-F238E27FC236}">
                <a16:creationId xmlns:a16="http://schemas.microsoft.com/office/drawing/2014/main" id="{BF844348-8F5C-4FE4-A54C-7B27CCBEF2EA}"/>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FoodScan: aplicación web, alimentos cargados y cálculo nutricional</a:t>
            </a:r>
          </a:p>
        </p:txBody>
      </p:sp>
      <p:sp>
        <p:nvSpPr>
          <p:cNvPr id="3" name="Fuente: aplicación FoodScan y capturas proporcionadas por el">
            <a:extLst xmlns:a="http://schemas.openxmlformats.org/drawingml/2006/main">
              <a:ext uri="{FF2B5EF4-FFF2-40B4-BE49-F238E27FC236}">
                <a16:creationId xmlns:a16="http://schemas.microsoft.com/office/drawing/2014/main" id="{0F167F69-E257-4FAC-AB4A-857B355977BD}"/>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aplicación FoodScan y capturas proporcionadas por el equipo.</a:t>
            </a:r>
          </a:p>
        </p:txBody>
      </p:sp>
      <p:sp>
        <p:nvSpPr>
          <p:cNvPr id="4" name="2">
            <a:extLst xmlns:a="http://schemas.openxmlformats.org/drawingml/2006/main">
              <a:ext uri="{FF2B5EF4-FFF2-40B4-BE49-F238E27FC236}">
                <a16:creationId xmlns:a16="http://schemas.microsoft.com/office/drawing/2014/main" id="{440BB5B2-34A6-484A-9F5B-7EB168F17E1D}"/>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a:t>
            </a:r>
          </a:p>
        </p:txBody>
      </p:sp>
      <p:sp>
        <p:nvSpPr>
          <p:cNvPr id="5" name="Avance implementado">
            <a:extLst xmlns:a="http://schemas.openxmlformats.org/drawingml/2006/main">
              <a:ext uri="{FF2B5EF4-FFF2-40B4-BE49-F238E27FC236}">
                <a16:creationId xmlns:a16="http://schemas.microsoft.com/office/drawing/2014/main" id="{64E0F139-AF1C-4AD8-BD1E-2E5033B5A547}"/>
              </a:ext>
            </a:extLst>
          </p:cNvPr>
          <p:cNvSpPr>
            <a:spLocks xmlns:a="http://schemas.openxmlformats.org/drawingml/2006/main" noGrp="1"/>
          </p:cNvSpPr>
          <p:nvPr/>
        </p:nvSpPr>
        <p:spPr>
          <a:xfrm xmlns:a="http://schemas.openxmlformats.org/drawingml/2006/main">
            <a:off x="571500" y="1885950"/>
            <a:ext cx="638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Avance implementado</a:t>
            </a:r>
          </a:p>
        </p:txBody>
      </p:sp>
      <p:sp>
        <p:nvSpPr>
          <p:cNvPr id="6" name="Foto por cámara o galería&#10;Ingreso de un peso neto total&#10;Reco">
            <a:extLst xmlns:a="http://schemas.openxmlformats.org/drawingml/2006/main">
              <a:ext uri="{FF2B5EF4-FFF2-40B4-BE49-F238E27FC236}">
                <a16:creationId xmlns:a16="http://schemas.microsoft.com/office/drawing/2014/main" id="{A8A06B48-3F2B-414B-BC52-83DE04104307}"/>
              </a:ext>
            </a:extLst>
          </p:cNvPr>
          <p:cNvSpPr>
            <a:spLocks xmlns:a="http://schemas.openxmlformats.org/drawingml/2006/main" noGrp="1"/>
          </p:cNvSpPr>
          <p:nvPr/>
        </p:nvSpPr>
        <p:spPr>
          <a:xfrm xmlns:a="http://schemas.openxmlformats.org/drawingml/2006/main">
            <a:off x="571500" y="2524125"/>
            <a:ext cx="6572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F2F"/>
                </a:solidFill>
                <a:latin typeface="Arial"/>
                <a:ea typeface="Arial"/>
                <a:cs typeface="Arial"/>
              </a:defRPr>
            </a:defPPr>
          </a:lstStyle>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Foto por cámara o galería</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Ingreso de un peso neto total</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Reconocimiento y reparto por IA</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Cálculo con alimentos del INS</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Revisión, resumen diario e historial</a:t>
            </a:r>
          </a:p>
        </p:txBody>
      </p:sp>
      <p:sp>
        <p:nvSpPr>
          <p:cNvPr id="7" name="Etapa actual">
            <a:extLst xmlns:a="http://schemas.openxmlformats.org/drawingml/2006/main">
              <a:ext uri="{FF2B5EF4-FFF2-40B4-BE49-F238E27FC236}">
                <a16:creationId xmlns:a16="http://schemas.microsoft.com/office/drawing/2014/main" id="{87809A68-1FEB-499A-A8FF-3254E644A729}"/>
              </a:ext>
            </a:extLst>
          </p:cNvPr>
          <p:cNvSpPr>
            <a:spLocks xmlns:a="http://schemas.openxmlformats.org/drawingml/2006/main" noGrp="1"/>
          </p:cNvSpPr>
          <p:nvPr/>
        </p:nvSpPr>
        <p:spPr>
          <a:xfrm xmlns:a="http://schemas.openxmlformats.org/drawingml/2006/main">
            <a:off x="571500" y="54387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Etapa actual</a:t>
            </a:r>
          </a:p>
        </p:txBody>
      </p:sp>
      <p:sp>
        <p:nvSpPr>
          <p:cNvPr id="8" name="Balanza externa + peso escrito por el usuario">
            <a:extLst xmlns:a="http://schemas.openxmlformats.org/drawingml/2006/main">
              <a:ext uri="{FF2B5EF4-FFF2-40B4-BE49-F238E27FC236}">
                <a16:creationId xmlns:a16="http://schemas.microsoft.com/office/drawing/2014/main" id="{5807EFA8-C4A9-4AC8-9B5A-8CE8C104A447}"/>
              </a:ext>
            </a:extLst>
          </p:cNvPr>
          <p:cNvSpPr>
            <a:spLocks xmlns:a="http://schemas.openxmlformats.org/drawingml/2006/main" noGrp="1"/>
          </p:cNvSpPr>
          <p:nvPr/>
        </p:nvSpPr>
        <p:spPr>
          <a:xfrm xmlns:a="http://schemas.openxmlformats.org/drawingml/2006/main">
            <a:off x="571500" y="586740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Balanza externa + peso escrito por el usuario</a:t>
            </a:r>
          </a:p>
        </p:txBody>
      </p:sp>
      <p:pic>
        <p:nvPicPr>
          <p:cNvPr id="9" name="">
            <a:extLst xmlns:a="http://schemas.openxmlformats.org/drawingml/2006/main">
              <a:ext uri="{FF2B5EF4-FFF2-40B4-BE49-F238E27FC236}">
                <a16:creationId xmlns:a16="http://schemas.microsoft.com/office/drawing/2014/main" id="{6E14B35F-AA7B-45F1-90EE-98DA867315F3}"/>
              </a:ext>
            </a:extLst>
          </p:cNvPr>
          <p:cNvPicPr>
            <a:picLocks xmlns:a="http://schemas.openxmlformats.org/drawingml/2006/main" noChangeAspect="1"/>
          </p:cNvPicPr>
          <p:nvPr/>
        </p:nvPicPr>
        <p:blipFill>
          <a:blip xmlns:r="http://schemas.openxmlformats.org/officeDocument/2006/relationships" xmlns:a="http://schemas.openxmlformats.org/drawingml/2006/main" r:embed="Rafa6851486c04fde"/>
          <a:stretch xmlns:a="http://schemas.openxmlformats.org/drawingml/2006/main"/>
        </p:blipFill>
        <p:spPr>
          <a:xfrm xmlns:a="http://schemas.openxmlformats.org/drawingml/2006/main">
            <a:off x="8624882" y="1724025"/>
            <a:ext cx="2181237" cy="4514850"/>
          </a:xfrm>
          <a:prstGeom xmlns:a="http://schemas.openxmlformats.org/drawingml/2006/main" prst="rect">
            <a:avLst/>
          </a:prstGeom>
        </p:spPr>
      </p:pic>
    </p:spTree>
    <p:extLst>
      <p:ext uri="{BB962C8B-B14F-4D97-AF65-F5344CB8AC3E}">
        <p14:creationId xmlns:p14="http://schemas.microsoft.com/office/powerpoint/2010/main" val="192725049"/>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Medición con una balanza externa">
            <a:extLst xmlns:a="http://schemas.openxmlformats.org/drawingml/2006/main">
              <a:ext uri="{FF2B5EF4-FFF2-40B4-BE49-F238E27FC236}">
                <a16:creationId xmlns:a16="http://schemas.microsoft.com/office/drawing/2014/main" id="{2C1C50D5-A6DA-4094-A172-7C29E7AD0899}"/>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Medición con una balanza externa</a:t>
            </a:r>
          </a:p>
        </p:txBody>
      </p:sp>
      <p:sp>
        <p:nvSpPr>
          <p:cNvPr id="2" name="TRUPER de 5 kg. El usuario ingresa la masa neta en FoodScan.">
            <a:extLst xmlns:a="http://schemas.openxmlformats.org/drawingml/2006/main">
              <a:ext uri="{FF2B5EF4-FFF2-40B4-BE49-F238E27FC236}">
                <a16:creationId xmlns:a16="http://schemas.microsoft.com/office/drawing/2014/main" id="{C72BA6E0-DFF8-4081-97C7-926682EE3A0E}"/>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TRUPER de 5 kg. El usuario ingresa la masa neta en FoodScan.</a:t>
            </a:r>
          </a:p>
        </p:txBody>
      </p:sp>
      <p:sp>
        <p:nvSpPr>
          <p:cNvPr id="3" name="Fuente: fotos del equipo y límites comprobados en el código ">
            <a:extLst xmlns:a="http://schemas.openxmlformats.org/drawingml/2006/main">
              <a:ext uri="{FF2B5EF4-FFF2-40B4-BE49-F238E27FC236}">
                <a16:creationId xmlns:a16="http://schemas.microsoft.com/office/drawing/2014/main" id="{3F10DC91-73B5-4632-AA8D-41806FD3AC37}"/>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fotos del equipo y límites comprobados en el código de FoodScan.</a:t>
            </a:r>
          </a:p>
        </p:txBody>
      </p:sp>
      <p:sp>
        <p:nvSpPr>
          <p:cNvPr id="4" name="3">
            <a:extLst xmlns:a="http://schemas.openxmlformats.org/drawingml/2006/main">
              <a:ext uri="{FF2B5EF4-FFF2-40B4-BE49-F238E27FC236}">
                <a16:creationId xmlns:a16="http://schemas.microsoft.com/office/drawing/2014/main" id="{2DA46327-5279-4F4B-85FC-290036A3CBEB}"/>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a:t>
            </a:r>
          </a:p>
        </p:txBody>
      </p:sp>
      <p:pic>
        <p:nvPicPr>
          <p:cNvPr id="5" name="">
            <a:extLst xmlns:a="http://schemas.openxmlformats.org/drawingml/2006/main">
              <a:ext uri="{FF2B5EF4-FFF2-40B4-BE49-F238E27FC236}">
                <a16:creationId xmlns:a16="http://schemas.microsoft.com/office/drawing/2014/main" id="{9158A45F-8A5E-4738-8923-DF102B26BECD}"/>
              </a:ext>
            </a:extLst>
          </p:cNvPr>
          <p:cNvPicPr>
            <a:picLocks xmlns:a="http://schemas.openxmlformats.org/drawingml/2006/main" noChangeAspect="1"/>
          </p:cNvPicPr>
          <p:nvPr/>
        </p:nvPicPr>
        <p:blipFill>
          <a:blip xmlns:r="http://schemas.openxmlformats.org/officeDocument/2006/relationships" xmlns:a="http://schemas.openxmlformats.org/drawingml/2006/main" r:embed="Rdd696a6df1144c99"/>
          <a:stretch xmlns:a="http://schemas.openxmlformats.org/drawingml/2006/main"/>
        </p:blipFill>
        <p:spPr>
          <a:xfrm xmlns:a="http://schemas.openxmlformats.org/drawingml/2006/main">
            <a:off x="571500" y="2009775"/>
            <a:ext cx="2571750" cy="3429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B998946-3954-4AB5-AA80-03BF15B5BCDD}"/>
              </a:ext>
            </a:extLst>
          </p:cNvPr>
          <p:cNvPicPr>
            <a:picLocks xmlns:a="http://schemas.openxmlformats.org/drawingml/2006/main" noChangeAspect="1"/>
          </p:cNvPicPr>
          <p:nvPr/>
        </p:nvPicPr>
        <p:blipFill>
          <a:blip xmlns:r="http://schemas.openxmlformats.org/officeDocument/2006/relationships" xmlns:a="http://schemas.openxmlformats.org/drawingml/2006/main" r:embed="R344c6291e6384416"/>
          <a:stretch xmlns:a="http://schemas.openxmlformats.org/drawingml/2006/main"/>
        </p:blipFill>
        <p:spPr>
          <a:xfrm xmlns:a="http://schemas.openxmlformats.org/drawingml/2006/main">
            <a:off x="3333750" y="2009775"/>
            <a:ext cx="2571750" cy="3429000"/>
          </a:xfrm>
          <a:prstGeom xmlns:a="http://schemas.openxmlformats.org/drawingml/2006/main" prst="rect">
            <a:avLst/>
          </a:prstGeom>
        </p:spPr>
      </p:pic>
      <p:sp>
        <p:nvSpPr>
          <p:cNvPr id="7" name="Sin carga">
            <a:extLst xmlns:a="http://schemas.openxmlformats.org/drawingml/2006/main">
              <a:ext uri="{FF2B5EF4-FFF2-40B4-BE49-F238E27FC236}">
                <a16:creationId xmlns:a16="http://schemas.microsoft.com/office/drawing/2014/main" id="{04A6F264-DEA7-4E19-9860-E089AC4FC246}"/>
              </a:ext>
            </a:extLst>
          </p:cNvPr>
          <p:cNvSpPr>
            <a:spLocks xmlns:a="http://schemas.openxmlformats.org/drawingml/2006/main" noGrp="1"/>
          </p:cNvSpPr>
          <p:nvPr/>
        </p:nvSpPr>
        <p:spPr>
          <a:xfrm xmlns:a="http://schemas.openxmlformats.org/drawingml/2006/main">
            <a:off x="619125" y="57721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577161"/>
                </a:solidFill>
                <a:latin typeface="Arial"/>
                <a:ea typeface="Arial"/>
                <a:cs typeface="Arial"/>
              </a:defRPr>
            </a:defPPr>
          </a:lstStyle>
          <a:p xmlns:a="http://schemas.openxmlformats.org/drawingml/2006/main">
            <a:pPr>
              <a:defRPr sz="1725" b="1">
                <a:solidFill>
                  <a:srgbClr val="577161"/>
                </a:solidFill>
                <a:latin typeface="Arial"/>
                <a:ea typeface="Arial"/>
                <a:cs typeface="Arial"/>
              </a:defRPr>
            </a:pPr>
            <a:r>
              <a:rPr sz="1725" b="1">
                <a:solidFill>
                  <a:srgbClr val="577161"/>
                </a:solidFill>
                <a:latin typeface="Arial"/>
                <a:ea typeface="Arial"/>
                <a:cs typeface="Arial"/>
              </a:rPr>
              <a:t>Sin carga</a:t>
            </a:r>
          </a:p>
        </p:txBody>
      </p:sp>
      <p:sp>
        <p:nvSpPr>
          <p:cNvPr id="8" name="Porción sobre la balanza">
            <a:extLst xmlns:a="http://schemas.openxmlformats.org/drawingml/2006/main">
              <a:ext uri="{FF2B5EF4-FFF2-40B4-BE49-F238E27FC236}">
                <a16:creationId xmlns:a16="http://schemas.microsoft.com/office/drawing/2014/main" id="{C78D5182-E8CF-4C64-92BE-29C006438264}"/>
              </a:ext>
            </a:extLst>
          </p:cNvPr>
          <p:cNvSpPr>
            <a:spLocks xmlns:a="http://schemas.openxmlformats.org/drawingml/2006/main" noGrp="1"/>
          </p:cNvSpPr>
          <p:nvPr/>
        </p:nvSpPr>
        <p:spPr>
          <a:xfrm xmlns:a="http://schemas.openxmlformats.org/drawingml/2006/main">
            <a:off x="3333750" y="5772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Porción sobre la balanza</a:t>
            </a:r>
          </a:p>
        </p:txBody>
      </p:sp>
      <p:sp>
        <p:nvSpPr>
          <p:cNvPr id="9" name="1. Tara del plato vacío">
            <a:extLst xmlns:a="http://schemas.openxmlformats.org/drawingml/2006/main">
              <a:ext uri="{FF2B5EF4-FFF2-40B4-BE49-F238E27FC236}">
                <a16:creationId xmlns:a16="http://schemas.microsoft.com/office/drawing/2014/main" id="{17432CFA-F8BB-4CBB-B9D4-95F746ED130A}"/>
              </a:ext>
            </a:extLst>
          </p:cNvPr>
          <p:cNvSpPr>
            <a:spLocks xmlns:a="http://schemas.openxmlformats.org/drawingml/2006/main" noGrp="1"/>
          </p:cNvSpPr>
          <p:nvPr/>
        </p:nvSpPr>
        <p:spPr>
          <a:xfrm xmlns:a="http://schemas.openxmlformats.org/drawingml/2006/main">
            <a:off x="6438900" y="20002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1. Tara del plato vacío</a:t>
            </a:r>
          </a:p>
        </p:txBody>
      </p:sp>
      <p:sp>
        <p:nvSpPr>
          <p:cNvPr id="10" name="Descontar el recipiente antes de pesar.">
            <a:extLst xmlns:a="http://schemas.openxmlformats.org/drawingml/2006/main">
              <a:ext uri="{FF2B5EF4-FFF2-40B4-BE49-F238E27FC236}">
                <a16:creationId xmlns:a16="http://schemas.microsoft.com/office/drawing/2014/main" id="{362B54CD-AD94-4661-B9BA-884034213074}"/>
              </a:ext>
            </a:extLst>
          </p:cNvPr>
          <p:cNvSpPr>
            <a:spLocks xmlns:a="http://schemas.openxmlformats.org/drawingml/2006/main" noGrp="1"/>
          </p:cNvSpPr>
          <p:nvPr/>
        </p:nvSpPr>
        <p:spPr>
          <a:xfrm xmlns:a="http://schemas.openxmlformats.org/drawingml/2006/main">
            <a:off x="6438900" y="24574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Descontar el recipiente antes de pesar.</a:t>
            </a:r>
          </a:p>
        </p:txBody>
      </p:sp>
      <p:sp>
        <p:nvSpPr>
          <p:cNvPr id="11" name="2. Lectura en gramos">
            <a:extLst xmlns:a="http://schemas.openxmlformats.org/drawingml/2006/main">
              <a:ext uri="{FF2B5EF4-FFF2-40B4-BE49-F238E27FC236}">
                <a16:creationId xmlns:a16="http://schemas.microsoft.com/office/drawing/2014/main" id="{7BFA12AC-E6E4-484E-8F58-6ED7597C6D40}"/>
              </a:ext>
            </a:extLst>
          </p:cNvPr>
          <p:cNvSpPr>
            <a:spLocks xmlns:a="http://schemas.openxmlformats.org/drawingml/2006/main" noGrp="1"/>
          </p:cNvSpPr>
          <p:nvPr/>
        </p:nvSpPr>
        <p:spPr>
          <a:xfrm xmlns:a="http://schemas.openxmlformats.org/drawingml/2006/main">
            <a:off x="6438900" y="33242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2. Lectura en gramos</a:t>
            </a:r>
          </a:p>
        </p:txBody>
      </p:sp>
      <p:sp>
        <p:nvSpPr>
          <p:cNvPr id="12" name="Pesar solo la parte comestible.&#10;Escribir esa lectura en la a">
            <a:extLst xmlns:a="http://schemas.openxmlformats.org/drawingml/2006/main">
              <a:ext uri="{FF2B5EF4-FFF2-40B4-BE49-F238E27FC236}">
                <a16:creationId xmlns:a16="http://schemas.microsoft.com/office/drawing/2014/main" id="{C4B3BE54-E3D4-457D-A48D-01146F6E8542}"/>
              </a:ext>
            </a:extLst>
          </p:cNvPr>
          <p:cNvSpPr>
            <a:spLocks xmlns:a="http://schemas.openxmlformats.org/drawingml/2006/main" noGrp="1"/>
          </p:cNvSpPr>
          <p:nvPr/>
        </p:nvSpPr>
        <p:spPr>
          <a:xfrm xmlns:a="http://schemas.openxmlformats.org/drawingml/2006/main">
            <a:off x="6438900" y="3790950"/>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Pesar solo la parte comestible.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Escribir esa lectura en la aplicación.</a:t>
            </a:r>
          </a:p>
        </p:txBody>
      </p:sp>
      <p:sp>
        <p:nvSpPr>
          <p:cNvPr id="13" name="Rango actual de FoodScan: 10–3000 g">
            <a:extLst xmlns:a="http://schemas.openxmlformats.org/drawingml/2006/main">
              <a:ext uri="{FF2B5EF4-FFF2-40B4-BE49-F238E27FC236}">
                <a16:creationId xmlns:a16="http://schemas.microsoft.com/office/drawing/2014/main" id="{1641D55F-CA79-41E9-9273-5CC9701CF1F7}"/>
              </a:ext>
            </a:extLst>
          </p:cNvPr>
          <p:cNvSpPr>
            <a:spLocks xmlns:a="http://schemas.openxmlformats.org/drawingml/2006/main" noGrp="1"/>
          </p:cNvSpPr>
          <p:nvPr/>
        </p:nvSpPr>
        <p:spPr>
          <a:xfrm xmlns:a="http://schemas.openxmlformats.org/drawingml/2006/main">
            <a:off x="6438900" y="5038725"/>
            <a:ext cx="5143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D6240"/>
                </a:solidFill>
                <a:latin typeface="Arial"/>
                <a:ea typeface="Arial"/>
                <a:cs typeface="Arial"/>
              </a:defRPr>
            </a:defPPr>
          </a:lstStyle>
          <a:p xmlns:a="http://schemas.openxmlformats.org/drawingml/2006/main">
            <a:pPr>
              <a:defRPr sz="1950" b="1">
                <a:solidFill>
                  <a:srgbClr val="AD6240"/>
                </a:solidFill>
                <a:latin typeface="Arial"/>
                <a:ea typeface="Arial"/>
                <a:cs typeface="Arial"/>
              </a:defRPr>
            </a:pPr>
            <a:r>
              <a:rPr sz="1950" b="1">
                <a:solidFill>
                  <a:srgbClr val="AD6240"/>
                </a:solidFill>
                <a:latin typeface="Arial"/>
                <a:ea typeface="Arial"/>
                <a:cs typeface="Arial"/>
              </a:rPr>
              <a:t>Rango actual de FoodScan: 10–3000 g</a:t>
            </a:r>
          </a:p>
        </p:txBody>
      </p:sp>
    </p:spTree>
    <p:extLst>
      <p:ext uri="{BB962C8B-B14F-4D97-AF65-F5344CB8AC3E}">
        <p14:creationId xmlns:p14="http://schemas.microsoft.com/office/powerpoint/2010/main" val="1524842091"/>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Fotografía de la comida">
            <a:extLst xmlns:a="http://schemas.openxmlformats.org/drawingml/2006/main">
              <a:ext uri="{FF2B5EF4-FFF2-40B4-BE49-F238E27FC236}">
                <a16:creationId xmlns:a16="http://schemas.microsoft.com/office/drawing/2014/main" id="{E2C7A076-DE53-492D-B5CA-C80FDB94559D}"/>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Fotografía de la comida</a:t>
            </a:r>
          </a:p>
        </p:txBody>
      </p:sp>
      <p:sp>
        <p:nvSpPr>
          <p:cNvPr id="2" name="La imagen completa aporta identidad y contexto para reconoce">
            <a:extLst xmlns:a="http://schemas.openxmlformats.org/drawingml/2006/main">
              <a:ext uri="{FF2B5EF4-FFF2-40B4-BE49-F238E27FC236}">
                <a16:creationId xmlns:a16="http://schemas.microsoft.com/office/drawing/2014/main" id="{2AE4B2A4-53CF-4614-986D-49D0211DF8B0}"/>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imagen completa aporta identidad y contexto para reconocer el plato.</a:t>
            </a:r>
          </a:p>
        </p:txBody>
      </p:sp>
      <p:sp>
        <p:nvSpPr>
          <p:cNvPr id="3" name="Fuente: fotos y captura de FoodScan proporcionadas por el eq">
            <a:extLst xmlns:a="http://schemas.openxmlformats.org/drawingml/2006/main">
              <a:ext uri="{FF2B5EF4-FFF2-40B4-BE49-F238E27FC236}">
                <a16:creationId xmlns:a16="http://schemas.microsoft.com/office/drawing/2014/main" id="{39057C01-E4D7-48E7-B030-40EAADD5FE1F}"/>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fotos y captura de FoodScan proporcionadas por el equipo.</a:t>
            </a:r>
          </a:p>
        </p:txBody>
      </p:sp>
      <p:sp>
        <p:nvSpPr>
          <p:cNvPr id="4" name="4">
            <a:extLst xmlns:a="http://schemas.openxmlformats.org/drawingml/2006/main">
              <a:ext uri="{FF2B5EF4-FFF2-40B4-BE49-F238E27FC236}">
                <a16:creationId xmlns:a16="http://schemas.microsoft.com/office/drawing/2014/main" id="{89EE77C6-F5E7-4B6F-9BF0-910B9D3F15AD}"/>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4</a:t>
            </a:r>
          </a:p>
        </p:txBody>
      </p:sp>
      <p:pic>
        <p:nvPicPr>
          <p:cNvPr id="5" name="">
            <a:extLst xmlns:a="http://schemas.openxmlformats.org/drawingml/2006/main">
              <a:ext uri="{FF2B5EF4-FFF2-40B4-BE49-F238E27FC236}">
                <a16:creationId xmlns:a16="http://schemas.microsoft.com/office/drawing/2014/main" id="{F2505069-50AC-4A39-84DD-3E00D648DBD8}"/>
              </a:ext>
            </a:extLst>
          </p:cNvPr>
          <p:cNvPicPr>
            <a:picLocks xmlns:a="http://schemas.openxmlformats.org/drawingml/2006/main" noChangeAspect="1"/>
          </p:cNvPicPr>
          <p:nvPr/>
        </p:nvPicPr>
        <p:blipFill>
          <a:blip xmlns:r="http://schemas.openxmlformats.org/officeDocument/2006/relationships" xmlns:a="http://schemas.openxmlformats.org/drawingml/2006/main" r:embed="R5916731593144625"/>
          <a:stretch xmlns:a="http://schemas.openxmlformats.org/drawingml/2006/main"/>
        </p:blipFill>
        <p:spPr>
          <a:xfrm xmlns:a="http://schemas.openxmlformats.org/drawingml/2006/main">
            <a:off x="661690" y="1724025"/>
            <a:ext cx="1953220" cy="4048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18E9014-5C66-44A6-BC07-9CC52100302A}"/>
              </a:ext>
            </a:extLst>
          </p:cNvPr>
          <p:cNvPicPr>
            <a:picLocks xmlns:a="http://schemas.openxmlformats.org/drawingml/2006/main" noChangeAspect="1"/>
          </p:cNvPicPr>
          <p:nvPr/>
        </p:nvPicPr>
        <p:blipFill>
          <a:blip xmlns:r="http://schemas.openxmlformats.org/officeDocument/2006/relationships" xmlns:a="http://schemas.openxmlformats.org/drawingml/2006/main" r:embed="Ra466d943e1324e5b"/>
          <a:stretch xmlns:a="http://schemas.openxmlformats.org/drawingml/2006/main"/>
        </p:blipFill>
        <p:spPr>
          <a:xfrm xmlns:a="http://schemas.openxmlformats.org/drawingml/2006/main">
            <a:off x="3368278" y="1724025"/>
            <a:ext cx="3036094" cy="40481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A0DA4A4-C512-43C6-8733-18501DFBE5A2}"/>
              </a:ext>
            </a:extLst>
          </p:cNvPr>
          <p:cNvPicPr>
            <a:picLocks xmlns:a="http://schemas.openxmlformats.org/drawingml/2006/main" noChangeAspect="1"/>
          </p:cNvPicPr>
          <p:nvPr/>
        </p:nvPicPr>
        <p:blipFill>
          <a:blip xmlns:r="http://schemas.openxmlformats.org/officeDocument/2006/relationships" xmlns:a="http://schemas.openxmlformats.org/drawingml/2006/main" r:embed="R1d0006da2dff450f"/>
          <a:stretch xmlns:a="http://schemas.openxmlformats.org/drawingml/2006/main"/>
        </p:blipFill>
        <p:spPr>
          <a:xfrm xmlns:a="http://schemas.openxmlformats.org/drawingml/2006/main">
            <a:off x="7597378" y="1724025"/>
            <a:ext cx="3036094" cy="4048125"/>
          </a:xfrm>
          <a:prstGeom xmlns:a="http://schemas.openxmlformats.org/drawingml/2006/main" prst="rect">
            <a:avLst/>
          </a:prstGeom>
        </p:spPr>
      </p:pic>
      <p:sp>
        <p:nvSpPr>
          <p:cNvPr id="8" name="Cámara o galería">
            <a:extLst xmlns:a="http://schemas.openxmlformats.org/drawingml/2006/main">
              <a:ext uri="{FF2B5EF4-FFF2-40B4-BE49-F238E27FC236}">
                <a16:creationId xmlns:a16="http://schemas.microsoft.com/office/drawing/2014/main" id="{3F2EE997-565C-4401-A96A-53A3F70E41DB}"/>
              </a:ext>
            </a:extLst>
          </p:cNvPr>
          <p:cNvSpPr>
            <a:spLocks xmlns:a="http://schemas.openxmlformats.org/drawingml/2006/main" noGrp="1"/>
          </p:cNvSpPr>
          <p:nvPr/>
        </p:nvSpPr>
        <p:spPr>
          <a:xfrm xmlns:a="http://schemas.openxmlformats.org/drawingml/2006/main">
            <a:off x="571500" y="5876925"/>
            <a:ext cx="252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Cámara o galería</a:t>
            </a:r>
          </a:p>
        </p:txBody>
      </p:sp>
      <p:sp>
        <p:nvSpPr>
          <p:cNvPr id="9" name="Foto completa para analizar">
            <a:extLst xmlns:a="http://schemas.openxmlformats.org/drawingml/2006/main">
              <a:ext uri="{FF2B5EF4-FFF2-40B4-BE49-F238E27FC236}">
                <a16:creationId xmlns:a16="http://schemas.microsoft.com/office/drawing/2014/main" id="{536EDC51-EEE1-45F9-AF68-742E92BBEE63}"/>
              </a:ext>
            </a:extLst>
          </p:cNvPr>
          <p:cNvSpPr>
            <a:spLocks xmlns:a="http://schemas.openxmlformats.org/drawingml/2006/main" noGrp="1"/>
          </p:cNvSpPr>
          <p:nvPr/>
        </p:nvSpPr>
        <p:spPr>
          <a:xfrm xmlns:a="http://schemas.openxmlformats.org/drawingml/2006/main">
            <a:off x="3219450" y="5876925"/>
            <a:ext cx="3781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Foto completa para analizar</a:t>
            </a:r>
          </a:p>
        </p:txBody>
      </p:sp>
      <p:sp>
        <p:nvSpPr>
          <p:cNvPr id="10" name="Detalle visual de apoyo">
            <a:extLst xmlns:a="http://schemas.openxmlformats.org/drawingml/2006/main">
              <a:ext uri="{FF2B5EF4-FFF2-40B4-BE49-F238E27FC236}">
                <a16:creationId xmlns:a16="http://schemas.microsoft.com/office/drawing/2014/main" id="{2DA5415C-46A0-43EA-89F0-EFF2B0323579}"/>
              </a:ext>
            </a:extLst>
          </p:cNvPr>
          <p:cNvSpPr>
            <a:spLocks xmlns:a="http://schemas.openxmlformats.org/drawingml/2006/main" noGrp="1"/>
          </p:cNvSpPr>
          <p:nvPr/>
        </p:nvSpPr>
        <p:spPr>
          <a:xfrm xmlns:a="http://schemas.openxmlformats.org/drawingml/2006/main">
            <a:off x="7400925" y="587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Detalle visual de apoyo</a:t>
            </a:r>
          </a:p>
        </p:txBody>
      </p:sp>
    </p:spTree>
    <p:extLst>
      <p:ext uri="{BB962C8B-B14F-4D97-AF65-F5344CB8AC3E}">
        <p14:creationId xmlns:p14="http://schemas.microsoft.com/office/powerpoint/2010/main" val="93317544"/>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Peso total y detalles del plato">
            <a:extLst xmlns:a="http://schemas.openxmlformats.org/drawingml/2006/main">
              <a:ext uri="{FF2B5EF4-FFF2-40B4-BE49-F238E27FC236}">
                <a16:creationId xmlns:a16="http://schemas.microsoft.com/office/drawing/2014/main" id="{103FF3D0-2A34-4075-BAE1-B8F73A0921C8}"/>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Peso total y detalles del plato</a:t>
            </a:r>
          </a:p>
        </p:txBody>
      </p:sp>
      <p:sp>
        <p:nvSpPr>
          <p:cNvPr id="2" name="Un solo peso neto, descripción opcional y tipo de comida.">
            <a:extLst xmlns:a="http://schemas.openxmlformats.org/drawingml/2006/main">
              <a:ext uri="{FF2B5EF4-FFF2-40B4-BE49-F238E27FC236}">
                <a16:creationId xmlns:a16="http://schemas.microsoft.com/office/drawing/2014/main" id="{1B0FEB8B-F479-4982-8A25-BA1AFEF64F75}"/>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 solo peso neto, descripción opcional y tipo de comida.</a:t>
            </a:r>
          </a:p>
        </p:txBody>
      </p:sp>
      <p:sp>
        <p:nvSpPr>
          <p:cNvPr id="3" name="Fuente: capturas y FoodScan/components/foodscan.tsx.">
            <a:extLst xmlns:a="http://schemas.openxmlformats.org/drawingml/2006/main">
              <a:ext uri="{FF2B5EF4-FFF2-40B4-BE49-F238E27FC236}">
                <a16:creationId xmlns:a16="http://schemas.microsoft.com/office/drawing/2014/main" id="{DD0C5659-57E6-46BB-9701-C6150D35E7AB}"/>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capturas y FoodScan/components/foodscan.tsx.</a:t>
            </a:r>
          </a:p>
        </p:txBody>
      </p:sp>
      <p:sp>
        <p:nvSpPr>
          <p:cNvPr id="4" name="5">
            <a:extLst xmlns:a="http://schemas.openxmlformats.org/drawingml/2006/main">
              <a:ext uri="{FF2B5EF4-FFF2-40B4-BE49-F238E27FC236}">
                <a16:creationId xmlns:a16="http://schemas.microsoft.com/office/drawing/2014/main" id="{79F2BA9F-96B3-485B-9071-EB4EE9322F06}"/>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5</a:t>
            </a:r>
          </a:p>
        </p:txBody>
      </p:sp>
      <p:sp>
        <p:nvSpPr>
          <p:cNvPr id="5" name="Entrada del usuario">
            <a:extLst xmlns:a="http://schemas.openxmlformats.org/drawingml/2006/main">
              <a:ext uri="{FF2B5EF4-FFF2-40B4-BE49-F238E27FC236}">
                <a16:creationId xmlns:a16="http://schemas.microsoft.com/office/drawing/2014/main" id="{4D87C363-BE14-4CDD-B537-43DBEA988A32}"/>
              </a:ext>
            </a:extLst>
          </p:cNvPr>
          <p:cNvSpPr>
            <a:spLocks xmlns:a="http://schemas.openxmlformats.org/drawingml/2006/main" noGrp="1"/>
          </p:cNvSpPr>
          <p:nvPr/>
        </p:nvSpPr>
        <p:spPr>
          <a:xfrm xmlns:a="http://schemas.openxmlformats.org/drawingml/2006/main">
            <a:off x="571500" y="2000250"/>
            <a:ext cx="471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Entrada del usuario</a:t>
            </a:r>
          </a:p>
        </p:txBody>
      </p:sp>
      <p:sp>
        <p:nvSpPr>
          <p:cNvPr id="6" name="Foto del plato completo&#10;Masa neta de la balanza&#10;Preparación ">
            <a:extLst xmlns:a="http://schemas.openxmlformats.org/drawingml/2006/main">
              <a:ext uri="{FF2B5EF4-FFF2-40B4-BE49-F238E27FC236}">
                <a16:creationId xmlns:a16="http://schemas.microsoft.com/office/drawing/2014/main" id="{86B60A7B-7E5E-4520-9D7D-0668904D62AB}"/>
              </a:ext>
            </a:extLst>
          </p:cNvPr>
          <p:cNvSpPr>
            <a:spLocks xmlns:a="http://schemas.openxmlformats.org/drawingml/2006/main" noGrp="1"/>
          </p:cNvSpPr>
          <p:nvPr/>
        </p:nvSpPr>
        <p:spPr>
          <a:xfrm xmlns:a="http://schemas.openxmlformats.org/drawingml/2006/main">
            <a:off x="571500" y="2695575"/>
            <a:ext cx="47148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3F2F"/>
                </a:solidFill>
                <a:latin typeface="Arial"/>
                <a:ea typeface="Arial"/>
                <a:cs typeface="Arial"/>
              </a:defRPr>
            </a:defPPr>
          </a:lstStyle>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Foto del plato completo</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Masa neta de la balanza</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Preparación o detalles opcionales</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Desayuno, almuerzo, cena o snack</a:t>
            </a:r>
          </a:p>
        </p:txBody>
      </p:sp>
      <p:sp>
        <p:nvSpPr>
          <p:cNvPr id="7" name="“420” es el ejemplo del campo vacío.">
            <a:extLst xmlns:a="http://schemas.openxmlformats.org/drawingml/2006/main">
              <a:ext uri="{FF2B5EF4-FFF2-40B4-BE49-F238E27FC236}">
                <a16:creationId xmlns:a16="http://schemas.microsoft.com/office/drawing/2014/main" id="{BE02E4A2-5FDE-49D7-8040-2CDAA0560F92}"/>
              </a:ext>
            </a:extLst>
          </p:cNvPr>
          <p:cNvSpPr>
            <a:spLocks xmlns:a="http://schemas.openxmlformats.org/drawingml/2006/main" noGrp="1"/>
          </p:cNvSpPr>
          <p:nvPr/>
        </p:nvSpPr>
        <p:spPr>
          <a:xfrm xmlns:a="http://schemas.openxmlformats.org/drawingml/2006/main">
            <a:off x="571500" y="50006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“420” es el ejemplo del campo vacío.</a:t>
            </a:r>
          </a:p>
        </p:txBody>
      </p:sp>
      <p:sp>
        <p:nvSpPr>
          <p:cNvPr id="8" name="La grabación usará la lectura real.">
            <a:extLst xmlns:a="http://schemas.openxmlformats.org/drawingml/2006/main">
              <a:ext uri="{FF2B5EF4-FFF2-40B4-BE49-F238E27FC236}">
                <a16:creationId xmlns:a16="http://schemas.microsoft.com/office/drawing/2014/main" id="{0F9CAC77-4C99-4EC9-A80C-7E39734D2AB2}"/>
              </a:ext>
            </a:extLst>
          </p:cNvPr>
          <p:cNvSpPr>
            <a:spLocks xmlns:a="http://schemas.openxmlformats.org/drawingml/2006/main" noGrp="1"/>
          </p:cNvSpPr>
          <p:nvPr/>
        </p:nvSpPr>
        <p:spPr>
          <a:xfrm xmlns:a="http://schemas.openxmlformats.org/drawingml/2006/main">
            <a:off x="571500" y="5819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La grabación usará la lectura real.</a:t>
            </a:r>
          </a:p>
        </p:txBody>
      </p:sp>
      <p:pic>
        <p:nvPicPr>
          <p:cNvPr id="9" name="">
            <a:extLst xmlns:a="http://schemas.openxmlformats.org/drawingml/2006/main">
              <a:ext uri="{FF2B5EF4-FFF2-40B4-BE49-F238E27FC236}">
                <a16:creationId xmlns:a16="http://schemas.microsoft.com/office/drawing/2014/main" id="{E9484CD8-8648-4E76-A20E-E9F6C401661E}"/>
              </a:ext>
            </a:extLst>
          </p:cNvPr>
          <p:cNvPicPr>
            <a:picLocks xmlns:a="http://schemas.openxmlformats.org/drawingml/2006/main" noChangeAspect="1"/>
          </p:cNvPicPr>
          <p:nvPr/>
        </p:nvPicPr>
        <p:blipFill>
          <a:blip xmlns:r="http://schemas.openxmlformats.org/officeDocument/2006/relationships" xmlns:a="http://schemas.openxmlformats.org/drawingml/2006/main" r:embed="Rbaa4b1d92d8046ee"/>
          <a:stretch xmlns:a="http://schemas.openxmlformats.org/drawingml/2006/main"/>
        </p:blipFill>
        <p:spPr>
          <a:xfrm xmlns:a="http://schemas.openxmlformats.org/drawingml/2006/main">
            <a:off x="5920829" y="1714500"/>
            <a:ext cx="2188666" cy="452437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84FF15E-988F-4B4F-B4AD-3BA0F1ACB419}"/>
              </a:ext>
            </a:extLst>
          </p:cNvPr>
          <p:cNvPicPr>
            <a:picLocks xmlns:a="http://schemas.openxmlformats.org/drawingml/2006/main" noChangeAspect="1"/>
          </p:cNvPicPr>
          <p:nvPr/>
        </p:nvPicPr>
        <p:blipFill>
          <a:blip xmlns:r="http://schemas.openxmlformats.org/officeDocument/2006/relationships" xmlns:a="http://schemas.openxmlformats.org/drawingml/2006/main" r:embed="Rb917cefd81374e0d"/>
          <a:stretch xmlns:a="http://schemas.openxmlformats.org/drawingml/2006/main"/>
        </p:blipFill>
        <p:spPr>
          <a:xfrm xmlns:a="http://schemas.openxmlformats.org/drawingml/2006/main">
            <a:off x="9087371" y="1714500"/>
            <a:ext cx="2180183" cy="4524375"/>
          </a:xfrm>
          <a:prstGeom xmlns:a="http://schemas.openxmlformats.org/drawingml/2006/main" prst="rect">
            <a:avLst/>
          </a:prstGeom>
        </p:spPr>
      </p:pic>
    </p:spTree>
    <p:extLst>
      <p:ext uri="{BB962C8B-B14F-4D97-AF65-F5344CB8AC3E}">
        <p14:creationId xmlns:p14="http://schemas.microsoft.com/office/powerpoint/2010/main" val="700624109"/>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Gemini 3.8 Flash y catálogo del INS">
            <a:extLst xmlns:a="http://schemas.openxmlformats.org/drawingml/2006/main">
              <a:ext uri="{FF2B5EF4-FFF2-40B4-BE49-F238E27FC236}">
                <a16:creationId xmlns:a16="http://schemas.microsoft.com/office/drawing/2014/main" id="{9F387BC1-849E-4AEE-AE6D-0E5D93CBCDBD}"/>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Gemini 3.8 Flash y catálogo del INS</a:t>
            </a:r>
          </a:p>
        </p:txBody>
      </p:sp>
      <p:sp>
        <p:nvSpPr>
          <p:cNvPr id="2" name="La IA propone identidad y proporciones. El programa consulta">
            <a:extLst xmlns:a="http://schemas.openxmlformats.org/drawingml/2006/main">
              <a:ext uri="{FF2B5EF4-FFF2-40B4-BE49-F238E27FC236}">
                <a16:creationId xmlns:a16="http://schemas.microsoft.com/office/drawing/2014/main" id="{79477A3E-49CD-41B2-AA35-5E4AD8B25CC4}"/>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IA propone identidad y proporciones. El programa consulta los nutrientes.</a:t>
            </a:r>
          </a:p>
        </p:txBody>
      </p:sp>
      <p:sp>
        <p:nvSpPr>
          <p:cNvPr id="3" name="Fuente: código y datos de FoodScan. TPCA del INS, 10.ª edici">
            <a:extLst xmlns:a="http://schemas.openxmlformats.org/drawingml/2006/main">
              <a:ext uri="{FF2B5EF4-FFF2-40B4-BE49-F238E27FC236}">
                <a16:creationId xmlns:a16="http://schemas.microsoft.com/office/drawing/2014/main" id="{2E8C9E0D-55DC-47D9-B569-C27BDE7C7559}"/>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código y datos de FoodScan. TPCA del INS, 10.ª edición, 2017.</a:t>
            </a:r>
          </a:p>
        </p:txBody>
      </p:sp>
      <p:sp>
        <p:nvSpPr>
          <p:cNvPr id="4" name="6">
            <a:extLst xmlns:a="http://schemas.openxmlformats.org/drawingml/2006/main">
              <a:ext uri="{FF2B5EF4-FFF2-40B4-BE49-F238E27FC236}">
                <a16:creationId xmlns:a16="http://schemas.microsoft.com/office/drawing/2014/main" id="{8B976B86-6F93-43DE-A40B-F352C9D72B9D}"/>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6</a:t>
            </a:r>
          </a:p>
        </p:txBody>
      </p:sp>
      <p:sp>
        <p:nvSpPr>
          <p:cNvPr id="5" name="Gemini recibe">
            <a:extLst xmlns:a="http://schemas.openxmlformats.org/drawingml/2006/main">
              <a:ext uri="{FF2B5EF4-FFF2-40B4-BE49-F238E27FC236}">
                <a16:creationId xmlns:a16="http://schemas.microsoft.com/office/drawing/2014/main" id="{8A219052-0CFE-4D56-9BF8-A34884BBC23B}"/>
              </a:ext>
            </a:extLst>
          </p:cNvPr>
          <p:cNvSpPr>
            <a:spLocks xmlns:a="http://schemas.openxmlformats.org/drawingml/2006/main" noGrp="1"/>
          </p:cNvSpPr>
          <p:nvPr/>
        </p:nvSpPr>
        <p:spPr>
          <a:xfrm xmlns:a="http://schemas.openxmlformats.org/drawingml/2006/main">
            <a:off x="571500" y="18288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Gemini recibe</a:t>
            </a:r>
          </a:p>
        </p:txBody>
      </p:sp>
      <p:sp>
        <p:nvSpPr>
          <p:cNvPr id="6" name="Foto, peso neto, descripción&#10;y lista de alimentos disponible">
            <a:extLst xmlns:a="http://schemas.openxmlformats.org/drawingml/2006/main">
              <a:ext uri="{FF2B5EF4-FFF2-40B4-BE49-F238E27FC236}">
                <a16:creationId xmlns:a16="http://schemas.microsoft.com/office/drawing/2014/main" id="{DE9D921B-FEE2-4779-BF8F-86BDF65F201B}"/>
              </a:ext>
            </a:extLst>
          </p:cNvPr>
          <p:cNvSpPr>
            <a:spLocks xmlns:a="http://schemas.openxmlformats.org/drawingml/2006/main" noGrp="1"/>
          </p:cNvSpPr>
          <p:nvPr/>
        </p:nvSpPr>
        <p:spPr>
          <a:xfrm xmlns:a="http://schemas.openxmlformats.org/drawingml/2006/main">
            <a:off x="571500" y="2295525"/>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peso neto, descripción</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y lista de alimentos disponibles.</a:t>
            </a:r>
          </a:p>
        </p:txBody>
      </p:sp>
      <p:sp>
        <p:nvSpPr>
          <p:cNvPr id="7" name="Gemini devuelve">
            <a:extLst xmlns:a="http://schemas.openxmlformats.org/drawingml/2006/main">
              <a:ext uri="{FF2B5EF4-FFF2-40B4-BE49-F238E27FC236}">
                <a16:creationId xmlns:a16="http://schemas.microsoft.com/office/drawing/2014/main" id="{C8A9F125-465C-4E25-81CE-B2CE7BB9D0FD}"/>
              </a:ext>
            </a:extLst>
          </p:cNvPr>
          <p:cNvSpPr>
            <a:spLocks xmlns:a="http://schemas.openxmlformats.org/drawingml/2006/main" noGrp="1"/>
          </p:cNvSpPr>
          <p:nvPr/>
        </p:nvSpPr>
        <p:spPr>
          <a:xfrm xmlns:a="http://schemas.openxmlformats.org/drawingml/2006/main">
            <a:off x="571500" y="32575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Gemini devuelve</a:t>
            </a:r>
          </a:p>
        </p:txBody>
      </p:sp>
      <p:sp>
        <p:nvSpPr>
          <p:cNvPr id="8" name="Alimentos y proporciones estimadas.&#10;El usuario puede corregi">
            <a:extLst xmlns:a="http://schemas.openxmlformats.org/drawingml/2006/main">
              <a:ext uri="{FF2B5EF4-FFF2-40B4-BE49-F238E27FC236}">
                <a16:creationId xmlns:a16="http://schemas.microsoft.com/office/drawing/2014/main" id="{3DE1503B-4136-4FF9-9486-4D46662FCC34}"/>
              </a:ext>
            </a:extLst>
          </p:cNvPr>
          <p:cNvSpPr>
            <a:spLocks xmlns:a="http://schemas.openxmlformats.org/drawingml/2006/main" noGrp="1"/>
          </p:cNvSpPr>
          <p:nvPr/>
        </p:nvSpPr>
        <p:spPr>
          <a:xfrm xmlns:a="http://schemas.openxmlformats.org/drawingml/2006/main">
            <a:off x="571500" y="37242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Alimentos y proporciones estimadas.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usuario puede corregirlos.</a:t>
            </a:r>
          </a:p>
        </p:txBody>
      </p:sp>
      <p:sp>
        <p:nvSpPr>
          <p:cNvPr id="9" name="924 alimentos cargados">
            <a:extLst xmlns:a="http://schemas.openxmlformats.org/drawingml/2006/main">
              <a:ext uri="{FF2B5EF4-FFF2-40B4-BE49-F238E27FC236}">
                <a16:creationId xmlns:a16="http://schemas.microsoft.com/office/drawing/2014/main" id="{6BAE3D4B-34F6-4FAC-8877-702673FA08DE}"/>
              </a:ext>
            </a:extLst>
          </p:cNvPr>
          <p:cNvSpPr>
            <a:spLocks xmlns:a="http://schemas.openxmlformats.org/drawingml/2006/main" noGrp="1"/>
          </p:cNvSpPr>
          <p:nvPr/>
        </p:nvSpPr>
        <p:spPr>
          <a:xfrm xmlns:a="http://schemas.openxmlformats.org/drawingml/2006/main">
            <a:off x="6496050" y="18288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924 alimentos cargados</a:t>
            </a:r>
          </a:p>
        </p:txBody>
      </p:sp>
      <p:sp>
        <p:nvSpPr>
          <p:cNvPr id="10" name="Nombre y código de referencia&#10;Página de origen en la tabla&#10;k">
            <a:extLst xmlns:a="http://schemas.openxmlformats.org/drawingml/2006/main">
              <a:ext uri="{FF2B5EF4-FFF2-40B4-BE49-F238E27FC236}">
                <a16:creationId xmlns:a16="http://schemas.microsoft.com/office/drawing/2014/main" id="{7EF0AD86-EAAB-4D55-9D8A-DD4425DEF211}"/>
              </a:ext>
            </a:extLst>
          </p:cNvPr>
          <p:cNvSpPr>
            <a:spLocks xmlns:a="http://schemas.openxmlformats.org/drawingml/2006/main" noGrp="1"/>
          </p:cNvSpPr>
          <p:nvPr/>
        </p:nvSpPr>
        <p:spPr>
          <a:xfrm xmlns:a="http://schemas.openxmlformats.org/drawingml/2006/main">
            <a:off x="6496050" y="2371725"/>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Nombre y código de referencia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Página de origen en la tabla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kcal, proteínas, carbohidratos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y grasas por cada 100 g</a:t>
            </a:r>
          </a:p>
        </p:txBody>
      </p:sp>
      <p:sp>
        <p:nvSpPr>
          <p:cNvPr id="11" name="Ejemplos del catálogo">
            <a:extLst xmlns:a="http://schemas.openxmlformats.org/drawingml/2006/main">
              <a:ext uri="{FF2B5EF4-FFF2-40B4-BE49-F238E27FC236}">
                <a16:creationId xmlns:a16="http://schemas.microsoft.com/office/drawing/2014/main" id="{0A2DAD4B-0E4F-4178-83ED-D3A6E56DC23D}"/>
              </a:ext>
            </a:extLst>
          </p:cNvPr>
          <p:cNvSpPr>
            <a:spLocks xmlns:a="http://schemas.openxmlformats.org/drawingml/2006/main" noGrp="1"/>
          </p:cNvSpPr>
          <p:nvPr/>
        </p:nvSpPr>
        <p:spPr>
          <a:xfrm xmlns:a="http://schemas.openxmlformats.org/drawingml/2006/main">
            <a:off x="6496050" y="43529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Ejemplos del catálogo</a:t>
            </a:r>
          </a:p>
        </p:txBody>
      </p:sp>
      <p:sp>
        <p:nvSpPr>
          <p:cNvPr id="12" name="A 2  Arroz blanco cocido&#10;A 53  Quinua cocida&#10;J 3  Huevo sanc">
            <a:extLst xmlns:a="http://schemas.openxmlformats.org/drawingml/2006/main">
              <a:ext uri="{FF2B5EF4-FFF2-40B4-BE49-F238E27FC236}">
                <a16:creationId xmlns:a16="http://schemas.microsoft.com/office/drawing/2014/main" id="{951114D1-9F9D-4478-ABF9-52A612BDD147}"/>
              </a:ext>
            </a:extLst>
          </p:cNvPr>
          <p:cNvSpPr>
            <a:spLocks xmlns:a="http://schemas.openxmlformats.org/drawingml/2006/main" noGrp="1"/>
          </p:cNvSpPr>
          <p:nvPr/>
        </p:nvSpPr>
        <p:spPr>
          <a:xfrm xmlns:a="http://schemas.openxmlformats.org/drawingml/2006/main">
            <a:off x="6496050" y="48291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 2  Arroz blanco cocido</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 53  Quinua cocida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J 3  Huevo sancochado</a:t>
            </a:r>
          </a:p>
        </p:txBody>
      </p:sp>
      <p:sp>
        <p:nvSpPr>
          <p:cNvPr id="13" name="La tabla aporta los nutrientes. El equipo no entrenó un mode">
            <a:extLst xmlns:a="http://schemas.openxmlformats.org/drawingml/2006/main">
              <a:ext uri="{FF2B5EF4-FFF2-40B4-BE49-F238E27FC236}">
                <a16:creationId xmlns:a16="http://schemas.microsoft.com/office/drawing/2014/main" id="{5BA137EC-6C28-423F-8B8E-C777C7EE10F0}"/>
              </a:ext>
            </a:extLst>
          </p:cNvPr>
          <p:cNvSpPr>
            <a:spLocks xmlns:a="http://schemas.openxmlformats.org/drawingml/2006/main" noGrp="1"/>
          </p:cNvSpPr>
          <p:nvPr/>
        </p:nvSpPr>
        <p:spPr>
          <a:xfrm xmlns:a="http://schemas.openxmlformats.org/drawingml/2006/main">
            <a:off x="571500" y="56388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AD6240"/>
                </a:solidFill>
                <a:latin typeface="Arial"/>
                <a:ea typeface="Arial"/>
                <a:cs typeface="Arial"/>
              </a:defRPr>
            </a:defPPr>
          </a:lstStyle>
          <a:p xmlns:a="http://schemas.openxmlformats.org/drawingml/2006/main">
            <a:pPr>
              <a:defRPr sz="1800" b="1">
                <a:solidFill>
                  <a:srgbClr val="AD6240"/>
                </a:solidFill>
                <a:latin typeface="Arial"/>
                <a:ea typeface="Arial"/>
                <a:cs typeface="Arial"/>
              </a:defRPr>
            </a:pPr>
            <a:r>
              <a:rPr sz="1800" b="1">
                <a:solidFill>
                  <a:srgbClr val="AD6240"/>
                </a:solidFill>
                <a:latin typeface="Arial"/>
                <a:ea typeface="Arial"/>
                <a:cs typeface="Arial"/>
              </a:rPr>
              <a:t>La tabla aporta los nutrientes. El equipo no entrenó un modelo propio.</a:t>
            </a:r>
          </a:p>
        </p:txBody>
      </p:sp>
    </p:spTree>
    <p:extLst>
      <p:ext uri="{BB962C8B-B14F-4D97-AF65-F5344CB8AC3E}">
        <p14:creationId xmlns:p14="http://schemas.microsoft.com/office/powerpoint/2010/main" val="1070626598"/>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Cálculo nutricional y corrección">
            <a:extLst xmlns:a="http://schemas.openxmlformats.org/drawingml/2006/main">
              <a:ext uri="{FF2B5EF4-FFF2-40B4-BE49-F238E27FC236}">
                <a16:creationId xmlns:a16="http://schemas.microsoft.com/office/drawing/2014/main" id="{2549461E-08B7-4392-946E-8A25EDBAF88D}"/>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Cálculo nutricional y corrección</a:t>
            </a:r>
          </a:p>
        </p:txBody>
      </p:sp>
      <p:sp>
        <p:nvSpPr>
          <p:cNvPr id="2" name="Gramos de cada alimento × valor por 100 g ÷ 100">
            <a:extLst xmlns:a="http://schemas.openxmlformats.org/drawingml/2006/main">
              <a:ext uri="{FF2B5EF4-FFF2-40B4-BE49-F238E27FC236}">
                <a16:creationId xmlns:a16="http://schemas.microsoft.com/office/drawing/2014/main" id="{3E14DBB9-3BC6-479E-9213-8824BAFAA3D5}"/>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Gramos de cada alimento × valor por 100 g ÷ 100</a:t>
            </a:r>
          </a:p>
        </p:txBody>
      </p:sp>
      <p:sp>
        <p:nvSpPr>
          <p:cNvPr id="3" name="Fuente: FoodScan/lib/nutrition.ts y referencia TPCA A 2.">
            <a:extLst xmlns:a="http://schemas.openxmlformats.org/drawingml/2006/main">
              <a:ext uri="{FF2B5EF4-FFF2-40B4-BE49-F238E27FC236}">
                <a16:creationId xmlns:a16="http://schemas.microsoft.com/office/drawing/2014/main" id="{7CD19F7F-DBF5-4F26-BABB-3071AB4FBE7B}"/>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FoodScan/lib/nutrition.ts y referencia TPCA A 2.</a:t>
            </a:r>
          </a:p>
        </p:txBody>
      </p:sp>
      <p:sp>
        <p:nvSpPr>
          <p:cNvPr id="4" name="7">
            <a:extLst xmlns:a="http://schemas.openxmlformats.org/drawingml/2006/main">
              <a:ext uri="{FF2B5EF4-FFF2-40B4-BE49-F238E27FC236}">
                <a16:creationId xmlns:a16="http://schemas.microsoft.com/office/drawing/2014/main" id="{70416791-69F5-4A40-92B7-C7BCC5462EEF}"/>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7</a:t>
            </a:r>
          </a:p>
        </p:txBody>
      </p:sp>
      <p:graphicFrame>
        <p:nvGraphicFramePr>
          <p:cNvPr id="5" name="">
            <a:extLst xmlns:a="http://schemas.openxmlformats.org/drawingml/2006/main">
              <a:ext uri="{FF2B5EF4-FFF2-40B4-BE49-F238E27FC236}">
                <a16:creationId xmlns:a16="http://schemas.microsoft.com/office/drawing/2014/main" id="{81D0B311-479D-43E5-8E18-F518E1D7E242}"/>
              </a:ext>
            </a:extLst>
          </p:cNvPr>
          <p:cNvGraphicFramePr/>
          <p:nvPr/>
        </p:nvGraphicFramePr>
        <p:xfrm>
          <a:off xmlns:a="http://schemas.openxmlformats.org/drawingml/2006/main" x="571500" y="1914525"/>
          <a:ext xmlns:a="http://schemas.openxmlformats.org/drawingml/2006/main" cx="6858000" cy="2743200"/>
        </p:xfrm>
        <a:graphic xmlns:a="http://schemas.openxmlformats.org/drawingml/2006/main">
          <a:graphicData uri="http://schemas.openxmlformats.org/drawingml/2006/table">
            <a:tbl>
              <a:tblPr/>
              <a:tblGrid>
                <a:gridCol w="3048000"/>
                <a:gridCol w="1809750"/>
                <a:gridCol w="2000250"/>
              </a:tblGrid>
              <a:tr h="548640">
                <a:tc>
                  <a:txBody>
                    <a:bodyPr/>
                    <a:lstStyle/>
                    <a:p>
                      <a:r>
                        <a:rPr sz="1725" b="1">
                          <a:solidFill>
                            <a:srgbClr val="FFFFFF"/>
                          </a:solidFill>
                          <a:latin typeface="Arial"/>
                          <a:ea typeface="Arial"/>
                          <a:cs typeface="Arial"/>
                        </a:rPr>
                        <a:t>Arroz cocido A 2</a:t>
                      </a:r>
                    </a:p>
                  </a:txBody>
                  <a:tcPr marL="114300" marR="114300" marT="38100" marB="38100" anchor="ctr">
                    <a:solidFill>
                      <a:srgbClr val="173F2F"/>
                    </a:solidFill>
                  </a:tcPr>
                </a:tc>
                <a:tc>
                  <a:txBody>
                    <a:bodyPr/>
                    <a:lstStyle/>
                    <a:p>
                      <a:r>
                        <a:rPr sz="1725" b="1">
                          <a:solidFill>
                            <a:srgbClr val="FFFFFF"/>
                          </a:solidFill>
                          <a:latin typeface="Arial"/>
                          <a:ea typeface="Arial"/>
                          <a:cs typeface="Arial"/>
                        </a:rPr>
                        <a:t>Por 100 g</a:t>
                      </a:r>
                    </a:p>
                  </a:txBody>
                  <a:tcPr marL="114300" marR="114300" marT="38100" marB="38100" anchor="ctr">
                    <a:solidFill>
                      <a:srgbClr val="173F2F"/>
                    </a:solidFill>
                  </a:tcPr>
                </a:tc>
                <a:tc>
                  <a:txBody>
                    <a:bodyPr/>
                    <a:lstStyle/>
                    <a:p>
                      <a:r>
                        <a:rPr sz="1725" b="1">
                          <a:solidFill>
                            <a:srgbClr val="FFFFFF"/>
                          </a:solidFill>
                          <a:latin typeface="Arial"/>
                          <a:ea typeface="Arial"/>
                          <a:cs typeface="Arial"/>
                        </a:rPr>
                        <a:t>Para 150 g</a:t>
                      </a:r>
                    </a:p>
                  </a:txBody>
                  <a:tcPr marL="114300" marR="114300" marT="38100" marB="38100" anchor="ctr">
                    <a:solidFill>
                      <a:srgbClr val="173F2F"/>
                    </a:solidFill>
                  </a:tcPr>
                </a:tc>
              </a:tr>
              <a:tr h="548640">
                <a:tc>
                  <a:txBody>
                    <a:bodyPr/>
                    <a:lstStyle/>
                    <a:p>
                      <a:r>
                        <a:rPr sz="1725">
                          <a:solidFill>
                            <a:srgbClr val="173F2F"/>
                          </a:solidFill>
                          <a:latin typeface="Arial"/>
                          <a:ea typeface="Arial"/>
                          <a:cs typeface="Arial"/>
                        </a:rPr>
                        <a:t>Energía</a:t>
                      </a:r>
                    </a:p>
                  </a:txBody>
                  <a:tcPr marL="114300" marR="114300" marT="38100" marB="38100" anchor="ctr">
                    <a:solidFill>
                      <a:srgbClr val="FFFFFF"/>
                    </a:solidFill>
                  </a:tcPr>
                </a:tc>
                <a:tc>
                  <a:txBody>
                    <a:bodyPr/>
                    <a:lstStyle/>
                    <a:p>
                      <a:r>
                        <a:rPr sz="1725">
                          <a:solidFill>
                            <a:srgbClr val="173F2F"/>
                          </a:solidFill>
                          <a:latin typeface="Arial"/>
                          <a:ea typeface="Arial"/>
                          <a:cs typeface="Arial"/>
                        </a:rPr>
                        <a:t>115 kcal</a:t>
                      </a:r>
                    </a:p>
                  </a:txBody>
                  <a:tcPr marL="114300" marR="114300" marT="38100" marB="38100" anchor="ctr">
                    <a:solidFill>
                      <a:srgbClr val="FFFFFF"/>
                    </a:solidFill>
                  </a:tcPr>
                </a:tc>
                <a:tc>
                  <a:txBody>
                    <a:bodyPr/>
                    <a:lstStyle/>
                    <a:p>
                      <a:r>
                        <a:rPr sz="1725">
                          <a:solidFill>
                            <a:srgbClr val="173F2F"/>
                          </a:solidFill>
                          <a:latin typeface="Arial"/>
                          <a:ea typeface="Arial"/>
                          <a:cs typeface="Arial"/>
                        </a:rPr>
                        <a:t>172,5 kcal</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Proteínas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2,4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3,6 g</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Carbohidratos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25,2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37,8 g</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Grasas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0,1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0,15 g</a:t>
                      </a:r>
                    </a:p>
                  </a:txBody>
                  <a:tcPr marL="114300" marR="114300" marT="38100" marB="38100" anchor="ctr">
                    <a:solidFill>
                      <a:srgbClr val="FFFFFF"/>
                    </a:solidFill>
                  </a:tcPr>
                </a:tc>
              </a:tr>
            </a:tbl>
          </a:graphicData>
        </a:graphic>
      </p:graphicFrame>
      <p:sp>
        <p:nvSpPr>
          <p:cNvPr id="6" name="Revisión del usuario">
            <a:extLst xmlns:a="http://schemas.openxmlformats.org/drawingml/2006/main">
              <a:ext uri="{FF2B5EF4-FFF2-40B4-BE49-F238E27FC236}">
                <a16:creationId xmlns:a16="http://schemas.microsoft.com/office/drawing/2014/main" id="{DF6D2DEC-B2EB-4C8C-B1EB-66299FE2F66B}"/>
              </a:ext>
            </a:extLst>
          </p:cNvPr>
          <p:cNvSpPr>
            <a:spLocks xmlns:a="http://schemas.openxmlformats.org/drawingml/2006/main" noGrp="1"/>
          </p:cNvSpPr>
          <p:nvPr/>
        </p:nvSpPr>
        <p:spPr>
          <a:xfrm xmlns:a="http://schemas.openxmlformats.org/drawingml/2006/main">
            <a:off x="7981950" y="191452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Revisión del usuario</a:t>
            </a:r>
          </a:p>
        </p:txBody>
      </p:sp>
      <p:sp>
        <p:nvSpPr>
          <p:cNvPr id="7" name="Cambiar la referencia&#10;Añadir o quitar alimentos&#10;Ajustar las ">
            <a:extLst xmlns:a="http://schemas.openxmlformats.org/drawingml/2006/main">
              <a:ext uri="{FF2B5EF4-FFF2-40B4-BE49-F238E27FC236}">
                <a16:creationId xmlns:a16="http://schemas.microsoft.com/office/drawing/2014/main" id="{AE790B81-DFE3-42D6-845A-795AAF1CCB89}"/>
              </a:ext>
            </a:extLst>
          </p:cNvPr>
          <p:cNvSpPr>
            <a:spLocks xmlns:a="http://schemas.openxmlformats.org/drawingml/2006/main" noGrp="1"/>
          </p:cNvSpPr>
          <p:nvPr/>
        </p:nvSpPr>
        <p:spPr>
          <a:xfrm xmlns:a="http://schemas.openxmlformats.org/drawingml/2006/main">
            <a:off x="7981950" y="2543175"/>
            <a:ext cx="362902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Cambiar la referencia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Añadir o quitar alimentos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Ajustar las porciones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Recalcular al corregir</a:t>
            </a:r>
          </a:p>
        </p:txBody>
      </p:sp>
      <p:sp>
        <p:nvSpPr>
          <p:cNvPr id="8" name="Ejemplo de cálculo, no resultado del plato fotografiado.">
            <a:extLst xmlns:a="http://schemas.openxmlformats.org/drawingml/2006/main">
              <a:ext uri="{FF2B5EF4-FFF2-40B4-BE49-F238E27FC236}">
                <a16:creationId xmlns:a16="http://schemas.microsoft.com/office/drawing/2014/main" id="{CFC18060-F306-4B18-AEAA-C35569DE76CB}"/>
              </a:ext>
            </a:extLst>
          </p:cNvPr>
          <p:cNvSpPr>
            <a:spLocks xmlns:a="http://schemas.openxmlformats.org/drawingml/2006/main" noGrp="1"/>
          </p:cNvSpPr>
          <p:nvPr/>
        </p:nvSpPr>
        <p:spPr>
          <a:xfrm xmlns:a="http://schemas.openxmlformats.org/drawingml/2006/main">
            <a:off x="571500" y="4924425"/>
            <a:ext cx="6896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Ejemplo de cálculo, no resultado del plato fotografiado.</a:t>
            </a:r>
          </a:p>
        </p:txBody>
      </p:sp>
      <p:sp>
        <p:nvSpPr>
          <p:cNvPr id="9" name="Dato ausente: pendiente o parcial. Nunca se completa con cer">
            <a:extLst xmlns:a="http://schemas.openxmlformats.org/drawingml/2006/main">
              <a:ext uri="{FF2B5EF4-FFF2-40B4-BE49-F238E27FC236}">
                <a16:creationId xmlns:a16="http://schemas.microsoft.com/office/drawing/2014/main" id="{26DA9BA3-FA8F-4E53-9FF0-B3B41BE197E5}"/>
              </a:ext>
            </a:extLst>
          </p:cNvPr>
          <p:cNvSpPr>
            <a:spLocks xmlns:a="http://schemas.openxmlformats.org/drawingml/2006/main" noGrp="1"/>
          </p:cNvSpPr>
          <p:nvPr/>
        </p:nvSpPr>
        <p:spPr>
          <a:xfrm xmlns:a="http://schemas.openxmlformats.org/drawingml/2006/main">
            <a:off x="571500" y="5715000"/>
            <a:ext cx="11010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Dato ausente: pendiente o parcial. Nunca se completa con cero.</a:t>
            </a:r>
          </a:p>
        </p:txBody>
      </p:sp>
    </p:spTree>
    <p:extLst>
      <p:ext uri="{BB962C8B-B14F-4D97-AF65-F5344CB8AC3E}">
        <p14:creationId xmlns:p14="http://schemas.microsoft.com/office/powerpoint/2010/main" val="1965489605"/>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Comprobación de la variable y del cálculo">
            <a:extLst xmlns:a="http://schemas.openxmlformats.org/drawingml/2006/main">
              <a:ext uri="{FF2B5EF4-FFF2-40B4-BE49-F238E27FC236}">
                <a16:creationId xmlns:a16="http://schemas.microsoft.com/office/drawing/2014/main" id="{E1322386-2E49-44E8-90ED-BC86820D662C}"/>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Comprobación de la variable y del cálculo</a:t>
            </a:r>
          </a:p>
        </p:txBody>
      </p:sp>
      <p:sp>
        <p:nvSpPr>
          <p:cNvPr id="2" name="Demostración de variación de masa y comprobación independien">
            <a:extLst xmlns:a="http://schemas.openxmlformats.org/drawingml/2006/main">
              <a:ext uri="{FF2B5EF4-FFF2-40B4-BE49-F238E27FC236}">
                <a16:creationId xmlns:a16="http://schemas.microsoft.com/office/drawing/2014/main" id="{6512685E-CF6F-484B-81E9-F62986565533}"/>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Demostración de variación de masa y comprobación independiente.</a:t>
            </a:r>
          </a:p>
        </p:txBody>
      </p:sp>
      <p:sp>
        <p:nvSpPr>
          <p:cNvPr id="3" name="Fuente: imagen del equipo. Procedimiento de comprobación par">
            <a:extLst xmlns:a="http://schemas.openxmlformats.org/drawingml/2006/main">
              <a:ext uri="{FF2B5EF4-FFF2-40B4-BE49-F238E27FC236}">
                <a16:creationId xmlns:a16="http://schemas.microsoft.com/office/drawing/2014/main" id="{F8CDC05D-F906-470B-9CA6-E8B8B0B04E7E}"/>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imagen del equipo. Procedimiento de comprobación para la grabación.</a:t>
            </a:r>
          </a:p>
        </p:txBody>
      </p:sp>
      <p:sp>
        <p:nvSpPr>
          <p:cNvPr id="4" name="8">
            <a:extLst xmlns:a="http://schemas.openxmlformats.org/drawingml/2006/main">
              <a:ext uri="{FF2B5EF4-FFF2-40B4-BE49-F238E27FC236}">
                <a16:creationId xmlns:a16="http://schemas.microsoft.com/office/drawing/2014/main" id="{3F5344DD-C8CE-4012-B610-68266479A6C6}"/>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8</a:t>
            </a:r>
          </a:p>
        </p:txBody>
      </p:sp>
      <p:pic>
        <p:nvPicPr>
          <p:cNvPr id="5" name="">
            <a:extLst xmlns:a="http://schemas.openxmlformats.org/drawingml/2006/main">
              <a:ext uri="{FF2B5EF4-FFF2-40B4-BE49-F238E27FC236}">
                <a16:creationId xmlns:a16="http://schemas.microsoft.com/office/drawing/2014/main" id="{6189A4E1-54FD-4349-95C0-C63072C7E7F1}"/>
              </a:ext>
            </a:extLst>
          </p:cNvPr>
          <p:cNvPicPr>
            <a:picLocks xmlns:a="http://schemas.openxmlformats.org/drawingml/2006/main" noChangeAspect="1"/>
          </p:cNvPicPr>
          <p:nvPr/>
        </p:nvPicPr>
        <p:blipFill>
          <a:blip xmlns:r="http://schemas.openxmlformats.org/officeDocument/2006/relationships" xmlns:a="http://schemas.openxmlformats.org/drawingml/2006/main" r:embed="R352671939e704f5d"/>
          <a:stretch xmlns:a="http://schemas.openxmlformats.org/drawingml/2006/main"/>
        </p:blipFill>
        <p:spPr>
          <a:xfrm xmlns:a="http://schemas.openxmlformats.org/drawingml/2006/main">
            <a:off x="879475" y="1847850"/>
            <a:ext cx="5270500" cy="3952875"/>
          </a:xfrm>
          <a:prstGeom xmlns:a="http://schemas.openxmlformats.org/drawingml/2006/main" prst="rect">
            <a:avLst/>
          </a:prstGeom>
        </p:spPr>
      </p:pic>
      <p:sp>
        <p:nvSpPr>
          <p:cNvPr id="6" name="Durante la grabación">
            <a:extLst xmlns:a="http://schemas.openxmlformats.org/drawingml/2006/main">
              <a:ext uri="{FF2B5EF4-FFF2-40B4-BE49-F238E27FC236}">
                <a16:creationId xmlns:a16="http://schemas.microsoft.com/office/drawing/2014/main" id="{96477391-0ABE-4115-893D-232C8D6BAD9E}"/>
              </a:ext>
            </a:extLst>
          </p:cNvPr>
          <p:cNvSpPr>
            <a:spLocks xmlns:a="http://schemas.openxmlformats.org/drawingml/2006/main" noGrp="1"/>
          </p:cNvSpPr>
          <p:nvPr/>
        </p:nvSpPr>
        <p:spPr>
          <a:xfrm xmlns:a="http://schemas.openxmlformats.org/drawingml/2006/main">
            <a:off x="7000875" y="1838325"/>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F2F"/>
                </a:solidFill>
                <a:latin typeface="Arial"/>
                <a:ea typeface="Arial"/>
                <a:cs typeface="Arial"/>
              </a:defRPr>
            </a:defPPr>
          </a:lstStyle>
          <a:p xmlns:a="http://schemas.openxmlformats.org/drawingml/2006/main">
            <a:pPr>
              <a:defRPr sz="2250" b="1">
                <a:solidFill>
                  <a:srgbClr val="173F2F"/>
                </a:solidFill>
                <a:latin typeface="Arial"/>
                <a:ea typeface="Arial"/>
                <a:cs typeface="Arial"/>
              </a:defRPr>
            </a:pPr>
            <a:r>
              <a:rPr sz="2250" b="1">
                <a:solidFill>
                  <a:srgbClr val="173F2F"/>
                </a:solidFill>
                <a:latin typeface="Arial"/>
                <a:ea typeface="Arial"/>
                <a:cs typeface="Arial"/>
              </a:rPr>
              <a:t>Durante la grabación</a:t>
            </a:r>
          </a:p>
        </p:txBody>
      </p:sp>
      <p:sp>
        <p:nvSpPr>
          <p:cNvPr id="7" name="Registrar masa inicial.&#10;Retirar parte de la comida.&#10;Registra">
            <a:extLst xmlns:a="http://schemas.openxmlformats.org/drawingml/2006/main">
              <a:ext uri="{FF2B5EF4-FFF2-40B4-BE49-F238E27FC236}">
                <a16:creationId xmlns:a16="http://schemas.microsoft.com/office/drawing/2014/main" id="{C852731A-7EF9-4C81-9D96-4491511F1AD6}"/>
              </a:ext>
            </a:extLst>
          </p:cNvPr>
          <p:cNvSpPr>
            <a:spLocks xmlns:a="http://schemas.openxmlformats.org/drawingml/2006/main" noGrp="1"/>
          </p:cNvSpPr>
          <p:nvPr/>
        </p:nvSpPr>
        <p:spPr>
          <a:xfrm xmlns:a="http://schemas.openxmlformats.org/drawingml/2006/main">
            <a:off x="7000875" y="2390775"/>
            <a:ext cx="4572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Registrar masa inicial.</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Retirar parte de la comida.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Registrar masa final.</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Ingresar ambas lecturas.</a:t>
            </a:r>
          </a:p>
        </p:txBody>
      </p:sp>
      <p:sp>
        <p:nvSpPr>
          <p:cNvPr id="8" name="Comprobación del programa">
            <a:extLst xmlns:a="http://schemas.openxmlformats.org/drawingml/2006/main">
              <a:ext uri="{FF2B5EF4-FFF2-40B4-BE49-F238E27FC236}">
                <a16:creationId xmlns:a16="http://schemas.microsoft.com/office/drawing/2014/main" id="{47D4E259-CC55-4934-A84B-2FC6DC767803}"/>
              </a:ext>
            </a:extLst>
          </p:cNvPr>
          <p:cNvSpPr>
            <a:spLocks xmlns:a="http://schemas.openxmlformats.org/drawingml/2006/main" noGrp="1"/>
          </p:cNvSpPr>
          <p:nvPr/>
        </p:nvSpPr>
        <p:spPr>
          <a:xfrm xmlns:a="http://schemas.openxmlformats.org/drawingml/2006/main">
            <a:off x="7000875" y="43148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Comprobación del programa</a:t>
            </a:r>
          </a:p>
        </p:txBody>
      </p:sp>
      <p:sp>
        <p:nvSpPr>
          <p:cNvPr id="9" name="Un alimento y dos cantidades:&#10;el doble de gramos produce&#10;el ">
            <a:extLst xmlns:a="http://schemas.openxmlformats.org/drawingml/2006/main">
              <a:ext uri="{FF2B5EF4-FFF2-40B4-BE49-F238E27FC236}">
                <a16:creationId xmlns:a16="http://schemas.microsoft.com/office/drawing/2014/main" id="{5975CB0C-4FBF-4A1D-8E18-A990C29F1778}"/>
              </a:ext>
            </a:extLst>
          </p:cNvPr>
          <p:cNvSpPr>
            <a:spLocks xmlns:a="http://schemas.openxmlformats.org/drawingml/2006/main" noGrp="1"/>
          </p:cNvSpPr>
          <p:nvPr/>
        </p:nvSpPr>
        <p:spPr>
          <a:xfrm xmlns:a="http://schemas.openxmlformats.org/drawingml/2006/main">
            <a:off x="7000875" y="50482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Un alimento y dos cantidades: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doble de gramos produce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doble de nutrientes.</a:t>
            </a:r>
          </a:p>
        </p:txBody>
      </p:sp>
      <p:sp>
        <p:nvSpPr>
          <p:cNvPr id="10" name="Fotos de apoyo. La exactitud del reparto requiere pesajes po">
            <a:extLst xmlns:a="http://schemas.openxmlformats.org/drawingml/2006/main">
              <a:ext uri="{FF2B5EF4-FFF2-40B4-BE49-F238E27FC236}">
                <a16:creationId xmlns:a16="http://schemas.microsoft.com/office/drawing/2014/main" id="{11A7F62B-178D-4911-A52E-DE650A75694E}"/>
              </a:ext>
            </a:extLst>
          </p:cNvPr>
          <p:cNvSpPr>
            <a:spLocks xmlns:a="http://schemas.openxmlformats.org/drawingml/2006/main" noGrp="1"/>
          </p:cNvSpPr>
          <p:nvPr/>
        </p:nvSpPr>
        <p:spPr>
          <a:xfrm xmlns:a="http://schemas.openxmlformats.org/drawingml/2006/main">
            <a:off x="571500" y="5943600"/>
            <a:ext cx="611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Fotos de apoyo. La exactitud del reparto requiere pesajes por alimento.</a:t>
            </a:r>
          </a:p>
        </p:txBody>
      </p:sp>
    </p:spTree>
    <p:extLst>
      <p:ext uri="{BB962C8B-B14F-4D97-AF65-F5344CB8AC3E}">
        <p14:creationId xmlns:p14="http://schemas.microsoft.com/office/powerpoint/2010/main" val="515733672"/>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Resultado, revisión y guardado">
            <a:extLst xmlns:a="http://schemas.openxmlformats.org/drawingml/2006/main">
              <a:ext uri="{FF2B5EF4-FFF2-40B4-BE49-F238E27FC236}">
                <a16:creationId xmlns:a16="http://schemas.microsoft.com/office/drawing/2014/main" id="{E435D256-F41D-47F4-86B6-975DAEB40D4A}"/>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Resultado, revisión y guardado</a:t>
            </a:r>
          </a:p>
        </p:txBody>
      </p:sp>
      <p:sp>
        <p:nvSpPr>
          <p:cNvPr id="2" name="El resultado definitivo se incorporará con la próxima captur">
            <a:extLst xmlns:a="http://schemas.openxmlformats.org/drawingml/2006/main">
              <a:ext uri="{FF2B5EF4-FFF2-40B4-BE49-F238E27FC236}">
                <a16:creationId xmlns:a16="http://schemas.microsoft.com/office/drawing/2014/main" id="{85BF7F9C-2C3E-4263-9EF7-4FD19653BEC2}"/>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El resultado definitivo se incorporará con la próxima captura.</a:t>
            </a:r>
          </a:p>
        </p:txBody>
      </p:sp>
      <p:sp>
        <p:nvSpPr>
          <p:cNvPr id="3" name="Fuente: funciones implementadas de FoodScan. Captura real de">
            <a:extLst xmlns:a="http://schemas.openxmlformats.org/drawingml/2006/main">
              <a:ext uri="{FF2B5EF4-FFF2-40B4-BE49-F238E27FC236}">
                <a16:creationId xmlns:a16="http://schemas.microsoft.com/office/drawing/2014/main" id="{9F4F6990-F8E6-4950-BCD6-3544CF48BFD8}"/>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funciones implementadas de FoodScan. Captura real de resultado pendiente.</a:t>
            </a:r>
          </a:p>
        </p:txBody>
      </p:sp>
      <p:sp>
        <p:nvSpPr>
          <p:cNvPr id="4" name="9">
            <a:extLst xmlns:a="http://schemas.openxmlformats.org/drawingml/2006/main">
              <a:ext uri="{FF2B5EF4-FFF2-40B4-BE49-F238E27FC236}">
                <a16:creationId xmlns:a16="http://schemas.microsoft.com/office/drawing/2014/main" id="{67790D3F-4C67-42BF-B88B-B93BE08A6B0D}"/>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9</a:t>
            </a:r>
          </a:p>
        </p:txBody>
      </p:sp>
      <p:sp>
        <p:nvSpPr>
          <p:cNvPr id="5" name="Resultado disponible en la app">
            <a:extLst xmlns:a="http://schemas.openxmlformats.org/drawingml/2006/main">
              <a:ext uri="{FF2B5EF4-FFF2-40B4-BE49-F238E27FC236}">
                <a16:creationId xmlns:a16="http://schemas.microsoft.com/office/drawing/2014/main" id="{5BF19424-585B-4BDA-84F8-1F4628DA9585}"/>
              </a:ext>
            </a:extLst>
          </p:cNvPr>
          <p:cNvSpPr>
            <a:spLocks xmlns:a="http://schemas.openxmlformats.org/drawingml/2006/main" noGrp="1"/>
          </p:cNvSpPr>
          <p:nvPr/>
        </p:nvSpPr>
        <p:spPr>
          <a:xfrm xmlns:a="http://schemas.openxmlformats.org/drawingml/2006/main">
            <a:off x="571500" y="1914525"/>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Resultado disponible en la app</a:t>
            </a:r>
          </a:p>
        </p:txBody>
      </p:sp>
      <p:sp>
        <p:nvSpPr>
          <p:cNvPr id="6" name="Desglose y gramos por alimento&#10;Calorías y macronutrientes&#10;Av">
            <a:extLst xmlns:a="http://schemas.openxmlformats.org/drawingml/2006/main">
              <a:ext uri="{FF2B5EF4-FFF2-40B4-BE49-F238E27FC236}">
                <a16:creationId xmlns:a16="http://schemas.microsoft.com/office/drawing/2014/main" id="{5409CC09-DC6A-4393-91CD-74A8F66C2432}"/>
              </a:ext>
            </a:extLst>
          </p:cNvPr>
          <p:cNvSpPr>
            <a:spLocks xmlns:a="http://schemas.openxmlformats.org/drawingml/2006/main" noGrp="1"/>
          </p:cNvSpPr>
          <p:nvPr/>
        </p:nvSpPr>
        <p:spPr>
          <a:xfrm xmlns:a="http://schemas.openxmlformats.org/drawingml/2006/main">
            <a:off x="571500" y="2524125"/>
            <a:ext cx="600075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Desglose y gramos por alimento</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Calorías y macronutrientes</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Avisos de información pendiente</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Correcciones antes de guardar</a:t>
            </a:r>
          </a:p>
        </p:txBody>
      </p:sp>
      <p:sp>
        <p:nvSpPr>
          <p:cNvPr id="7" name="Guardado en el mismo navegador">
            <a:extLst xmlns:a="http://schemas.openxmlformats.org/drawingml/2006/main">
              <a:ext uri="{FF2B5EF4-FFF2-40B4-BE49-F238E27FC236}">
                <a16:creationId xmlns:a16="http://schemas.microsoft.com/office/drawing/2014/main" id="{ED9FB826-F1BC-479E-B571-993BF5CC906C}"/>
              </a:ext>
            </a:extLst>
          </p:cNvPr>
          <p:cNvSpPr>
            <a:spLocks xmlns:a="http://schemas.openxmlformats.org/drawingml/2006/main" noGrp="1"/>
          </p:cNvSpPr>
          <p:nvPr/>
        </p:nvSpPr>
        <p:spPr>
          <a:xfrm xmlns:a="http://schemas.openxmlformats.org/drawingml/2006/main">
            <a:off x="571500" y="46482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Guardado en el mismo navegador</a:t>
            </a:r>
          </a:p>
        </p:txBody>
      </p:sp>
      <p:sp>
        <p:nvSpPr>
          <p:cNvPr id="8" name="Foto, fecha, comida y resultados.&#10;Consulta en Mi día y en Hi">
            <a:extLst xmlns:a="http://schemas.openxmlformats.org/drawingml/2006/main">
              <a:ext uri="{FF2B5EF4-FFF2-40B4-BE49-F238E27FC236}">
                <a16:creationId xmlns:a16="http://schemas.microsoft.com/office/drawing/2014/main" id="{84226A1C-922F-41D4-BD3D-55995D43AF6A}"/>
              </a:ext>
            </a:extLst>
          </p:cNvPr>
          <p:cNvSpPr>
            <a:spLocks xmlns:a="http://schemas.openxmlformats.org/drawingml/2006/main" noGrp="1"/>
          </p:cNvSpPr>
          <p:nvPr/>
        </p:nvSpPr>
        <p:spPr>
          <a:xfrm xmlns:a="http://schemas.openxmlformats.org/drawingml/2006/main">
            <a:off x="571500" y="520065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Foto, fecha, comida y resultados.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Consulta en Mi día y en Historial.</a:t>
            </a:r>
          </a:p>
        </p:txBody>
      </p:sp>
      <p:sp>
        <p:nvSpPr>
          <p:cNvPr id="9" name="Captura del resultado&#10;pendiente de incorporar">
            <a:extLst xmlns:a="http://schemas.openxmlformats.org/drawingml/2006/main">
              <a:ext uri="{FF2B5EF4-FFF2-40B4-BE49-F238E27FC236}">
                <a16:creationId xmlns:a16="http://schemas.microsoft.com/office/drawing/2014/main" id="{182BD56A-ED2A-4DE1-BF08-E186F3A19448}"/>
              </a:ext>
            </a:extLst>
          </p:cNvPr>
          <p:cNvSpPr>
            <a:spLocks xmlns:a="http://schemas.openxmlformats.org/drawingml/2006/main" noGrp="1"/>
          </p:cNvSpPr>
          <p:nvPr/>
        </p:nvSpPr>
        <p:spPr>
          <a:xfrm xmlns:a="http://schemas.openxmlformats.org/drawingml/2006/main">
            <a:off x="7381875" y="2638425"/>
            <a:ext cx="4191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577161"/>
                </a:solidFill>
                <a:latin typeface="Arial"/>
                <a:ea typeface="Arial"/>
                <a:cs typeface="Arial"/>
              </a:defRPr>
            </a:defPPr>
          </a:lstStyle>
          <a:p xmlns:a="http://schemas.openxmlformats.org/drawingml/2006/main">
            <a:pPr>
              <a:defRPr sz="2400" b="1">
                <a:solidFill>
                  <a:srgbClr val="577161"/>
                </a:solidFill>
                <a:latin typeface="Arial"/>
                <a:ea typeface="Arial"/>
                <a:cs typeface="Arial"/>
              </a:defRPr>
            </a:pPr>
            <a:r>
              <a:rPr sz="2400" b="1">
                <a:solidFill>
                  <a:srgbClr val="577161"/>
                </a:solidFill>
                <a:latin typeface="Arial"/>
                <a:ea typeface="Arial"/>
                <a:cs typeface="Arial"/>
              </a:rPr>
              <a:t>Captura del resultado</a:t>
            </a:r>
          </a:p>
          <a:p xmlns:a="http://schemas.openxmlformats.org/drawingml/2006/main">
            <a:pPr>
              <a:defRPr sz="2400" b="1">
                <a:solidFill>
                  <a:srgbClr val="577161"/>
                </a:solidFill>
                <a:latin typeface="Arial"/>
                <a:ea typeface="Arial"/>
                <a:cs typeface="Arial"/>
              </a:defRPr>
            </a:pPr>
            <a:r>
              <a:rPr sz="2400" b="1">
                <a:solidFill>
                  <a:srgbClr val="577161"/>
                </a:solidFill>
                <a:latin typeface="Arial"/>
                <a:ea typeface="Arial"/>
                <a:cs typeface="Arial"/>
              </a:rPr>
              <a:t>pendiente de incorporar</a:t>
            </a:r>
          </a:p>
        </p:txBody>
      </p:sp>
      <p:sp>
        <p:nvSpPr>
          <p:cNvPr id="10" name="Celular con batería.&#10;Internet para el reconocimiento.">
            <a:extLst xmlns:a="http://schemas.openxmlformats.org/drawingml/2006/main">
              <a:ext uri="{FF2B5EF4-FFF2-40B4-BE49-F238E27FC236}">
                <a16:creationId xmlns:a16="http://schemas.microsoft.com/office/drawing/2014/main" id="{0542E20C-5D62-4A37-BCF5-465362C52A7D}"/>
              </a:ext>
            </a:extLst>
          </p:cNvPr>
          <p:cNvSpPr>
            <a:spLocks xmlns:a="http://schemas.openxmlformats.org/drawingml/2006/main" noGrp="1"/>
          </p:cNvSpPr>
          <p:nvPr/>
        </p:nvSpPr>
        <p:spPr>
          <a:xfrm xmlns:a="http://schemas.openxmlformats.org/drawingml/2006/main">
            <a:off x="7381875" y="50863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Celular con batería.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Internet para el reconocimiento.</a:t>
            </a:r>
          </a:p>
        </p:txBody>
      </p:sp>
    </p:spTree>
    <p:extLst>
      <p:ext uri="{BB962C8B-B14F-4D97-AF65-F5344CB8AC3E}">
        <p14:creationId xmlns:p14="http://schemas.microsoft.com/office/powerpoint/2010/main" val="820849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2026-10-08T04:22:26.5900000Z</dcterms:created>
  <dcterms:modified xsi:type="dcterms:W3CDTF">2026-10-08T04:22:26.5900000Z</dcterms:modified>
</coreProperties>
</file>