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c99eb681144172" /><Relationship Type="http://schemas.openxmlformats.org/officeDocument/2006/relationships/extended-properties" Target="/docProps/app.xml" Id="Rcec92db951d94dea" /><Relationship Type="http://schemas.openxmlformats.org/officeDocument/2006/relationships/officeDocument" Target="/ppt/presentation.xml" Id="R9d7b032e0ffe4080" /></Relationships>
</file>

<file path=ppt/presentation.xml><?xml version="1.0" encoding="utf-8"?>
<p:presentation xmlns:p="http://schemas.openxmlformats.org/presentationml/2006/main">
  <p:sldMasterIdLst>
    <p:sldMasterId xmlns:r="http://schemas.openxmlformats.org/officeDocument/2006/relationships" id="2147483648" r:id="R72914eef03ec4199"/>
  </p:sldMasterIdLst>
  <p:notesMasterIdLst>
    <p:notesMasterId xmlns:r="http://schemas.openxmlformats.org/officeDocument/2006/relationships" r:id="R4ae2ef36306042e0"/>
  </p:notesMasterIdLst>
  <p:sldIdLst>
    <p:sldId xmlns:r="http://schemas.openxmlformats.org/officeDocument/2006/relationships" id="256" r:id="R1c498a6e5c284737"/>
    <p:sldId xmlns:r="http://schemas.openxmlformats.org/officeDocument/2006/relationships" id="257" r:id="R90a3355a0f8b4ada"/>
    <p:sldId xmlns:r="http://schemas.openxmlformats.org/officeDocument/2006/relationships" id="258" r:id="R551d7130da46433c"/>
    <p:sldId xmlns:r="http://schemas.openxmlformats.org/officeDocument/2006/relationships" id="259" r:id="R4ab10d5950904531"/>
    <p:sldId xmlns:r="http://schemas.openxmlformats.org/officeDocument/2006/relationships" id="260" r:id="R6190a815b6904dcf"/>
    <p:sldId xmlns:r="http://schemas.openxmlformats.org/officeDocument/2006/relationships" id="261" r:id="R7e104b6d34b047e3"/>
    <p:sldId xmlns:r="http://schemas.openxmlformats.org/officeDocument/2006/relationships" id="262" r:id="R1127ca3e2c88434d"/>
    <p:sldId xmlns:r="http://schemas.openxmlformats.org/officeDocument/2006/relationships" id="263" r:id="Rc9f11299d4da4ffe"/>
    <p:sldId xmlns:r="http://schemas.openxmlformats.org/officeDocument/2006/relationships" id="264" r:id="Rbb687a326fe0437e"/>
    <p:sldId xmlns:r="http://schemas.openxmlformats.org/officeDocument/2006/relationships" id="265" r:id="Ra99338d19f214015"/>
    <p:sldId xmlns:r="http://schemas.openxmlformats.org/officeDocument/2006/relationships" id="266" r:id="R98d7152caad14c37"/>
    <p:sldId xmlns:r="http://schemas.openxmlformats.org/officeDocument/2006/relationships" id="267" r:id="R939e28dbb48548ee"/>
    <p:sldId xmlns:r="http://schemas.openxmlformats.org/officeDocument/2006/relationships" id="268" r:id="Rd8aeab886fb44254"/>
    <p:sldId xmlns:r="http://schemas.openxmlformats.org/officeDocument/2006/relationships" id="269" r:id="R197ce58706194f31"/>
    <p:sldId xmlns:r="http://schemas.openxmlformats.org/officeDocument/2006/relationships" id="270" r:id="R311dc600a940461e"/>
    <p:sldId xmlns:r="http://schemas.openxmlformats.org/officeDocument/2006/relationships" id="271" r:id="R2389a9b8f094499f"/>
    <p:sldId xmlns:r="http://schemas.openxmlformats.org/officeDocument/2006/relationships" id="272" r:id="R0ea68c8e2c854287"/>
    <p:sldId xmlns:r="http://schemas.openxmlformats.org/officeDocument/2006/relationships" id="273" r:id="R1cdfbb1b34ff48ac"/>
    <p:sldId xmlns:r="http://schemas.openxmlformats.org/officeDocument/2006/relationships" id="274" r:id="R8ab50cfc355a42ce"/>
    <p:sldId xmlns:r="http://schemas.openxmlformats.org/officeDocument/2006/relationships" id="275" r:id="R4f824fcb514f4c0c"/>
    <p:sldId xmlns:r="http://schemas.openxmlformats.org/officeDocument/2006/relationships" id="276" r:id="Ra90536bac48d42d2"/>
    <p:sldId xmlns:r="http://schemas.openxmlformats.org/officeDocument/2006/relationships" id="277" r:id="Rbd78a81b66574c88"/>
    <p:sldId xmlns:r="http://schemas.openxmlformats.org/officeDocument/2006/relationships" id="278" r:id="R31c90de63b974a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9361a2f21e436f" /><Relationship Type="http://schemas.openxmlformats.org/officeDocument/2006/relationships/slideMaster" Target="/ppt/slideMasters/slideMaster1.xml" Id="R72914eef03ec4199" /><Relationship Type="http://schemas.openxmlformats.org/officeDocument/2006/relationships/notesMaster" Target="/ppt/notesMasters/notesMaster1.xml" Id="R4ae2ef36306042e0" /><Relationship Type="http://schemas.openxmlformats.org/officeDocument/2006/relationships/presProps" Target="/ppt/presProps.xml" Id="Rf622a0fa7c2148c9" /><Relationship Type="http://schemas.openxmlformats.org/officeDocument/2006/relationships/tableStyles" Target="/ppt/tableStyles.xml" Id="Rf6aae6cf20764270" /><Relationship Type="http://schemas.openxmlformats.org/officeDocument/2006/relationships/slide" Target="/ppt/slides/slide1.xml" Id="R1c498a6e5c284737" /><Relationship Type="http://schemas.openxmlformats.org/officeDocument/2006/relationships/slide" Target="/ppt/slides/slide2.xml" Id="R90a3355a0f8b4ada" /><Relationship Type="http://schemas.openxmlformats.org/officeDocument/2006/relationships/slide" Target="/ppt/slides/slide3.xml" Id="R551d7130da46433c" /><Relationship Type="http://schemas.openxmlformats.org/officeDocument/2006/relationships/slide" Target="/ppt/slides/slide4.xml" Id="R4ab10d5950904531" /><Relationship Type="http://schemas.openxmlformats.org/officeDocument/2006/relationships/slide" Target="/ppt/slides/slide5.xml" Id="R6190a815b6904dcf" /><Relationship Type="http://schemas.openxmlformats.org/officeDocument/2006/relationships/slide" Target="/ppt/slides/slide6.xml" Id="R7e104b6d34b047e3" /><Relationship Type="http://schemas.openxmlformats.org/officeDocument/2006/relationships/slide" Target="/ppt/slides/slide7.xml" Id="R1127ca3e2c88434d" /><Relationship Type="http://schemas.openxmlformats.org/officeDocument/2006/relationships/slide" Target="/ppt/slides/slide8.xml" Id="Rc9f11299d4da4ffe" /><Relationship Type="http://schemas.openxmlformats.org/officeDocument/2006/relationships/slide" Target="/ppt/slides/slide9.xml" Id="Rbb687a326fe0437e" /><Relationship Type="http://schemas.openxmlformats.org/officeDocument/2006/relationships/slide" Target="/ppt/slides/slide10.xml" Id="Ra99338d19f214015" /><Relationship Type="http://schemas.openxmlformats.org/officeDocument/2006/relationships/slide" Target="/ppt/slides/slide11.xml" Id="R98d7152caad14c37" /><Relationship Type="http://schemas.openxmlformats.org/officeDocument/2006/relationships/slide" Target="/ppt/slides/slide12.xml" Id="R939e28dbb48548ee" /><Relationship Type="http://schemas.openxmlformats.org/officeDocument/2006/relationships/slide" Target="/ppt/slides/slide13.xml" Id="Rd8aeab886fb44254" /><Relationship Type="http://schemas.openxmlformats.org/officeDocument/2006/relationships/slide" Target="/ppt/slides/slide14.xml" Id="R197ce58706194f31" /><Relationship Type="http://schemas.openxmlformats.org/officeDocument/2006/relationships/slide" Target="/ppt/slides/slide15.xml" Id="R311dc600a940461e" /><Relationship Type="http://schemas.openxmlformats.org/officeDocument/2006/relationships/slide" Target="/ppt/slides/slide16.xml" Id="R2389a9b8f094499f" /><Relationship Type="http://schemas.openxmlformats.org/officeDocument/2006/relationships/slide" Target="/ppt/slides/slide17.xml" Id="R0ea68c8e2c854287" /><Relationship Type="http://schemas.openxmlformats.org/officeDocument/2006/relationships/slide" Target="/ppt/slides/slide18.xml" Id="R1cdfbb1b34ff48ac" /><Relationship Type="http://schemas.openxmlformats.org/officeDocument/2006/relationships/slide" Target="/ppt/slides/slide19.xml" Id="R8ab50cfc355a42ce" /><Relationship Type="http://schemas.openxmlformats.org/officeDocument/2006/relationships/slide" Target="/ppt/slides/slide20.xml" Id="R4f824fcb514f4c0c" /><Relationship Type="http://schemas.openxmlformats.org/officeDocument/2006/relationships/slide" Target="/ppt/slides/slide21.xml" Id="Ra90536bac48d42d2" /><Relationship Type="http://schemas.openxmlformats.org/officeDocument/2006/relationships/slide" Target="/ppt/slides/slide22.xml" Id="Rbd78a81b66574c88" /><Relationship Type="http://schemas.openxmlformats.org/officeDocument/2006/relationships/slide" Target="/ppt/slides/slide23.xml" Id="R31c90de63b974a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754ac1693c4d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e7cecc3bcc49ac" /><Relationship Type="http://schemas.openxmlformats.org/officeDocument/2006/relationships/notesMaster" Target="/ppt/notesMasters/notesMaster1.xml" Id="Raade990d9405493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6a0c53dfc14d03" /><Relationship Type="http://schemas.openxmlformats.org/officeDocument/2006/relationships/notesMaster" Target="/ppt/notesMasters/notesMaster1.xml" Id="Rf5747fe4c3fc43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6cc7b4ab184efc" /><Relationship Type="http://schemas.openxmlformats.org/officeDocument/2006/relationships/notesMaster" Target="/ppt/notesMasters/notesMaster1.xml" Id="R8e4251f37b194b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34f47094df437d" /><Relationship Type="http://schemas.openxmlformats.org/officeDocument/2006/relationships/notesMaster" Target="/ppt/notesMasters/notesMaster1.xml" Id="R81ecd025e73247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60588433a14327" /><Relationship Type="http://schemas.openxmlformats.org/officeDocument/2006/relationships/notesMaster" Target="/ppt/notesMasters/notesMaster1.xml" Id="R440e2212143844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ac0b22ddaeeb4f6b" /><Relationship Type="http://schemas.openxmlformats.org/officeDocument/2006/relationships/notesMaster" Target="/ppt/notesMasters/notesMaster1.xml" Id="Re25ffb85037e4d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400c8561af24730" /><Relationship Type="http://schemas.openxmlformats.org/officeDocument/2006/relationships/notesMaster" Target="/ppt/notesMasters/notesMaster1.xml" Id="Ra4402ee14ddd471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c3e51f04e44444" /><Relationship Type="http://schemas.openxmlformats.org/officeDocument/2006/relationships/notesMaster" Target="/ppt/notesMasters/notesMaster1.xml" Id="R665ee2737a1d49b6" /></Relationships>
</file>

<file path=ppt/notesSlides/_rels/notesSlide9.xml.rels>&#65279;<?xml version="1.0" encoding="utf-8"?><Relationships xmlns="http://schemas.openxmlformats.org/package/2006/relationships"><Relationship Type="http://schemas.openxmlformats.org/officeDocument/2006/relationships/slide" Target="/ppt/slides/slide9.xml" Id="R47b269e79c3d41df" /><Relationship Type="http://schemas.openxmlformats.org/officeDocument/2006/relationships/notesMaster" Target="/ppt/notesMasters/notesMaster1.xml" Id="R136321452943468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80b89eb539d4888" /><Relationship Type="http://schemas.openxmlformats.org/officeDocument/2006/relationships/notesMaster" Target="/ppt/notesMasters/notesMaster1.xml" Id="Ree9a57e864b44a3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c9c132d039a452b" /><Relationship Type="http://schemas.openxmlformats.org/officeDocument/2006/relationships/notesMaster" Target="/ppt/notesMasters/notesMaster1.xml" Id="Rac36f41e2644469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73b41618ddc45b8" /><Relationship Type="http://schemas.openxmlformats.org/officeDocument/2006/relationships/notesMaster" Target="/ppt/notesMasters/notesMaster1.xml" Id="Rf3f3a28bc439409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79609704ff64039" /><Relationship Type="http://schemas.openxmlformats.org/officeDocument/2006/relationships/notesMaster" Target="/ppt/notesMasters/notesMaster1.xml" Id="Rbc927f13496647b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4fbea22343f434d" /><Relationship Type="http://schemas.openxmlformats.org/officeDocument/2006/relationships/notesMaster" Target="/ppt/notesMasters/notesMaster1.xml" Id="R7f7156feb6704cc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88c0968d80a4700" /><Relationship Type="http://schemas.openxmlformats.org/officeDocument/2006/relationships/notesMaster" Target="/ppt/notesMasters/notesMaster1.xml" Id="Rfd88d97bd9be4ed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654ff7dd951421d" /><Relationship Type="http://schemas.openxmlformats.org/officeDocument/2006/relationships/notesMaster" Target="/ppt/notesMasters/notesMaster1.xml" Id="R6b25f6e0063b406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b42a84a456b4573" /><Relationship Type="http://schemas.openxmlformats.org/officeDocument/2006/relationships/notesMaster" Target="/ppt/notesMasters/notesMaster1.xml" Id="Rc5f9025288194a9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56e45795fa94212" /><Relationship Type="http://schemas.openxmlformats.org/officeDocument/2006/relationships/notesMaster" Target="/ppt/notesMasters/notesMaster1.xml" Id="R33da2cbb7bc74dd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10ea71960e441b3" /><Relationship Type="http://schemas.openxmlformats.org/officeDocument/2006/relationships/notesMaster" Target="/ppt/notesMasters/notesMaster1.xml" Id="R94652d5961204a3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dda627352ba4fd0" /><Relationship Type="http://schemas.openxmlformats.org/officeDocument/2006/relationships/notesMaster" Target="/ppt/notesMasters/notesMaster1.xml" Id="Rec65f9464c2c45a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be61bd080dd490a" /><Relationship Type="http://schemas.openxmlformats.org/officeDocument/2006/relationships/notesMaster" Target="/ppt/notesMasters/notesMaster1.xml" Id="R9ce7555e4a2d488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89912dcd5bb47c4" /><Relationship Type="http://schemas.openxmlformats.org/officeDocument/2006/relationships/notesMaster" Target="/ppt/notesMasters/notesMaster1.xml" Id="Re0222b39869f4a2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dc4e79cc75d4f5e" /><Relationship Type="http://schemas.openxmlformats.org/officeDocument/2006/relationships/notesMaster" Target="/ppt/notesMasters/notesMaster1.xml" Id="R31382fe5d7c547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Carátula.</a:t>
            </a:r>
          </a:p>
          <a:p xmlns:a="http://schemas.openxmlformats.org/drawingml/2006/main">
            <a:r>
              <a:t>Tiempo orientativo: 10 s.</a:t>
            </a:r>
          </a:p>
          <a:p xmlns:a="http://schemas.openxmlformats.org/drawingml/2006/main">
            <a:r>
              <a:t>Presentarse como Equipo 10. Curso Fundamentos de Diseño, Universidad Peruana Cayetano Heredia. Esta carátula solo presenta al equipo y al proyecto.</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1 · Introducción y problemática.</a:t>
            </a:r>
          </a:p>
          <a:p xmlns:a="http://schemas.openxmlformats.org/drawingml/2006/main">
            <a:r>
              <a:t>Tiempo orientativo: 25 s.</a:t>
            </a:r>
          </a:p>
          <a:p xmlns:a="http://schemas.openxmlformats.org/drawingml/2006/main">
            <a:r>
              <a:t>El problema delimitado es relacionar una porción cotidiana con la información nutricional expresada por 100 g. No se plantea diagnosticar ni prescribir dietas. La tabla INS da 115 kcal por 100 g de arroz cocido. Una porción ilustrativa de 250 g corresponde a 287,5 kcal: anotar 115 kcal subestima un 60 %. Es un ejemplo calculado con la referencia, no una encuesta del equipo. Fang encontró sobreestimación de volumen en 9 de 10 réplicas con profundidad; no es una tasa de error de FoodScan. Esto fundamenta separar cantidad e identidad, usar una medida de masa y una referencia trazable.</a:t>
            </a:r>
          </a:p>
          <a:p xmlns:a="http://schemas.openxmlformats.org/drawingml/2006/main">
            <a:r>
              <a:t/>
            </a:r>
          </a:p>
          <a:p xmlns:a="http://schemas.openxmlformats.org/drawingml/2006/main">
            <a:r>
              <a:t>[1] Fang S, Zhu F, Jiang C, Zhang S, Boushey CJ, Delp EJ. A comparison of food portion size estimation using geometric models and depth images. En: IEEE ICIP. 2016. p. 26-30. doi:10.1109/ICIP.2016.7532312.</a:t>
            </a:r>
          </a:p>
          <a:p xmlns:a="http://schemas.openxmlformats.org/drawingml/2006/main">
            <a:r>
              <a:t>https://pmc.ncbi.nlm.nih.gov/articles/PMC6226035/</a:t>
            </a:r>
          </a:p>
          <a:p xmlns:a="http://schemas.openxmlformats.org/drawingml/2006/main">
            <a:r>
              <a:t/>
            </a:r>
          </a:p>
          <a:p xmlns:a="http://schemas.openxmlformats.org/drawingml/2006/main">
            <a:r>
              <a:t>[16] Reyes García M, Gómez-Sánchez Prieto I, Espinoza Barrientos C. Tablas peruanas de composición de alimentos [Internet]. 10.ª ed. Lima: Instituto Nacional de Salud; 2017 [citado 7 oct 2026]. 142 p.</a:t>
            </a:r>
          </a:p>
          <a:p xmlns:a="http://schemas.openxmlformats.org/drawingml/2006/main">
            <a:r>
              <a:t>https://repositorio.ins.gob.pe/items/7dd870ba-42db-449c-bef2-5d67d881383f</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2 · Estado de la tecnología.</a:t>
            </a:r>
          </a:p>
          <a:p xmlns:a="http://schemas.openxmlformats.org/drawingml/2006/main">
            <a:r>
              <a:t>Tiempo orientativo: 120 s.</a:t>
            </a:r>
          </a:p>
          <a:p xmlns:a="http://schemas.openxmlformats.org/drawingml/2006/main">
            <a:r>
              <a:t>Fang et al., 2016 [1]</a:t>
            </a:r>
          </a:p>
          <a:p xmlns:a="http://schemas.openxmlformats.org/drawingml/2006/main">
            <a:r>
              <a:t>Profundidad: sobreestima 9/10 réplicas; vaso = 2,34 × volumen real.</a:t>
            </a:r>
          </a:p>
          <a:p xmlns:a="http://schemas.openxmlformats.org/drawingml/2006/main">
            <a:r>
              <a:t>Aporte: Captura y escala condicionan la cantidad.</a:t>
            </a:r>
          </a:p>
          <a:p xmlns:a="http://schemas.openxmlformats.org/drawingml/2006/main">
            <a:r>
              <a:t>Límite: Réplicas y máscaras conocidas; no platos mixtos.</a:t>
            </a:r>
          </a:p>
          <a:p xmlns:a="http://schemas.openxmlformats.org/drawingml/2006/main">
            <a:r>
              <a:t/>
            </a:r>
          </a:p>
          <a:p xmlns:a="http://schemas.openxmlformats.org/drawingml/2006/main">
            <a:r>
              <a:t>Konstantakopoulos et al., 2023 [2]</a:t>
            </a:r>
          </a:p>
          <a:p xmlns:a="http://schemas.openxmlformats.org/drawingml/2006/main">
            <a:r>
              <a:t>23 052 imágenes, 226 platos. XGBoost: MAE 3,93 g; MAPE 3,73 %.</a:t>
            </a:r>
          </a:p>
          <a:p xmlns:a="http://schemas.openxmlformats.org/drawingml/2006/main">
            <a:r>
              <a:t>Aporte: La estimación requiere referencia y validación.</a:t>
            </a:r>
          </a:p>
          <a:p xmlns:a="http://schemas.openxmlformats.org/drawingml/2006/main">
            <a:r>
              <a:t>Límite: Datos mediterráneos y captura específica.</a:t>
            </a:r>
          </a:p>
          <a:p xmlns:a="http://schemas.openxmlformats.org/drawingml/2006/main">
            <a:r>
              <a:t/>
            </a:r>
          </a:p>
          <a:p xmlns:a="http://schemas.openxmlformats.org/drawingml/2006/main">
            <a:r>
              <a:t>Dalakleidi et al., 2022 [3]</a:t>
            </a:r>
          </a:p>
          <a:p xmlns:a="http://schemas.openxmlformats.org/drawingml/2006/main">
            <a:r>
              <a:t>159 publicaciones revisadas; 78 incluidas, 45 con aprendizaje profundo.</a:t>
            </a:r>
          </a:p>
          <a:p xmlns:a="http://schemas.openxmlformats.org/drawingml/2006/main">
            <a:r>
              <a:t>Aporte: Identificar y determinar cantidad son etapas distintas.</a:t>
            </a:r>
          </a:p>
          <a:p xmlns:a="http://schemas.openxmlformats.org/drawingml/2006/main">
            <a:r>
              <a:t>Límite: Una revisión no acredita exactitud de FoodScan.</a:t>
            </a:r>
          </a:p>
          <a:p xmlns:a="http://schemas.openxmlformats.org/drawingml/2006/main">
            <a:r>
              <a:t>Factor común: separar captura, cantidad, identificación y cálculo. La celda determina la masa total; la visión propone identidades y proporciones. Las cifras pertenecen a esos estudios y no se atribuyen a nuestra implementación.</a:t>
            </a:r>
          </a:p>
          <a:p xmlns:a="http://schemas.openxmlformats.org/drawingml/2006/main">
            <a:r>
              <a:t/>
            </a:r>
          </a:p>
          <a:p xmlns:a="http://schemas.openxmlformats.org/drawingml/2006/main">
            <a:r>
              <a:t>[1] Fang S, Zhu F, Jiang C, Zhang S, Boushey CJ, Delp EJ. A comparison of food portion size estimation using geometric models and depth images. En: IEEE ICIP. 2016. p. 26-30. doi:10.1109/ICIP.2016.7532312.</a:t>
            </a:r>
          </a:p>
          <a:p xmlns:a="http://schemas.openxmlformats.org/drawingml/2006/main">
            <a:r>
              <a:t>https://pmc.ncbi.nlm.nih.gov/articles/PMC6226035/</a:t>
            </a:r>
          </a:p>
          <a:p xmlns:a="http://schemas.openxmlformats.org/drawingml/2006/main">
            <a:r>
              <a:t/>
            </a:r>
          </a:p>
          <a:p xmlns:a="http://schemas.openxmlformats.org/drawingml/2006/main">
            <a:r>
              <a:t>[2] Konstantakopoulos FS, Georga EI, Fotiadis DI. A novel approach to estimate the weight of food items based on features extracted from an image using boosting algorithms. Sci Rep. 2023;13:21040. doi:10.1038/s41598-023-47885-0.</a:t>
            </a:r>
          </a:p>
          <a:p xmlns:a="http://schemas.openxmlformats.org/drawingml/2006/main">
            <a:r>
              <a:t>https://www.nature.com/articles/s41598-023-47885-0</a:t>
            </a:r>
          </a:p>
          <a:p xmlns:a="http://schemas.openxmlformats.org/drawingml/2006/main">
            <a:r>
              <a:t/>
            </a:r>
          </a:p>
          <a:p xmlns:a="http://schemas.openxmlformats.org/drawingml/2006/main">
            <a:r>
              <a:t>[3] Dalakleidi KV, Papadelli M, Kapolos I, Papadimitriou K. Applying image-based food-recognition systems on dietary assessment: a systematic review. Adv Nutr. 2022;13(6):2590-2619. doi:10.1093/advances/nmac078.</a:t>
            </a:r>
          </a:p>
          <a:p xmlns:a="http://schemas.openxmlformats.org/drawingml/2006/main">
            <a:r>
              <a:t>https://pmc.ncbi.nlm.nih.gov/articles/PMC9776640/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2 · Estado de la tecnología.</a:t>
            </a:r>
          </a:p>
          <a:p xmlns:a="http://schemas.openxmlformats.org/drawingml/2006/main">
            <a:r>
              <a:t>Tiempo orientativo: 240 s.</a:t>
            </a:r>
          </a:p>
          <a:p xmlns:a="http://schemas.openxmlformats.org/drawingml/2006/main">
            <a:r>
              <a:t>CN114360689A · Arquitectura nutricional</a:t>
            </a:r>
          </a:p>
          <a:p xmlns:a="http://schemas.openxmlformats.org/drawingml/2006/main">
            <a:r>
              <a:t>Calculador de calorías, proteínas y otros nutrientes</a:t>
            </a:r>
          </a:p>
          <a:p xmlns:a="http://schemas.openxmlformats.org/drawingml/2006/main">
            <a:r>
              <a:t>Principio: Pesaje, cámara, identificación y base.</a:t>
            </a:r>
          </a:p>
          <a:p xmlns:a="http://schemas.openxmlformats.org/drawingml/2006/main">
            <a:r>
              <a:t>Adaptación: F5–F8: masa + identidad + referencia.</a:t>
            </a:r>
          </a:p>
          <a:p xmlns:a="http://schemas.openxmlformats.org/drawingml/2006/main">
            <a:r>
              <a:t>Límite: sin capacidad ni error declarado.</a:t>
            </a:r>
          </a:p>
          <a:p xmlns:a="http://schemas.openxmlformats.org/drawingml/2006/main">
            <a:r>
              <a:t>Permite fotografía o nombre del alimento. Combina la masa con una referencia.</a:t>
            </a:r>
          </a:p>
          <a:p xmlns:a="http://schemas.openxmlformats.org/drawingml/2006/main">
            <a:r>
              <a:t>Integrar medición, reconocimiento, consulta y cálculo en un flujo.</a:t>
            </a:r>
          </a:p>
          <a:p xmlns:a="http://schemas.openxmlformats.org/drawingml/2006/main">
            <a:r>
              <a:t>Sin capacidad, error de pesaje ni exactitud de reconocimiento declarados.</a:t>
            </a:r>
          </a:p>
          <a:p xmlns:a="http://schemas.openxmlformats.org/drawingml/2006/main">
            <a:r>
              <a:t/>
            </a:r>
          </a:p>
          <a:p xmlns:a="http://schemas.openxmlformats.org/drawingml/2006/main">
            <a:r>
              <a:t>US10292511B2 · Cantidad consumida</a:t>
            </a:r>
          </a:p>
          <a:p xmlns:a="http://schemas.openxmlformats.org/drawingml/2006/main">
            <a:r>
              <a:t>Methods, System and Apparatus to Improve Motivation and Control When Taking Meals and to Automate the Process of Monitoring Nutrition</a:t>
            </a:r>
          </a:p>
          <a:p xmlns:a="http://schemas.openxmlformats.org/drawingml/2006/main">
            <a:r>
              <a:t>Principio: Tara y lecturas de consumo vía Bluetooth.</a:t>
            </a:r>
          </a:p>
          <a:p xmlns:a="http://schemas.openxmlformats.org/drawingml/2006/main">
            <a:r>
              <a:t>Adaptación: F2/F5: enlazar datos y descontar recipiente.</a:t>
            </a:r>
          </a:p>
          <a:p xmlns:a="http://schemas.openxmlformats.org/drawingml/2006/main">
            <a:r>
              <a:t>Límite: servido y consumido no equivalen.</a:t>
            </a:r>
          </a:p>
          <a:p xmlns:a="http://schemas.openxmlformats.org/drawingml/2006/main">
            <a:r>
              <a:t>Tara del recipiente, masa inicial y lecturas sucesivas durante la comida.</a:t>
            </a:r>
          </a:p>
          <a:p xmlns:a="http://schemas.openxmlformats.org/drawingml/2006/main">
            <a:r>
              <a:t>Vincular la medición física y el registro digital. Distinguir consumo efectivo.</a:t>
            </a:r>
          </a:p>
          <a:p xmlns:a="http://schemas.openxmlformats.org/drawingml/2006/main">
            <a:r>
              <a:t>No declara capacidad ni precisión metrológica. Nuestro avance registra la porción servida.</a:t>
            </a:r>
          </a:p>
          <a:p xmlns:a="http://schemas.openxmlformats.org/drawingml/2006/main">
            <a:r>
              <a:t/>
            </a:r>
          </a:p>
          <a:p xmlns:a="http://schemas.openxmlformats.org/drawingml/2006/main">
            <a:r>
              <a:t>WO2014008555A1 · Escalamiento</a:t>
            </a:r>
          </a:p>
          <a:p xmlns:a="http://schemas.openxmlformats.org/drawingml/2006/main">
            <a:r>
              <a:t>Method and System for Planning and Monitoring Calorie Consumption</a:t>
            </a:r>
          </a:p>
          <a:p xmlns:a="http://schemas.openxmlformats.org/drawingml/2006/main">
            <a:r>
              <a:t>Principio: Convierte referencia por 100 g a por gramo.</a:t>
            </a:r>
          </a:p>
          <a:p xmlns:a="http://schemas.openxmlformats.org/drawingml/2006/main">
            <a:r>
              <a:t>Adaptación: F8: escalar nutrientes según la masa.</a:t>
            </a:r>
          </a:p>
          <a:p xmlns:a="http://schemas.openxmlformats.org/drawingml/2006/main">
            <a:r>
              <a:t>Límite: recomendaciones fuera del alcance.</a:t>
            </a:r>
          </a:p>
          <a:p xmlns:a="http://schemas.openxmlformats.org/drawingml/2006/main">
            <a:r>
              <a:t>Relaciona densidad energética, cantidad de alimento e historial.</a:t>
            </a:r>
          </a:p>
          <a:p xmlns:a="http://schemas.openxmlformats.org/drawingml/2006/main">
            <a:r>
              <a:t>Calcular cada nutriente según la masa de la porción confirmada.</a:t>
            </a:r>
          </a:p>
          <a:p xmlns:a="http://schemas.openxmlformats.org/drawingml/2006/main">
            <a:r>
              <a:t>La planificación y las recomendaciones personalizadas exceden el alcance actual.</a:t>
            </a:r>
          </a:p>
          <a:p xmlns:a="http://schemas.openxmlformats.org/drawingml/2006/main">
            <a:r>
              <a:t/>
            </a:r>
          </a:p>
          <a:p xmlns:a="http://schemas.openxmlformats.org/drawingml/2006/main">
            <a:r>
              <a:t>US8439683B2 · Imagen y descripción</a:t>
            </a:r>
          </a:p>
          <a:p xmlns:a="http://schemas.openxmlformats.org/drawingml/2006/main">
            <a:r>
              <a:t>Food Recognition Using Visual Analysis and Speech Recognition</a:t>
            </a:r>
          </a:p>
          <a:p xmlns:a="http://schemas.openxmlformats.org/drawingml/2006/main">
            <a:r>
              <a:t>Principio: Imagen + voz/texto; varias tomas preferidas.</a:t>
            </a:r>
          </a:p>
          <a:p xmlns:a="http://schemas.openxmlformats.org/drawingml/2006/main">
            <a:r>
              <a:t>Adaptación: F6: aclarar identidad y preparación.</a:t>
            </a:r>
          </a:p>
          <a:p xmlns:a="http://schemas.openxmlformats.org/drawingml/2006/main">
            <a:r>
              <a:t>Límite: más capturas aumentan el esfuerzo.</a:t>
            </a:r>
          </a:p>
          <a:p xmlns:a="http://schemas.openxmlformats.org/drawingml/2006/main">
            <a:r>
              <a:t>La realización preferida usa al menos tres imágenes de la escena.</a:t>
            </a:r>
          </a:p>
          <a:p xmlns:a="http://schemas.openxmlformats.org/drawingml/2006/main">
            <a:r>
              <a:t>Permitir que el usuario aclare alimentos y preparación.</a:t>
            </a:r>
          </a:p>
          <a:p xmlns:a="http://schemas.openxmlformats.org/drawingml/2006/main">
            <a:r>
              <a:t>Más capturas aumentan el esfuerzo. FoodScan usa una foto y corrección posterior.</a:t>
            </a:r>
          </a:p>
          <a:p xmlns:a="http://schemas.openxmlformats.org/drawingml/2006/main">
            <a:r>
              <a:t/>
            </a:r>
          </a:p>
          <a:p xmlns:a="http://schemas.openxmlformats.org/drawingml/2006/main">
            <a:r>
              <a:t>US20140063180A1 · Balanza conectada</a:t>
            </a:r>
          </a:p>
          <a:p xmlns:a="http://schemas.openxmlformats.org/drawingml/2006/main">
            <a:r>
              <a:t>Connected Food Scale System and Method</a:t>
            </a:r>
          </a:p>
          <a:p xmlns:a="http://schemas.openxmlformats.org/drawingml/2006/main">
            <a:r>
              <a:t>Principio: Balanza, conversión y conexión a la app.</a:t>
            </a:r>
          </a:p>
          <a:p xmlns:a="http://schemas.openxmlformats.org/drawingml/2006/main">
            <a:r>
              <a:t>Adaptación: F2/F4: asociar peso, imagen y registro.</a:t>
            </a:r>
          </a:p>
          <a:p xmlns:a="http://schemas.openxmlformats.org/drawingml/2006/main">
            <a:r>
              <a:t>Límite: no declara precisión metrológica.</a:t>
            </a:r>
          </a:p>
          <a:p xmlns:a="http://schemas.openxmlformats.org/drawingml/2006/main">
            <a:r>
              <a:t>Sensor de carga, conversión digital y conexión física, Wi-Fi o Bluetooth.</a:t>
            </a:r>
          </a:p>
          <a:p xmlns:a="http://schemas.openxmlformats.org/drawingml/2006/main">
            <a:r>
              <a:t>Transmitir gramos con un estado y asociarlos a una captura.</a:t>
            </a:r>
          </a:p>
          <a:p xmlns:a="http://schemas.openxmlformats.org/drawingml/2006/main">
            <a:r>
              <a:t>La publicación no indica capacidad ni precisión de la balanza.</a:t>
            </a:r>
          </a:p>
          <a:p xmlns:a="http://schemas.openxmlformats.org/drawingml/2006/main">
            <a:r>
              <a:t/>
            </a:r>
          </a:p>
          <a:p xmlns:a="http://schemas.openxmlformats.org/drawingml/2006/main">
            <a:r>
              <a:t>CN108871530A · Pesaje y calorías</a:t>
            </a:r>
          </a:p>
          <a:p xmlns:a="http://schemas.openxmlformats.org/drawingml/2006/main">
            <a:r>
              <a:t>Electronic scale and method for automatically recognizing food calories</a:t>
            </a:r>
          </a:p>
          <a:p xmlns:a="http://schemas.openxmlformats.org/drawingml/2006/main">
            <a:r>
              <a:t>Principio: Identificación + peso + kcal por unidad.</a:t>
            </a:r>
          </a:p>
          <a:p xmlns:a="http://schemas.openxmlformats.org/drawingml/2006/main">
            <a:r>
              <a:t>Adaptación: F5/F8: calcular con masa y densidad.</a:t>
            </a:r>
          </a:p>
          <a:p xmlns:a="http://schemas.openxmlformats.org/drawingml/2006/main">
            <a:r>
              <a:t>Límite: sin métricas de reconocimiento.</a:t>
            </a:r>
          </a:p>
          <a:p xmlns:a="http://schemas.openxmlformats.org/drawingml/2006/main">
            <a:r>
              <a:t>Integra identificación, pesaje, base de datos, análisis y visualización.</a:t>
            </a:r>
          </a:p>
          <a:p xmlns:a="http://schemas.openxmlformats.org/drawingml/2006/main">
            <a:r>
              <a:t>El dato de masa y el alimento seleccionado determinan el escalamiento.</a:t>
            </a:r>
          </a:p>
          <a:p xmlns:a="http://schemas.openxmlformats.org/drawingml/2006/main">
            <a:r>
              <a:t>Sin métricas de reconocimiento ni error de pesaje publicados.</a:t>
            </a:r>
          </a:p>
          <a:p xmlns:a="http://schemas.openxmlformats.org/drawingml/2006/main">
            <a:r>
              <a:t>Factores comunes: cantidad física o estimada, identificación del alimento, consulta de referencia, escalamiento y registro. En la caja C se proponen celda/HX711, OV2640 y Wi-Fi; se conserva corrección antes de confirmar. Las recomendaciones personales y el entretenimiento infantil quedan fuera del alcance.</a:t>
            </a:r>
          </a:p>
          <a:p xmlns:a="http://schemas.openxmlformats.org/drawingml/2006/main">
            <a:r>
              <a:t/>
            </a:r>
          </a:p>
          <a:p xmlns:a="http://schemas.openxmlformats.org/drawingml/2006/main">
            <a:r>
              <a:t>[4] Wan J, inventora. Calculating instrument for nutrients such as calorie and protein. Solicitud de patente CN114360689A. 15 abr 2022.</a:t>
            </a:r>
          </a:p>
          <a:p xmlns:a="http://schemas.openxmlformats.org/drawingml/2006/main">
            <a:r>
              <a:t>https://patents.google.com/patent/CN114360689A/en</a:t>
            </a:r>
          </a:p>
          <a:p xmlns:a="http://schemas.openxmlformats.org/drawingml/2006/main">
            <a:r>
              <a:t/>
            </a:r>
          </a:p>
          <a:p xmlns:a="http://schemas.openxmlformats.org/drawingml/2006/main">
            <a:r>
              <a:t>[5] Tkach A, inventor. Methods, system and apparatus to improve motivation and control when taking meals and to automate the process of monitoring nutrition. Patente US10292511B2. 21 may 2019.</a:t>
            </a:r>
          </a:p>
          <a:p xmlns:a="http://schemas.openxmlformats.org/drawingml/2006/main">
            <a:r>
              <a:t>https://patents.google.com/patent/US10292511B2/en</a:t>
            </a:r>
          </a:p>
          <a:p xmlns:a="http://schemas.openxmlformats.org/drawingml/2006/main">
            <a:r>
              <a:t/>
            </a:r>
          </a:p>
          <a:p xmlns:a="http://schemas.openxmlformats.org/drawingml/2006/main">
            <a:r>
              <a:t>[6] Kourtesis G, inventor. Method and system for planning and monitoring calorie consumption. Solicitud internacional WO2014008555A1. 16 ene 2014.</a:t>
            </a:r>
          </a:p>
          <a:p xmlns:a="http://schemas.openxmlformats.org/drawingml/2006/main">
            <a:r>
              <a:t>https://patents.google.com/patent/WO2014008555A1/en</a:t>
            </a:r>
          </a:p>
          <a:p xmlns:a="http://schemas.openxmlformats.org/drawingml/2006/main">
            <a:r>
              <a:t/>
            </a:r>
          </a:p>
          <a:p xmlns:a="http://schemas.openxmlformats.org/drawingml/2006/main">
            <a:r>
              <a:t>[7] Puri M, Zhu Z, Lubin J, Pschar T, Divakaran A, Sawhney HS, inventores. Food recognition using visual analysis and speech recognition. Patente US8439683B2. SRI International Inc. 14 may 2013.</a:t>
            </a:r>
          </a:p>
          <a:p xmlns:a="http://schemas.openxmlformats.org/drawingml/2006/main">
            <a:r>
              <a:t>https://patents.google.com/patent/US8439683B2/en</a:t>
            </a:r>
          </a:p>
          <a:p xmlns:a="http://schemas.openxmlformats.org/drawingml/2006/main">
            <a:r>
              <a:t/>
            </a:r>
          </a:p>
          <a:p xmlns:a="http://schemas.openxmlformats.org/drawingml/2006/main">
            <a:r>
              <a:t>[8] Sharma A, inventor. Connected food scale system and method. Solicitud de patente US20140063180A1. BBY Solutions Inc. 6 mar 2014.</a:t>
            </a:r>
          </a:p>
          <a:p xmlns:a="http://schemas.openxmlformats.org/drawingml/2006/main">
            <a:r>
              <a:t>https://patents.google.com/patent/US20140063180A1/en</a:t>
            </a:r>
          </a:p>
          <a:p xmlns:a="http://schemas.openxmlformats.org/drawingml/2006/main">
            <a:r>
              <a:t/>
            </a:r>
          </a:p>
          <a:p xmlns:a="http://schemas.openxmlformats.org/drawingml/2006/main">
            <a:r>
              <a:t>[9] Gong WJ, inventora; Sichuan Feixun Information Technology Co Ltd, solicitante. Electronic scale and method for automatically recognizing food calories. China. Solicitud CN108871530A. 23 nov 2018.</a:t>
            </a:r>
          </a:p>
          <a:p xmlns:a="http://schemas.openxmlformats.org/drawingml/2006/main">
            <a:r>
              <a:t>https://patents.google.com/patent/CN108871530A/en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2 · Estado de la tecnología.</a:t>
            </a:r>
          </a:p>
          <a:p xmlns:a="http://schemas.openxmlformats.org/drawingml/2006/main">
            <a:r>
              <a:t>Tiempo orientativo: 120 s.</a:t>
            </a:r>
          </a:p>
          <a:p xmlns:a="http://schemas.openxmlformats.org/drawingml/2006/main">
            <a:r>
              <a:t>Fang, Purdue, 2019 [10]</a:t>
            </a:r>
          </a:p>
          <a:p xmlns:a="http://schemas.openxmlformats.org/drawingml/2006/main">
            <a:r>
              <a:t>Imagen única, geometría, profundidad y estimación energética. Error &lt; 6 % en una etapa.</a:t>
            </a:r>
          </a:p>
          <a:p xmlns:a="http://schemas.openxmlformats.org/drawingml/2006/main">
            <a:r>
              <a:t>Relaciona imagen, volumen, masa y energía.</a:t>
            </a:r>
          </a:p>
          <a:p xmlns:a="http://schemas.openxmlformats.org/drawingml/2006/main">
            <a:r>
              <a:t>Supone identificación y segmentación correctas.</a:t>
            </a:r>
          </a:p>
          <a:p xmlns:a="http://schemas.openxmlformats.org/drawingml/2006/main">
            <a:r>
              <a:t/>
            </a:r>
          </a:p>
          <a:p xmlns:a="http://schemas.openxmlformats.org/drawingml/2006/main">
            <a:r>
              <a:t>Checkifood, PUCP, 2024 [11]</a:t>
            </a:r>
          </a:p>
          <a:p xmlns:a="http://schemas.openxmlformats.org/drawingml/2006/main">
            <a:r>
              <a:t>Propuesta peruana para usuarios de 18–45 años. Fotografía y machine learning.</a:t>
            </a:r>
          </a:p>
          <a:p xmlns:a="http://schemas.openxmlformats.org/drawingml/2006/main">
            <a:r>
              <a:t>Sustenta interacción sencilla y contexto local.</a:t>
            </a:r>
          </a:p>
          <a:p xmlns:a="http://schemas.openxmlformats.org/drawingml/2006/main">
            <a:r>
              <a:t>La ficha no informa error en gramos ni exactitud.</a:t>
            </a:r>
          </a:p>
          <a:p xmlns:a="http://schemas.openxmlformats.org/drawingml/2006/main">
            <a:r>
              <a:t/>
            </a:r>
          </a:p>
          <a:p xmlns:a="http://schemas.openxmlformats.org/drawingml/2006/main">
            <a:r>
              <a:t>IPD, UPC, 2019 [12]</a:t>
            </a:r>
          </a:p>
          <a:p xmlns:a="http://schemas.openxmlformats.org/drawingml/2006/main">
            <a:r>
              <a:t>30 deportistas durante una semana. Peso servido y consumido, energía y macros.</a:t>
            </a:r>
          </a:p>
          <a:p xmlns:a="http://schemas.openxmlformats.org/drawingml/2006/main">
            <a:r>
              <a:t>Sustenta validar contra pesajes de referencia.</a:t>
            </a:r>
          </a:p>
          <a:p xmlns:a="http://schemas.openxmlformats.org/drawingml/2006/main">
            <a:r>
              <a:t>Su muestra no reemplaza nuestras 30 porciones.</a:t>
            </a:r>
          </a:p>
          <a:p xmlns:a="http://schemas.openxmlformats.org/drawingml/2006/main">
            <a:r>
              <a:t>Factor común: la interacción debe adaptarse al usuario y la cantidad necesita una referencia independiente. Se traduce en F5, F6 y LE20.</a:t>
            </a:r>
          </a:p>
          <a:p xmlns:a="http://schemas.openxmlformats.org/drawingml/2006/main">
            <a:r>
              <a:t/>
            </a:r>
          </a:p>
          <a:p xmlns:a="http://schemas.openxmlformats.org/drawingml/2006/main">
            <a:r>
              <a:t>[10] Fang S. Single view reconstruction for food portion estimation [tesis doctoral]. West Lafayette: Purdue University; 2019. doi:10.25394/PGS.7767125.v1.</a:t>
            </a:r>
          </a:p>
          <a:p xmlns:a="http://schemas.openxmlformats.org/drawingml/2006/main">
            <a:r>
              <a:t>https://hammer.purdue.edu/articles/thesis/SINGLE_VIEW_RECONSTRUCTION_FOR_FOOD_PORTION_ESTIMATION/7767125/1</a:t>
            </a:r>
          </a:p>
          <a:p xmlns:a="http://schemas.openxmlformats.org/drawingml/2006/main">
            <a:r>
              <a:t/>
            </a:r>
          </a:p>
          <a:p xmlns:a="http://schemas.openxmlformats.org/drawingml/2006/main">
            <a:r>
              <a:t>[11] Romero De Chorié GE, Tineo Ramón ME, Benavides Santur JD, Guerrero Reyes FA, Rosas Arbildo G. Modelo ProLab: Checkifood, aplicación móvil que ayuda al régimen alimenticio con machine learning [tesis de maestría]. Lima: PUCP; 2024.</a:t>
            </a:r>
          </a:p>
          <a:p xmlns:a="http://schemas.openxmlformats.org/drawingml/2006/main">
            <a:r>
              <a:t>https://hdl.handle.net/20.500.12404/28095</a:t>
            </a:r>
          </a:p>
          <a:p xmlns:a="http://schemas.openxmlformats.org/drawingml/2006/main">
            <a:r>
              <a:t/>
            </a:r>
          </a:p>
          <a:p xmlns:a="http://schemas.openxmlformats.org/drawingml/2006/main">
            <a:r>
              <a:t>[12] López Aliaga Pantigoso SC. Evaluación del aporte nutricional del menú del servicio de alimentación para deportistas albergados del IPD y su relación con sus requerimientos nutricionales [tesis de licenciatura]. Lima: UPC; 2019.</a:t>
            </a:r>
          </a:p>
          <a:p xmlns:a="http://schemas.openxmlformats.org/drawingml/2006/main">
            <a:r>
              <a:t>https://hdl.handle.net/10757/625118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2 · Estado de la tecnología.</a:t>
            </a:r>
          </a:p>
          <a:p xmlns:a="http://schemas.openxmlformats.org/drawingml/2006/main">
            <a:r>
              <a:t>Tiempo orientativo: 120 s.</a:t>
            </a:r>
          </a:p>
          <a:p xmlns:a="http://schemas.openxmlformats.org/drawingml/2006/main">
            <a:r>
              <a:t>Etekcity ESN00 [13]</a:t>
            </a:r>
          </a:p>
          <a:p xmlns:a="http://schemas.openxmlformats.org/drawingml/2006/main">
            <a:r>
              <a:t>3–5000 g; incremento de 1 g. VeSync, 19 nutrientes y selección del alimento.</a:t>
            </a:r>
          </a:p>
          <a:p xmlns:a="http://schemas.openxmlformats.org/drawingml/2006/main">
            <a:r>
              <a:t>Pesaje, tara y base nutricional conectada.</a:t>
            </a:r>
          </a:p>
          <a:p xmlns:a="http://schemas.openxmlformats.org/drawingml/2006/main">
            <a:r>
              <a:t>Incremento de 1 g no acredita exactitud ±1 g.</a:t>
            </a:r>
          </a:p>
          <a:p xmlns:a="http://schemas.openxmlformats.org/drawingml/2006/main">
            <a:r>
              <a:t/>
            </a:r>
          </a:p>
          <a:p xmlns:a="http://schemas.openxmlformats.org/drawingml/2006/main">
            <a:r>
              <a:t>Fitia [14]</a:t>
            </a:r>
          </a:p>
          <a:p xmlns:a="http://schemas.openxmlformats.org/drawingml/2006/main">
            <a:r>
              <a:t>Foto, voz, texto y código de barras. Registro, ajustes de porción y macros.</a:t>
            </a:r>
          </a:p>
          <a:p xmlns:a="http://schemas.openxmlformats.org/drawingml/2006/main">
            <a:r>
              <a:t>Entradas flexibles y corrección del usuario.</a:t>
            </a:r>
          </a:p>
          <a:p xmlns:a="http://schemas.openxmlformats.org/drawingml/2006/main">
            <a:r>
              <a:t>Sin error en gramos publicado en la fuente.</a:t>
            </a:r>
          </a:p>
          <a:p xmlns:a="http://schemas.openxmlformats.org/drawingml/2006/main">
            <a:r>
              <a:t/>
            </a:r>
          </a:p>
          <a:p xmlns:a="http://schemas.openxmlformats.org/drawingml/2006/main">
            <a:r>
              <a:t>SnapCalorie [15]</a:t>
            </a:r>
          </a:p>
          <a:p xmlns:a="http://schemas.openxmlformats.org/drawingml/2006/main">
            <a:r>
              <a:t>Foto, identificación, revisión y guardado. Kcal, macros y seguimiento.</a:t>
            </a:r>
          </a:p>
          <a:p xmlns:a="http://schemas.openxmlformats.org/drawingml/2006/main">
            <a:r>
              <a:t>Flujo corto con revisión antes de registrar.</a:t>
            </a:r>
          </a:p>
          <a:p xmlns:a="http://schemas.openxmlformats.org/drawingml/2006/main">
            <a:r>
              <a:t>“5× rápido” y “2× precisión”: afirmaciones comerciales.</a:t>
            </a:r>
          </a:p>
          <a:p xmlns:a="http://schemas.openxmlformats.org/drawingml/2006/main">
            <a:r>
              <a:t>Factor común: medir o estimar la cantidad, seleccionar alimento, revisar y guardar. Se relaciona con F5, F6, F9/F10 y la meta de LE17. No se traslada una precisión comercial a FoodScan.</a:t>
            </a:r>
          </a:p>
          <a:p xmlns:a="http://schemas.openxmlformats.org/drawingml/2006/main">
            <a:r>
              <a:t/>
            </a:r>
          </a:p>
          <a:p xmlns:a="http://schemas.openxmlformats.org/drawingml/2006/main">
            <a:r>
              <a:t>[13] Etekcity. ESN00 Smart Nutrition Scale [Internet]. [citado 7 oct 2026].</a:t>
            </a:r>
          </a:p>
          <a:p xmlns:a="http://schemas.openxmlformats.org/drawingml/2006/main">
            <a:r>
              <a:t>https://etekcity.com/products/smart-nutrition-scale-esn00</a:t>
            </a:r>
          </a:p>
          <a:p xmlns:a="http://schemas.openxmlformats.org/drawingml/2006/main">
            <a:r>
              <a:t/>
            </a:r>
          </a:p>
          <a:p xmlns:a="http://schemas.openxmlformats.org/drawingml/2006/main">
            <a:r>
              <a:t>[14] Fitia. Contador de calorías y dietas con IA [Internet]. [citado 7 oct 2026].</a:t>
            </a:r>
          </a:p>
          <a:p xmlns:a="http://schemas.openxmlformats.org/drawingml/2006/main">
            <a:r>
              <a:t>https://fitia.app/es/</a:t>
            </a:r>
          </a:p>
          <a:p xmlns:a="http://schemas.openxmlformats.org/drawingml/2006/main">
            <a:r>
              <a:t/>
            </a:r>
          </a:p>
          <a:p xmlns:a="http://schemas.openxmlformats.org/drawingml/2006/main">
            <a:r>
              <a:t>[15] PerceptionLabs Inc. SnapCalorie: AI calorie tracking made simple [Internet]. [citado 7 oct 2026].</a:t>
            </a:r>
          </a:p>
          <a:p xmlns:a="http://schemas.openxmlformats.org/drawingml/2006/main">
            <a:r>
              <a:t>https://www.snapcalorie.com/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3 · Lista de exigencias.</a:t>
            </a:r>
          </a:p>
          <a:p xmlns:a="http://schemas.openxmlformats.org/drawingml/2006/main">
            <a:r>
              <a:t>Tiempo orientativo: 15 s.</a:t>
            </a:r>
          </a:p>
          <a:p xmlns:a="http://schemas.openxmlformats.org/drawingml/2006/main">
            <a:r>
              <a:t>LE01/09/10 (E): Informar g, kcal, proteínas, carbohidratos y grasas, con fuente. Verificación: Caso con cinco salidas [4,13,16]</a:t>
            </a:r>
          </a:p>
          <a:p xmlns:a="http://schemas.openxmlformats.org/drawingml/2006/main">
            <a:r>
              <a:t>LE04/07/21 (E): Sólidos y semisólidos; masa neta 50–1000 g. Error ≤ máx. de 5 g o 2 %. Verificación: Cargas conocidas y tara [12,18,19]</a:t>
            </a:r>
          </a:p>
          <a:p xmlns:a="http://schemas.openxmlformats.org/drawingml/2006/main">
            <a:r>
              <a:t>LE11/16 (E): Corregir alimento y cantidad; señalar medición y estimación. Sin diagnósticos. Verificación: Prueba de corrección [3,14,15]</a:t>
            </a:r>
          </a:p>
          <a:p xmlns:a="http://schemas.openxmlformats.org/drawingml/2006/main">
            <a:r>
              <a:t>LE13 (E): Escalar cada nutriente por masa; error de cálculo ≤ 1 %. Verificación: Recálculo independiente [6,9,16]</a:t>
            </a:r>
          </a:p>
          <a:p xmlns:a="http://schemas.openxmlformats.org/drawingml/2006/main">
            <a:r>
              <a:t>LE17 (E): Interfaz en español; registro ≤ 60 s y ≤ 5 acciones. Verificación: Cronómetro y conteo [14,15]</a:t>
            </a:r>
          </a:p>
          <a:p xmlns:a="http://schemas.openxmlformats.org/drawingml/2006/main">
            <a:r>
              <a:t>LE20 (E): Validar ≥ 30 porciones; error porcentual medio de cantidad ≤ 20 %. Verificación: Pesajes de referencia [1,2,12]</a:t>
            </a:r>
          </a:p>
          <a:p xmlns:a="http://schemas.openxmlformats.org/drawingml/2006/main">
            <a:r>
              <a:t>LE19 (E): Contacto alimentario con recipiente apto, removible y lavable. Verificación: Inspección y limpieza [5,13]</a:t>
            </a:r>
          </a:p>
          <a:p xmlns:a="http://schemas.openxmlformats.org/drawingml/2006/main">
            <a:r>
              <a:t>Se conservan los 25 identificadores del Taller 4 y Taller 7. Ajustes propuestos para coherencia del diseño C: LE02 pasa de 30 a 35 cm, LE06 especifica fuente externa 5V/2.4A en vez de USB o autonomía, LE21 acota el primer montaje a 50–1000g en lugar de todo el rango nominal 3–5000g. Las metas no son resultados. Error de la cantidad por alimento requiere pesajes de referencia; el error del sensor total y el error de reparto son distintos. Los deseos de sincronización y entradas alternativas no se declaran implementados.</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3 · Lista de exigencias.</a:t>
            </a:r>
          </a:p>
          <a:p xmlns:a="http://schemas.openxmlformats.org/drawingml/2006/main">
            <a:r>
              <a:t>Tiempo orientativo: 15 s.</a:t>
            </a:r>
          </a:p>
          <a:p xmlns:a="http://schemas.openxmlformats.org/drawingml/2006/main">
            <a:r>
              <a:t>LE25 (E): Conectar prototipo y app; intercambiar cantidad, estado y comandos. Verificación: Prueba del enlace [5,8]</a:t>
            </a:r>
          </a:p>
          <a:p xmlns:a="http://schemas.openxmlformats.org/drawingml/2006/main">
            <a:r>
              <a:t>LE24 (E): Completar el Entregable 2 hasta el 08/10/2026. Verificación: Revisión de entrega [24]</a:t>
            </a:r>
          </a:p>
          <a:p xmlns:a="http://schemas.openxmlformats.org/drawingml/2006/main">
            <a:r>
              <a:t>LE02/03 (D): Dimensión mayor ≤ 35 cm y masa del módulo ≤ 1,5 kg. Verificación: Regla y balanza [24]</a:t>
            </a:r>
          </a:p>
          <a:p xmlns:a="http://schemas.openxmlformats.org/drawingml/2006/main">
            <a:r>
              <a:t>LE06 (D): Fuente externa regulada de 5 V / 2,4 A. Verificación: Etiqueta y tensión bajo carga [20]</a:t>
            </a:r>
          </a:p>
          <a:p xmlns:a="http://schemas.openxmlformats.org/drawingml/2006/main">
            <a:r>
              <a:t>LE05/08 (D): Admitir mezclas y bebidas; foto, voz o texto como entradas. Verificación: Casos de registro [7,14,15]</a:t>
            </a:r>
          </a:p>
          <a:p xmlns:a="http://schemas.openxmlformats.org/drawingml/2006/main">
            <a:r>
              <a:t>LE14/15 (D): Historial por fecha y comida; registro sin red y sincronización posterior. Verificación: Guardar y reconectar [5,8,15]</a:t>
            </a:r>
          </a:p>
          <a:p xmlns:a="http://schemas.openxmlformats.org/drawingml/2006/main">
            <a:r>
              <a:t>LE18/22/23 (D): Componentes locales; conservar fuente y versión; costo ≤ S/ 500 sin suscripción obligatoria. Verificación: Catálogo, versión y presupuesto [17–24]</a:t>
            </a:r>
          </a:p>
          <a:p xmlns:a="http://schemas.openxmlformats.org/drawingml/2006/main">
            <a:r>
              <a:t>Se conservan los 25 identificadores del Taller 4 y Taller 7. Ajustes propuestos para coherencia del diseño C: LE02 pasa de 30 a 35 cm, LE06 especifica fuente externa 5V/2.4A en vez de USB o autonomía, LE21 acota el primer montaje a 50–1000g en lugar de todo el rango nominal 3–5000g. Las metas no son resultados. Error de la cantidad por alimento requiere pesajes de referencia; el error del sensor total y el error de reparto son distintos. Los deseos de sincronización y entradas alternativas no se declaran implementados.</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4 · Caja negra.</a:t>
            </a:r>
          </a:p>
          <a:p xmlns:a="http://schemas.openxmlformats.org/drawingml/2006/main">
            <a:r>
              <a:t>Tiempo orientativo: 15 s.</a:t>
            </a:r>
          </a:p>
          <a:p xmlns:a="http://schemas.openxmlformats.org/drawingml/2006/main">
            <a:r>
              <a:t>Se representa el límite del sistema completo, no sus componentes internos. Materia de entrada: porción y recipiente, que salen sin modificación intencional. Energía de entrada: electricidad; salida: disipación térmica y energía consumida por funcionamiento. Señales: imagen, masa neta, órdenes y referencia nutricional; salida: g, kcal, macros, fuente, estado y registro. Las kcal son información calculada sobre el alimento, no energía eléctrica que el sistema entregue.</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5 · Secuencia de operaciones.</a:t>
            </a:r>
          </a:p>
          <a:p xmlns:a="http://schemas.openxmlformats.org/drawingml/2006/main">
            <a:r>
              <a:t>Tiempo orientativo: 20 s.</a:t>
            </a:r>
          </a:p>
          <a:p xmlns:a="http://schemas.openxmlformats.org/drawingml/2006/main">
            <a:r>
              <a:t>Usuario: abrir Escanear mi plato; fotografiar o seleccionar una imagen del plato completo; descontar la tara en la balanza externa; ingresar la masa neta total; analizar; revisar alimentos y gramos; confirmar para guardar. Las cuatro columnas agrupan operaciones, no equivalen a cuatro clics. La meta de cinco acciones corresponde al registro principal y requiere conteo real. Las capturas proceden del modo Ejemplo y son apoyo visual, no una demostración de reconocimiento. No se pesa cada ingrediente por separado para ingresar a la app.</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5 · Secuencia de operaciones.</a:t>
            </a:r>
          </a:p>
          <a:p xmlns:a="http://schemas.openxmlformats.org/drawingml/2006/main">
            <a:r>
              <a:t>Tiempo orientativo: 20 s.</a:t>
            </a:r>
          </a:p>
          <a:p xmlns:a="http://schemas.openxmlformats.org/drawingml/2006/main">
            <a:r>
              <a:t>La secuencia del dispositivo objetivo comienza con alimentación, conexión y comprobación de calibración. Tara del recipiente. Tras cerrar la puerta y obtener masa estable se captura imagen y se vinculan masa, foto y estado con un mismo identificador. Se transmite a la app; Gemini propone identidad/proporciones; se consulta TPCA y se calculan nutrientes. La revisión del usuario vuelve a consultar/calcular si cambia alimento o cantidad. Solo después de confirmar se guarda. Con puerta abierta, sobrecarga, falta de calibración, desconexión o masa inestable se bloquea la captura y se informa estado. En el sistema actual B la entrada de masa es manual desde la balanza externa.</a:t>
            </a:r>
          </a:p>
          <a:p xmlns:a="http://schemas.openxmlformats.org/drawingml/2006/main">
            <a:r>
              <a:t/>
            </a:r>
          </a:p>
          <a:p xmlns:a="http://schemas.openxmlformats.org/drawingml/2006/main">
            <a:r>
              <a:t>[16] Reyes García M, Gómez-Sánchez Prieto I, Espinoza Barrientos C. Tablas peruanas de composición de alimentos [Internet]. 10.ª ed. Lima: Instituto Nacional de Salud; 2017 [citado 7 oct 2026]. 142 p.</a:t>
            </a:r>
          </a:p>
          <a:p xmlns:a="http://schemas.openxmlformats.org/drawingml/2006/main">
            <a:r>
              <a:t>https://repositorio.ins.gob.pe/items/7dd870ba-42db-449c-bef2-5d67d881383f</a:t>
            </a:r>
          </a:p>
          <a:p xmlns:a="http://schemas.openxmlformats.org/drawingml/2006/main">
            <a:r>
              <a:t/>
            </a:r>
          </a:p>
          <a:p xmlns:a="http://schemas.openxmlformats.org/drawingml/2006/main">
            <a:r>
              <a:t>[18] Naylamp Mechatronics. Celda de carga 5 kg, SKU 000155 [Internet]. [citado 7 oct 2026].</a:t>
            </a:r>
          </a:p>
          <a:p xmlns:a="http://schemas.openxmlformats.org/drawingml/2006/main">
            <a:r>
              <a:t>https://naylampmechatronics.com/sensores/155-celda-de-carga-5kg.html</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https://naylampmechatronics.com/fuerza-peso/147-modulo-hx711-transmisor-de-celda-de-carga.html</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6 · Estructura de funciones.</a:t>
            </a:r>
          </a:p>
          <a:p xmlns:a="http://schemas.openxmlformats.org/drawingml/2006/main">
            <a:r>
              <a:t>Tiempo orientativo: 20 s.</a:t>
            </a:r>
          </a:p>
          <a:p xmlns:a="http://schemas.openxmlformats.org/drawingml/2006/main">
            <a:r>
              <a:t>F1 suministra y regula energía. F2 establece enlace y comprueba disponibilidad. F3 encuadra e ilumina la escena y adquiere una imagen. F5 calibra, tara, lee masa y verifica estabilidad. F4 vincula y transmite imagen, cantidad y estado. La secuencia operacional muestra F5 antes de F4 porque primero se adquiere la masa; los identificadores funcionales se conservan del Taller 7. F11 sostiene la porción, evita roces que sesguen masa y permite retirar el recipiente para limpieza. F11 es transversal y no una operación posterior a guardar.</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6 · Estructura de funciones.</a:t>
            </a:r>
          </a:p>
          <a:p xmlns:a="http://schemas.openxmlformats.org/drawingml/2006/main">
            <a:r>
              <a:t>Tiempo orientativo: 20 s.</a:t>
            </a:r>
          </a:p>
          <a:p xmlns:a="http://schemas.openxmlformats.org/drawingml/2006/main">
            <a:r>
              <a:t>F6 identifica alimentos, estima proporciones y deja al usuario confirmar/corregir. F7 recupera código, nutrientes por100g, fuente y edición. F8 normaliza gramos a la masa total, escala cada nutriente y suma. F9 presenta g,kcal ymacros distinguiendo valores medidos, estimados y calculados. F10 almacena un registro confirmado con fecha y procedencia. La corrección vuelve a F7 y F8, por lo que no se guarda un resultado sin recalcular. Un dato ausente de TPCA sigue ausente: no es cero.</a:t>
            </a:r>
          </a:p>
          <a:p xmlns:a="http://schemas.openxmlformats.org/drawingml/2006/main">
            <a:r>
              <a:t/>
            </a:r>
          </a:p>
          <a:p xmlns:a="http://schemas.openxmlformats.org/drawingml/2006/main">
            <a:r>
              <a:t>[3] Dalakleidi KV, Papadelli M, Kapolos I, Papadimitriou K. Applying image-based food-recognition systems on dietary assessment: a systematic review. Adv Nutr. 2022;13(6):2590-2619. doi:10.1093/advances/nmac078.</a:t>
            </a:r>
          </a:p>
          <a:p xmlns:a="http://schemas.openxmlformats.org/drawingml/2006/main">
            <a:r>
              <a:t>https://pmc.ncbi.nlm.nih.gov/articles/PMC9776640/</a:t>
            </a:r>
          </a:p>
          <a:p xmlns:a="http://schemas.openxmlformats.org/drawingml/2006/main">
            <a:r>
              <a:t/>
            </a:r>
          </a:p>
          <a:p xmlns:a="http://schemas.openxmlformats.org/drawingml/2006/main">
            <a:r>
              <a:t>[16] Reyes García M, Gómez-Sánchez Prieto I, Espinoza Barrientos C. Tablas peruanas de composición de alimentos [Internet]. 10.ª ed. Lima: Instituto Nacional de Salud; 2017 [citado 7 oct 2026]. 142 p.</a:t>
            </a:r>
          </a:p>
          <a:p xmlns:a="http://schemas.openxmlformats.org/drawingml/2006/main">
            <a:r>
              <a:t>https://repositorio.ins.gob.pe/items/7dd870ba-42db-449c-bef2-5d67d881383f</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7 · Matriz morfológica y conceptos.</a:t>
            </a:r>
          </a:p>
          <a:p xmlns:a="http://schemas.openxmlformats.org/drawingml/2006/main">
            <a:r>
              <a:t>Tiempo orientativo: 20 s.</a:t>
            </a:r>
          </a:p>
          <a:p xmlns:a="http://schemas.openxmlformats.org/drawingml/2006/main">
            <a:r>
              <a:t>A: app visual que estima también la masa total, propuesta conceptual pendiente. B: celular en soporte y balanza externa, masa total ingresada. C: caja con captura y pesaje integrados. Cada flecha conecta una opción por función y las mismas letras continúan en la segunda matriz. Se cubren F1–F11 y sus dominios. El soporte de B pertenece al concepto; el equipo puede usar la balanza normal en el parcial. Para C: ESP32-CAM alimentado a5V, HX711 a3.3V; DOUT GPIO13,SCK GPIO14; puerta GPIO15 ypull-up10k a3.3V. MicroSD sinusar porquecomparte GPIO13/14/15; comprobar arranque por GPIO15. USBprogramador yfuente externa porseparado. Wi-Fi para foto/masa/estado, Internetpara Gemini. ParaF6–F10 se mantiene revisión, TPCA2017, cálculo por100g yregistro local.</a:t>
            </a:r>
          </a:p>
          <a:p xmlns:a="http://schemas.openxmlformats.org/drawingml/2006/main">
            <a:r>
              <a:t/>
            </a:r>
          </a:p>
          <a:p xmlns:a="http://schemas.openxmlformats.org/drawingml/2006/main">
            <a:r>
              <a:t>[16] Reyes García M, Gómez-Sánchez Prieto I, Espinoza Barrientos C. Tablas peruanas de composición de alimentos [Internet]. 10.ª ed. Lima: Instituto Nacional de Salud; 2017 [citado 7 oct 2026]. 142 p.</a:t>
            </a:r>
          </a:p>
          <a:p xmlns:a="http://schemas.openxmlformats.org/drawingml/2006/main">
            <a:r>
              <a:t>https://repositorio.ins.gob.pe/items/7dd870ba-42db-449c-bef2-5d67d881383f</a:t>
            </a:r>
          </a:p>
          <a:p xmlns:a="http://schemas.openxmlformats.org/drawingml/2006/main">
            <a:r>
              <a:t/>
            </a:r>
          </a:p>
          <a:p xmlns:a="http://schemas.openxmlformats.org/drawingml/2006/main">
            <a:r>
              <a:t>[17] Stacktronics Perú. ESP32-CAM con cámara OV2640</a:t>
            </a:r>
          </a:p>
          <a:p xmlns:a="http://schemas.openxmlformats.org/drawingml/2006/main">
            <a:r>
              <a:t>2 MP y base programadora [Internet]. [citado 7 oct 2026].</a:t>
            </a:r>
          </a:p>
          <a:p xmlns:a="http://schemas.openxmlformats.org/drawingml/2006/main">
            <a:r>
              <a:t>https://stacktronics.com/producto/esp32-cam-modulo-wifi-bluetooth-con-camara-ov2640-2mp-y-base-programadora/</a:t>
            </a:r>
          </a:p>
          <a:p xmlns:a="http://schemas.openxmlformats.org/drawingml/2006/main">
            <a:r>
              <a:t/>
            </a:r>
          </a:p>
          <a:p xmlns:a="http://schemas.openxmlformats.org/drawingml/2006/main">
            <a:r>
              <a:t>[18] Naylamp Mechatronics. Celda de carga 5 kg, SKU 000155 [Internet]. [citado 7 oct 2026].</a:t>
            </a:r>
          </a:p>
          <a:p xmlns:a="http://schemas.openxmlformats.org/drawingml/2006/main">
            <a:r>
              <a:t>https://naylampmechatronics.com/sensores/155-celda-de-carga-5kg.html</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https://naylampmechatronics.com/fuerza-peso/147-modulo-hx711-transmisor-de-celda-de-carga.html</a:t>
            </a:r>
          </a:p>
          <a:p xmlns:a="http://schemas.openxmlformats.org/drawingml/2006/main">
            <a:r>
              <a:t/>
            </a:r>
          </a:p>
          <a:p xmlns:a="http://schemas.openxmlformats.org/drawingml/2006/main">
            <a:r>
              <a:t>[20] Naylamp Mechatronics. Adaptador WODE WA-12-5, 5 V, 2.4 A [Internet]. [citado 7 oct 2026].</a:t>
            </a:r>
          </a:p>
          <a:p xmlns:a="http://schemas.openxmlformats.org/drawingml/2006/main">
            <a:r>
              <a:t>https://naylampmechatronics.com/fuentes-1a-2a/1461-fuente-de-alimentacion-acdc-12w-5v-2a-wode-adaptador.html</a:t>
            </a:r>
          </a:p>
          <a:p xmlns:a="http://schemas.openxmlformats.org/drawingml/2006/main">
            <a:r>
              <a:t/>
            </a:r>
          </a:p>
          <a:p xmlns:a="http://schemas.openxmlformats.org/drawingml/2006/main">
            <a:r>
              <a:t>[23] Espressif Systems. ESP32 series datasheet [Internet]. [citado 7 oct 2026].</a:t>
            </a:r>
          </a:p>
          <a:p xmlns:a="http://schemas.openxmlformats.org/drawingml/2006/main">
            <a:r>
              <a:t>https://www.espressif.com/sites/default/files/documentation/esp32_datasheet_en.pdf</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7 · Matriz morfológica y conceptos.</a:t>
            </a:r>
          </a:p>
          <a:p xmlns:a="http://schemas.openxmlformats.org/drawingml/2006/main">
            <a:r>
              <a:t>Tiempo orientativo: 20 s.</a:t>
            </a:r>
          </a:p>
          <a:p xmlns:a="http://schemas.openxmlformats.org/drawingml/2006/main">
            <a:r>
              <a:t>A: app visual que estima también la masa total, propuesta conceptual pendiente. B: celular en soporte y balanza externa, masa total ingresada. C: caja con captura y pesaje integrados. Cada flecha conecta una opción por función y las mismas letras continúan en la segunda matriz. Se cubren F1–F11 y sus dominios. El soporte de B pertenece al concepto; el equipo puede usar la balanza normal en el parcial. Para C: ESP32-CAM alimentado a5V, HX711 a3.3V; DOUT GPIO13,SCK GPIO14; puerta GPIO15 ypull-up10k a3.3V. MicroSD sinusar porquecomparte GPIO13/14/15; comprobar arranque por GPIO15. USBprogramador yfuente externa porseparado. Wi-Fi para foto/masa/estado, Internetpara Gemini. ParaF6–F10 se mantiene revisión, TPCA2017, cálculo por100g yregistro local.</a:t>
            </a:r>
          </a:p>
          <a:p xmlns:a="http://schemas.openxmlformats.org/drawingml/2006/main">
            <a:r>
              <a:t/>
            </a:r>
          </a:p>
          <a:p xmlns:a="http://schemas.openxmlformats.org/drawingml/2006/main">
            <a:r>
              <a:t>[16] Reyes García M, Gómez-Sánchez Prieto I, Espinoza Barrientos C. Tablas peruanas de composición de alimentos [Internet]. 10.ª ed. Lima: Instituto Nacional de Salud; 2017 [citado 7 oct 2026]. 142 p.</a:t>
            </a:r>
          </a:p>
          <a:p xmlns:a="http://schemas.openxmlformats.org/drawingml/2006/main">
            <a:r>
              <a:t>https://repositorio.ins.gob.pe/items/7dd870ba-42db-449c-bef2-5d67d881383f</a:t>
            </a:r>
          </a:p>
          <a:p xmlns:a="http://schemas.openxmlformats.org/drawingml/2006/main">
            <a:r>
              <a:t/>
            </a:r>
          </a:p>
          <a:p xmlns:a="http://schemas.openxmlformats.org/drawingml/2006/main">
            <a:r>
              <a:t>[17] Stacktronics Perú. ESP32-CAM con cámara OV2640</a:t>
            </a:r>
          </a:p>
          <a:p xmlns:a="http://schemas.openxmlformats.org/drawingml/2006/main">
            <a:r>
              <a:t>2 MP y base programadora [Internet]. [citado 7 oct 2026].</a:t>
            </a:r>
          </a:p>
          <a:p xmlns:a="http://schemas.openxmlformats.org/drawingml/2006/main">
            <a:r>
              <a:t>https://stacktronics.com/producto/esp32-cam-modulo-wifi-bluetooth-con-camara-ov2640-2mp-y-base-programadora/</a:t>
            </a:r>
          </a:p>
          <a:p xmlns:a="http://schemas.openxmlformats.org/drawingml/2006/main">
            <a:r>
              <a:t/>
            </a:r>
          </a:p>
          <a:p xmlns:a="http://schemas.openxmlformats.org/drawingml/2006/main">
            <a:r>
              <a:t>[18] Naylamp Mechatronics. Celda de carga 5 kg, SKU 000155 [Internet]. [citado 7 oct 2026].</a:t>
            </a:r>
          </a:p>
          <a:p xmlns:a="http://schemas.openxmlformats.org/drawingml/2006/main">
            <a:r>
              <a:t>https://naylampmechatronics.com/sensores/155-celda-de-carga-5kg.html</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https://naylampmechatronics.com/fuerza-peso/147-modulo-hx711-transmisor-de-celda-de-carga.html</a:t>
            </a:r>
          </a:p>
          <a:p xmlns:a="http://schemas.openxmlformats.org/drawingml/2006/main">
            <a:r>
              <a:t/>
            </a:r>
          </a:p>
          <a:p xmlns:a="http://schemas.openxmlformats.org/drawingml/2006/main">
            <a:r>
              <a:t>[20] Naylamp Mechatronics. Adaptador WODE WA-12-5, 5 V, 2.4 A [Internet]. [citado 7 oct 2026].</a:t>
            </a:r>
          </a:p>
          <a:p xmlns:a="http://schemas.openxmlformats.org/drawingml/2006/main">
            <a:r>
              <a:t>https://naylampmechatronics.com/fuentes-1a-2a/1461-fuente-de-alimentacion-acdc-12w-5v-2a-wode-adaptador.html</a:t>
            </a:r>
          </a:p>
          <a:p xmlns:a="http://schemas.openxmlformats.org/drawingml/2006/main">
            <a:r>
              <a:t/>
            </a:r>
          </a:p>
          <a:p xmlns:a="http://schemas.openxmlformats.org/drawingml/2006/main">
            <a:r>
              <a:t>[23] Espressif Systems. ESP32 series datasheet [Internet]. [citado 7 oct 2026].</a:t>
            </a:r>
          </a:p>
          <a:p xmlns:a="http://schemas.openxmlformats.org/drawingml/2006/main">
            <a:r>
              <a:t>https://www.espressif.com/sites/default/files/documentation/esp32_datasheet_en.pdf</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8 · Bocetos y matriz de Pugh.</a:t>
            </a:r>
          </a:p>
          <a:p xmlns:a="http://schemas.openxmlformats.org/drawingml/2006/main">
            <a:r>
              <a:t>Tiempo orientativo: 15 s.</a:t>
            </a:r>
          </a:p>
          <a:p xmlns:a="http://schemas.openxmlformats.org/drawingml/2006/main">
            <a:r>
              <a:t>Boceto conceptual generado para representar la alternativa A. No es una foto de un prototipo construido. El celular adquiere una imagen libre, sin encuadre ni iluminación controlados. Se requeriría implementar y validar un método de estimación de masa total basado en imagen y referencia de tamaño. Esa capacidad no está implementada en FoodScan. La app conceptual conservaría revisión del usuario, tabla TPCA2017, escalamiento yregistro. Ventaja: noañade instrumentacióndefísica. Riesgo: cantidad dependiente deformaycaptura.</a:t>
            </a:r>
          </a:p>
          <a:p xmlns:a="http://schemas.openxmlformats.org/drawingml/2006/main">
            <a:r>
              <a:t/>
            </a:r>
          </a:p>
          <a:p xmlns:a="http://schemas.openxmlformats.org/drawingml/2006/main">
            <a:r>
              <a:t>[1] Fang S, Zhu F, Jiang C, Zhang S, Boushey CJ, Delp EJ. A comparison of food portion size estimation using geometric models and depth images. En: IEEE ICIP. 2016. p. 26-30. doi:10.1109/ICIP.2016.7532312.</a:t>
            </a:r>
          </a:p>
          <a:p xmlns:a="http://schemas.openxmlformats.org/drawingml/2006/main">
            <a:r>
              <a:t>https://pmc.ncbi.nlm.nih.gov/articles/PMC6226035/</a:t>
            </a:r>
          </a:p>
          <a:p xmlns:a="http://schemas.openxmlformats.org/drawingml/2006/main">
            <a:r>
              <a:t/>
            </a:r>
          </a:p>
          <a:p xmlns:a="http://schemas.openxmlformats.org/drawingml/2006/main">
            <a:r>
              <a:t>[2] Konstantakopoulos FS, Georga EI, Fotiadis DI. A novel approach to estimate the weight of food items based on features extracted from an image using boosting algorithms. Sci Rep. 2023;13:21040. doi:10.1038/s41598-023-47885-0.</a:t>
            </a:r>
          </a:p>
          <a:p xmlns:a="http://schemas.openxmlformats.org/drawingml/2006/main">
            <a:r>
              <a:t>https://www.nature.com/articles/s41598-023-47885-0</a:t>
            </a:r>
          </a:p>
          <a:p xmlns:a="http://schemas.openxmlformats.org/drawingml/2006/main">
            <a:r>
              <a:t/>
            </a:r>
          </a:p>
          <a:p xmlns:a="http://schemas.openxmlformats.org/drawingml/2006/main">
            <a:r>
              <a:t>[3] Dalakleidi KV, Papadelli M, Kapolos I, Papadimitriou K. Applying image-based food-recognition systems on dietary assessment: a systematic review. Adv Nutr. 2022;13(6):2590-2619. doi:10.1093/advances/nmac078.</a:t>
            </a:r>
          </a:p>
          <a:p xmlns:a="http://schemas.openxmlformats.org/drawingml/2006/main">
            <a:r>
              <a:t>https://pmc.ncbi.nlm.nih.gov/articles/PMC9776640/</a:t>
            </a:r>
          </a:p>
          <a:p xmlns:a="http://schemas.openxmlformats.org/drawingml/2006/main">
            <a:r>
              <a:t/>
            </a:r>
          </a:p>
          <a:p xmlns:a="http://schemas.openxmlformats.org/drawingml/2006/main">
            <a:r>
              <a:t>[16] Reyes García M, Gómez-Sánchez Prieto I, Espinoza Barrientos C. Tablas peruanas de composición de alimentos [Internet]. 10.ª ed. Lima: Instituto Nacional de Salud; 2017 [citado 7 oct 2026]. 142 p.</a:t>
            </a:r>
          </a:p>
          <a:p xmlns:a="http://schemas.openxmlformats.org/drawingml/2006/main">
            <a:r>
              <a:t>https://repositorio.ins.gob.pe/items/7dd870ba-42db-449c-bef2-5d67d881383f</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8 · Bocetos y matriz de Pugh.</a:t>
            </a:r>
          </a:p>
          <a:p xmlns:a="http://schemas.openxmlformats.org/drawingml/2006/main">
            <a:r>
              <a:t>Tiempo orientativo: 15 s.</a:t>
            </a:r>
          </a:p>
          <a:p xmlns:a="http://schemas.openxmlformats.org/drawingml/2006/main">
            <a:r>
              <a:t>Boceto conceptual generado de alternativa B, no foto de una balanza o montaje del equipo. La balanza normal de5kg del parcial mide el peso; no seatribuye resolución oexactitud sininspeccionar suetiquetayrealizarensayo. Se aplica tara al recipiente, luego elusuario incorpora unsolopeso netototalen laapp. Elsoporte fijoes partedelconcepto propuesto yjustificalaventaja deencuadre enPugh. Laapp tieneidentificación/proporciones, revisión, TPCA y cálculo. Noexistetransmisióndepeso desdeesta balanza. Paraevaluacióneconómica sesupone celular/soporte/balanza disponibles; si esnecesario comprarlos sedeberevisarelcosto.</a:t>
            </a:r>
          </a:p>
          <a:p xmlns:a="http://schemas.openxmlformats.org/drawingml/2006/main">
            <a:r>
              <a:t/>
            </a:r>
          </a:p>
          <a:p xmlns:a="http://schemas.openxmlformats.org/drawingml/2006/main">
            <a:r>
              <a:t>[8] Sharma A, inventor. Connected food scale system and method. Solicitud de patente US20140063180A1. BBY Solutions Inc. 6 mar 2014.</a:t>
            </a:r>
          </a:p>
          <a:p xmlns:a="http://schemas.openxmlformats.org/drawingml/2006/main">
            <a:r>
              <a:t>https://patents.google.com/patent/US20140063180A1/en</a:t>
            </a:r>
          </a:p>
          <a:p xmlns:a="http://schemas.openxmlformats.org/drawingml/2006/main">
            <a:r>
              <a:t/>
            </a:r>
          </a:p>
          <a:p xmlns:a="http://schemas.openxmlformats.org/drawingml/2006/main">
            <a:r>
              <a:t>[13] Etekcity. ESN00 Smart Nutrition Scale [Internet]. [citado 7 oct 2026].</a:t>
            </a:r>
          </a:p>
          <a:p xmlns:a="http://schemas.openxmlformats.org/drawingml/2006/main">
            <a:r>
              <a:t>https://etekcity.com/products/smart-nutrition-scale-esn00</a:t>
            </a:r>
          </a:p>
          <a:p xmlns:a="http://schemas.openxmlformats.org/drawingml/2006/main">
            <a:r>
              <a:t/>
            </a:r>
          </a:p>
          <a:p xmlns:a="http://schemas.openxmlformats.org/drawingml/2006/main">
            <a:r>
              <a:t>[16] Reyes García M, Gómez-Sánchez Prieto I, Espinoza Barrientos C. Tablas peruanas de composición de alimentos [Internet]. 10.ª ed. Lima: Instituto Nacional de Salud; 2017 [citado 7 oct 2026]. 142 p.</a:t>
            </a:r>
          </a:p>
          <a:p xmlns:a="http://schemas.openxmlformats.org/drawingml/2006/main">
            <a:r>
              <a:t>https://repositorio.ins.gob.pe/items/7dd870ba-42db-449c-bef2-5d67d881383f</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8 · Bocetos y matriz de Pugh.</a:t>
            </a:r>
          </a:p>
          <a:p xmlns:a="http://schemas.openxmlformats.org/drawingml/2006/main">
            <a:r>
              <a:t>Tiempo orientativo: 15 s.</a:t>
            </a:r>
          </a:p>
          <a:p xmlns:a="http://schemas.openxmlformats.org/drawingml/2006/main">
            <a:r>
              <a:t>Boceto esquemático generado, no prueba de construcción. CámaraOV2640 superioraunos270mm delplato; doceLEDblancos6000K,100Ωcadauno. Celda5kg con unextremo fijado ala baseyotro alaplataforma flotante, zonadeformablelibrey sinroces. HX711 a3.3V convierte señalparaESP32;24bits no equivalen aexactitudengramos. Microswitch de puertaKW11-3Z-3F. AdaptadorWODE5V2.4A yfusible1.5A. ESP32por5V,HX711 desde regulador3.3V,LEDporramasparalelas5V. La estimación teóricadeLED es0.19–0.22A;consumototal yestabilidadpendientesde medir. MarcoMDF3mm ysoportesPLA+. Usarrecipiente alimentario, no contactodirectoconMDF. Wi-Fi2.4GHz/HTTPparafotomasaestadoyInternetparaGemini. Laintegración, firmware yvalidaciónestánpendientes.</a:t>
            </a:r>
          </a:p>
          <a:p xmlns:a="http://schemas.openxmlformats.org/drawingml/2006/main">
            <a:r>
              <a:t/>
            </a:r>
          </a:p>
          <a:p xmlns:a="http://schemas.openxmlformats.org/drawingml/2006/main">
            <a:r>
              <a:t>[17] Stacktronics Perú. ESP32-CAM con cámara OV2640</a:t>
            </a:r>
          </a:p>
          <a:p xmlns:a="http://schemas.openxmlformats.org/drawingml/2006/main">
            <a:r>
              <a:t>2 MP y base programadora [Internet]. [citado 7 oct 2026].</a:t>
            </a:r>
          </a:p>
          <a:p xmlns:a="http://schemas.openxmlformats.org/drawingml/2006/main">
            <a:r>
              <a:t>https://stacktronics.com/producto/esp32-cam-modulo-wifi-bluetooth-con-camara-ov2640-2mp-y-base-programadora/</a:t>
            </a:r>
          </a:p>
          <a:p xmlns:a="http://schemas.openxmlformats.org/drawingml/2006/main">
            <a:r>
              <a:t/>
            </a:r>
          </a:p>
          <a:p xmlns:a="http://schemas.openxmlformats.org/drawingml/2006/main">
            <a:r>
              <a:t>[18] Naylamp Mechatronics. Celda de carga 5 kg, SKU 000155 [Internet]. [citado 7 oct 2026].</a:t>
            </a:r>
          </a:p>
          <a:p xmlns:a="http://schemas.openxmlformats.org/drawingml/2006/main">
            <a:r>
              <a:t>https://naylampmechatronics.com/sensores/155-celda-de-carga-5kg.html</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https://naylampmechatronics.com/fuerza-peso/147-modulo-hx711-transmisor-de-celda-de-carga.html</a:t>
            </a:r>
          </a:p>
          <a:p xmlns:a="http://schemas.openxmlformats.org/drawingml/2006/main">
            <a:r>
              <a:t/>
            </a:r>
          </a:p>
          <a:p xmlns:a="http://schemas.openxmlformats.org/drawingml/2006/main">
            <a:r>
              <a:t>[20] Naylamp Mechatronics. Adaptador WODE WA-12-5, 5 V, 2.4 A [Internet]. [citado 7 oct 2026].</a:t>
            </a:r>
          </a:p>
          <a:p xmlns:a="http://schemas.openxmlformats.org/drawingml/2006/main">
            <a:r>
              <a:t>https://naylampmechatronics.com/fuentes-1a-2a/1461-fuente-de-alimentacion-acdc-12w-5v-2a-wode-adaptador.html</a:t>
            </a:r>
          </a:p>
          <a:p xmlns:a="http://schemas.openxmlformats.org/drawingml/2006/main">
            <a:r>
              <a:t/>
            </a:r>
          </a:p>
          <a:p xmlns:a="http://schemas.openxmlformats.org/drawingml/2006/main">
            <a:r>
              <a:t>[21] Nanoparuro. Microswitch KW11-3Z-3F con palanca y rueda [Internet]. [citado 7 oct 2026].</a:t>
            </a:r>
          </a:p>
          <a:p xmlns:a="http://schemas.openxmlformats.org/drawingml/2006/main">
            <a:r>
              <a:t>https://nanoparuro.com/shop/kw11-3z-3f-microswitch-20x6-5x13-5spdt-de-palanca-con-rueda-5a-250vac-1109</a:t>
            </a:r>
          </a:p>
          <a:p xmlns:a="http://schemas.openxmlformats.org/drawingml/2006/main">
            <a:r>
              <a:t/>
            </a:r>
          </a:p>
          <a:p xmlns:a="http://schemas.openxmlformats.org/drawingml/2006/main">
            <a:r>
              <a:t>[22] Nanoparuro. LED blanco straw hat de 5 mm, 6000 K, Vf 3.2-3.4 V [Internet]. [citado 7 oct 2026].</a:t>
            </a:r>
          </a:p>
          <a:p xmlns:a="http://schemas.openxmlformats.org/drawingml/2006/main">
            <a:r>
              <a:t>https://nanoparuro.com/shop/lb-sh-5mm-wc-led-blanco-straw-5mm-3-2-3-4v-6000k-blanco-frio-1881</a:t>
            </a:r>
          </a:p>
          <a:p xmlns:a="http://schemas.openxmlformats.org/drawingml/2006/main">
            <a:r>
              <a:t/>
            </a:r>
          </a:p>
          <a:p xmlns:a="http://schemas.openxmlformats.org/drawingml/2006/main">
            <a:r>
              <a:t>[23] Espressif Systems. ESP32 series datasheet [Internet]. [citado 7 oct 2026].</a:t>
            </a:r>
          </a:p>
          <a:p xmlns:a="http://schemas.openxmlformats.org/drawingml/2006/main">
            <a:r>
              <a:t>https://www.espressif.com/sites/default/files/documentation/esp32_datasheet_en.pdf</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8 · Bocetos y matriz de Pugh.</a:t>
            </a:r>
          </a:p>
          <a:p xmlns:a="http://schemas.openxmlformats.org/drawingml/2006/main">
            <a:r>
              <a:t>Tiempo orientativo: 18 s.</a:t>
            </a:r>
          </a:p>
          <a:p xmlns:a="http://schemas.openxmlformats.org/drawingml/2006/main">
            <a:r>
              <a:t>Se usa Pugh ponderada para dar prioridad a las exigencias del problema. Pesos3: masa directa y enlace automático, ligados aLE20/21yLE25. Pesos2: captura, trazabilidad y limpieza. Peso1paratransporte,costoyfabricación. Las comparaciones sonjuiciosdediseño, no resultados experimentales. Masa total medida (peso 3), A=0, B=+1, C=+1. B usa balanza externa; C prevé celda calibrada. A estima masa por imagen.</a:t>
            </a:r>
          </a:p>
          <a:p xmlns:a="http://schemas.openxmlformats.org/drawingml/2006/main">
            <a:r>
              <a:t>Iluminación controlada (peso 2), A=0, B=0, C=+1. C incorpora 12 LED y fondo cerrado. A y B dependen de la luz del ambiente.</a:t>
            </a:r>
          </a:p>
          <a:p xmlns:a="http://schemas.openxmlformats.org/drawingml/2006/main">
            <a:r>
              <a:t>Encuadre fijo (peso 2), A=0, B=+1, C=+1. B incluye soporte para el celular. C fija la OV2640 sobre la plataforma.</a:t>
            </a:r>
          </a:p>
          <a:p xmlns:a="http://schemas.openxmlformats.org/drawingml/2006/main">
            <a:r>
              <a:t>Ingreso automático de masa y foto (peso 3), A=0, B=0, C=+1. C prevé intercambio de datos con la app, ligado a LE25. B requiere ingreso manual.</a:t>
            </a:r>
          </a:p>
          <a:p xmlns:a="http://schemas.openxmlformats.org/drawingml/2006/main">
            <a:r>
              <a:t>Corrección y fuente trazable (peso 2), A=0, B=0, C=0. Se conserva el mismo principio de revisión y referencia TPCA en las tres alternativas.</a:t>
            </a:r>
          </a:p>
          <a:p xmlns:a="http://schemas.openxmlformats.org/drawingml/2006/main">
            <a:r>
              <a:t>Recipiente lavable (peso 2), A=0, B=0, C=0. Las tres alternativas pueden usar un recipiente removible y apto para alimentos.</a:t>
            </a:r>
          </a:p>
          <a:p xmlns:a="http://schemas.openxmlformats.org/drawingml/2006/main">
            <a:r>
              <a:t>Subtotaltécnico A0,B5,C10. B obtiene3porpesajey2porsoportefijo. C suma3+2+2+3=10. LaexactituddeC estápendientedecalibración.</a:t>
            </a:r>
          </a:p>
          <a:p xmlns:a="http://schemas.openxmlformats.org/drawingml/2006/main">
            <a:r>
              <a:t/>
            </a:r>
          </a:p>
          <a:p xmlns:a="http://schemas.openxmlformats.org/drawingml/2006/main">
            <a:r>
              <a:t>[1] Fang S, Zhu F, Jiang C, Zhang S, Boushey CJ, Delp EJ. A comparison of food portion size estimation using geometric models and depth images. En: IEEE ICIP. 2016. p. 26-30. doi:10.1109/ICIP.2016.7532312.</a:t>
            </a:r>
          </a:p>
          <a:p xmlns:a="http://schemas.openxmlformats.org/drawingml/2006/main">
            <a:r>
              <a:t>https://pmc.ncbi.nlm.nih.gov/articles/PMC6226035/</a:t>
            </a:r>
          </a:p>
          <a:p xmlns:a="http://schemas.openxmlformats.org/drawingml/2006/main">
            <a:r>
              <a:t/>
            </a:r>
          </a:p>
          <a:p xmlns:a="http://schemas.openxmlformats.org/drawingml/2006/main">
            <a:r>
              <a:t>[3] Dalakleidi KV, Papadelli M, Kapolos I, Papadimitriou K. Applying image-based food-recognition systems on dietary assessment: a systematic review. Adv Nutr. 2022;13(6):2590-2619. doi:10.1093/advances/nmac078.</a:t>
            </a:r>
          </a:p>
          <a:p xmlns:a="http://schemas.openxmlformats.org/drawingml/2006/main">
            <a:r>
              <a:t>https://pmc.ncbi.nlm.nih.gov/articles/PMC9776640/</a:t>
            </a:r>
          </a:p>
          <a:p xmlns:a="http://schemas.openxmlformats.org/drawingml/2006/main">
            <a:r>
              <a:t/>
            </a:r>
          </a:p>
          <a:p xmlns:a="http://schemas.openxmlformats.org/drawingml/2006/main">
            <a:r>
              <a:t>[5] Tkach A, inventor. Methods, system and apparatus to improve motivation and control when taking meals and to automate the process of monitoring nutrition. Patente US10292511B2. 21 may 2019.</a:t>
            </a:r>
          </a:p>
          <a:p xmlns:a="http://schemas.openxmlformats.org/drawingml/2006/main">
            <a:r>
              <a:t>https://patents.google.com/patent/US10292511B2/en</a:t>
            </a:r>
          </a:p>
          <a:p xmlns:a="http://schemas.openxmlformats.org/drawingml/2006/main">
            <a:r>
              <a:t/>
            </a:r>
          </a:p>
          <a:p xmlns:a="http://schemas.openxmlformats.org/drawingml/2006/main">
            <a:r>
              <a:t>[8] Sharma A, inventor. Connected food scale system and method. Solicitud de patente US20140063180A1. BBY Solutions Inc. 6 mar 2014.</a:t>
            </a:r>
          </a:p>
          <a:p xmlns:a="http://schemas.openxmlformats.org/drawingml/2006/main">
            <a:r>
              <a:t>https://patents.google.com/patent/US20140063180A1/en</a:t>
            </a:r>
          </a:p>
          <a:p xmlns:a="http://schemas.openxmlformats.org/drawingml/2006/main">
            <a:r>
              <a:t/>
            </a:r>
          </a:p>
          <a:p xmlns:a="http://schemas.openxmlformats.org/drawingml/2006/main">
            <a:r>
              <a:t>[12] López Aliaga Pantigoso SC. Evaluación del aporte nutricional del menú del servicio de alimentación para deportistas albergados del IPD y su relación con sus requerimientos nutricionales [tesis de licenciatura]. Lima: UPC; 2019.</a:t>
            </a:r>
          </a:p>
          <a:p xmlns:a="http://schemas.openxmlformats.org/drawingml/2006/main">
            <a:r>
              <a:t>https://hdl.handle.net/10757/625118</a:t>
            </a:r>
          </a:p>
          <a:p xmlns:a="http://schemas.openxmlformats.org/drawingml/2006/main">
            <a:r>
              <a:t/>
            </a:r>
          </a:p>
          <a:p xmlns:a="http://schemas.openxmlformats.org/drawingml/2006/main">
            <a:r>
              <a:t>[13] Etekcity. ESN00 Smart Nutrition Scale [Internet]. [citado 7 oct 2026].</a:t>
            </a:r>
          </a:p>
          <a:p xmlns:a="http://schemas.openxmlformats.org/drawingml/2006/main">
            <a:r>
              <a:t>https://etekcity.com/products/smart-nutrition-scale-esn00</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8 · Bocetos y matriz de Pugh.</a:t>
            </a:r>
          </a:p>
          <a:p xmlns:a="http://schemas.openxmlformats.org/drawingml/2006/main">
            <a:r>
              <a:t>Tiempo orientativo: 18 s.</a:t>
            </a:r>
          </a:p>
          <a:p xmlns:a="http://schemas.openxmlformats.org/drawingml/2006/main">
            <a:r>
              <a:t>Facilidad de transporte (peso 1), A=0,B=−1,C=−1. B añade balanza y soporte; C añade la caja. A solo requiere el celular.</a:t>
            </a:r>
          </a:p>
          <a:p xmlns:a="http://schemas.openxmlformats.org/drawingml/2006/main">
            <a:r>
              <a:t>Costo con recursos disponibles (peso 1), A=0,B=0,C=−1. Se supone celular y balanza disponibles para B; C reserva S/ 410 según el presupuesto.</a:t>
            </a:r>
          </a:p>
          <a:p xmlns:a="http://schemas.openxmlformats.org/drawingml/2006/main">
            <a:r>
              <a:t>Esfuerzo de fabricación (peso 1), A=0,B=0,C=−1. C requiere estructura, cableado, calibración, firmware y adaptación del enlace.</a:t>
            </a:r>
          </a:p>
          <a:p xmlns:a="http://schemas.openxmlformats.org/drawingml/2006/main">
            <a:r>
              <a:t>SupuestoeconómicoB:recursosdisponiblesparacelular,balanzaysoporte. Sisecompransoporteybalanza, Bdebe reevaluarse. C:materiales308.20+transporte50+contingencia46.23=404.43;reserva410. No son gastos ejecutados. C siguebajo techoS500del deseoLE23, aunque cuesta másqueA. Subtotaleconómico A0 B−1 C−3.</a:t>
            </a:r>
          </a:p>
          <a:p xmlns:a="http://schemas.openxmlformats.org/drawingml/2006/main">
            <a:r>
              <a:t/>
            </a:r>
          </a:p>
          <a:p xmlns:a="http://schemas.openxmlformats.org/drawingml/2006/main">
            <a:r>
              <a:t>[17] Stacktronics Perú. ESP32-CAM con cámara OV2640</a:t>
            </a:r>
          </a:p>
          <a:p xmlns:a="http://schemas.openxmlformats.org/drawingml/2006/main">
            <a:r>
              <a:t>2 MP y base programadora [Internet]. [citado 7 oct 2026].</a:t>
            </a:r>
          </a:p>
          <a:p xmlns:a="http://schemas.openxmlformats.org/drawingml/2006/main">
            <a:r>
              <a:t>https://stacktronics.com/producto/esp32-cam-modulo-wifi-bluetooth-con-camara-ov2640-2mp-y-base-programadora/</a:t>
            </a:r>
          </a:p>
          <a:p xmlns:a="http://schemas.openxmlformats.org/drawingml/2006/main">
            <a:r>
              <a:t/>
            </a:r>
          </a:p>
          <a:p xmlns:a="http://schemas.openxmlformats.org/drawingml/2006/main">
            <a:r>
              <a:t>[18] Naylamp Mechatronics. Celda de carga 5 kg, SKU 000155 [Internet]. [citado 7 oct 2026].</a:t>
            </a:r>
          </a:p>
          <a:p xmlns:a="http://schemas.openxmlformats.org/drawingml/2006/main">
            <a:r>
              <a:t>https://naylampmechatronics.com/sensores/155-celda-de-carga-5kg.html</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https://naylampmechatronics.com/fuerza-peso/147-modulo-hx711-transmisor-de-celda-de-carga.html</a:t>
            </a:r>
          </a:p>
          <a:p xmlns:a="http://schemas.openxmlformats.org/drawingml/2006/main">
            <a:r>
              <a:t/>
            </a:r>
          </a:p>
          <a:p xmlns:a="http://schemas.openxmlformats.org/drawingml/2006/main">
            <a:r>
              <a:t>[20] Naylamp Mechatronics. Adaptador WODE WA-12-5, 5 V, 2.4 A [Internet]. [citado 7 oct 2026].</a:t>
            </a:r>
          </a:p>
          <a:p xmlns:a="http://schemas.openxmlformats.org/drawingml/2006/main">
            <a:r>
              <a:t>https://naylampmechatronics.com/fuentes-1a-2a/1461-fuente-de-alimentacion-acdc-12w-5v-2a-wode-adaptador.html</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8 · Bocetos y matriz de Pugh.</a:t>
            </a:r>
          </a:p>
          <a:p xmlns:a="http://schemas.openxmlformats.org/drawingml/2006/main">
            <a:r>
              <a:t>Tiempo orientativo: 18 s.</a:t>
            </a:r>
          </a:p>
          <a:p xmlns:a="http://schemas.openxmlformats.org/drawingml/2006/main">
            <a:r>
              <a:t>Validaciónaritmética: técnicoA0 B3+2=5 C3+2+2+3=10;económicoA0 B−1 C−3;totalA0 B4 C7. Pugh ponderada favoreceCporpesajeycaptura/control/enlace. Lascondicionesparaselecciónsoncomprobarmasaestable, calibración,enlaceycomodidaddecaptura. Conpuntajesunitariossinponderación,B yCempatanen+1;elpesodediseñoexplicael cambioydebeconfirmarseporelequipo. Noseocultaquelaseleccióndependedeloscriteriosypresupuestos. Si la balanza/soporte B no está disponible oC no pasa pruebas, se actualiza la evaluación. B sigue como configuración de demostración parcial; esto no significa que C esté construido.</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9 · Referencias bibliográficas.</a:t>
            </a:r>
          </a:p>
          <a:p xmlns:a="http://schemas.openxmlformats.org/drawingml/2006/main">
            <a:r>
              <a:t>Tiempo orientativo: 0 s.</a:t>
            </a:r>
          </a:p>
          <a:p xmlns:a="http://schemas.openxmlformats.org/drawingml/2006/main">
            <a:r>
              <a:t>Referenciasdelosantecedentesycomponentesusados. Lasfigurasdeantecedentes sonoriginalesdelasfuentesarchivadasporelequipo. Losbocetosdeconceptossonilustracionesesquemáticas, noconstruciónreal. LascapturasprocedendelmodoEjemplodeFoodScan. Losdocumentosinternosseidentificancomotales. LasfuentesInternet fueronconsultadasel7deoctubrede2026.</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9 · Referencias bibliográficas.</a:t>
            </a:r>
          </a:p>
          <a:p xmlns:a="http://schemas.openxmlformats.org/drawingml/2006/main">
            <a:r>
              <a:t>Tiempo orientativo: 0 s.</a:t>
            </a:r>
          </a:p>
          <a:p xmlns:a="http://schemas.openxmlformats.org/drawingml/2006/main">
            <a:r>
              <a:t>Referenciasdelosantecedentesycomponentesusados. Lasfigurasdeantecedentes sonoriginalesdelasfuentesarchivadasporelequipo. Losbocetosdeconceptossonilustracionesesquemáticas, noconstruciónreal. LascapturasprocedendelmodoEjemplodeFoodScan. Losdocumentosinternosseidentificancomotales. LasfuentesInternet fueronconsultadasel7deoctubrede2026.</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85bd776efa49d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7799741321141c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d16491ce78b439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db156e05bdc456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2eaca8c79f748b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9790785d5e24b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2EBACD-F7FC-403A-AAEF-9F47484D185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23E2835-D6C7-455C-93A8-F44C9F43E9A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D42F302-C13D-4037-A9D4-1BBFB4AAA16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8F8AA8-0B14-40FA-8957-C0F1C4CC8A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2E73250-780F-4164-A77B-637267AB0CF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1FFE1AC-6BA5-4042-A985-3E9BE341A2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8FC1AD-00ED-4820-9173-ED07E8B679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DC9411A-D0E9-41BB-BE57-FBABBB93B6B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D44CA9-B71F-407D-86F2-7B0BB784205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BE1B860-C1F8-4AD6-9E02-13E50ED55C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4c032e3b44441b" /><Relationship Type="http://schemas.openxmlformats.org/officeDocument/2006/relationships/slideLayout" Target="/ppt/slideLayouts/slideLayout1.xml" Id="R7176e467a4844cbd" /><Relationship Type="http://schemas.openxmlformats.org/officeDocument/2006/relationships/slideLayout" Target="/ppt/slideLayouts/slideLayout2.xml" Id="R500895474ae74cca" /><Relationship Type="http://schemas.openxmlformats.org/officeDocument/2006/relationships/slideLayout" Target="/ppt/slideLayouts/slideLayout3.xml" Id="Rf512b8f15f86477f" /><Relationship Type="http://schemas.openxmlformats.org/officeDocument/2006/relationships/slideLayout" Target="/ppt/slideLayouts/slideLayout4.xml" Id="Rb12c22f043704ffd" /><Relationship Type="http://schemas.openxmlformats.org/officeDocument/2006/relationships/slideLayout" Target="/ppt/slideLayouts/slideLayout5.xml" Id="R3a553d0da7334021" /><Relationship Type="http://schemas.openxmlformats.org/officeDocument/2006/relationships/slideLayout" Target="/ppt/slideLayouts/slideLayout6.xml" Id="R93591461e8764d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76e467a4844cbd"/>
    <p:sldLayoutId xmlns:r="http://schemas.openxmlformats.org/officeDocument/2006/relationships" id="2147483650" r:id="R500895474ae74cca"/>
    <p:sldLayoutId xmlns:r="http://schemas.openxmlformats.org/officeDocument/2006/relationships" id="2147483651" r:id="Rf512b8f15f86477f"/>
    <p:sldLayoutId xmlns:r="http://schemas.openxmlformats.org/officeDocument/2006/relationships" id="2147483652" r:id="Rb12c22f043704ffd"/>
    <p:sldLayoutId xmlns:r="http://schemas.openxmlformats.org/officeDocument/2006/relationships" id="2147483653" r:id="R3a553d0da7334021"/>
    <p:sldLayoutId xmlns:r="http://schemas.openxmlformats.org/officeDocument/2006/relationships" id="2147483654" r:id="R93591461e8764d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caf177bf0d940d9" /><Relationship Type="http://schemas.openxmlformats.org/officeDocument/2006/relationships/image" Target="/ppt/media/image.jpeg" Id="R791ffb3c8b5945d6" /><Relationship Type="http://schemas.openxmlformats.org/officeDocument/2006/relationships/notesSlide" Target="/ppt/notesSlides/notesSlide1.xml" Id="Rb5a612712e8743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a4e89c4533a4c61" /><Relationship Type="http://schemas.openxmlformats.org/officeDocument/2006/relationships/image" Target="/ppt/media/image.png" Id="R4690cd2ed4284bd3" /><Relationship Type="http://schemas.openxmlformats.org/officeDocument/2006/relationships/notesSlide" Target="/ppt/notesSlides/notesSlide2.xml" Id="Re6a8ee748ae24e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d1a856765dc49d8" /><Relationship Type="http://schemas.openxmlformats.org/officeDocument/2006/relationships/image" Target="/ppt/media/image2.jpeg" Id="R75d2eabd83b84aae" /><Relationship Type="http://schemas.openxmlformats.org/officeDocument/2006/relationships/image" Target="/ppt/media/image2.png" Id="R972ffb0678834c08" /><Relationship Type="http://schemas.openxmlformats.org/officeDocument/2006/relationships/image" Target="/ppt/media/image3.jpeg" Id="Rcc8236f0c44541cb" /><Relationship Type="http://schemas.openxmlformats.org/officeDocument/2006/relationships/notesSlide" Target="/ppt/notesSlides/notesSlide3.xml" Id="R95112075cecc45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2015482dbc6418f" /><Relationship Type="http://schemas.openxmlformats.org/officeDocument/2006/relationships/image" Target="/ppt/media/image3.png" Id="Rc899a2b5e719472f" /><Relationship Type="http://schemas.openxmlformats.org/officeDocument/2006/relationships/image" Target="/ppt/media/image4.png" Id="Rc7b7826b1af440ad" /><Relationship Type="http://schemas.openxmlformats.org/officeDocument/2006/relationships/image" Target="/ppt/media/image5.png" Id="R62174a3055a2423e" /><Relationship Type="http://schemas.openxmlformats.org/officeDocument/2006/relationships/image" Target="/ppt/media/image6.png" Id="R0d3e5b6b8675407c" /><Relationship Type="http://schemas.openxmlformats.org/officeDocument/2006/relationships/image" Target="/ppt/media/image7.png" Id="R993a902c3bf64201" /><Relationship Type="http://schemas.openxmlformats.org/officeDocument/2006/relationships/image" Target="/ppt/media/image8.png" Id="R2ab8bca559244c30" /><Relationship Type="http://schemas.openxmlformats.org/officeDocument/2006/relationships/notesSlide" Target="/ppt/notesSlides/notesSlide4.xml" Id="Radc277c0ea2249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9c700f3725d4f09" /><Relationship Type="http://schemas.openxmlformats.org/officeDocument/2006/relationships/image" Target="/ppt/media/image9.png" Id="R6a9a43ccc4714b93" /><Relationship Type="http://schemas.openxmlformats.org/officeDocument/2006/relationships/image" Target="/ppt/media/image4.jpeg" Id="R59d2b32b6aa64116" /><Relationship Type="http://schemas.openxmlformats.org/officeDocument/2006/relationships/image" Target="/ppt/media/image10.png" Id="Re1d191159b264f08" /><Relationship Type="http://schemas.openxmlformats.org/officeDocument/2006/relationships/notesSlide" Target="/ppt/notesSlides/notesSlide5.xml" Id="Rf4ccbbfda45a49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cd3e6b492fe422c" /><Relationship Type="http://schemas.openxmlformats.org/officeDocument/2006/relationships/image" Target="/ppt/media/image11.png" Id="Rb60bec5bcbf34a32" /><Relationship Type="http://schemas.openxmlformats.org/officeDocument/2006/relationships/image" Target="/ppt/media/image5.jpeg" Id="R5e697392d7ff42eb" /><Relationship Type="http://schemas.openxmlformats.org/officeDocument/2006/relationships/image" Target="/ppt/media/image12.png" Id="R968d77f2ebf245ff" /><Relationship Type="http://schemas.openxmlformats.org/officeDocument/2006/relationships/notesSlide" Target="/ppt/notesSlides/notesSlide6.xml" Id="R7301e492316d4a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a60071c08c6403f" /><Relationship Type="http://schemas.openxmlformats.org/officeDocument/2006/relationships/notesSlide" Target="/ppt/notesSlides/notesSlide7.xml" Id="R91ec2e2afeb94b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69e7a1c158443cf" /><Relationship Type="http://schemas.openxmlformats.org/officeDocument/2006/relationships/notesSlide" Target="/ppt/notesSlides/notesSlide8.xml" Id="Rb2877fb2e257439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560d801d46945d4" /><Relationship Type="http://schemas.openxmlformats.org/officeDocument/2006/relationships/notesSlide" Target="/ppt/notesSlides/notesSlide9.xml" Id="R144211060abd430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5cdb85942c5477a" /><Relationship Type="http://schemas.openxmlformats.org/officeDocument/2006/relationships/image" Target="/ppt/media/image13.png" Id="R06db773e26034c87" /><Relationship Type="http://schemas.openxmlformats.org/officeDocument/2006/relationships/image" Target="/ppt/media/image14.png" Id="R562bb3ca2a2b4c2f" /><Relationship Type="http://schemas.openxmlformats.org/officeDocument/2006/relationships/image" Target="/ppt/media/image15.png" Id="Ra56ce437c70c4eb7" /><Relationship Type="http://schemas.openxmlformats.org/officeDocument/2006/relationships/image" Target="/ppt/media/image16.png" Id="R3fa3f0e91fef4cac" /><Relationship Type="http://schemas.openxmlformats.org/officeDocument/2006/relationships/notesSlide" Target="/ppt/notesSlides/notesSlide10.xml" Id="R61ddf02709aa459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4949bf79fae43c3" /><Relationship Type="http://schemas.openxmlformats.org/officeDocument/2006/relationships/image" Target="/ppt/media/image6.jpeg" Id="Rfe3e840d1cb34eb1" /><Relationship Type="http://schemas.openxmlformats.org/officeDocument/2006/relationships/image" Target="/ppt/media/image7.jpeg" Id="R8109267a16f44b55" /><Relationship Type="http://schemas.openxmlformats.org/officeDocument/2006/relationships/image" Target="/ppt/media/image17.png" Id="R9b40ad69e79d4dba" /><Relationship Type="http://schemas.openxmlformats.org/officeDocument/2006/relationships/image" Target="/ppt/media/image18.png" Id="R0584fa2c4d5a4575" /><Relationship Type="http://schemas.openxmlformats.org/officeDocument/2006/relationships/notesSlide" Target="/ppt/notesSlides/notesSlide11.xml" Id="R654093db7aed44b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c5bde0e6ee94161" /><Relationship Type="http://schemas.openxmlformats.org/officeDocument/2006/relationships/notesSlide" Target="/ppt/notesSlides/notesSlide12.xml" Id="Re2d853a058c043f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cd1af39b6f145ac" /><Relationship Type="http://schemas.openxmlformats.org/officeDocument/2006/relationships/notesSlide" Target="/ppt/notesSlides/notesSlide13.xml" Id="R45fc03bc5fb047f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2ffc526c2cd4fe0" /><Relationship Type="http://schemas.openxmlformats.org/officeDocument/2006/relationships/image" Target="/ppt/media/image19.png" Id="Rfd63f4f8291b4e8d" /><Relationship Type="http://schemas.openxmlformats.org/officeDocument/2006/relationships/image" Target="/ppt/media/image20.png" Id="R5a33e82607ef4182" /><Relationship Type="http://schemas.openxmlformats.org/officeDocument/2006/relationships/image" Target="/ppt/media/image8.jpeg" Id="Rf1e2611f724b418e" /><Relationship Type="http://schemas.openxmlformats.org/officeDocument/2006/relationships/image" Target="/ppt/media/image21.png" Id="R71b03a7548f04045" /><Relationship Type="http://schemas.openxmlformats.org/officeDocument/2006/relationships/image" Target="/ppt/media/image22.png" Id="R515214b92819485b" /><Relationship Type="http://schemas.openxmlformats.org/officeDocument/2006/relationships/image" Target="/ppt/media/image9.jpeg" Id="Rdae69cb471ce496d" /><Relationship Type="http://schemas.openxmlformats.org/officeDocument/2006/relationships/image" Target="/ppt/media/image23.png" Id="R911c376a014243af" /><Relationship Type="http://schemas.openxmlformats.org/officeDocument/2006/relationships/image" Target="/ppt/media/image24.png" Id="R9f0446a168d64f4e" /><Relationship Type="http://schemas.openxmlformats.org/officeDocument/2006/relationships/image" Target="/ppt/media/image10.jpeg" Id="R1ef4cb3e3c474bdf" /><Relationship Type="http://schemas.openxmlformats.org/officeDocument/2006/relationships/image" Target="/ppt/media/image25.png" Id="R2daac1070c924697" /><Relationship Type="http://schemas.openxmlformats.org/officeDocument/2006/relationships/image" Target="/ppt/media/image26.png" Id="R29969883473a4bbf" /><Relationship Type="http://schemas.openxmlformats.org/officeDocument/2006/relationships/image" Target="/ppt/media/image11.jpeg" Id="R7971632c3ac44de9" /><Relationship Type="http://schemas.openxmlformats.org/officeDocument/2006/relationships/image" Target="/ppt/media/image27.png" Id="R7b2295aec2674eaf" /><Relationship Type="http://schemas.openxmlformats.org/officeDocument/2006/relationships/image" Target="/ppt/media/image28.png" Id="R01e411c9408a43b9" /><Relationship Type="http://schemas.openxmlformats.org/officeDocument/2006/relationships/image" Target="/ppt/media/image29.png" Id="R56a229f20d9a4f14" /><Relationship Type="http://schemas.openxmlformats.org/officeDocument/2006/relationships/image" Target="/ppt/media/image30.png" Id="R6d257fe5be024c23" /><Relationship Type="http://schemas.openxmlformats.org/officeDocument/2006/relationships/image" Target="/ppt/media/image31.png" Id="R9033e45bf2dc44f8" /><Relationship Type="http://schemas.openxmlformats.org/officeDocument/2006/relationships/image" Target="/ppt/media/image32.png" Id="Rccf44bdafc22408f" /><Relationship Type="http://schemas.openxmlformats.org/officeDocument/2006/relationships/notesSlide" Target="/ppt/notesSlides/notesSlide14.xml" Id="R7c8f478a01384b0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bcb151cbaec45d2" /><Relationship Type="http://schemas.openxmlformats.org/officeDocument/2006/relationships/image" Target="/ppt/media/image33.png" Id="R3c599057c0ef4b15" /><Relationship Type="http://schemas.openxmlformats.org/officeDocument/2006/relationships/image" Target="/ppt/media/image34.png" Id="R3fcd7e42636d4ecf" /><Relationship Type="http://schemas.openxmlformats.org/officeDocument/2006/relationships/image" Target="/ppt/media/image35.png" Id="R13c38349f0824972" /><Relationship Type="http://schemas.openxmlformats.org/officeDocument/2006/relationships/image" Target="/ppt/media/image36.png" Id="Rdb0d3d60425c46f2" /><Relationship Type="http://schemas.openxmlformats.org/officeDocument/2006/relationships/image" Target="/ppt/media/image37.png" Id="Rf6b1e8dda1cd4343" /><Relationship Type="http://schemas.openxmlformats.org/officeDocument/2006/relationships/image" Target="/ppt/media/image38.png" Id="R36d3ca920d8a41cf" /><Relationship Type="http://schemas.openxmlformats.org/officeDocument/2006/relationships/image" Target="/ppt/media/image39.png" Id="R769b6edcf7bb4328" /><Relationship Type="http://schemas.openxmlformats.org/officeDocument/2006/relationships/image" Target="/ppt/media/image40.png" Id="R7b18d7d786f9413d" /><Relationship Type="http://schemas.openxmlformats.org/officeDocument/2006/relationships/image" Target="/ppt/media/image41.png" Id="R142c9137aa2946f8" /><Relationship Type="http://schemas.openxmlformats.org/officeDocument/2006/relationships/image" Target="/ppt/media/image42.png" Id="R3dfe53ebafb44485" /><Relationship Type="http://schemas.openxmlformats.org/officeDocument/2006/relationships/image" Target="/ppt/media/image43.png" Id="R1fdff400b7df4677" /><Relationship Type="http://schemas.openxmlformats.org/officeDocument/2006/relationships/image" Target="/ppt/media/image44.png" Id="Rd99dba4b8bc24161" /><Relationship Type="http://schemas.openxmlformats.org/officeDocument/2006/relationships/image" Target="/ppt/media/image45.png" Id="R0fb8bbea7f014a4f" /><Relationship Type="http://schemas.openxmlformats.org/officeDocument/2006/relationships/image" Target="/ppt/media/image46.png" Id="Rd168e6c624054613" /><Relationship Type="http://schemas.openxmlformats.org/officeDocument/2006/relationships/image" Target="/ppt/media/image47.png" Id="R10d07a7ca8dd4241" /><Relationship Type="http://schemas.openxmlformats.org/officeDocument/2006/relationships/notesSlide" Target="/ppt/notesSlides/notesSlide15.xml" Id="Rcd05544971564c8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e278f91f9b94c87" /><Relationship Type="http://schemas.openxmlformats.org/officeDocument/2006/relationships/image" Target="/ppt/media/image48.png" Id="Rd9a21830066b4586" /><Relationship Type="http://schemas.openxmlformats.org/officeDocument/2006/relationships/notesSlide" Target="/ppt/notesSlides/notesSlide16.xml" Id="Rda86e476f2e348f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a3407292bb24700" /><Relationship Type="http://schemas.openxmlformats.org/officeDocument/2006/relationships/image" Target="/ppt/media/image49.png" Id="R1348fae0d7714425" /><Relationship Type="http://schemas.openxmlformats.org/officeDocument/2006/relationships/notesSlide" Target="/ppt/notesSlides/notesSlide17.xml" Id="R96a53677adf4433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2c46c2513504ef1" /><Relationship Type="http://schemas.openxmlformats.org/officeDocument/2006/relationships/image" Target="/ppt/media/image50.png" Id="Rbf2fece2f5294fe5" /><Relationship Type="http://schemas.openxmlformats.org/officeDocument/2006/relationships/notesSlide" Target="/ppt/notesSlides/notesSlide18.xml" Id="Re1493a6683514d3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f454bb157fb462e" /><Relationship Type="http://schemas.openxmlformats.org/officeDocument/2006/relationships/image" Target="/ppt/media/image51.png" Id="R86f660d468c44ca0" /><Relationship Type="http://schemas.openxmlformats.org/officeDocument/2006/relationships/image" Target="/ppt/media/image52.png" Id="Rf1c637486ed54cfc" /><Relationship Type="http://schemas.openxmlformats.org/officeDocument/2006/relationships/image" Target="/ppt/media/image53.png" Id="R06fa2cce8aaf49fd" /><Relationship Type="http://schemas.openxmlformats.org/officeDocument/2006/relationships/notesSlide" Target="/ppt/notesSlides/notesSlide19.xml" Id="R30293d6241974ae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8f404805759424d" /><Relationship Type="http://schemas.openxmlformats.org/officeDocument/2006/relationships/notesSlide" Target="/ppt/notesSlides/notesSlide20.xml" Id="Ra6f0cbbeba7743f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c393de8312d4764" /><Relationship Type="http://schemas.openxmlformats.org/officeDocument/2006/relationships/notesSlide" Target="/ppt/notesSlides/notesSlide21.xml" Id="R74392ac08d2d427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63c7a950d5b4cbc" /><Relationship Type="http://schemas.openxmlformats.org/officeDocument/2006/relationships/hyperlink" Target="https://pmc.ncbi.nlm.nih.gov/articles/PMC6226035/" TargetMode="External" Id="R626174c4f4d146dd" /><Relationship Type="http://schemas.openxmlformats.org/officeDocument/2006/relationships/hyperlink" Target="https://www.nature.com/articles/s41598-023-47885-0" TargetMode="External" Id="R13ca6520001746d6" /><Relationship Type="http://schemas.openxmlformats.org/officeDocument/2006/relationships/hyperlink" Target="https://pmc.ncbi.nlm.nih.gov/articles/PMC9776640/" TargetMode="External" Id="R2ceec95ea6b54167" /><Relationship Type="http://schemas.openxmlformats.org/officeDocument/2006/relationships/hyperlink" Target="https://patents.google.com/patent/CN114360689A/en" TargetMode="External" Id="Rfa20aefc71e04404" /><Relationship Type="http://schemas.openxmlformats.org/officeDocument/2006/relationships/hyperlink" Target="https://patents.google.com/patent/US10292511B2/en" TargetMode="External" Id="R07ff20397500499b" /><Relationship Type="http://schemas.openxmlformats.org/officeDocument/2006/relationships/hyperlink" Target="https://patents.google.com/patent/WO2014008555A1/en" TargetMode="External" Id="R13ef77f85d874b8c" /><Relationship Type="http://schemas.openxmlformats.org/officeDocument/2006/relationships/hyperlink" Target="https://patents.google.com/patent/US8439683B2/en" TargetMode="External" Id="R7a7bea8d944e4bf4" /><Relationship Type="http://schemas.openxmlformats.org/officeDocument/2006/relationships/hyperlink" Target="https://patents.google.com/patent/US20140063180A1/en" TargetMode="External" Id="Re152a858c9554591" /><Relationship Type="http://schemas.openxmlformats.org/officeDocument/2006/relationships/hyperlink" Target="https://patents.google.com/patent/CN108871530A/en" TargetMode="External" Id="R92ec6b4e559b47cc" /><Relationship Type="http://schemas.openxmlformats.org/officeDocument/2006/relationships/hyperlink" Target="https://hammer.purdue.edu/articles/thesis/SINGLE_VIEW_RECONSTRUCTION_FOR_FOOD_PORTION_ESTIMATION/7767125/1" TargetMode="External" Id="R247207671d894bcd" /><Relationship Type="http://schemas.openxmlformats.org/officeDocument/2006/relationships/hyperlink" Target="https://hdl.handle.net/20.500.12404/28095" TargetMode="External" Id="R9886df1217a746c1" /><Relationship Type="http://schemas.openxmlformats.org/officeDocument/2006/relationships/hyperlink" Target="https://hdl.handle.net/10757/625118" TargetMode="External" Id="Rea3ace0a2e9e4f96" /><Relationship Type="http://schemas.openxmlformats.org/officeDocument/2006/relationships/notesSlide" Target="/ppt/notesSlides/notesSlide22.xml" Id="Rb41aaa1a092a47a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1a30050bde2422d" /><Relationship Type="http://schemas.openxmlformats.org/officeDocument/2006/relationships/hyperlink" Target="https://etekcity.com/products/smart-nutrition-scale-esn00" TargetMode="External" Id="R3a86450a0d5b45b6" /><Relationship Type="http://schemas.openxmlformats.org/officeDocument/2006/relationships/hyperlink" Target="https://fitia.app/es/" TargetMode="External" Id="R3b9faa4db005493b" /><Relationship Type="http://schemas.openxmlformats.org/officeDocument/2006/relationships/hyperlink" Target="https://www.snapcalorie.com/" TargetMode="External" Id="Rd653bb2b22c941c2" /><Relationship Type="http://schemas.openxmlformats.org/officeDocument/2006/relationships/hyperlink" Target="https://repositorio.ins.gob.pe/items/7dd870ba-42db-449c-bef2-5d67d881383f" TargetMode="External" Id="Rc09e7c38470141e0" /><Relationship Type="http://schemas.openxmlformats.org/officeDocument/2006/relationships/hyperlink" Target="https://stacktronics.com/producto/esp32-cam-modulo-wifi-bluetooth-con-camara-ov2640-2mp-y-base-programadora/" TargetMode="External" Id="R7fc63f0dd60e4009" /><Relationship Type="http://schemas.openxmlformats.org/officeDocument/2006/relationships/hyperlink" Target="https://naylampmechatronics.com/sensores/155-celda-de-carga-5kg.html" TargetMode="External" Id="Rcbe80408371f40b4" /><Relationship Type="http://schemas.openxmlformats.org/officeDocument/2006/relationships/hyperlink" Target="https://naylampmechatronics.com/fuerza-peso/147-modulo-hx711-transmisor-de-celda-de-carga.html" TargetMode="External" Id="R7b96e02e02064959" /><Relationship Type="http://schemas.openxmlformats.org/officeDocument/2006/relationships/hyperlink" Target="https://naylampmechatronics.com/fuentes-1a-2a/1461-fuente-de-alimentacion-acdc-12w-5v-2a-wode-adaptador.html" TargetMode="External" Id="R00166f41b7ea4b9f" /><Relationship Type="http://schemas.openxmlformats.org/officeDocument/2006/relationships/hyperlink" Target="https://nanoparuro.com/shop/kw11-3z-3f-microswitch-20x6-5x13-5spdt-de-palanca-con-rueda-5a-250vac-1109" TargetMode="External" Id="Rc072ccc14b9e45a6" /><Relationship Type="http://schemas.openxmlformats.org/officeDocument/2006/relationships/hyperlink" Target="https://nanoparuro.com/shop/lb-sh-5mm-wc-led-blanco-straw-5mm-3-2-3-4v-6000k-blanco-frio-1881" TargetMode="External" Id="R5c331e6b3409483c" /><Relationship Type="http://schemas.openxmlformats.org/officeDocument/2006/relationships/hyperlink" Target="https://www.espressif.com/sites/default/files/documentation/esp32_datasheet_en.pdf" TargetMode="External" Id="Rb9605243bfd8416f" /><Relationship Type="http://schemas.openxmlformats.org/officeDocument/2006/relationships/notesSlide" Target="/ppt/notesSlides/notesSlide23.xml" Id="R9ae83c13092f4875" /></Relationships>
</file>

<file path=ppt/slides/slide1.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9" name="FoodScan">
            <a:extLst xmlns:a="http://schemas.openxmlformats.org/drawingml/2006/main">
              <a:ext uri="{FF2B5EF4-FFF2-40B4-BE49-F238E27FC236}">
                <a16:creationId xmlns:a16="http://schemas.microsoft.com/office/drawing/2014/main" id="{138186D2-E5AD-472F-BD4E-130E666F2C54}"/>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FoodScan</a:t>
            </a:r>
          </a:p>
        </p:txBody>
      </p:sp>
      <p:sp>
        <p:nvSpPr>
          <p:cNvPr id="2" name="Sistema de información nutricional de porciones">
            <a:extLst xmlns:a="http://schemas.openxmlformats.org/drawingml/2006/main">
              <a:ext uri="{FF2B5EF4-FFF2-40B4-BE49-F238E27FC236}">
                <a16:creationId xmlns:a16="http://schemas.microsoft.com/office/drawing/2014/main" id="{0BE94688-607B-472E-A88A-C779D371D046}"/>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Sistema de información nutricional de porciones</a:t>
            </a:r>
          </a:p>
        </p:txBody>
      </p:sp>
      <p:sp>
        <p:nvSpPr>
          <p:cNvPr id="3" name="FoodScan · Equipo 10">
            <a:extLst xmlns:a="http://schemas.openxmlformats.org/drawingml/2006/main">
              <a:ext uri="{FF2B5EF4-FFF2-40B4-BE49-F238E27FC236}">
                <a16:creationId xmlns:a16="http://schemas.microsoft.com/office/drawing/2014/main" id="{E9E4F152-727D-4296-855A-1D4539343517}"/>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FoodScan · Equipo 10</a:t>
            </a:r>
          </a:p>
        </p:txBody>
      </p:sp>
      <p:sp>
        <p:nvSpPr>
          <p:cNvPr id="4" name="01">
            <a:extLst xmlns:a="http://schemas.openxmlformats.org/drawingml/2006/main">
              <a:ext uri="{FF2B5EF4-FFF2-40B4-BE49-F238E27FC236}">
                <a16:creationId xmlns:a16="http://schemas.microsoft.com/office/drawing/2014/main" id="{B00BEC5A-11A4-43AB-ACAF-8DD09323090C}"/>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01</a:t>
            </a:r>
          </a:p>
        </p:txBody>
      </p:sp>
      <p:sp>
        <p:nvSpPr>
          <p:cNvPr id="5" name="Equipo 10">
            <a:extLst xmlns:a="http://schemas.openxmlformats.org/drawingml/2006/main">
              <a:ext uri="{FF2B5EF4-FFF2-40B4-BE49-F238E27FC236}">
                <a16:creationId xmlns:a16="http://schemas.microsoft.com/office/drawing/2014/main" id="{5CE36114-55F7-46FF-9129-5AA4AB1CEB31}"/>
              </a:ext>
            </a:extLst>
          </p:cNvPr>
          <p:cNvSpPr>
            <a:spLocks xmlns:a="http://schemas.openxmlformats.org/drawingml/2006/main" noGrp="1"/>
          </p:cNvSpPr>
          <p:nvPr/>
        </p:nvSpPr>
        <p:spPr>
          <a:xfrm xmlns:a="http://schemas.openxmlformats.org/drawingml/2006/main">
            <a:off x="571500" y="1838325"/>
            <a:ext cx="5572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73F2F"/>
                </a:solidFill>
                <a:latin typeface="Arial"/>
                <a:ea typeface="Arial"/>
                <a:cs typeface="Arial"/>
              </a:defRPr>
            </a:defPPr>
          </a:lstStyle>
          <a:p xmlns:a="http://schemas.openxmlformats.org/drawingml/2006/main">
            <a:pPr>
              <a:defRPr sz="2850" b="1">
                <a:solidFill>
                  <a:srgbClr val="173F2F"/>
                </a:solidFill>
                <a:latin typeface="Arial"/>
                <a:ea typeface="Arial"/>
                <a:cs typeface="Arial"/>
              </a:defRPr>
            </a:pPr>
            <a:r>
              <a:rPr sz="2850" b="1">
                <a:solidFill>
                  <a:srgbClr val="173F2F"/>
                </a:solidFill>
                <a:latin typeface="Arial"/>
                <a:ea typeface="Arial"/>
                <a:cs typeface="Arial"/>
              </a:rPr>
              <a:t>Equipo 10</a:t>
            </a:r>
          </a:p>
        </p:txBody>
      </p:sp>
      <p:sp>
        <p:nvSpPr>
          <p:cNvPr id="6" name="Mao Arceni Capcha Pumacahua&#10;Katherine Jireh Cruz O">
            <a:extLst xmlns:a="http://schemas.openxmlformats.org/drawingml/2006/main">
              <a:ext uri="{FF2B5EF4-FFF2-40B4-BE49-F238E27FC236}">
                <a16:creationId xmlns:a16="http://schemas.microsoft.com/office/drawing/2014/main" id="{F9E6CD79-0939-4184-98C5-F3C8004A2645}"/>
              </a:ext>
            </a:extLst>
          </p:cNvPr>
          <p:cNvSpPr>
            <a:spLocks xmlns:a="http://schemas.openxmlformats.org/drawingml/2006/main" noGrp="1"/>
          </p:cNvSpPr>
          <p:nvPr/>
        </p:nvSpPr>
        <p:spPr>
          <a:xfrm xmlns:a="http://schemas.openxmlformats.org/drawingml/2006/main">
            <a:off x="571500" y="2543175"/>
            <a:ext cx="5905500"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3F2F"/>
                </a:solidFill>
                <a:latin typeface="Arial"/>
                <a:ea typeface="Arial"/>
                <a:cs typeface="Arial"/>
              </a:defRPr>
            </a:defPPr>
          </a:lstStyle>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Mao Arceni Capcha Pumacahua</a:t>
            </a:r>
          </a:p>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Katherine Jireh Cruz Oyarce</a:t>
            </a:r>
          </a:p>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Lucero Sofía Tarazona Gonzales</a:t>
            </a:r>
          </a:p>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Renzo Jair Cruz Vega</a:t>
            </a:r>
          </a:p>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Julio Maguiña</a:t>
            </a:r>
          </a:p>
        </p:txBody>
      </p:sp>
      <p:sp>
        <p:nvSpPr>
          <p:cNvPr id="7" name="Fundamentos de Diseño · UPCH&#10;Avance de proyecto 1 ">
            <a:extLst xmlns:a="http://schemas.openxmlformats.org/drawingml/2006/main">
              <a:ext uri="{FF2B5EF4-FFF2-40B4-BE49-F238E27FC236}">
                <a16:creationId xmlns:a16="http://schemas.microsoft.com/office/drawing/2014/main" id="{6884BFBB-CF35-458B-B8AD-AD909B357831}"/>
              </a:ext>
            </a:extLst>
          </p:cNvPr>
          <p:cNvSpPr>
            <a:spLocks xmlns:a="http://schemas.openxmlformats.org/drawingml/2006/main" noGrp="1"/>
          </p:cNvSpPr>
          <p:nvPr/>
        </p:nvSpPr>
        <p:spPr>
          <a:xfrm xmlns:a="http://schemas.openxmlformats.org/drawingml/2006/main">
            <a:off x="571500" y="5314950"/>
            <a:ext cx="628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77161"/>
                </a:solidFill>
                <a:latin typeface="Arial"/>
                <a:ea typeface="Arial"/>
                <a:cs typeface="Arial"/>
              </a:defRPr>
            </a:defPPr>
          </a:lstStyle>
          <a:p xmlns:a="http://schemas.openxmlformats.org/drawingml/2006/main">
            <a:pPr>
              <a:defRPr sz="1875" b="0">
                <a:solidFill>
                  <a:srgbClr val="577161"/>
                </a:solidFill>
                <a:latin typeface="Arial"/>
                <a:ea typeface="Arial"/>
                <a:cs typeface="Arial"/>
              </a:defRPr>
            </a:pPr>
            <a:r>
              <a:rPr sz="1875" b="0">
                <a:solidFill>
                  <a:srgbClr val="577161"/>
                </a:solidFill>
                <a:latin typeface="Arial"/>
                <a:ea typeface="Arial"/>
                <a:cs typeface="Arial"/>
              </a:rPr>
              <a:t>Fundamentos de Diseño · UPCH</a:t>
            </a:r>
          </a:p>
          <a:p xmlns:a="http://schemas.openxmlformats.org/drawingml/2006/main">
            <a:pPr>
              <a:defRPr sz="1875" b="0">
                <a:solidFill>
                  <a:srgbClr val="577161"/>
                </a:solidFill>
                <a:latin typeface="Arial"/>
                <a:ea typeface="Arial"/>
                <a:cs typeface="Arial"/>
              </a:defRPr>
            </a:pPr>
            <a:r>
              <a:rPr sz="1875" b="0">
                <a:solidFill>
                  <a:srgbClr val="577161"/>
                </a:solidFill>
                <a:latin typeface="Arial"/>
                <a:ea typeface="Arial"/>
                <a:cs typeface="Arial"/>
              </a:rPr>
              <a:t>Avance de proyecto 1 · 2026-2</a:t>
            </a:r>
          </a:p>
        </p:txBody>
      </p:sp>
      <p:pic>
        <p:nvPicPr>
          <p:cNvPr id="8" name="">
            <a:extLst xmlns:a="http://schemas.openxmlformats.org/drawingml/2006/main">
              <a:ext uri="{FF2B5EF4-FFF2-40B4-BE49-F238E27FC236}">
                <a16:creationId xmlns:a16="http://schemas.microsoft.com/office/drawing/2014/main" id="{AA7ACEE8-607E-4955-8592-AF518A7A560D}"/>
              </a:ext>
            </a:extLst>
          </p:cNvPr>
          <p:cNvPicPr>
            <a:picLocks xmlns:a="http://schemas.openxmlformats.org/drawingml/2006/main" noChangeAspect="1"/>
          </p:cNvPicPr>
          <p:nvPr/>
        </p:nvPicPr>
        <p:blipFill>
          <a:blip xmlns:r="http://schemas.openxmlformats.org/officeDocument/2006/relationships" xmlns:a="http://schemas.openxmlformats.org/drawingml/2006/main" r:embed="R791ffb3c8b5945d6"/>
          <a:stretch xmlns:a="http://schemas.openxmlformats.org/drawingml/2006/main"/>
        </p:blipFill>
        <p:spPr>
          <a:xfrm xmlns:a="http://schemas.openxmlformats.org/drawingml/2006/main">
            <a:off x="6705600" y="2284214"/>
            <a:ext cx="4933950" cy="2775347"/>
          </a:xfrm>
          <a:prstGeom xmlns:a="http://schemas.openxmlformats.org/drawingml/2006/main" prst="rect">
            <a:avLst/>
          </a:prstGeom>
        </p:spPr>
      </p:pic>
    </p:spTree>
    <p:extLst>
      <p:ext uri="{BB962C8B-B14F-4D97-AF65-F5344CB8AC3E}">
        <p14:creationId xmlns:p14="http://schemas.microsoft.com/office/powerpoint/2010/main" val="1467923672"/>
      </p:ext>
    </p:extLst>
  </p:cSld>
</p:sld>
</file>

<file path=ppt/slides/slide2.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1" name="1. Introducción y problemática">
            <a:extLst xmlns:a="http://schemas.openxmlformats.org/drawingml/2006/main">
              <a:ext uri="{FF2B5EF4-FFF2-40B4-BE49-F238E27FC236}">
                <a16:creationId xmlns:a16="http://schemas.microsoft.com/office/drawing/2014/main" id="{94F906BF-0537-49D1-9AB0-567BB738B267}"/>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1. Introducción y problemática</a:t>
            </a:r>
          </a:p>
        </p:txBody>
      </p:sp>
      <p:sp>
        <p:nvSpPr>
          <p:cNvPr id="2" name="Público inicial: personas físicamente activas que ">
            <a:extLst xmlns:a="http://schemas.openxmlformats.org/drawingml/2006/main">
              <a:ext uri="{FF2B5EF4-FFF2-40B4-BE49-F238E27FC236}">
                <a16:creationId xmlns:a16="http://schemas.microsoft.com/office/drawing/2014/main" id="{B13D1E06-E918-430C-84D4-0692D1F5F3C9}"/>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Público inicial: personas físicamente activas que registran sus porciones</a:t>
            </a:r>
          </a:p>
        </p:txBody>
      </p:sp>
      <p:sp>
        <p:nvSpPr>
          <p:cNvPr id="3" name="Fuentes [1], [16], [24]. Referencias al final.">
            <a:extLst xmlns:a="http://schemas.openxmlformats.org/drawingml/2006/main">
              <a:ext uri="{FF2B5EF4-FFF2-40B4-BE49-F238E27FC236}">
                <a16:creationId xmlns:a16="http://schemas.microsoft.com/office/drawing/2014/main" id="{1C0D5CEF-423A-4F66-9548-4767D469B103}"/>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 [16], [24]. Referencias al final.</a:t>
            </a:r>
          </a:p>
        </p:txBody>
      </p:sp>
      <p:sp>
        <p:nvSpPr>
          <p:cNvPr id="4" name="02">
            <a:extLst xmlns:a="http://schemas.openxmlformats.org/drawingml/2006/main">
              <a:ext uri="{FF2B5EF4-FFF2-40B4-BE49-F238E27FC236}">
                <a16:creationId xmlns:a16="http://schemas.microsoft.com/office/drawing/2014/main" id="{963E9AC7-2B85-4779-AF5F-F4A725994B66}"/>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02</a:t>
            </a:r>
          </a:p>
        </p:txBody>
      </p:sp>
      <p:sp>
        <p:nvSpPr>
          <p:cNvPr id="5" name="La cantidad registrada cambia&#10;el resultado nutrici">
            <a:extLst xmlns:a="http://schemas.openxmlformats.org/drawingml/2006/main">
              <a:ext uri="{FF2B5EF4-FFF2-40B4-BE49-F238E27FC236}">
                <a16:creationId xmlns:a16="http://schemas.microsoft.com/office/drawing/2014/main" id="{18AF3BEB-3A2D-4E43-B3BC-6E956552A648}"/>
              </a:ext>
            </a:extLst>
          </p:cNvPr>
          <p:cNvSpPr>
            <a:spLocks xmlns:a="http://schemas.openxmlformats.org/drawingml/2006/main" noGrp="1"/>
          </p:cNvSpPr>
          <p:nvPr/>
        </p:nvSpPr>
        <p:spPr>
          <a:xfrm xmlns:a="http://schemas.openxmlformats.org/drawingml/2006/main">
            <a:off x="571500" y="1695450"/>
            <a:ext cx="695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73F2F"/>
                </a:solidFill>
                <a:latin typeface="Arial"/>
                <a:ea typeface="Arial"/>
                <a:cs typeface="Arial"/>
              </a:defRPr>
            </a:defPPr>
          </a:lstStyle>
          <a:p xmlns:a="http://schemas.openxmlformats.org/drawingml/2006/main">
            <a:pPr>
              <a:defRPr sz="2850" b="1">
                <a:solidFill>
                  <a:srgbClr val="173F2F"/>
                </a:solidFill>
                <a:latin typeface="Arial"/>
                <a:ea typeface="Arial"/>
                <a:cs typeface="Arial"/>
              </a:defRPr>
            </a:pPr>
            <a:r>
              <a:rPr sz="2850" b="1">
                <a:solidFill>
                  <a:srgbClr val="173F2F"/>
                </a:solidFill>
                <a:latin typeface="Arial"/>
                <a:ea typeface="Arial"/>
                <a:cs typeface="Arial"/>
              </a:rPr>
              <a:t>La cantidad registrada cambia</a:t>
            </a:r>
          </a:p>
          <a:p xmlns:a="http://schemas.openxmlformats.org/drawingml/2006/main">
            <a:pPr>
              <a:defRPr sz="2850" b="1">
                <a:solidFill>
                  <a:srgbClr val="173F2F"/>
                </a:solidFill>
                <a:latin typeface="Arial"/>
                <a:ea typeface="Arial"/>
                <a:cs typeface="Arial"/>
              </a:defRPr>
            </a:pPr>
            <a:r>
              <a:rPr sz="2850" b="1">
                <a:solidFill>
                  <a:srgbClr val="173F2F"/>
                </a:solidFill>
                <a:latin typeface="Arial"/>
                <a:ea typeface="Arial"/>
                <a:cs typeface="Arial"/>
              </a:rPr>
              <a:t>el resultado nutricional.</a:t>
            </a:r>
          </a:p>
        </p:txBody>
      </p:sp>
      <p:graphicFrame>
        <p:nvGraphicFramePr>
          <p:cNvPr id="6" name="">
            <a:extLst xmlns:a="http://schemas.openxmlformats.org/drawingml/2006/main">
              <a:ext uri="{FF2B5EF4-FFF2-40B4-BE49-F238E27FC236}">
                <a16:creationId xmlns:a16="http://schemas.microsoft.com/office/drawing/2014/main" id="{BB6D2671-0E31-4BDD-B356-EB6E9D106729}"/>
              </a:ext>
            </a:extLst>
          </p:cNvPr>
          <p:cNvGraphicFramePr/>
          <p:nvPr/>
        </p:nvGraphicFramePr>
        <p:xfrm>
          <a:off xmlns:a="http://schemas.openxmlformats.org/drawingml/2006/main" x="571500" y="2971800"/>
          <a:ext xmlns:a="http://schemas.openxmlformats.org/drawingml/2006/main" cx="6953250" cy="1628775"/>
        </p:xfrm>
        <a:graphic xmlns:a="http://schemas.openxmlformats.org/drawingml/2006/main">
          <a:graphicData uri="http://schemas.openxmlformats.org/drawingml/2006/table">
            <a:tbl>
              <a:tblPr/>
              <a:tblGrid>
                <a:gridCol w="3667125"/>
                <a:gridCol w="1285875"/>
                <a:gridCol w="2000250"/>
              </a:tblGrid>
              <a:tr h="542925">
                <a:tc>
                  <a:txBody>
                    <a:bodyPr/>
                    <a:lstStyle/>
                    <a:p>
                      <a:r>
                        <a:rPr sz="1875" b="1">
                          <a:solidFill>
                            <a:srgbClr val="FFFFFF"/>
                          </a:solidFill>
                          <a:latin typeface="Arial"/>
                          <a:ea typeface="Arial"/>
                          <a:cs typeface="Arial"/>
                        </a:rPr>
                        <a:t>Arroz cocido [16]</a:t>
                      </a:r>
                    </a:p>
                  </a:txBody>
                  <a:tcPr marL="95250" marR="95250" marT="19050" marB="19050" anchor="ctr">
                    <a:solidFill>
                      <a:srgbClr val="173F2F"/>
                    </a:solidFill>
                  </a:tcPr>
                </a:tc>
                <a:tc>
                  <a:txBody>
                    <a:bodyPr/>
                    <a:lstStyle/>
                    <a:p>
                      <a:r>
                        <a:rPr sz="1875" b="1">
                          <a:solidFill>
                            <a:srgbClr val="FFFFFF"/>
                          </a:solidFill>
                          <a:latin typeface="Arial"/>
                          <a:ea typeface="Arial"/>
                          <a:cs typeface="Arial"/>
                        </a:rPr>
                        <a:t>Masa</a:t>
                      </a:r>
                    </a:p>
                  </a:txBody>
                  <a:tcPr marL="95250" marR="95250" marT="19050" marB="19050" anchor="ctr">
                    <a:solidFill>
                      <a:srgbClr val="173F2F"/>
                    </a:solidFill>
                  </a:tcPr>
                </a:tc>
                <a:tc>
                  <a:txBody>
                    <a:bodyPr/>
                    <a:lstStyle/>
                    <a:p>
                      <a:r>
                        <a:rPr sz="1875" b="1">
                          <a:solidFill>
                            <a:srgbClr val="FFFFFF"/>
                          </a:solidFill>
                          <a:latin typeface="Arial"/>
                          <a:ea typeface="Arial"/>
                          <a:cs typeface="Arial"/>
                        </a:rPr>
                        <a:t>Energía</a:t>
                      </a:r>
                    </a:p>
                  </a:txBody>
                  <a:tcPr marL="95250" marR="95250" marT="19050" marB="19050" anchor="ctr">
                    <a:solidFill>
                      <a:srgbClr val="173F2F"/>
                    </a:solidFill>
                  </a:tcPr>
                </a:tc>
              </a:tr>
              <a:tr h="542925">
                <a:tc>
                  <a:txBody>
                    <a:bodyPr/>
                    <a:lstStyle/>
                    <a:p>
                      <a:r>
                        <a:rPr sz="1875">
                          <a:solidFill>
                            <a:srgbClr val="173F2F"/>
                          </a:solidFill>
                          <a:latin typeface="Arial"/>
                          <a:ea typeface="Arial"/>
                          <a:cs typeface="Arial"/>
                        </a:rPr>
                        <a:t>Referencia nutricional</a:t>
                      </a:r>
                    </a:p>
                  </a:txBody>
                  <a:tcPr marL="95250" marR="95250" marT="19050" marB="19050" anchor="ctr">
                    <a:solidFill>
                      <a:srgbClr val="FFFFFF"/>
                    </a:solidFill>
                  </a:tcPr>
                </a:tc>
                <a:tc>
                  <a:txBody>
                    <a:bodyPr/>
                    <a:lstStyle/>
                    <a:p>
                      <a:r>
                        <a:rPr sz="1875">
                          <a:solidFill>
                            <a:srgbClr val="173F2F"/>
                          </a:solidFill>
                          <a:latin typeface="Arial"/>
                          <a:ea typeface="Arial"/>
                          <a:cs typeface="Arial"/>
                        </a:rPr>
                        <a:t>100 g</a:t>
                      </a:r>
                    </a:p>
                  </a:txBody>
                  <a:tcPr marL="95250" marR="95250" marT="19050" marB="19050" anchor="ctr">
                    <a:solidFill>
                      <a:srgbClr val="FFFFFF"/>
                    </a:solidFill>
                  </a:tcPr>
                </a:tc>
                <a:tc>
                  <a:txBody>
                    <a:bodyPr/>
                    <a:lstStyle/>
                    <a:p>
                      <a:r>
                        <a:rPr sz="1875">
                          <a:solidFill>
                            <a:srgbClr val="173F2F"/>
                          </a:solidFill>
                          <a:latin typeface="Arial"/>
                          <a:ea typeface="Arial"/>
                          <a:cs typeface="Arial"/>
                        </a:rPr>
                        <a:t>115 kcal</a:t>
                      </a:r>
                    </a:p>
                  </a:txBody>
                  <a:tcPr marL="95250" marR="95250" marT="19050" marB="19050" anchor="ctr">
                    <a:solidFill>
                      <a:srgbClr val="FFFFFF"/>
                    </a:solidFill>
                  </a:tcPr>
                </a:tc>
              </a:tr>
              <a:tr h="542925">
                <a:tc>
                  <a:txBody>
                    <a:bodyPr/>
                    <a:lstStyle/>
                    <a:p>
                      <a:r>
                        <a:rPr sz="1875">
                          <a:solidFill>
                            <a:srgbClr val="173F2F"/>
                          </a:solidFill>
                          <a:latin typeface="Arial"/>
                          <a:ea typeface="Arial"/>
                          <a:cs typeface="Arial"/>
                        </a:rPr>
                        <a:t>Porción de ejemplo</a:t>
                      </a:r>
                    </a:p>
                  </a:txBody>
                  <a:tcPr marL="95250" marR="95250" marT="19050" marB="19050" anchor="ctr">
                    <a:solidFill>
                      <a:srgbClr val="EFF2E8"/>
                    </a:solidFill>
                  </a:tcPr>
                </a:tc>
                <a:tc>
                  <a:txBody>
                    <a:bodyPr/>
                    <a:lstStyle/>
                    <a:p>
                      <a:r>
                        <a:rPr sz="1875">
                          <a:solidFill>
                            <a:srgbClr val="173F2F"/>
                          </a:solidFill>
                          <a:latin typeface="Arial"/>
                          <a:ea typeface="Arial"/>
                          <a:cs typeface="Arial"/>
                        </a:rPr>
                        <a:t>250 g</a:t>
                      </a:r>
                    </a:p>
                  </a:txBody>
                  <a:tcPr marL="95250" marR="95250" marT="19050" marB="19050" anchor="ctr">
                    <a:solidFill>
                      <a:srgbClr val="EFF2E8"/>
                    </a:solidFill>
                  </a:tcPr>
                </a:tc>
                <a:tc>
                  <a:txBody>
                    <a:bodyPr/>
                    <a:lstStyle/>
                    <a:p>
                      <a:r>
                        <a:rPr sz="1875">
                          <a:solidFill>
                            <a:srgbClr val="173F2F"/>
                          </a:solidFill>
                          <a:latin typeface="Arial"/>
                          <a:ea typeface="Arial"/>
                          <a:cs typeface="Arial"/>
                        </a:rPr>
                        <a:t>287,5 kcal</a:t>
                      </a:r>
                    </a:p>
                  </a:txBody>
                  <a:tcPr marL="95250" marR="95250" marT="19050" marB="19050" anchor="ctr">
                    <a:solidFill>
                      <a:srgbClr val="EFF2E8"/>
                    </a:solidFill>
                  </a:tcPr>
                </a:tc>
              </a:tr>
            </a:tbl>
          </a:graphicData>
        </a:graphic>
      </p:graphicFrame>
      <p:sp>
        <p:nvSpPr>
          <p:cNvPr id="7" name="Registrar 100 g para esa porción subestima 60 % la">
            <a:extLst xmlns:a="http://schemas.openxmlformats.org/drawingml/2006/main">
              <a:ext uri="{FF2B5EF4-FFF2-40B4-BE49-F238E27FC236}">
                <a16:creationId xmlns:a16="http://schemas.microsoft.com/office/drawing/2014/main" id="{BDC0483F-BEA9-40B7-B362-6797FDD53AA6}"/>
              </a:ext>
            </a:extLst>
          </p:cNvPr>
          <p:cNvSpPr>
            <a:spLocks xmlns:a="http://schemas.openxmlformats.org/drawingml/2006/main" noGrp="1"/>
          </p:cNvSpPr>
          <p:nvPr/>
        </p:nvSpPr>
        <p:spPr>
          <a:xfrm xmlns:a="http://schemas.openxmlformats.org/drawingml/2006/main">
            <a:off x="571500" y="4781550"/>
            <a:ext cx="7000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AD6240"/>
                </a:solidFill>
                <a:latin typeface="Arial"/>
                <a:ea typeface="Arial"/>
                <a:cs typeface="Arial"/>
              </a:defRPr>
            </a:defPPr>
          </a:lstStyle>
          <a:p xmlns:a="http://schemas.openxmlformats.org/drawingml/2006/main">
            <a:pPr>
              <a:defRPr sz="1950" b="1">
                <a:solidFill>
                  <a:srgbClr val="AD6240"/>
                </a:solidFill>
                <a:latin typeface="Arial"/>
                <a:ea typeface="Arial"/>
                <a:cs typeface="Arial"/>
              </a:defRPr>
            </a:pPr>
            <a:r>
              <a:rPr sz="1950" b="1">
                <a:solidFill>
                  <a:srgbClr val="AD6240"/>
                </a:solidFill>
                <a:latin typeface="Arial"/>
                <a:ea typeface="Arial"/>
                <a:cs typeface="Arial"/>
              </a:rPr>
              <a:t>Registrar 100 g para esa porción subestima 60 % las kcal.</a:t>
            </a:r>
          </a:p>
        </p:txBody>
      </p:sp>
      <p:pic>
        <p:nvPicPr>
          <p:cNvPr id="8" name="">
            <a:extLst xmlns:a="http://schemas.openxmlformats.org/drawingml/2006/main">
              <a:ext uri="{FF2B5EF4-FFF2-40B4-BE49-F238E27FC236}">
                <a16:creationId xmlns:a16="http://schemas.microsoft.com/office/drawing/2014/main" id="{79B1CCE0-1D22-420A-8434-8AD309679AF0}"/>
              </a:ext>
            </a:extLst>
          </p:cNvPr>
          <p:cNvPicPr>
            <a:picLocks xmlns:a="http://schemas.openxmlformats.org/drawingml/2006/main" noChangeAspect="1"/>
          </p:cNvPicPr>
          <p:nvPr/>
        </p:nvPicPr>
        <p:blipFill>
          <a:blip xmlns:r="http://schemas.openxmlformats.org/officeDocument/2006/relationships" xmlns:a="http://schemas.openxmlformats.org/drawingml/2006/main" r:embed="R4690cd2ed4284bd3"/>
          <a:stretch xmlns:a="http://schemas.openxmlformats.org/drawingml/2006/main"/>
        </p:blipFill>
        <p:spPr>
          <a:xfrm xmlns:a="http://schemas.openxmlformats.org/drawingml/2006/main">
            <a:off x="8277225" y="1704975"/>
            <a:ext cx="2695575" cy="2695575"/>
          </a:xfrm>
          <a:prstGeom xmlns:a="http://schemas.openxmlformats.org/drawingml/2006/main" prst="rect">
            <a:avLst/>
          </a:prstGeom>
        </p:spPr>
      </p:pic>
      <p:sp>
        <p:nvSpPr>
          <p:cNvPr id="9" name="La foto tampoco fija la cantidad:&#10;la profundidad s">
            <a:extLst xmlns:a="http://schemas.openxmlformats.org/drawingml/2006/main">
              <a:ext uri="{FF2B5EF4-FFF2-40B4-BE49-F238E27FC236}">
                <a16:creationId xmlns:a16="http://schemas.microsoft.com/office/drawing/2014/main" id="{0570D4B6-6E22-4EBC-8671-4EB51A704DE7}"/>
              </a:ext>
            </a:extLst>
          </p:cNvPr>
          <p:cNvSpPr>
            <a:spLocks xmlns:a="http://schemas.openxmlformats.org/drawingml/2006/main" noGrp="1"/>
          </p:cNvSpPr>
          <p:nvPr/>
        </p:nvSpPr>
        <p:spPr>
          <a:xfrm xmlns:a="http://schemas.openxmlformats.org/drawingml/2006/main">
            <a:off x="7924800" y="4533900"/>
            <a:ext cx="36671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77161"/>
                </a:solidFill>
                <a:latin typeface="Arial"/>
                <a:ea typeface="Arial"/>
                <a:cs typeface="Arial"/>
              </a:defRPr>
            </a:defPPr>
          </a:lstStyle>
          <a:p xmlns:a="http://schemas.openxmlformats.org/drawingml/2006/main">
            <a:pPr>
              <a:defRPr sz="1875" b="0">
                <a:solidFill>
                  <a:srgbClr val="577161"/>
                </a:solidFill>
                <a:latin typeface="Arial"/>
                <a:ea typeface="Arial"/>
                <a:cs typeface="Arial"/>
              </a:defRPr>
            </a:pPr>
            <a:r>
              <a:rPr sz="1875" b="0">
                <a:solidFill>
                  <a:srgbClr val="577161"/>
                </a:solidFill>
                <a:latin typeface="Arial"/>
                <a:ea typeface="Arial"/>
                <a:cs typeface="Arial"/>
              </a:rPr>
              <a:t>La foto tampoco fija la cantidad:</a:t>
            </a:r>
          </a:p>
          <a:p xmlns:a="http://schemas.openxmlformats.org/drawingml/2006/main">
            <a:pPr>
              <a:defRPr sz="1875" b="0">
                <a:solidFill>
                  <a:srgbClr val="577161"/>
                </a:solidFill>
                <a:latin typeface="Arial"/>
                <a:ea typeface="Arial"/>
                <a:cs typeface="Arial"/>
              </a:defRPr>
            </a:pPr>
            <a:r>
              <a:rPr sz="1875" b="0">
                <a:solidFill>
                  <a:srgbClr val="577161"/>
                </a:solidFill>
                <a:latin typeface="Arial"/>
                <a:ea typeface="Arial"/>
                <a:cs typeface="Arial"/>
              </a:rPr>
              <a:t>la profundidad sobreestimó</a:t>
            </a:r>
          </a:p>
          <a:p xmlns:a="http://schemas.openxmlformats.org/drawingml/2006/main">
            <a:pPr>
              <a:defRPr sz="1875" b="0">
                <a:solidFill>
                  <a:srgbClr val="577161"/>
                </a:solidFill>
                <a:latin typeface="Arial"/>
                <a:ea typeface="Arial"/>
                <a:cs typeface="Arial"/>
              </a:defRPr>
            </a:pPr>
            <a:r>
              <a:rPr sz="1875" b="0">
                <a:solidFill>
                  <a:srgbClr val="577161"/>
                </a:solidFill>
                <a:latin typeface="Arial"/>
                <a:ea typeface="Arial"/>
                <a:cs typeface="Arial"/>
              </a:rPr>
              <a:t>9 de 10 réplicas evaluadas [1].</a:t>
            </a:r>
          </a:p>
        </p:txBody>
      </p:sp>
      <p:sp>
        <p:nvSpPr>
          <p:cNvPr id="10" name="Objetivo: vincular masa neta, identidad confirmada">
            <a:extLst xmlns:a="http://schemas.openxmlformats.org/drawingml/2006/main">
              <a:ext uri="{FF2B5EF4-FFF2-40B4-BE49-F238E27FC236}">
                <a16:creationId xmlns:a16="http://schemas.microsoft.com/office/drawing/2014/main" id="{EC19BB02-53BC-4EA5-AB51-D21D059CC827}"/>
              </a:ext>
            </a:extLst>
          </p:cNvPr>
          <p:cNvSpPr>
            <a:spLocks xmlns:a="http://schemas.openxmlformats.org/drawingml/2006/main" noGrp="1"/>
          </p:cNvSpPr>
          <p:nvPr/>
        </p:nvSpPr>
        <p:spPr>
          <a:xfrm xmlns:a="http://schemas.openxmlformats.org/drawingml/2006/main">
            <a:off x="571500" y="58007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73F2F"/>
                </a:solidFill>
                <a:latin typeface="Arial"/>
                <a:ea typeface="Arial"/>
                <a:cs typeface="Arial"/>
              </a:defRPr>
            </a:defPPr>
          </a:lstStyle>
          <a:p xmlns:a="http://schemas.openxmlformats.org/drawingml/2006/main">
            <a:pPr>
              <a:defRPr sz="1950" b="1">
                <a:solidFill>
                  <a:srgbClr val="173F2F"/>
                </a:solidFill>
                <a:latin typeface="Arial"/>
                <a:ea typeface="Arial"/>
                <a:cs typeface="Arial"/>
              </a:defRPr>
            </a:pPr>
            <a:r>
              <a:rPr sz="1950" b="1">
                <a:solidFill>
                  <a:srgbClr val="173F2F"/>
                </a:solidFill>
                <a:latin typeface="Arial"/>
                <a:ea typeface="Arial"/>
                <a:cs typeface="Arial"/>
              </a:rPr>
              <a:t>Objetivo: vincular masa neta, identidad confirmada y referencia peruana para informar g, kcal y macros.</a:t>
            </a:r>
          </a:p>
        </p:txBody>
      </p:sp>
    </p:spTree>
    <p:extLst>
      <p:ext uri="{BB962C8B-B14F-4D97-AF65-F5344CB8AC3E}">
        <p14:creationId xmlns:p14="http://schemas.microsoft.com/office/powerpoint/2010/main" val="1841487865"/>
      </p:ext>
    </p:extLst>
  </p:cSld>
</p:sld>
</file>

<file path=ppt/slides/slide3.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1" name="2. Estado de la tecnología: artículos">
            <a:extLst xmlns:a="http://schemas.openxmlformats.org/drawingml/2006/main">
              <a:ext uri="{FF2B5EF4-FFF2-40B4-BE49-F238E27FC236}">
                <a16:creationId xmlns:a16="http://schemas.microsoft.com/office/drawing/2014/main" id="{AE748379-E984-4BBB-8DCF-C24BE280A4B5}"/>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2. Estado de la tecnología: artículos</a:t>
            </a:r>
          </a:p>
        </p:txBody>
      </p:sp>
      <p:sp>
        <p:nvSpPr>
          <p:cNvPr id="2" name="Tres estudios. Resultado, alcance y decisión para ">
            <a:extLst xmlns:a="http://schemas.openxmlformats.org/drawingml/2006/main">
              <a:ext uri="{FF2B5EF4-FFF2-40B4-BE49-F238E27FC236}">
                <a16:creationId xmlns:a16="http://schemas.microsoft.com/office/drawing/2014/main" id="{1EE83479-610B-4091-A90C-1B99C4D1D308}"/>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Tres estudios. Resultado, alcance y decisión para el prototipo.</a:t>
            </a:r>
          </a:p>
        </p:txBody>
      </p:sp>
      <p:sp>
        <p:nvSpPr>
          <p:cNvPr id="3" name="Fuentes [1], [2], [3]. Referencias al final.">
            <a:extLst xmlns:a="http://schemas.openxmlformats.org/drawingml/2006/main">
              <a:ext uri="{FF2B5EF4-FFF2-40B4-BE49-F238E27FC236}">
                <a16:creationId xmlns:a16="http://schemas.microsoft.com/office/drawing/2014/main" id="{D31138AA-B7BF-42D1-873D-264C0E0023A4}"/>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 [2], [3]. Referencias al final.</a:t>
            </a:r>
          </a:p>
        </p:txBody>
      </p:sp>
      <p:sp>
        <p:nvSpPr>
          <p:cNvPr id="4" name="03">
            <a:extLst xmlns:a="http://schemas.openxmlformats.org/drawingml/2006/main">
              <a:ext uri="{FF2B5EF4-FFF2-40B4-BE49-F238E27FC236}">
                <a16:creationId xmlns:a16="http://schemas.microsoft.com/office/drawing/2014/main" id="{2DDBB420-6655-4B6A-B191-1524B0598285}"/>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03</a:t>
            </a:r>
          </a:p>
        </p:txBody>
      </p:sp>
      <p:pic>
        <p:nvPicPr>
          <p:cNvPr id="5" name="">
            <a:extLst xmlns:a="http://schemas.openxmlformats.org/drawingml/2006/main">
              <a:ext uri="{FF2B5EF4-FFF2-40B4-BE49-F238E27FC236}">
                <a16:creationId xmlns:a16="http://schemas.microsoft.com/office/drawing/2014/main" id="{91ACD4CB-3C2E-4A21-A67D-E27E21956F11}"/>
              </a:ext>
            </a:extLst>
          </p:cNvPr>
          <p:cNvPicPr>
            <a:picLocks xmlns:a="http://schemas.openxmlformats.org/drawingml/2006/main" noChangeAspect="1"/>
          </p:cNvPicPr>
          <p:nvPr/>
        </p:nvPicPr>
        <p:blipFill>
          <a:blip xmlns:r="http://schemas.openxmlformats.org/officeDocument/2006/relationships" xmlns:a="http://schemas.openxmlformats.org/drawingml/2006/main" r:embed="R75d2eabd83b84aae"/>
          <a:stretch xmlns:a="http://schemas.openxmlformats.org/drawingml/2006/main"/>
        </p:blipFill>
        <p:spPr>
          <a:xfrm xmlns:a="http://schemas.openxmlformats.org/drawingml/2006/main">
            <a:off x="1255284" y="1714500"/>
            <a:ext cx="2128107" cy="1590675"/>
          </a:xfrm>
          <a:prstGeom xmlns:a="http://schemas.openxmlformats.org/drawingml/2006/main" prst="rect">
            <a:avLst/>
          </a:prstGeom>
        </p:spPr>
      </p:pic>
      <p:sp>
        <p:nvSpPr>
          <p:cNvPr id="6" name="Fang et al., 2016 [1]">
            <a:extLst xmlns:a="http://schemas.openxmlformats.org/drawingml/2006/main">
              <a:ext uri="{FF2B5EF4-FFF2-40B4-BE49-F238E27FC236}">
                <a16:creationId xmlns:a16="http://schemas.microsoft.com/office/drawing/2014/main" id="{E7157B66-2714-4547-98FF-ED6602581654}"/>
              </a:ext>
            </a:extLst>
          </p:cNvPr>
          <p:cNvSpPr>
            <a:spLocks xmlns:a="http://schemas.openxmlformats.org/drawingml/2006/main" noGrp="1"/>
          </p:cNvSpPr>
          <p:nvPr/>
        </p:nvSpPr>
        <p:spPr>
          <a:xfrm xmlns:a="http://schemas.openxmlformats.org/drawingml/2006/main">
            <a:off x="571500" y="3457575"/>
            <a:ext cx="34956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Fang et al., 2016 [1]</a:t>
            </a:r>
          </a:p>
        </p:txBody>
      </p:sp>
      <p:sp>
        <p:nvSpPr>
          <p:cNvPr id="7" name="Profundidad: sobreestima 9/10 réplicas; vaso = 2,3">
            <a:extLst xmlns:a="http://schemas.openxmlformats.org/drawingml/2006/main">
              <a:ext uri="{FF2B5EF4-FFF2-40B4-BE49-F238E27FC236}">
                <a16:creationId xmlns:a16="http://schemas.microsoft.com/office/drawing/2014/main" id="{BC474047-162C-4088-826D-D346CE572C55}"/>
              </a:ext>
            </a:extLst>
          </p:cNvPr>
          <p:cNvSpPr>
            <a:spLocks xmlns:a="http://schemas.openxmlformats.org/drawingml/2006/main" noGrp="1"/>
          </p:cNvSpPr>
          <p:nvPr/>
        </p:nvSpPr>
        <p:spPr>
          <a:xfrm xmlns:a="http://schemas.openxmlformats.org/drawingml/2006/main">
            <a:off x="571500" y="4076700"/>
            <a:ext cx="34956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Profundidad: sobreestima 9/10 réplicas; vaso = 2,34 × volumen real.</a:t>
            </a:r>
          </a:p>
        </p:txBody>
      </p:sp>
      <p:sp>
        <p:nvSpPr>
          <p:cNvPr id="8" name="Captura y escala condicionan la cantidad.">
            <a:extLst xmlns:a="http://schemas.openxmlformats.org/drawingml/2006/main">
              <a:ext uri="{FF2B5EF4-FFF2-40B4-BE49-F238E27FC236}">
                <a16:creationId xmlns:a16="http://schemas.microsoft.com/office/drawing/2014/main" id="{2E6911BF-6E9D-40AF-8896-4B97524DDCCA}"/>
              </a:ext>
            </a:extLst>
          </p:cNvPr>
          <p:cNvSpPr>
            <a:spLocks xmlns:a="http://schemas.openxmlformats.org/drawingml/2006/main" noGrp="1"/>
          </p:cNvSpPr>
          <p:nvPr/>
        </p:nvSpPr>
        <p:spPr>
          <a:xfrm xmlns:a="http://schemas.openxmlformats.org/drawingml/2006/main">
            <a:off x="571500" y="4953000"/>
            <a:ext cx="34956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Captura y escala condicionan la cantidad.</a:t>
            </a:r>
          </a:p>
        </p:txBody>
      </p:sp>
      <p:sp>
        <p:nvSpPr>
          <p:cNvPr id="9" name="Réplicas y máscaras conocidas; no platos mixtos.">
            <a:extLst xmlns:a="http://schemas.openxmlformats.org/drawingml/2006/main">
              <a:ext uri="{FF2B5EF4-FFF2-40B4-BE49-F238E27FC236}">
                <a16:creationId xmlns:a16="http://schemas.microsoft.com/office/drawing/2014/main" id="{6C28EC1D-9C36-4024-B160-68F5AF909F7D}"/>
              </a:ext>
            </a:extLst>
          </p:cNvPr>
          <p:cNvSpPr>
            <a:spLocks xmlns:a="http://schemas.openxmlformats.org/drawingml/2006/main" noGrp="1"/>
          </p:cNvSpPr>
          <p:nvPr/>
        </p:nvSpPr>
        <p:spPr>
          <a:xfrm xmlns:a="http://schemas.openxmlformats.org/drawingml/2006/main">
            <a:off x="571500" y="5638800"/>
            <a:ext cx="34956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Réplicas y máscaras conocidas; no platos mixtos.</a:t>
            </a:r>
          </a:p>
        </p:txBody>
      </p:sp>
      <p:pic>
        <p:nvPicPr>
          <p:cNvPr id="10" name="">
            <a:extLst xmlns:a="http://schemas.openxmlformats.org/drawingml/2006/main">
              <a:ext uri="{FF2B5EF4-FFF2-40B4-BE49-F238E27FC236}">
                <a16:creationId xmlns:a16="http://schemas.microsoft.com/office/drawing/2014/main" id="{513E1B8C-124B-4D2C-97AA-0DB315EDF5F3}"/>
              </a:ext>
            </a:extLst>
          </p:cNvPr>
          <p:cNvPicPr>
            <a:picLocks xmlns:a="http://schemas.openxmlformats.org/drawingml/2006/main" noChangeAspect="1"/>
          </p:cNvPicPr>
          <p:nvPr/>
        </p:nvPicPr>
        <p:blipFill>
          <a:blip xmlns:r="http://schemas.openxmlformats.org/officeDocument/2006/relationships" xmlns:a="http://schemas.openxmlformats.org/drawingml/2006/main" r:embed="R972ffb0678834c08"/>
          <a:stretch xmlns:a="http://schemas.openxmlformats.org/drawingml/2006/main"/>
        </p:blipFill>
        <p:spPr>
          <a:xfrm xmlns:a="http://schemas.openxmlformats.org/drawingml/2006/main">
            <a:off x="4557999" y="1714500"/>
            <a:ext cx="3085526" cy="1590675"/>
          </a:xfrm>
          <a:prstGeom xmlns:a="http://schemas.openxmlformats.org/drawingml/2006/main" prst="rect">
            <a:avLst/>
          </a:prstGeom>
        </p:spPr>
      </p:pic>
      <p:sp>
        <p:nvSpPr>
          <p:cNvPr id="11" name="Konstantakopoulos et al., 2023 [2]">
            <a:extLst xmlns:a="http://schemas.openxmlformats.org/drawingml/2006/main">
              <a:ext uri="{FF2B5EF4-FFF2-40B4-BE49-F238E27FC236}">
                <a16:creationId xmlns:a16="http://schemas.microsoft.com/office/drawing/2014/main" id="{8C4A74E4-830E-46E0-BB55-2041EC85ECCB}"/>
              </a:ext>
            </a:extLst>
          </p:cNvPr>
          <p:cNvSpPr>
            <a:spLocks xmlns:a="http://schemas.openxmlformats.org/drawingml/2006/main" noGrp="1"/>
          </p:cNvSpPr>
          <p:nvPr/>
        </p:nvSpPr>
        <p:spPr>
          <a:xfrm xmlns:a="http://schemas.openxmlformats.org/drawingml/2006/main">
            <a:off x="4352925" y="3457575"/>
            <a:ext cx="34956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Konstantakopoulos et al., 2023 [2]</a:t>
            </a:r>
          </a:p>
        </p:txBody>
      </p:sp>
      <p:sp>
        <p:nvSpPr>
          <p:cNvPr id="12" name="23 052 imágenes, 226 platos. XGBoost: MAE 3,93 g; ">
            <a:extLst xmlns:a="http://schemas.openxmlformats.org/drawingml/2006/main">
              <a:ext uri="{FF2B5EF4-FFF2-40B4-BE49-F238E27FC236}">
                <a16:creationId xmlns:a16="http://schemas.microsoft.com/office/drawing/2014/main" id="{F5395702-A621-4C85-AAD4-2010A00776B2}"/>
              </a:ext>
            </a:extLst>
          </p:cNvPr>
          <p:cNvSpPr>
            <a:spLocks xmlns:a="http://schemas.openxmlformats.org/drawingml/2006/main" noGrp="1"/>
          </p:cNvSpPr>
          <p:nvPr/>
        </p:nvSpPr>
        <p:spPr>
          <a:xfrm xmlns:a="http://schemas.openxmlformats.org/drawingml/2006/main">
            <a:off x="4352925" y="4076700"/>
            <a:ext cx="34956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23 052 imágenes, 226 platos. XGBoost: MAE 3,93 g; MAPE 3,73 %.</a:t>
            </a:r>
          </a:p>
        </p:txBody>
      </p:sp>
      <p:sp>
        <p:nvSpPr>
          <p:cNvPr id="13" name="La estimación requiere referencia y validación.">
            <a:extLst xmlns:a="http://schemas.openxmlformats.org/drawingml/2006/main">
              <a:ext uri="{FF2B5EF4-FFF2-40B4-BE49-F238E27FC236}">
                <a16:creationId xmlns:a16="http://schemas.microsoft.com/office/drawing/2014/main" id="{409AE7CE-3729-4003-8067-2FBFE9D8BC08}"/>
              </a:ext>
            </a:extLst>
          </p:cNvPr>
          <p:cNvSpPr>
            <a:spLocks xmlns:a="http://schemas.openxmlformats.org/drawingml/2006/main" noGrp="1"/>
          </p:cNvSpPr>
          <p:nvPr/>
        </p:nvSpPr>
        <p:spPr>
          <a:xfrm xmlns:a="http://schemas.openxmlformats.org/drawingml/2006/main">
            <a:off x="4352925" y="4953000"/>
            <a:ext cx="34956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La estimación requiere referencia y validación.</a:t>
            </a:r>
          </a:p>
        </p:txBody>
      </p:sp>
      <p:sp>
        <p:nvSpPr>
          <p:cNvPr id="14" name="Datos mediterráneos y captura específica.">
            <a:extLst xmlns:a="http://schemas.openxmlformats.org/drawingml/2006/main">
              <a:ext uri="{FF2B5EF4-FFF2-40B4-BE49-F238E27FC236}">
                <a16:creationId xmlns:a16="http://schemas.microsoft.com/office/drawing/2014/main" id="{B22913BA-B761-4916-9A3E-79D94230EECC}"/>
              </a:ext>
            </a:extLst>
          </p:cNvPr>
          <p:cNvSpPr>
            <a:spLocks xmlns:a="http://schemas.openxmlformats.org/drawingml/2006/main" noGrp="1"/>
          </p:cNvSpPr>
          <p:nvPr/>
        </p:nvSpPr>
        <p:spPr>
          <a:xfrm xmlns:a="http://schemas.openxmlformats.org/drawingml/2006/main">
            <a:off x="4352925" y="5638800"/>
            <a:ext cx="34956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Datos mediterráneos y captura específica.</a:t>
            </a:r>
          </a:p>
        </p:txBody>
      </p:sp>
      <p:pic>
        <p:nvPicPr>
          <p:cNvPr id="15" name="">
            <a:extLst xmlns:a="http://schemas.openxmlformats.org/drawingml/2006/main">
              <a:ext uri="{FF2B5EF4-FFF2-40B4-BE49-F238E27FC236}">
                <a16:creationId xmlns:a16="http://schemas.microsoft.com/office/drawing/2014/main" id="{A658D2D6-2E44-42C4-9D56-DDA8CD2C559C}"/>
              </a:ext>
            </a:extLst>
          </p:cNvPr>
          <p:cNvPicPr>
            <a:picLocks xmlns:a="http://schemas.openxmlformats.org/drawingml/2006/main" noChangeAspect="1"/>
          </p:cNvPicPr>
          <p:nvPr/>
        </p:nvPicPr>
        <p:blipFill>
          <a:blip xmlns:r="http://schemas.openxmlformats.org/officeDocument/2006/relationships" xmlns:a="http://schemas.openxmlformats.org/drawingml/2006/main" r:embed="Rcc8236f0c44541cb"/>
          <a:stretch xmlns:a="http://schemas.openxmlformats.org/drawingml/2006/main"/>
        </p:blipFill>
        <p:spPr>
          <a:xfrm xmlns:a="http://schemas.openxmlformats.org/drawingml/2006/main">
            <a:off x="8289519" y="1714500"/>
            <a:ext cx="3185337" cy="1590675"/>
          </a:xfrm>
          <a:prstGeom xmlns:a="http://schemas.openxmlformats.org/drawingml/2006/main" prst="rect">
            <a:avLst/>
          </a:prstGeom>
        </p:spPr>
      </p:pic>
      <p:sp>
        <p:nvSpPr>
          <p:cNvPr id="16" name="Dalakleidi et al., 2022 [3]">
            <a:extLst xmlns:a="http://schemas.openxmlformats.org/drawingml/2006/main">
              <a:ext uri="{FF2B5EF4-FFF2-40B4-BE49-F238E27FC236}">
                <a16:creationId xmlns:a16="http://schemas.microsoft.com/office/drawing/2014/main" id="{34DCEA5D-81E8-4C04-A0D0-DA1B1CF9D1E5}"/>
              </a:ext>
            </a:extLst>
          </p:cNvPr>
          <p:cNvSpPr>
            <a:spLocks xmlns:a="http://schemas.openxmlformats.org/drawingml/2006/main" noGrp="1"/>
          </p:cNvSpPr>
          <p:nvPr/>
        </p:nvSpPr>
        <p:spPr>
          <a:xfrm xmlns:a="http://schemas.openxmlformats.org/drawingml/2006/main">
            <a:off x="8134350" y="3457575"/>
            <a:ext cx="34956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Dalakleidi et al., 2022 [3]</a:t>
            </a:r>
          </a:p>
        </p:txBody>
      </p:sp>
      <p:sp>
        <p:nvSpPr>
          <p:cNvPr id="17" name="159 publicaciones revisadas; 78 incluidas, 45 con ">
            <a:extLst xmlns:a="http://schemas.openxmlformats.org/drawingml/2006/main">
              <a:ext uri="{FF2B5EF4-FFF2-40B4-BE49-F238E27FC236}">
                <a16:creationId xmlns:a16="http://schemas.microsoft.com/office/drawing/2014/main" id="{E7EE68F6-357E-4A76-8528-6DA455CCD25D}"/>
              </a:ext>
            </a:extLst>
          </p:cNvPr>
          <p:cNvSpPr>
            <a:spLocks xmlns:a="http://schemas.openxmlformats.org/drawingml/2006/main" noGrp="1"/>
          </p:cNvSpPr>
          <p:nvPr/>
        </p:nvSpPr>
        <p:spPr>
          <a:xfrm xmlns:a="http://schemas.openxmlformats.org/drawingml/2006/main">
            <a:off x="8134350" y="4076700"/>
            <a:ext cx="34956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159 publicaciones revisadas; 78 incluidas, 45 con aprendizaje profundo.</a:t>
            </a:r>
          </a:p>
        </p:txBody>
      </p:sp>
      <p:sp>
        <p:nvSpPr>
          <p:cNvPr id="18" name="Identificar y determinar cantidad son etapas disti">
            <a:extLst xmlns:a="http://schemas.openxmlformats.org/drawingml/2006/main">
              <a:ext uri="{FF2B5EF4-FFF2-40B4-BE49-F238E27FC236}">
                <a16:creationId xmlns:a16="http://schemas.microsoft.com/office/drawing/2014/main" id="{53CA8FB4-0866-4570-BBC1-89204E10B825}"/>
              </a:ext>
            </a:extLst>
          </p:cNvPr>
          <p:cNvSpPr>
            <a:spLocks xmlns:a="http://schemas.openxmlformats.org/drawingml/2006/main" noGrp="1"/>
          </p:cNvSpPr>
          <p:nvPr/>
        </p:nvSpPr>
        <p:spPr>
          <a:xfrm xmlns:a="http://schemas.openxmlformats.org/drawingml/2006/main">
            <a:off x="8134350" y="4953000"/>
            <a:ext cx="34956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Identificar y determinar cantidad son etapas distintas.</a:t>
            </a:r>
          </a:p>
        </p:txBody>
      </p:sp>
      <p:sp>
        <p:nvSpPr>
          <p:cNvPr id="19" name="Una revisión no acredita exactitud de FoodScan.">
            <a:extLst xmlns:a="http://schemas.openxmlformats.org/drawingml/2006/main">
              <a:ext uri="{FF2B5EF4-FFF2-40B4-BE49-F238E27FC236}">
                <a16:creationId xmlns:a16="http://schemas.microsoft.com/office/drawing/2014/main" id="{7D518477-24A8-4158-B576-7919668A2CC7}"/>
              </a:ext>
            </a:extLst>
          </p:cNvPr>
          <p:cNvSpPr>
            <a:spLocks xmlns:a="http://schemas.openxmlformats.org/drawingml/2006/main" noGrp="1"/>
          </p:cNvSpPr>
          <p:nvPr/>
        </p:nvSpPr>
        <p:spPr>
          <a:xfrm xmlns:a="http://schemas.openxmlformats.org/drawingml/2006/main">
            <a:off x="8134350" y="5638800"/>
            <a:ext cx="34956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Una revisión no acredita exactitud de FoodScan.</a:t>
            </a:r>
          </a:p>
        </p:txBody>
      </p:sp>
      <p:sp>
        <p:nvSpPr>
          <p:cNvPr id="20" name="Factor común: F3 captura + F5 cantidad + F6 identi">
            <a:extLst xmlns:a="http://schemas.openxmlformats.org/drawingml/2006/main">
              <a:ext uri="{FF2B5EF4-FFF2-40B4-BE49-F238E27FC236}">
                <a16:creationId xmlns:a16="http://schemas.microsoft.com/office/drawing/2014/main" id="{95C28C58-F399-469A-8838-42849378AE7C}"/>
              </a:ext>
            </a:extLst>
          </p:cNvPr>
          <p:cNvSpPr>
            <a:spLocks xmlns:a="http://schemas.openxmlformats.org/drawingml/2006/main" noGrp="1"/>
          </p:cNvSpPr>
          <p:nvPr/>
        </p:nvSpPr>
        <p:spPr>
          <a:xfrm xmlns:a="http://schemas.openxmlformats.org/drawingml/2006/main">
            <a:off x="571500" y="6191250"/>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Factor común: F3 captura + F5 cantidad + F6 identificación deben validarse por separado.</a:t>
            </a:r>
          </a:p>
        </p:txBody>
      </p:sp>
    </p:spTree>
    <p:extLst>
      <p:ext uri="{BB962C8B-B14F-4D97-AF65-F5344CB8AC3E}">
        <p14:creationId xmlns:p14="http://schemas.microsoft.com/office/powerpoint/2010/main" val="1657765808"/>
      </p:ext>
    </p:extLst>
  </p:cSld>
</p:sld>
</file>

<file path=ppt/slides/slide4.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36" name="2. Estado de la tecnología: patentes">
            <a:extLst xmlns:a="http://schemas.openxmlformats.org/drawingml/2006/main">
              <a:ext uri="{FF2B5EF4-FFF2-40B4-BE49-F238E27FC236}">
                <a16:creationId xmlns:a16="http://schemas.microsoft.com/office/drawing/2014/main" id="{3C266715-B2C7-4B55-837B-1FB743F3174C}"/>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2. Estado de la tecnología: patentes</a:t>
            </a:r>
          </a:p>
        </p:txBody>
      </p:sp>
      <p:sp>
        <p:nvSpPr>
          <p:cNvPr id="2" name="Seis arquitecturas analizadas. Las patentes descri">
            <a:extLst xmlns:a="http://schemas.openxmlformats.org/drawingml/2006/main">
              <a:ext uri="{FF2B5EF4-FFF2-40B4-BE49-F238E27FC236}">
                <a16:creationId xmlns:a16="http://schemas.microsoft.com/office/drawing/2014/main" id="{DCF0617D-51D4-4DD7-9666-29B5AD6FD0A2}"/>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Seis arquitecturas analizadas. Las patentes describen soluciones, no exactitud demostrada.</a:t>
            </a:r>
          </a:p>
        </p:txBody>
      </p:sp>
      <p:sp>
        <p:nvSpPr>
          <p:cNvPr id="3" name="Fuentes [4], [5], [6], [7], [8], [9]. Referencias ">
            <a:extLst xmlns:a="http://schemas.openxmlformats.org/drawingml/2006/main">
              <a:ext uri="{FF2B5EF4-FFF2-40B4-BE49-F238E27FC236}">
                <a16:creationId xmlns:a16="http://schemas.microsoft.com/office/drawing/2014/main" id="{C7FB3480-2F8D-4CF7-9090-620D2E854CC0}"/>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[4], [5], [6], [7], [8], [9]. Referencias al final.</a:t>
            </a:r>
          </a:p>
        </p:txBody>
      </p:sp>
      <p:sp>
        <p:nvSpPr>
          <p:cNvPr id="4" name="04">
            <a:extLst xmlns:a="http://schemas.openxmlformats.org/drawingml/2006/main">
              <a:ext uri="{FF2B5EF4-FFF2-40B4-BE49-F238E27FC236}">
                <a16:creationId xmlns:a16="http://schemas.microsoft.com/office/drawing/2014/main" id="{5CC8520B-F46C-4F84-A1E0-BB33A4C223C9}"/>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04</a:t>
            </a:r>
          </a:p>
        </p:txBody>
      </p:sp>
      <p:pic>
        <p:nvPicPr>
          <p:cNvPr id="5" name="">
            <a:extLst xmlns:a="http://schemas.openxmlformats.org/drawingml/2006/main">
              <a:ext uri="{FF2B5EF4-FFF2-40B4-BE49-F238E27FC236}">
                <a16:creationId xmlns:a16="http://schemas.microsoft.com/office/drawing/2014/main" id="{8D8D773C-155B-4A48-B365-0688A8E8D1B5}"/>
              </a:ext>
            </a:extLst>
          </p:cNvPr>
          <p:cNvPicPr>
            <a:picLocks xmlns:a="http://schemas.openxmlformats.org/drawingml/2006/main" noChangeAspect="1"/>
          </p:cNvPicPr>
          <p:nvPr/>
        </p:nvPicPr>
        <p:blipFill>
          <a:blip xmlns:r="http://schemas.openxmlformats.org/officeDocument/2006/relationships" xmlns:a="http://schemas.openxmlformats.org/drawingml/2006/main" r:embed="Rc899a2b5e719472f"/>
          <a:stretch xmlns:a="http://schemas.openxmlformats.org/drawingml/2006/main"/>
        </p:blipFill>
        <p:spPr>
          <a:xfrm xmlns:a="http://schemas.openxmlformats.org/drawingml/2006/main">
            <a:off x="571500" y="2128199"/>
            <a:ext cx="1076325" cy="772801"/>
          </a:xfrm>
          <a:prstGeom xmlns:a="http://schemas.openxmlformats.org/drawingml/2006/main" prst="rect">
            <a:avLst/>
          </a:prstGeom>
        </p:spPr>
      </p:pic>
      <p:sp>
        <p:nvSpPr>
          <p:cNvPr id="6" name="CN114360689A [4]">
            <a:extLst xmlns:a="http://schemas.openxmlformats.org/drawingml/2006/main">
              <a:ext uri="{FF2B5EF4-FFF2-40B4-BE49-F238E27FC236}">
                <a16:creationId xmlns:a16="http://schemas.microsoft.com/office/drawing/2014/main" id="{3005DBEB-54DF-425B-905B-D3E6CE0DB1DE}"/>
              </a:ext>
            </a:extLst>
          </p:cNvPr>
          <p:cNvSpPr>
            <a:spLocks xmlns:a="http://schemas.openxmlformats.org/drawingml/2006/main" noGrp="1"/>
          </p:cNvSpPr>
          <p:nvPr/>
        </p:nvSpPr>
        <p:spPr>
          <a:xfrm xmlns:a="http://schemas.openxmlformats.org/drawingml/2006/main">
            <a:off x="1800225" y="1743075"/>
            <a:ext cx="4124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CN114360689A [4]</a:t>
            </a:r>
          </a:p>
        </p:txBody>
      </p:sp>
      <p:sp>
        <p:nvSpPr>
          <p:cNvPr id="7" name="Pesaje, cámara, identificación y base.">
            <a:extLst xmlns:a="http://schemas.openxmlformats.org/drawingml/2006/main">
              <a:ext uri="{FF2B5EF4-FFF2-40B4-BE49-F238E27FC236}">
                <a16:creationId xmlns:a16="http://schemas.microsoft.com/office/drawing/2014/main" id="{12E23453-C2AE-4C33-96A9-3C060E49DA70}"/>
              </a:ext>
            </a:extLst>
          </p:cNvPr>
          <p:cNvSpPr>
            <a:spLocks xmlns:a="http://schemas.openxmlformats.org/drawingml/2006/main" noGrp="1"/>
          </p:cNvSpPr>
          <p:nvPr/>
        </p:nvSpPr>
        <p:spPr>
          <a:xfrm xmlns:a="http://schemas.openxmlformats.org/drawingml/2006/main">
            <a:off x="1800225" y="2085975"/>
            <a:ext cx="4124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73F2F"/>
                </a:solidFill>
                <a:latin typeface="Arial"/>
                <a:ea typeface="Arial"/>
                <a:cs typeface="Arial"/>
              </a:defRPr>
            </a:defPPr>
          </a:lstStyle>
          <a:p xmlns:a="http://schemas.openxmlformats.org/drawingml/2006/main">
            <a:pPr>
              <a:defRPr sz="1500" b="0">
                <a:solidFill>
                  <a:srgbClr val="173F2F"/>
                </a:solidFill>
                <a:latin typeface="Arial"/>
                <a:ea typeface="Arial"/>
                <a:cs typeface="Arial"/>
              </a:defRPr>
            </a:pPr>
            <a:r>
              <a:rPr sz="1500" b="0">
                <a:solidFill>
                  <a:srgbClr val="173F2F"/>
                </a:solidFill>
                <a:latin typeface="Arial"/>
                <a:ea typeface="Arial"/>
                <a:cs typeface="Arial"/>
              </a:rPr>
              <a:t>Pesaje, cámara, identificación y base.</a:t>
            </a:r>
          </a:p>
        </p:txBody>
      </p:sp>
      <p:sp>
        <p:nvSpPr>
          <p:cNvPr id="8" name="F5–F8: masa + identidad + referencia.">
            <a:extLst xmlns:a="http://schemas.openxmlformats.org/drawingml/2006/main">
              <a:ext uri="{FF2B5EF4-FFF2-40B4-BE49-F238E27FC236}">
                <a16:creationId xmlns:a16="http://schemas.microsoft.com/office/drawing/2014/main" id="{2A8A15AF-15AA-4386-834C-DF5D4734DBDA}"/>
              </a:ext>
            </a:extLst>
          </p:cNvPr>
          <p:cNvSpPr>
            <a:spLocks xmlns:a="http://schemas.openxmlformats.org/drawingml/2006/main" noGrp="1"/>
          </p:cNvSpPr>
          <p:nvPr/>
        </p:nvSpPr>
        <p:spPr>
          <a:xfrm xmlns:a="http://schemas.openxmlformats.org/drawingml/2006/main">
            <a:off x="1800225" y="2476500"/>
            <a:ext cx="4124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AD6240"/>
                </a:solidFill>
                <a:latin typeface="Arial"/>
                <a:ea typeface="Arial"/>
                <a:cs typeface="Arial"/>
              </a:defRPr>
            </a:defPPr>
          </a:lstStyle>
          <a:p xmlns:a="http://schemas.openxmlformats.org/drawingml/2006/main">
            <a:pPr>
              <a:defRPr sz="1500" b="1">
                <a:solidFill>
                  <a:srgbClr val="AD6240"/>
                </a:solidFill>
                <a:latin typeface="Arial"/>
                <a:ea typeface="Arial"/>
                <a:cs typeface="Arial"/>
              </a:defRPr>
            </a:pPr>
            <a:r>
              <a:rPr sz="1500" b="1">
                <a:solidFill>
                  <a:srgbClr val="AD6240"/>
                </a:solidFill>
                <a:latin typeface="Arial"/>
                <a:ea typeface="Arial"/>
                <a:cs typeface="Arial"/>
              </a:rPr>
              <a:t>F5–F8: masa + identidad + referencia.</a:t>
            </a:r>
          </a:p>
        </p:txBody>
      </p:sp>
      <p:sp>
        <p:nvSpPr>
          <p:cNvPr id="9" name="Límite: sin capacidad ni error declarado.">
            <a:extLst xmlns:a="http://schemas.openxmlformats.org/drawingml/2006/main">
              <a:ext uri="{FF2B5EF4-FFF2-40B4-BE49-F238E27FC236}">
                <a16:creationId xmlns:a16="http://schemas.microsoft.com/office/drawing/2014/main" id="{CFDD64ED-A324-44D9-8B9F-8BEE7EC22CF2}"/>
              </a:ext>
            </a:extLst>
          </p:cNvPr>
          <p:cNvSpPr>
            <a:spLocks xmlns:a="http://schemas.openxmlformats.org/drawingml/2006/main" noGrp="1"/>
          </p:cNvSpPr>
          <p:nvPr/>
        </p:nvSpPr>
        <p:spPr>
          <a:xfrm xmlns:a="http://schemas.openxmlformats.org/drawingml/2006/main">
            <a:off x="1800225" y="2847975"/>
            <a:ext cx="41243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77161"/>
                </a:solidFill>
                <a:latin typeface="Arial"/>
                <a:ea typeface="Arial"/>
                <a:cs typeface="Arial"/>
              </a:defRPr>
            </a:defPPr>
          </a:lstStyle>
          <a:p xmlns:a="http://schemas.openxmlformats.org/drawingml/2006/main">
            <a:pPr>
              <a:defRPr sz="1350" b="0">
                <a:solidFill>
                  <a:srgbClr val="577161"/>
                </a:solidFill>
                <a:latin typeface="Arial"/>
                <a:ea typeface="Arial"/>
                <a:cs typeface="Arial"/>
              </a:defRPr>
            </a:pPr>
            <a:r>
              <a:rPr sz="1350" b="0">
                <a:solidFill>
                  <a:srgbClr val="577161"/>
                </a:solidFill>
                <a:latin typeface="Arial"/>
                <a:ea typeface="Arial"/>
                <a:cs typeface="Arial"/>
              </a:rPr>
              <a:t>Límite: sin capacidad ni error declarado.</a:t>
            </a:r>
          </a:p>
        </p:txBody>
      </p:sp>
      <p:pic>
        <p:nvPicPr>
          <p:cNvPr id="10" name="">
            <a:extLst xmlns:a="http://schemas.openxmlformats.org/drawingml/2006/main">
              <a:ext uri="{FF2B5EF4-FFF2-40B4-BE49-F238E27FC236}">
                <a16:creationId xmlns:a16="http://schemas.microsoft.com/office/drawing/2014/main" id="{D2D5056A-9B0E-4249-98CC-A9DE6A370F57}"/>
              </a:ext>
            </a:extLst>
          </p:cNvPr>
          <p:cNvPicPr>
            <a:picLocks xmlns:a="http://schemas.openxmlformats.org/drawingml/2006/main" noChangeAspect="1"/>
          </p:cNvPicPr>
          <p:nvPr/>
        </p:nvPicPr>
        <p:blipFill>
          <a:blip xmlns:r="http://schemas.openxmlformats.org/officeDocument/2006/relationships" xmlns:a="http://schemas.openxmlformats.org/drawingml/2006/main" r:embed="Rc7b7826b1af440ad"/>
          <a:stretch xmlns:a="http://schemas.openxmlformats.org/drawingml/2006/main"/>
        </p:blipFill>
        <p:spPr>
          <a:xfrm xmlns:a="http://schemas.openxmlformats.org/drawingml/2006/main">
            <a:off x="6373091" y="2028825"/>
            <a:ext cx="750743" cy="971550"/>
          </a:xfrm>
          <a:prstGeom xmlns:a="http://schemas.openxmlformats.org/drawingml/2006/main" prst="rect">
            <a:avLst/>
          </a:prstGeom>
        </p:spPr>
      </p:pic>
      <p:sp>
        <p:nvSpPr>
          <p:cNvPr id="11" name="US10292511B2 [5]">
            <a:extLst xmlns:a="http://schemas.openxmlformats.org/drawingml/2006/main">
              <a:ext uri="{FF2B5EF4-FFF2-40B4-BE49-F238E27FC236}">
                <a16:creationId xmlns:a16="http://schemas.microsoft.com/office/drawing/2014/main" id="{74D6E788-6681-43D9-A3DE-5A65B0A09312}"/>
              </a:ext>
            </a:extLst>
          </p:cNvPr>
          <p:cNvSpPr>
            <a:spLocks xmlns:a="http://schemas.openxmlformats.org/drawingml/2006/main" noGrp="1"/>
          </p:cNvSpPr>
          <p:nvPr/>
        </p:nvSpPr>
        <p:spPr>
          <a:xfrm xmlns:a="http://schemas.openxmlformats.org/drawingml/2006/main">
            <a:off x="7439025" y="1743075"/>
            <a:ext cx="4124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US10292511B2 [5]</a:t>
            </a:r>
          </a:p>
        </p:txBody>
      </p:sp>
      <p:sp>
        <p:nvSpPr>
          <p:cNvPr id="12" name="Tara y lecturas de consumo vía Bluetooth.">
            <a:extLst xmlns:a="http://schemas.openxmlformats.org/drawingml/2006/main">
              <a:ext uri="{FF2B5EF4-FFF2-40B4-BE49-F238E27FC236}">
                <a16:creationId xmlns:a16="http://schemas.microsoft.com/office/drawing/2014/main" id="{779CBC38-6DB0-498F-B764-EC0552A3D973}"/>
              </a:ext>
            </a:extLst>
          </p:cNvPr>
          <p:cNvSpPr>
            <a:spLocks xmlns:a="http://schemas.openxmlformats.org/drawingml/2006/main" noGrp="1"/>
          </p:cNvSpPr>
          <p:nvPr/>
        </p:nvSpPr>
        <p:spPr>
          <a:xfrm xmlns:a="http://schemas.openxmlformats.org/drawingml/2006/main">
            <a:off x="7439025" y="2085975"/>
            <a:ext cx="4124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73F2F"/>
                </a:solidFill>
                <a:latin typeface="Arial"/>
                <a:ea typeface="Arial"/>
                <a:cs typeface="Arial"/>
              </a:defRPr>
            </a:defPPr>
          </a:lstStyle>
          <a:p xmlns:a="http://schemas.openxmlformats.org/drawingml/2006/main">
            <a:pPr>
              <a:defRPr sz="1500" b="0">
                <a:solidFill>
                  <a:srgbClr val="173F2F"/>
                </a:solidFill>
                <a:latin typeface="Arial"/>
                <a:ea typeface="Arial"/>
                <a:cs typeface="Arial"/>
              </a:defRPr>
            </a:pPr>
            <a:r>
              <a:rPr sz="1500" b="0">
                <a:solidFill>
                  <a:srgbClr val="173F2F"/>
                </a:solidFill>
                <a:latin typeface="Arial"/>
                <a:ea typeface="Arial"/>
                <a:cs typeface="Arial"/>
              </a:rPr>
              <a:t>Tara y lecturas de consumo vía Bluetooth.</a:t>
            </a:r>
          </a:p>
        </p:txBody>
      </p:sp>
      <p:sp>
        <p:nvSpPr>
          <p:cNvPr id="13" name="F2/F5: enlazar datos y descontar recipiente.">
            <a:extLst xmlns:a="http://schemas.openxmlformats.org/drawingml/2006/main">
              <a:ext uri="{FF2B5EF4-FFF2-40B4-BE49-F238E27FC236}">
                <a16:creationId xmlns:a16="http://schemas.microsoft.com/office/drawing/2014/main" id="{3E0684F4-771A-4FDE-8A55-B27B4E4CE210}"/>
              </a:ext>
            </a:extLst>
          </p:cNvPr>
          <p:cNvSpPr>
            <a:spLocks xmlns:a="http://schemas.openxmlformats.org/drawingml/2006/main" noGrp="1"/>
          </p:cNvSpPr>
          <p:nvPr/>
        </p:nvSpPr>
        <p:spPr>
          <a:xfrm xmlns:a="http://schemas.openxmlformats.org/drawingml/2006/main">
            <a:off x="7439025" y="2476500"/>
            <a:ext cx="4124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AD6240"/>
                </a:solidFill>
                <a:latin typeface="Arial"/>
                <a:ea typeface="Arial"/>
                <a:cs typeface="Arial"/>
              </a:defRPr>
            </a:defPPr>
          </a:lstStyle>
          <a:p xmlns:a="http://schemas.openxmlformats.org/drawingml/2006/main">
            <a:pPr>
              <a:defRPr sz="1500" b="1">
                <a:solidFill>
                  <a:srgbClr val="AD6240"/>
                </a:solidFill>
                <a:latin typeface="Arial"/>
                <a:ea typeface="Arial"/>
                <a:cs typeface="Arial"/>
              </a:defRPr>
            </a:pPr>
            <a:r>
              <a:rPr sz="1500" b="1">
                <a:solidFill>
                  <a:srgbClr val="AD6240"/>
                </a:solidFill>
                <a:latin typeface="Arial"/>
                <a:ea typeface="Arial"/>
                <a:cs typeface="Arial"/>
              </a:rPr>
              <a:t>F2/F5: enlazar datos y descontar recipiente.</a:t>
            </a:r>
          </a:p>
        </p:txBody>
      </p:sp>
      <p:sp>
        <p:nvSpPr>
          <p:cNvPr id="14" name="Límite: servido y consumido no equivalen.">
            <a:extLst xmlns:a="http://schemas.openxmlformats.org/drawingml/2006/main">
              <a:ext uri="{FF2B5EF4-FFF2-40B4-BE49-F238E27FC236}">
                <a16:creationId xmlns:a16="http://schemas.microsoft.com/office/drawing/2014/main" id="{AEB2F3D3-F7FF-493C-83AA-D4E52631BD63}"/>
              </a:ext>
            </a:extLst>
          </p:cNvPr>
          <p:cNvSpPr>
            <a:spLocks xmlns:a="http://schemas.openxmlformats.org/drawingml/2006/main" noGrp="1"/>
          </p:cNvSpPr>
          <p:nvPr/>
        </p:nvSpPr>
        <p:spPr>
          <a:xfrm xmlns:a="http://schemas.openxmlformats.org/drawingml/2006/main">
            <a:off x="7439025" y="2847975"/>
            <a:ext cx="41243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77161"/>
                </a:solidFill>
                <a:latin typeface="Arial"/>
                <a:ea typeface="Arial"/>
                <a:cs typeface="Arial"/>
              </a:defRPr>
            </a:defPPr>
          </a:lstStyle>
          <a:p xmlns:a="http://schemas.openxmlformats.org/drawingml/2006/main">
            <a:pPr>
              <a:defRPr sz="1350" b="0">
                <a:solidFill>
                  <a:srgbClr val="577161"/>
                </a:solidFill>
                <a:latin typeface="Arial"/>
                <a:ea typeface="Arial"/>
                <a:cs typeface="Arial"/>
              </a:defRPr>
            </a:pPr>
            <a:r>
              <a:rPr sz="1350" b="0">
                <a:solidFill>
                  <a:srgbClr val="577161"/>
                </a:solidFill>
                <a:latin typeface="Arial"/>
                <a:ea typeface="Arial"/>
                <a:cs typeface="Arial"/>
              </a:rPr>
              <a:t>Límite: servido y consumido no equivalen.</a:t>
            </a:r>
          </a:p>
        </p:txBody>
      </p:sp>
      <p:pic>
        <p:nvPicPr>
          <p:cNvPr id="15" name="">
            <a:extLst xmlns:a="http://schemas.openxmlformats.org/drawingml/2006/main">
              <a:ext uri="{FF2B5EF4-FFF2-40B4-BE49-F238E27FC236}">
                <a16:creationId xmlns:a16="http://schemas.microsoft.com/office/drawing/2014/main" id="{6021946B-BFF9-42C4-870A-E05DADCD27E3}"/>
              </a:ext>
            </a:extLst>
          </p:cNvPr>
          <p:cNvPicPr>
            <a:picLocks xmlns:a="http://schemas.openxmlformats.org/drawingml/2006/main" noChangeAspect="1"/>
          </p:cNvPicPr>
          <p:nvPr/>
        </p:nvPicPr>
        <p:blipFill>
          <a:blip xmlns:r="http://schemas.openxmlformats.org/officeDocument/2006/relationships" xmlns:a="http://schemas.openxmlformats.org/drawingml/2006/main" r:embed="R62174a3055a2423e"/>
          <a:stretch xmlns:a="http://schemas.openxmlformats.org/drawingml/2006/main"/>
        </p:blipFill>
        <p:spPr>
          <a:xfrm xmlns:a="http://schemas.openxmlformats.org/drawingml/2006/main">
            <a:off x="766173" y="3390900"/>
            <a:ext cx="686979" cy="971550"/>
          </a:xfrm>
          <a:prstGeom xmlns:a="http://schemas.openxmlformats.org/drawingml/2006/main" prst="rect">
            <a:avLst/>
          </a:prstGeom>
        </p:spPr>
      </p:pic>
      <p:sp>
        <p:nvSpPr>
          <p:cNvPr id="16" name="WO2014008555A1 [6]">
            <a:extLst xmlns:a="http://schemas.openxmlformats.org/drawingml/2006/main">
              <a:ext uri="{FF2B5EF4-FFF2-40B4-BE49-F238E27FC236}">
                <a16:creationId xmlns:a16="http://schemas.microsoft.com/office/drawing/2014/main" id="{329ACC20-529A-4FBA-9B50-AD583B926B35}"/>
              </a:ext>
            </a:extLst>
          </p:cNvPr>
          <p:cNvSpPr>
            <a:spLocks xmlns:a="http://schemas.openxmlformats.org/drawingml/2006/main" noGrp="1"/>
          </p:cNvSpPr>
          <p:nvPr/>
        </p:nvSpPr>
        <p:spPr>
          <a:xfrm xmlns:a="http://schemas.openxmlformats.org/drawingml/2006/main">
            <a:off x="1800225" y="3105150"/>
            <a:ext cx="4124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WO2014008555A1 [6]</a:t>
            </a:r>
          </a:p>
        </p:txBody>
      </p:sp>
      <p:sp>
        <p:nvSpPr>
          <p:cNvPr id="17" name="Convierte referencia por 100 g a por gramo.">
            <a:extLst xmlns:a="http://schemas.openxmlformats.org/drawingml/2006/main">
              <a:ext uri="{FF2B5EF4-FFF2-40B4-BE49-F238E27FC236}">
                <a16:creationId xmlns:a16="http://schemas.microsoft.com/office/drawing/2014/main" id="{D97F57D8-C294-4EF1-A6F5-C76C5EF885C3}"/>
              </a:ext>
            </a:extLst>
          </p:cNvPr>
          <p:cNvSpPr>
            <a:spLocks xmlns:a="http://schemas.openxmlformats.org/drawingml/2006/main" noGrp="1"/>
          </p:cNvSpPr>
          <p:nvPr/>
        </p:nvSpPr>
        <p:spPr>
          <a:xfrm xmlns:a="http://schemas.openxmlformats.org/drawingml/2006/main">
            <a:off x="1800225" y="3448050"/>
            <a:ext cx="4124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73F2F"/>
                </a:solidFill>
                <a:latin typeface="Arial"/>
                <a:ea typeface="Arial"/>
                <a:cs typeface="Arial"/>
              </a:defRPr>
            </a:defPPr>
          </a:lstStyle>
          <a:p xmlns:a="http://schemas.openxmlformats.org/drawingml/2006/main">
            <a:pPr>
              <a:defRPr sz="1500" b="0">
                <a:solidFill>
                  <a:srgbClr val="173F2F"/>
                </a:solidFill>
                <a:latin typeface="Arial"/>
                <a:ea typeface="Arial"/>
                <a:cs typeface="Arial"/>
              </a:defRPr>
            </a:pPr>
            <a:r>
              <a:rPr sz="1500" b="0">
                <a:solidFill>
                  <a:srgbClr val="173F2F"/>
                </a:solidFill>
                <a:latin typeface="Arial"/>
                <a:ea typeface="Arial"/>
                <a:cs typeface="Arial"/>
              </a:rPr>
              <a:t>Convierte referencia por 100 g a por gramo.</a:t>
            </a:r>
          </a:p>
        </p:txBody>
      </p:sp>
      <p:sp>
        <p:nvSpPr>
          <p:cNvPr id="18" name="F8: escalar nutrientes según la masa.">
            <a:extLst xmlns:a="http://schemas.openxmlformats.org/drawingml/2006/main">
              <a:ext uri="{FF2B5EF4-FFF2-40B4-BE49-F238E27FC236}">
                <a16:creationId xmlns:a16="http://schemas.microsoft.com/office/drawing/2014/main" id="{B8463814-5E25-4F68-BB7B-6E3D449502CB}"/>
              </a:ext>
            </a:extLst>
          </p:cNvPr>
          <p:cNvSpPr>
            <a:spLocks xmlns:a="http://schemas.openxmlformats.org/drawingml/2006/main" noGrp="1"/>
          </p:cNvSpPr>
          <p:nvPr/>
        </p:nvSpPr>
        <p:spPr>
          <a:xfrm xmlns:a="http://schemas.openxmlformats.org/drawingml/2006/main">
            <a:off x="1800225" y="3838575"/>
            <a:ext cx="4124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AD6240"/>
                </a:solidFill>
                <a:latin typeface="Arial"/>
                <a:ea typeface="Arial"/>
                <a:cs typeface="Arial"/>
              </a:defRPr>
            </a:defPPr>
          </a:lstStyle>
          <a:p xmlns:a="http://schemas.openxmlformats.org/drawingml/2006/main">
            <a:pPr>
              <a:defRPr sz="1500" b="1">
                <a:solidFill>
                  <a:srgbClr val="AD6240"/>
                </a:solidFill>
                <a:latin typeface="Arial"/>
                <a:ea typeface="Arial"/>
                <a:cs typeface="Arial"/>
              </a:defRPr>
            </a:pPr>
            <a:r>
              <a:rPr sz="1500" b="1">
                <a:solidFill>
                  <a:srgbClr val="AD6240"/>
                </a:solidFill>
                <a:latin typeface="Arial"/>
                <a:ea typeface="Arial"/>
                <a:cs typeface="Arial"/>
              </a:rPr>
              <a:t>F8: escalar nutrientes según la masa.</a:t>
            </a:r>
          </a:p>
        </p:txBody>
      </p:sp>
      <p:sp>
        <p:nvSpPr>
          <p:cNvPr id="19" name="Límite: recomendaciones fuera del alcance.">
            <a:extLst xmlns:a="http://schemas.openxmlformats.org/drawingml/2006/main">
              <a:ext uri="{FF2B5EF4-FFF2-40B4-BE49-F238E27FC236}">
                <a16:creationId xmlns:a16="http://schemas.microsoft.com/office/drawing/2014/main" id="{A7A6DF07-BC15-409D-B329-16CBDDE51056}"/>
              </a:ext>
            </a:extLst>
          </p:cNvPr>
          <p:cNvSpPr>
            <a:spLocks xmlns:a="http://schemas.openxmlformats.org/drawingml/2006/main" noGrp="1"/>
          </p:cNvSpPr>
          <p:nvPr/>
        </p:nvSpPr>
        <p:spPr>
          <a:xfrm xmlns:a="http://schemas.openxmlformats.org/drawingml/2006/main">
            <a:off x="1800225" y="4210050"/>
            <a:ext cx="41243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77161"/>
                </a:solidFill>
                <a:latin typeface="Arial"/>
                <a:ea typeface="Arial"/>
                <a:cs typeface="Arial"/>
              </a:defRPr>
            </a:defPPr>
          </a:lstStyle>
          <a:p xmlns:a="http://schemas.openxmlformats.org/drawingml/2006/main">
            <a:pPr>
              <a:defRPr sz="1350" b="0">
                <a:solidFill>
                  <a:srgbClr val="577161"/>
                </a:solidFill>
                <a:latin typeface="Arial"/>
                <a:ea typeface="Arial"/>
                <a:cs typeface="Arial"/>
              </a:defRPr>
            </a:pPr>
            <a:r>
              <a:rPr sz="1350" b="0">
                <a:solidFill>
                  <a:srgbClr val="577161"/>
                </a:solidFill>
                <a:latin typeface="Arial"/>
                <a:ea typeface="Arial"/>
                <a:cs typeface="Arial"/>
              </a:rPr>
              <a:t>Límite: recomendaciones fuera del alcance.</a:t>
            </a:r>
          </a:p>
        </p:txBody>
      </p:sp>
      <p:pic>
        <p:nvPicPr>
          <p:cNvPr id="20" name="">
            <a:extLst xmlns:a="http://schemas.openxmlformats.org/drawingml/2006/main">
              <a:ext uri="{FF2B5EF4-FFF2-40B4-BE49-F238E27FC236}">
                <a16:creationId xmlns:a16="http://schemas.microsoft.com/office/drawing/2014/main" id="{7B318B6D-301F-46CB-8B01-5F105EBFD296}"/>
              </a:ext>
            </a:extLst>
          </p:cNvPr>
          <p:cNvPicPr>
            <a:picLocks xmlns:a="http://schemas.openxmlformats.org/drawingml/2006/main" noChangeAspect="1"/>
          </p:cNvPicPr>
          <p:nvPr/>
        </p:nvPicPr>
        <p:blipFill>
          <a:blip xmlns:r="http://schemas.openxmlformats.org/officeDocument/2006/relationships" xmlns:a="http://schemas.openxmlformats.org/drawingml/2006/main" r:embed="R0d3e5b6b8675407c"/>
          <a:stretch xmlns:a="http://schemas.openxmlformats.org/drawingml/2006/main"/>
        </p:blipFill>
        <p:spPr>
          <a:xfrm xmlns:a="http://schemas.openxmlformats.org/drawingml/2006/main">
            <a:off x="6210300" y="3529082"/>
            <a:ext cx="1076325" cy="695187"/>
          </a:xfrm>
          <a:prstGeom xmlns:a="http://schemas.openxmlformats.org/drawingml/2006/main" prst="rect">
            <a:avLst/>
          </a:prstGeom>
        </p:spPr>
      </p:pic>
      <p:sp>
        <p:nvSpPr>
          <p:cNvPr id="21" name="US8439683B2 [7]">
            <a:extLst xmlns:a="http://schemas.openxmlformats.org/drawingml/2006/main">
              <a:ext uri="{FF2B5EF4-FFF2-40B4-BE49-F238E27FC236}">
                <a16:creationId xmlns:a16="http://schemas.microsoft.com/office/drawing/2014/main" id="{F00EBFCD-131B-4C55-A1D3-ABE06B97FE56}"/>
              </a:ext>
            </a:extLst>
          </p:cNvPr>
          <p:cNvSpPr>
            <a:spLocks xmlns:a="http://schemas.openxmlformats.org/drawingml/2006/main" noGrp="1"/>
          </p:cNvSpPr>
          <p:nvPr/>
        </p:nvSpPr>
        <p:spPr>
          <a:xfrm xmlns:a="http://schemas.openxmlformats.org/drawingml/2006/main">
            <a:off x="7439025" y="3105150"/>
            <a:ext cx="4124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US8439683B2 [7]</a:t>
            </a:r>
          </a:p>
        </p:txBody>
      </p:sp>
      <p:sp>
        <p:nvSpPr>
          <p:cNvPr id="22" name="Imagen + voz/texto; varias tomas preferidas.">
            <a:extLst xmlns:a="http://schemas.openxmlformats.org/drawingml/2006/main">
              <a:ext uri="{FF2B5EF4-FFF2-40B4-BE49-F238E27FC236}">
                <a16:creationId xmlns:a16="http://schemas.microsoft.com/office/drawing/2014/main" id="{4F139669-5077-4F0B-BF65-3B86033249BF}"/>
              </a:ext>
            </a:extLst>
          </p:cNvPr>
          <p:cNvSpPr>
            <a:spLocks xmlns:a="http://schemas.openxmlformats.org/drawingml/2006/main" noGrp="1"/>
          </p:cNvSpPr>
          <p:nvPr/>
        </p:nvSpPr>
        <p:spPr>
          <a:xfrm xmlns:a="http://schemas.openxmlformats.org/drawingml/2006/main">
            <a:off x="7439025" y="3448050"/>
            <a:ext cx="4124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73F2F"/>
                </a:solidFill>
                <a:latin typeface="Arial"/>
                <a:ea typeface="Arial"/>
                <a:cs typeface="Arial"/>
              </a:defRPr>
            </a:defPPr>
          </a:lstStyle>
          <a:p xmlns:a="http://schemas.openxmlformats.org/drawingml/2006/main">
            <a:pPr>
              <a:defRPr sz="1500" b="0">
                <a:solidFill>
                  <a:srgbClr val="173F2F"/>
                </a:solidFill>
                <a:latin typeface="Arial"/>
                <a:ea typeface="Arial"/>
                <a:cs typeface="Arial"/>
              </a:defRPr>
            </a:pPr>
            <a:r>
              <a:rPr sz="1500" b="0">
                <a:solidFill>
                  <a:srgbClr val="173F2F"/>
                </a:solidFill>
                <a:latin typeface="Arial"/>
                <a:ea typeface="Arial"/>
                <a:cs typeface="Arial"/>
              </a:rPr>
              <a:t>Imagen + voz/texto; varias tomas preferidas.</a:t>
            </a:r>
          </a:p>
        </p:txBody>
      </p:sp>
      <p:sp>
        <p:nvSpPr>
          <p:cNvPr id="23" name="F6: aclarar identidad y preparación.">
            <a:extLst xmlns:a="http://schemas.openxmlformats.org/drawingml/2006/main">
              <a:ext uri="{FF2B5EF4-FFF2-40B4-BE49-F238E27FC236}">
                <a16:creationId xmlns:a16="http://schemas.microsoft.com/office/drawing/2014/main" id="{D3227F6C-CE94-4F3F-BFA6-59444DC45FD7}"/>
              </a:ext>
            </a:extLst>
          </p:cNvPr>
          <p:cNvSpPr>
            <a:spLocks xmlns:a="http://schemas.openxmlformats.org/drawingml/2006/main" noGrp="1"/>
          </p:cNvSpPr>
          <p:nvPr/>
        </p:nvSpPr>
        <p:spPr>
          <a:xfrm xmlns:a="http://schemas.openxmlformats.org/drawingml/2006/main">
            <a:off x="7439025" y="3838575"/>
            <a:ext cx="4124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AD6240"/>
                </a:solidFill>
                <a:latin typeface="Arial"/>
                <a:ea typeface="Arial"/>
                <a:cs typeface="Arial"/>
              </a:defRPr>
            </a:defPPr>
          </a:lstStyle>
          <a:p xmlns:a="http://schemas.openxmlformats.org/drawingml/2006/main">
            <a:pPr>
              <a:defRPr sz="1500" b="1">
                <a:solidFill>
                  <a:srgbClr val="AD6240"/>
                </a:solidFill>
                <a:latin typeface="Arial"/>
                <a:ea typeface="Arial"/>
                <a:cs typeface="Arial"/>
              </a:defRPr>
            </a:pPr>
            <a:r>
              <a:rPr sz="1500" b="1">
                <a:solidFill>
                  <a:srgbClr val="AD6240"/>
                </a:solidFill>
                <a:latin typeface="Arial"/>
                <a:ea typeface="Arial"/>
                <a:cs typeface="Arial"/>
              </a:rPr>
              <a:t>F6: aclarar identidad y preparación.</a:t>
            </a:r>
          </a:p>
        </p:txBody>
      </p:sp>
      <p:sp>
        <p:nvSpPr>
          <p:cNvPr id="24" name="Límite: más capturas aumentan el esfuerzo.">
            <a:extLst xmlns:a="http://schemas.openxmlformats.org/drawingml/2006/main">
              <a:ext uri="{FF2B5EF4-FFF2-40B4-BE49-F238E27FC236}">
                <a16:creationId xmlns:a16="http://schemas.microsoft.com/office/drawing/2014/main" id="{9FD951CF-3D6F-4FF0-A24D-D2EB18E316FE}"/>
              </a:ext>
            </a:extLst>
          </p:cNvPr>
          <p:cNvSpPr>
            <a:spLocks xmlns:a="http://schemas.openxmlformats.org/drawingml/2006/main" noGrp="1"/>
          </p:cNvSpPr>
          <p:nvPr/>
        </p:nvSpPr>
        <p:spPr>
          <a:xfrm xmlns:a="http://schemas.openxmlformats.org/drawingml/2006/main">
            <a:off x="7439025" y="4210050"/>
            <a:ext cx="41243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77161"/>
                </a:solidFill>
                <a:latin typeface="Arial"/>
                <a:ea typeface="Arial"/>
                <a:cs typeface="Arial"/>
              </a:defRPr>
            </a:defPPr>
          </a:lstStyle>
          <a:p xmlns:a="http://schemas.openxmlformats.org/drawingml/2006/main">
            <a:pPr>
              <a:defRPr sz="1350" b="0">
                <a:solidFill>
                  <a:srgbClr val="577161"/>
                </a:solidFill>
                <a:latin typeface="Arial"/>
                <a:ea typeface="Arial"/>
                <a:cs typeface="Arial"/>
              </a:defRPr>
            </a:pPr>
            <a:r>
              <a:rPr sz="1350" b="0">
                <a:solidFill>
                  <a:srgbClr val="577161"/>
                </a:solidFill>
                <a:latin typeface="Arial"/>
                <a:ea typeface="Arial"/>
                <a:cs typeface="Arial"/>
              </a:rPr>
              <a:t>Límite: más capturas aumentan el esfuerzo.</a:t>
            </a:r>
          </a:p>
        </p:txBody>
      </p:sp>
      <p:pic>
        <p:nvPicPr>
          <p:cNvPr id="25" name="">
            <a:extLst xmlns:a="http://schemas.openxmlformats.org/drawingml/2006/main">
              <a:ext uri="{FF2B5EF4-FFF2-40B4-BE49-F238E27FC236}">
                <a16:creationId xmlns:a16="http://schemas.microsoft.com/office/drawing/2014/main" id="{FBB978E1-B2ED-4AEE-AB3E-F572E953785E}"/>
              </a:ext>
            </a:extLst>
          </p:cNvPr>
          <p:cNvPicPr>
            <a:picLocks xmlns:a="http://schemas.openxmlformats.org/drawingml/2006/main" noChangeAspect="1"/>
          </p:cNvPicPr>
          <p:nvPr/>
        </p:nvPicPr>
        <p:blipFill>
          <a:blip xmlns:r="http://schemas.openxmlformats.org/officeDocument/2006/relationships" xmlns:a="http://schemas.openxmlformats.org/drawingml/2006/main" r:embed="R993a902c3bf64201"/>
          <a:stretch xmlns:a="http://schemas.openxmlformats.org/drawingml/2006/main"/>
        </p:blipFill>
        <p:spPr>
          <a:xfrm xmlns:a="http://schemas.openxmlformats.org/drawingml/2006/main">
            <a:off x="571500" y="4878557"/>
            <a:ext cx="1076325" cy="720386"/>
          </a:xfrm>
          <a:prstGeom xmlns:a="http://schemas.openxmlformats.org/drawingml/2006/main" prst="rect">
            <a:avLst/>
          </a:prstGeom>
        </p:spPr>
      </p:pic>
      <p:sp>
        <p:nvSpPr>
          <p:cNvPr id="26" name="US20140063180A1 [8]">
            <a:extLst xmlns:a="http://schemas.openxmlformats.org/drawingml/2006/main">
              <a:ext uri="{FF2B5EF4-FFF2-40B4-BE49-F238E27FC236}">
                <a16:creationId xmlns:a16="http://schemas.microsoft.com/office/drawing/2014/main" id="{DEA67947-D7EE-4CD9-9140-D75621F792D5}"/>
              </a:ext>
            </a:extLst>
          </p:cNvPr>
          <p:cNvSpPr>
            <a:spLocks xmlns:a="http://schemas.openxmlformats.org/drawingml/2006/main" noGrp="1"/>
          </p:cNvSpPr>
          <p:nvPr/>
        </p:nvSpPr>
        <p:spPr>
          <a:xfrm xmlns:a="http://schemas.openxmlformats.org/drawingml/2006/main">
            <a:off x="1800225" y="4467225"/>
            <a:ext cx="4124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US20140063180A1 [8]</a:t>
            </a:r>
          </a:p>
        </p:txBody>
      </p:sp>
      <p:sp>
        <p:nvSpPr>
          <p:cNvPr id="27" name="Balanza, conversión y conexión a la app.">
            <a:extLst xmlns:a="http://schemas.openxmlformats.org/drawingml/2006/main">
              <a:ext uri="{FF2B5EF4-FFF2-40B4-BE49-F238E27FC236}">
                <a16:creationId xmlns:a16="http://schemas.microsoft.com/office/drawing/2014/main" id="{2E74E1E7-B640-4C65-AFD8-FD1D6DB067D4}"/>
              </a:ext>
            </a:extLst>
          </p:cNvPr>
          <p:cNvSpPr>
            <a:spLocks xmlns:a="http://schemas.openxmlformats.org/drawingml/2006/main" noGrp="1"/>
          </p:cNvSpPr>
          <p:nvPr/>
        </p:nvSpPr>
        <p:spPr>
          <a:xfrm xmlns:a="http://schemas.openxmlformats.org/drawingml/2006/main">
            <a:off x="1800225" y="4810125"/>
            <a:ext cx="4124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73F2F"/>
                </a:solidFill>
                <a:latin typeface="Arial"/>
                <a:ea typeface="Arial"/>
                <a:cs typeface="Arial"/>
              </a:defRPr>
            </a:defPPr>
          </a:lstStyle>
          <a:p xmlns:a="http://schemas.openxmlformats.org/drawingml/2006/main">
            <a:pPr>
              <a:defRPr sz="1500" b="0">
                <a:solidFill>
                  <a:srgbClr val="173F2F"/>
                </a:solidFill>
                <a:latin typeface="Arial"/>
                <a:ea typeface="Arial"/>
                <a:cs typeface="Arial"/>
              </a:defRPr>
            </a:pPr>
            <a:r>
              <a:rPr sz="1500" b="0">
                <a:solidFill>
                  <a:srgbClr val="173F2F"/>
                </a:solidFill>
                <a:latin typeface="Arial"/>
                <a:ea typeface="Arial"/>
                <a:cs typeface="Arial"/>
              </a:rPr>
              <a:t>Balanza, conversión y conexión a la app.</a:t>
            </a:r>
          </a:p>
        </p:txBody>
      </p:sp>
      <p:sp>
        <p:nvSpPr>
          <p:cNvPr id="28" name="F2/F4: asociar peso, imagen y registro.">
            <a:extLst xmlns:a="http://schemas.openxmlformats.org/drawingml/2006/main">
              <a:ext uri="{FF2B5EF4-FFF2-40B4-BE49-F238E27FC236}">
                <a16:creationId xmlns:a16="http://schemas.microsoft.com/office/drawing/2014/main" id="{E92EBE3C-AC6B-41CA-A596-6C042C8CD8B4}"/>
              </a:ext>
            </a:extLst>
          </p:cNvPr>
          <p:cNvSpPr>
            <a:spLocks xmlns:a="http://schemas.openxmlformats.org/drawingml/2006/main" noGrp="1"/>
          </p:cNvSpPr>
          <p:nvPr/>
        </p:nvSpPr>
        <p:spPr>
          <a:xfrm xmlns:a="http://schemas.openxmlformats.org/drawingml/2006/main">
            <a:off x="1800225" y="5200650"/>
            <a:ext cx="4124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AD6240"/>
                </a:solidFill>
                <a:latin typeface="Arial"/>
                <a:ea typeface="Arial"/>
                <a:cs typeface="Arial"/>
              </a:defRPr>
            </a:defPPr>
          </a:lstStyle>
          <a:p xmlns:a="http://schemas.openxmlformats.org/drawingml/2006/main">
            <a:pPr>
              <a:defRPr sz="1500" b="1">
                <a:solidFill>
                  <a:srgbClr val="AD6240"/>
                </a:solidFill>
                <a:latin typeface="Arial"/>
                <a:ea typeface="Arial"/>
                <a:cs typeface="Arial"/>
              </a:defRPr>
            </a:pPr>
            <a:r>
              <a:rPr sz="1500" b="1">
                <a:solidFill>
                  <a:srgbClr val="AD6240"/>
                </a:solidFill>
                <a:latin typeface="Arial"/>
                <a:ea typeface="Arial"/>
                <a:cs typeface="Arial"/>
              </a:rPr>
              <a:t>F2/F4: asociar peso, imagen y registro.</a:t>
            </a:r>
          </a:p>
        </p:txBody>
      </p:sp>
      <p:sp>
        <p:nvSpPr>
          <p:cNvPr id="29" name="Límite: no declara precisión metrológica.">
            <a:extLst xmlns:a="http://schemas.openxmlformats.org/drawingml/2006/main">
              <a:ext uri="{FF2B5EF4-FFF2-40B4-BE49-F238E27FC236}">
                <a16:creationId xmlns:a16="http://schemas.microsoft.com/office/drawing/2014/main" id="{7D692E7F-A603-4767-8E87-76B2D3710F36}"/>
              </a:ext>
            </a:extLst>
          </p:cNvPr>
          <p:cNvSpPr>
            <a:spLocks xmlns:a="http://schemas.openxmlformats.org/drawingml/2006/main" noGrp="1"/>
          </p:cNvSpPr>
          <p:nvPr/>
        </p:nvSpPr>
        <p:spPr>
          <a:xfrm xmlns:a="http://schemas.openxmlformats.org/drawingml/2006/main">
            <a:off x="1800225" y="5572125"/>
            <a:ext cx="41243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77161"/>
                </a:solidFill>
                <a:latin typeface="Arial"/>
                <a:ea typeface="Arial"/>
                <a:cs typeface="Arial"/>
              </a:defRPr>
            </a:defPPr>
          </a:lstStyle>
          <a:p xmlns:a="http://schemas.openxmlformats.org/drawingml/2006/main">
            <a:pPr>
              <a:defRPr sz="1350" b="0">
                <a:solidFill>
                  <a:srgbClr val="577161"/>
                </a:solidFill>
                <a:latin typeface="Arial"/>
                <a:ea typeface="Arial"/>
                <a:cs typeface="Arial"/>
              </a:defRPr>
            </a:pPr>
            <a:r>
              <a:rPr sz="1350" b="0">
                <a:solidFill>
                  <a:srgbClr val="577161"/>
                </a:solidFill>
                <a:latin typeface="Arial"/>
                <a:ea typeface="Arial"/>
                <a:cs typeface="Arial"/>
              </a:rPr>
              <a:t>Límite: no declara precisión metrológica.</a:t>
            </a:r>
          </a:p>
        </p:txBody>
      </p:sp>
      <p:pic>
        <p:nvPicPr>
          <p:cNvPr id="30" name="">
            <a:extLst xmlns:a="http://schemas.openxmlformats.org/drawingml/2006/main">
              <a:ext uri="{FF2B5EF4-FFF2-40B4-BE49-F238E27FC236}">
                <a16:creationId xmlns:a16="http://schemas.microsoft.com/office/drawing/2014/main" id="{A8139022-E1ED-4D29-838B-F2BB5B5097DC}"/>
              </a:ext>
            </a:extLst>
          </p:cNvPr>
          <p:cNvPicPr>
            <a:picLocks xmlns:a="http://schemas.openxmlformats.org/drawingml/2006/main" noChangeAspect="1"/>
          </p:cNvPicPr>
          <p:nvPr/>
        </p:nvPicPr>
        <p:blipFill>
          <a:blip xmlns:r="http://schemas.openxmlformats.org/officeDocument/2006/relationships" xmlns:a="http://schemas.openxmlformats.org/drawingml/2006/main" r:embed="R2ab8bca559244c30"/>
          <a:stretch xmlns:a="http://schemas.openxmlformats.org/drawingml/2006/main"/>
        </p:blipFill>
        <p:spPr>
          <a:xfrm xmlns:a="http://schemas.openxmlformats.org/drawingml/2006/main">
            <a:off x="6405237" y="4752975"/>
            <a:ext cx="686451" cy="971550"/>
          </a:xfrm>
          <a:prstGeom xmlns:a="http://schemas.openxmlformats.org/drawingml/2006/main" prst="rect">
            <a:avLst/>
          </a:prstGeom>
        </p:spPr>
      </p:pic>
      <p:sp>
        <p:nvSpPr>
          <p:cNvPr id="31" name="CN108871530A [9]">
            <a:extLst xmlns:a="http://schemas.openxmlformats.org/drawingml/2006/main">
              <a:ext uri="{FF2B5EF4-FFF2-40B4-BE49-F238E27FC236}">
                <a16:creationId xmlns:a16="http://schemas.microsoft.com/office/drawing/2014/main" id="{43D2AF6F-9A8C-44C5-97B7-D880E08950CF}"/>
              </a:ext>
            </a:extLst>
          </p:cNvPr>
          <p:cNvSpPr>
            <a:spLocks xmlns:a="http://schemas.openxmlformats.org/drawingml/2006/main" noGrp="1"/>
          </p:cNvSpPr>
          <p:nvPr/>
        </p:nvSpPr>
        <p:spPr>
          <a:xfrm xmlns:a="http://schemas.openxmlformats.org/drawingml/2006/main">
            <a:off x="7439025" y="4467225"/>
            <a:ext cx="4124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CN108871530A [9]</a:t>
            </a:r>
          </a:p>
        </p:txBody>
      </p:sp>
      <p:sp>
        <p:nvSpPr>
          <p:cNvPr id="32" name="Identificación + peso + kcal por unidad.">
            <a:extLst xmlns:a="http://schemas.openxmlformats.org/drawingml/2006/main">
              <a:ext uri="{FF2B5EF4-FFF2-40B4-BE49-F238E27FC236}">
                <a16:creationId xmlns:a16="http://schemas.microsoft.com/office/drawing/2014/main" id="{CE2873CF-2F59-4D28-971F-6ED7B17C2F75}"/>
              </a:ext>
            </a:extLst>
          </p:cNvPr>
          <p:cNvSpPr>
            <a:spLocks xmlns:a="http://schemas.openxmlformats.org/drawingml/2006/main" noGrp="1"/>
          </p:cNvSpPr>
          <p:nvPr/>
        </p:nvSpPr>
        <p:spPr>
          <a:xfrm xmlns:a="http://schemas.openxmlformats.org/drawingml/2006/main">
            <a:off x="7439025" y="4810125"/>
            <a:ext cx="4124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73F2F"/>
                </a:solidFill>
                <a:latin typeface="Arial"/>
                <a:ea typeface="Arial"/>
                <a:cs typeface="Arial"/>
              </a:defRPr>
            </a:defPPr>
          </a:lstStyle>
          <a:p xmlns:a="http://schemas.openxmlformats.org/drawingml/2006/main">
            <a:pPr>
              <a:defRPr sz="1500" b="0">
                <a:solidFill>
                  <a:srgbClr val="173F2F"/>
                </a:solidFill>
                <a:latin typeface="Arial"/>
                <a:ea typeface="Arial"/>
                <a:cs typeface="Arial"/>
              </a:defRPr>
            </a:pPr>
            <a:r>
              <a:rPr sz="1500" b="0">
                <a:solidFill>
                  <a:srgbClr val="173F2F"/>
                </a:solidFill>
                <a:latin typeface="Arial"/>
                <a:ea typeface="Arial"/>
                <a:cs typeface="Arial"/>
              </a:rPr>
              <a:t>Identificación + peso + kcal por unidad.</a:t>
            </a:r>
          </a:p>
        </p:txBody>
      </p:sp>
      <p:sp>
        <p:nvSpPr>
          <p:cNvPr id="33" name="F5/F8: calcular con masa y densidad.">
            <a:extLst xmlns:a="http://schemas.openxmlformats.org/drawingml/2006/main">
              <a:ext uri="{FF2B5EF4-FFF2-40B4-BE49-F238E27FC236}">
                <a16:creationId xmlns:a16="http://schemas.microsoft.com/office/drawing/2014/main" id="{BC64DA8A-71F2-4FC7-B331-ED632852EEF4}"/>
              </a:ext>
            </a:extLst>
          </p:cNvPr>
          <p:cNvSpPr>
            <a:spLocks xmlns:a="http://schemas.openxmlformats.org/drawingml/2006/main" noGrp="1"/>
          </p:cNvSpPr>
          <p:nvPr/>
        </p:nvSpPr>
        <p:spPr>
          <a:xfrm xmlns:a="http://schemas.openxmlformats.org/drawingml/2006/main">
            <a:off x="7439025" y="5200650"/>
            <a:ext cx="4124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AD6240"/>
                </a:solidFill>
                <a:latin typeface="Arial"/>
                <a:ea typeface="Arial"/>
                <a:cs typeface="Arial"/>
              </a:defRPr>
            </a:defPPr>
          </a:lstStyle>
          <a:p xmlns:a="http://schemas.openxmlformats.org/drawingml/2006/main">
            <a:pPr>
              <a:defRPr sz="1500" b="1">
                <a:solidFill>
                  <a:srgbClr val="AD6240"/>
                </a:solidFill>
                <a:latin typeface="Arial"/>
                <a:ea typeface="Arial"/>
                <a:cs typeface="Arial"/>
              </a:defRPr>
            </a:pPr>
            <a:r>
              <a:rPr sz="1500" b="1">
                <a:solidFill>
                  <a:srgbClr val="AD6240"/>
                </a:solidFill>
                <a:latin typeface="Arial"/>
                <a:ea typeface="Arial"/>
                <a:cs typeface="Arial"/>
              </a:rPr>
              <a:t>F5/F8: calcular con masa y densidad.</a:t>
            </a:r>
          </a:p>
        </p:txBody>
      </p:sp>
      <p:sp>
        <p:nvSpPr>
          <p:cNvPr id="34" name="Límite: sin métricas de reconocimiento.">
            <a:extLst xmlns:a="http://schemas.openxmlformats.org/drawingml/2006/main">
              <a:ext uri="{FF2B5EF4-FFF2-40B4-BE49-F238E27FC236}">
                <a16:creationId xmlns:a16="http://schemas.microsoft.com/office/drawing/2014/main" id="{2AF4B893-AB68-44E3-92EE-EA5E2864F2E4}"/>
              </a:ext>
            </a:extLst>
          </p:cNvPr>
          <p:cNvSpPr>
            <a:spLocks xmlns:a="http://schemas.openxmlformats.org/drawingml/2006/main" noGrp="1"/>
          </p:cNvSpPr>
          <p:nvPr/>
        </p:nvSpPr>
        <p:spPr>
          <a:xfrm xmlns:a="http://schemas.openxmlformats.org/drawingml/2006/main">
            <a:off x="7439025" y="5572125"/>
            <a:ext cx="41243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77161"/>
                </a:solidFill>
                <a:latin typeface="Arial"/>
                <a:ea typeface="Arial"/>
                <a:cs typeface="Arial"/>
              </a:defRPr>
            </a:defPPr>
          </a:lstStyle>
          <a:p xmlns:a="http://schemas.openxmlformats.org/drawingml/2006/main">
            <a:pPr>
              <a:defRPr sz="1350" b="0">
                <a:solidFill>
                  <a:srgbClr val="577161"/>
                </a:solidFill>
                <a:latin typeface="Arial"/>
                <a:ea typeface="Arial"/>
                <a:cs typeface="Arial"/>
              </a:defRPr>
            </a:pPr>
            <a:r>
              <a:rPr sz="1350" b="0">
                <a:solidFill>
                  <a:srgbClr val="577161"/>
                </a:solidFill>
                <a:latin typeface="Arial"/>
                <a:ea typeface="Arial"/>
                <a:cs typeface="Arial"/>
              </a:rPr>
              <a:t>Límite: sin métricas de reconocimiento.</a:t>
            </a:r>
          </a:p>
        </p:txBody>
      </p:sp>
      <p:sp>
        <p:nvSpPr>
          <p:cNvPr id="35" name="Común al prototipo: masa + identidad + fuente + cá">
            <a:extLst xmlns:a="http://schemas.openxmlformats.org/drawingml/2006/main">
              <a:ext uri="{FF2B5EF4-FFF2-40B4-BE49-F238E27FC236}">
                <a16:creationId xmlns:a16="http://schemas.microsoft.com/office/drawing/2014/main" id="{55652E95-143F-4A78-BEA8-863FEBF4F194}"/>
              </a:ext>
            </a:extLst>
          </p:cNvPr>
          <p:cNvSpPr>
            <a:spLocks xmlns:a="http://schemas.openxmlformats.org/drawingml/2006/main" noGrp="1"/>
          </p:cNvSpPr>
          <p:nvPr/>
        </p:nvSpPr>
        <p:spPr>
          <a:xfrm xmlns:a="http://schemas.openxmlformats.org/drawingml/2006/main">
            <a:off x="571500" y="5981700"/>
            <a:ext cx="1104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Común al prototipo: masa + identidad + fuente + cálculo. La tara y la corrección evitan errores.</a:t>
            </a:r>
          </a:p>
        </p:txBody>
      </p:sp>
    </p:spTree>
    <p:extLst>
      <p:ext uri="{BB962C8B-B14F-4D97-AF65-F5344CB8AC3E}">
        <p14:creationId xmlns:p14="http://schemas.microsoft.com/office/powerpoint/2010/main" val="1764038859"/>
      </p:ext>
    </p:extLst>
  </p:cSld>
</p:sld>
</file>

<file path=ppt/slides/slide5.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1" name="2. Estado de la tecnología: tesis">
            <a:extLst xmlns:a="http://schemas.openxmlformats.org/drawingml/2006/main">
              <a:ext uri="{FF2B5EF4-FFF2-40B4-BE49-F238E27FC236}">
                <a16:creationId xmlns:a16="http://schemas.microsoft.com/office/drawing/2014/main" id="{A07DFECB-A223-48A0-8826-E3098C193CD8}"/>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2. Estado de la tecnología: tesis</a:t>
            </a:r>
          </a:p>
        </p:txBody>
      </p:sp>
      <p:sp>
        <p:nvSpPr>
          <p:cNvPr id="2" name="Tres antecedentes que aportan método, contexto per">
            <a:extLst xmlns:a="http://schemas.openxmlformats.org/drawingml/2006/main">
              <a:ext uri="{FF2B5EF4-FFF2-40B4-BE49-F238E27FC236}">
                <a16:creationId xmlns:a16="http://schemas.microsoft.com/office/drawing/2014/main" id="{305D252D-DB9A-4380-BB55-12189FF1116C}"/>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Tres antecedentes que aportan método, contexto peruano y validación.</a:t>
            </a:r>
          </a:p>
        </p:txBody>
      </p:sp>
      <p:sp>
        <p:nvSpPr>
          <p:cNvPr id="3" name="Fuentes [10], [11], [12]. Referencias al final.">
            <a:extLst xmlns:a="http://schemas.openxmlformats.org/drawingml/2006/main">
              <a:ext uri="{FF2B5EF4-FFF2-40B4-BE49-F238E27FC236}">
                <a16:creationId xmlns:a16="http://schemas.microsoft.com/office/drawing/2014/main" id="{CA234676-34ED-46B6-8D0B-8F82E018E2A0}"/>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[10], [11], [12]. Referencias al final.</a:t>
            </a:r>
          </a:p>
        </p:txBody>
      </p:sp>
      <p:sp>
        <p:nvSpPr>
          <p:cNvPr id="4" name="05">
            <a:extLst xmlns:a="http://schemas.openxmlformats.org/drawingml/2006/main">
              <a:ext uri="{FF2B5EF4-FFF2-40B4-BE49-F238E27FC236}">
                <a16:creationId xmlns:a16="http://schemas.microsoft.com/office/drawing/2014/main" id="{A1EE18AE-AC5E-47BA-8D05-F93CAE02362C}"/>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05</a:t>
            </a:r>
          </a:p>
        </p:txBody>
      </p:sp>
      <p:pic>
        <p:nvPicPr>
          <p:cNvPr id="5" name="">
            <a:extLst xmlns:a="http://schemas.openxmlformats.org/drawingml/2006/main">
              <a:ext uri="{FF2B5EF4-FFF2-40B4-BE49-F238E27FC236}">
                <a16:creationId xmlns:a16="http://schemas.microsoft.com/office/drawing/2014/main" id="{A9DF6D94-7469-4BA9-8EC5-02266175BDD4}"/>
              </a:ext>
            </a:extLst>
          </p:cNvPr>
          <p:cNvPicPr>
            <a:picLocks xmlns:a="http://schemas.openxmlformats.org/drawingml/2006/main" noChangeAspect="1"/>
          </p:cNvPicPr>
          <p:nvPr/>
        </p:nvPicPr>
        <p:blipFill>
          <a:blip xmlns:r="http://schemas.openxmlformats.org/officeDocument/2006/relationships" xmlns:a="http://schemas.openxmlformats.org/drawingml/2006/main" r:embed="R6a9a43ccc4714b93"/>
          <a:stretch xmlns:a="http://schemas.openxmlformats.org/drawingml/2006/main"/>
        </p:blipFill>
        <p:spPr>
          <a:xfrm xmlns:a="http://schemas.openxmlformats.org/drawingml/2006/main">
            <a:off x="1690952" y="1733550"/>
            <a:ext cx="1256771" cy="1628775"/>
          </a:xfrm>
          <a:prstGeom xmlns:a="http://schemas.openxmlformats.org/drawingml/2006/main" prst="rect">
            <a:avLst/>
          </a:prstGeom>
        </p:spPr>
      </p:pic>
      <p:sp>
        <p:nvSpPr>
          <p:cNvPr id="6" name="Fang, Purdue, 2019 [10]">
            <a:extLst xmlns:a="http://schemas.openxmlformats.org/drawingml/2006/main">
              <a:ext uri="{FF2B5EF4-FFF2-40B4-BE49-F238E27FC236}">
                <a16:creationId xmlns:a16="http://schemas.microsoft.com/office/drawing/2014/main" id="{68FCB479-AE33-4B1E-B918-A638144CF0A3}"/>
              </a:ext>
            </a:extLst>
          </p:cNvPr>
          <p:cNvSpPr>
            <a:spLocks xmlns:a="http://schemas.openxmlformats.org/drawingml/2006/main" noGrp="1"/>
          </p:cNvSpPr>
          <p:nvPr/>
        </p:nvSpPr>
        <p:spPr>
          <a:xfrm xmlns:a="http://schemas.openxmlformats.org/drawingml/2006/main">
            <a:off x="571500" y="3495675"/>
            <a:ext cx="34956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Fang, Purdue, 2019 [10]</a:t>
            </a:r>
          </a:p>
        </p:txBody>
      </p:sp>
      <p:sp>
        <p:nvSpPr>
          <p:cNvPr id="7" name="Imagen única, geometría, profundidad y estimación ">
            <a:extLst xmlns:a="http://schemas.openxmlformats.org/drawingml/2006/main">
              <a:ext uri="{FF2B5EF4-FFF2-40B4-BE49-F238E27FC236}">
                <a16:creationId xmlns:a16="http://schemas.microsoft.com/office/drawing/2014/main" id="{E705B4F6-0973-4E4D-AB6F-2F52C6B4BB92}"/>
              </a:ext>
            </a:extLst>
          </p:cNvPr>
          <p:cNvSpPr>
            <a:spLocks xmlns:a="http://schemas.openxmlformats.org/drawingml/2006/main" noGrp="1"/>
          </p:cNvSpPr>
          <p:nvPr/>
        </p:nvSpPr>
        <p:spPr>
          <a:xfrm xmlns:a="http://schemas.openxmlformats.org/drawingml/2006/main">
            <a:off x="571500" y="4133850"/>
            <a:ext cx="34956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Imagen única, geometría, profundidad y estimación energética. Error &lt; 6 % en una etapa.</a:t>
            </a:r>
          </a:p>
        </p:txBody>
      </p:sp>
      <p:sp>
        <p:nvSpPr>
          <p:cNvPr id="8" name="Relaciona imagen, volumen, masa y energía.">
            <a:extLst xmlns:a="http://schemas.openxmlformats.org/drawingml/2006/main">
              <a:ext uri="{FF2B5EF4-FFF2-40B4-BE49-F238E27FC236}">
                <a16:creationId xmlns:a16="http://schemas.microsoft.com/office/drawing/2014/main" id="{74B6FDAA-35E2-4D50-B611-C5A7FEE39489}"/>
              </a:ext>
            </a:extLst>
          </p:cNvPr>
          <p:cNvSpPr>
            <a:spLocks xmlns:a="http://schemas.openxmlformats.org/drawingml/2006/main" noGrp="1"/>
          </p:cNvSpPr>
          <p:nvPr/>
        </p:nvSpPr>
        <p:spPr>
          <a:xfrm xmlns:a="http://schemas.openxmlformats.org/drawingml/2006/main">
            <a:off x="571500" y="5124450"/>
            <a:ext cx="34956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Relaciona imagen, volumen, masa y energía.</a:t>
            </a:r>
          </a:p>
        </p:txBody>
      </p:sp>
      <p:sp>
        <p:nvSpPr>
          <p:cNvPr id="9" name="Supone identificación y segmentación correctas.">
            <a:extLst xmlns:a="http://schemas.openxmlformats.org/drawingml/2006/main">
              <a:ext uri="{FF2B5EF4-FFF2-40B4-BE49-F238E27FC236}">
                <a16:creationId xmlns:a16="http://schemas.microsoft.com/office/drawing/2014/main" id="{658CC1EF-0918-4A71-833E-826615A1E8DE}"/>
              </a:ext>
            </a:extLst>
          </p:cNvPr>
          <p:cNvSpPr>
            <a:spLocks xmlns:a="http://schemas.openxmlformats.org/drawingml/2006/main" noGrp="1"/>
          </p:cNvSpPr>
          <p:nvPr/>
        </p:nvSpPr>
        <p:spPr>
          <a:xfrm xmlns:a="http://schemas.openxmlformats.org/drawingml/2006/main">
            <a:off x="571500" y="5772150"/>
            <a:ext cx="3495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Supone identificación y segmentación correctas.</a:t>
            </a:r>
          </a:p>
        </p:txBody>
      </p:sp>
      <p:pic>
        <p:nvPicPr>
          <p:cNvPr id="10" name="">
            <a:extLst xmlns:a="http://schemas.openxmlformats.org/drawingml/2006/main">
              <a:ext uri="{FF2B5EF4-FFF2-40B4-BE49-F238E27FC236}">
                <a16:creationId xmlns:a16="http://schemas.microsoft.com/office/drawing/2014/main" id="{6D7F8C99-969C-460B-9B66-3A1AF8883DE7}"/>
              </a:ext>
            </a:extLst>
          </p:cNvPr>
          <p:cNvPicPr>
            <a:picLocks xmlns:a="http://schemas.openxmlformats.org/drawingml/2006/main" noChangeAspect="1"/>
          </p:cNvPicPr>
          <p:nvPr/>
        </p:nvPicPr>
        <p:blipFill>
          <a:blip xmlns:r="http://schemas.openxmlformats.org/officeDocument/2006/relationships" xmlns:a="http://schemas.openxmlformats.org/drawingml/2006/main" r:embed="R59d2b32b6aa64116"/>
          <a:stretch xmlns:a="http://schemas.openxmlformats.org/drawingml/2006/main"/>
        </p:blipFill>
        <p:spPr>
          <a:xfrm xmlns:a="http://schemas.openxmlformats.org/drawingml/2006/main">
            <a:off x="5525262" y="1733550"/>
            <a:ext cx="1151001" cy="1628775"/>
          </a:xfrm>
          <a:prstGeom xmlns:a="http://schemas.openxmlformats.org/drawingml/2006/main" prst="rect">
            <a:avLst/>
          </a:prstGeom>
        </p:spPr>
      </p:pic>
      <p:sp>
        <p:nvSpPr>
          <p:cNvPr id="11" name="Checkifood, PUCP, 2024 [11]">
            <a:extLst xmlns:a="http://schemas.openxmlformats.org/drawingml/2006/main">
              <a:ext uri="{FF2B5EF4-FFF2-40B4-BE49-F238E27FC236}">
                <a16:creationId xmlns:a16="http://schemas.microsoft.com/office/drawing/2014/main" id="{611B995C-EEB5-4064-82CD-1D6383EDF562}"/>
              </a:ext>
            </a:extLst>
          </p:cNvPr>
          <p:cNvSpPr>
            <a:spLocks xmlns:a="http://schemas.openxmlformats.org/drawingml/2006/main" noGrp="1"/>
          </p:cNvSpPr>
          <p:nvPr/>
        </p:nvSpPr>
        <p:spPr>
          <a:xfrm xmlns:a="http://schemas.openxmlformats.org/drawingml/2006/main">
            <a:off x="4352925" y="3495675"/>
            <a:ext cx="34956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Checkifood, PUCP, 2024 [11]</a:t>
            </a:r>
          </a:p>
        </p:txBody>
      </p:sp>
      <p:sp>
        <p:nvSpPr>
          <p:cNvPr id="12" name="Propuesta peruana para usuarios de 18–45 años. Fot">
            <a:extLst xmlns:a="http://schemas.openxmlformats.org/drawingml/2006/main">
              <a:ext uri="{FF2B5EF4-FFF2-40B4-BE49-F238E27FC236}">
                <a16:creationId xmlns:a16="http://schemas.microsoft.com/office/drawing/2014/main" id="{CC4FCF5F-2F7F-4A22-923B-9400A567E8AE}"/>
              </a:ext>
            </a:extLst>
          </p:cNvPr>
          <p:cNvSpPr>
            <a:spLocks xmlns:a="http://schemas.openxmlformats.org/drawingml/2006/main" noGrp="1"/>
          </p:cNvSpPr>
          <p:nvPr/>
        </p:nvSpPr>
        <p:spPr>
          <a:xfrm xmlns:a="http://schemas.openxmlformats.org/drawingml/2006/main">
            <a:off x="4352925" y="4133850"/>
            <a:ext cx="34956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Propuesta peruana para usuarios de 18–45 años. Fotografía y machine learning.</a:t>
            </a:r>
          </a:p>
        </p:txBody>
      </p:sp>
      <p:sp>
        <p:nvSpPr>
          <p:cNvPr id="13" name="Sustenta interacción sencilla y contexto local.">
            <a:extLst xmlns:a="http://schemas.openxmlformats.org/drawingml/2006/main">
              <a:ext uri="{FF2B5EF4-FFF2-40B4-BE49-F238E27FC236}">
                <a16:creationId xmlns:a16="http://schemas.microsoft.com/office/drawing/2014/main" id="{C2635495-2124-4839-8696-E680B71D891E}"/>
              </a:ext>
            </a:extLst>
          </p:cNvPr>
          <p:cNvSpPr>
            <a:spLocks xmlns:a="http://schemas.openxmlformats.org/drawingml/2006/main" noGrp="1"/>
          </p:cNvSpPr>
          <p:nvPr/>
        </p:nvSpPr>
        <p:spPr>
          <a:xfrm xmlns:a="http://schemas.openxmlformats.org/drawingml/2006/main">
            <a:off x="4352925" y="5124450"/>
            <a:ext cx="34956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Sustenta interacción sencilla y contexto local.</a:t>
            </a:r>
          </a:p>
        </p:txBody>
      </p:sp>
      <p:sp>
        <p:nvSpPr>
          <p:cNvPr id="14" name="La ficha no informa error en gramos ni exactitud.">
            <a:extLst xmlns:a="http://schemas.openxmlformats.org/drawingml/2006/main">
              <a:ext uri="{FF2B5EF4-FFF2-40B4-BE49-F238E27FC236}">
                <a16:creationId xmlns:a16="http://schemas.microsoft.com/office/drawing/2014/main" id="{76CD6358-A5DB-47FD-82D6-2DDBFE205032}"/>
              </a:ext>
            </a:extLst>
          </p:cNvPr>
          <p:cNvSpPr>
            <a:spLocks xmlns:a="http://schemas.openxmlformats.org/drawingml/2006/main" noGrp="1"/>
          </p:cNvSpPr>
          <p:nvPr/>
        </p:nvSpPr>
        <p:spPr>
          <a:xfrm xmlns:a="http://schemas.openxmlformats.org/drawingml/2006/main">
            <a:off x="4352925" y="5772150"/>
            <a:ext cx="3495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La ficha no informa error en gramos ni exactitud.</a:t>
            </a:r>
          </a:p>
        </p:txBody>
      </p:sp>
      <p:pic>
        <p:nvPicPr>
          <p:cNvPr id="15" name="">
            <a:extLst xmlns:a="http://schemas.openxmlformats.org/drawingml/2006/main">
              <a:ext uri="{FF2B5EF4-FFF2-40B4-BE49-F238E27FC236}">
                <a16:creationId xmlns:a16="http://schemas.microsoft.com/office/drawing/2014/main" id="{A3BEA7ED-0679-4F82-B0DF-61EFFAEDBA69}"/>
              </a:ext>
            </a:extLst>
          </p:cNvPr>
          <p:cNvPicPr>
            <a:picLocks xmlns:a="http://schemas.openxmlformats.org/drawingml/2006/main" noChangeAspect="1"/>
          </p:cNvPicPr>
          <p:nvPr/>
        </p:nvPicPr>
        <p:blipFill>
          <a:blip xmlns:r="http://schemas.openxmlformats.org/officeDocument/2006/relationships" xmlns:a="http://schemas.openxmlformats.org/drawingml/2006/main" r:embed="Re1d191159b264f08"/>
          <a:stretch xmlns:a="http://schemas.openxmlformats.org/drawingml/2006/main"/>
        </p:blipFill>
        <p:spPr>
          <a:xfrm xmlns:a="http://schemas.openxmlformats.org/drawingml/2006/main">
            <a:off x="9306119" y="1733550"/>
            <a:ext cx="1152137" cy="1628775"/>
          </a:xfrm>
          <a:prstGeom xmlns:a="http://schemas.openxmlformats.org/drawingml/2006/main" prst="rect">
            <a:avLst/>
          </a:prstGeom>
        </p:spPr>
      </p:pic>
      <p:sp>
        <p:nvSpPr>
          <p:cNvPr id="16" name="IPD, UPC, 2019 [12]">
            <a:extLst xmlns:a="http://schemas.openxmlformats.org/drawingml/2006/main">
              <a:ext uri="{FF2B5EF4-FFF2-40B4-BE49-F238E27FC236}">
                <a16:creationId xmlns:a16="http://schemas.microsoft.com/office/drawing/2014/main" id="{BBE3BA3A-6AB0-43BA-8B5C-9DEB9E2BD966}"/>
              </a:ext>
            </a:extLst>
          </p:cNvPr>
          <p:cNvSpPr>
            <a:spLocks xmlns:a="http://schemas.openxmlformats.org/drawingml/2006/main" noGrp="1"/>
          </p:cNvSpPr>
          <p:nvPr/>
        </p:nvSpPr>
        <p:spPr>
          <a:xfrm xmlns:a="http://schemas.openxmlformats.org/drawingml/2006/main">
            <a:off x="8134350" y="3495675"/>
            <a:ext cx="34956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IPD, UPC, 2019 [12]</a:t>
            </a:r>
          </a:p>
        </p:txBody>
      </p:sp>
      <p:sp>
        <p:nvSpPr>
          <p:cNvPr id="17" name="30 deportistas durante una semana. Peso servido y ">
            <a:extLst xmlns:a="http://schemas.openxmlformats.org/drawingml/2006/main">
              <a:ext uri="{FF2B5EF4-FFF2-40B4-BE49-F238E27FC236}">
                <a16:creationId xmlns:a16="http://schemas.microsoft.com/office/drawing/2014/main" id="{843C507C-CBA8-4943-87DC-423F4F28FB47}"/>
              </a:ext>
            </a:extLst>
          </p:cNvPr>
          <p:cNvSpPr>
            <a:spLocks xmlns:a="http://schemas.openxmlformats.org/drawingml/2006/main" noGrp="1"/>
          </p:cNvSpPr>
          <p:nvPr/>
        </p:nvSpPr>
        <p:spPr>
          <a:xfrm xmlns:a="http://schemas.openxmlformats.org/drawingml/2006/main">
            <a:off x="8134350" y="4133850"/>
            <a:ext cx="34956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30 deportistas durante una semana. Peso servido y consumido, energía y macros.</a:t>
            </a:r>
          </a:p>
        </p:txBody>
      </p:sp>
      <p:sp>
        <p:nvSpPr>
          <p:cNvPr id="18" name="Sustenta validar contra pesajes de referencia.">
            <a:extLst xmlns:a="http://schemas.openxmlformats.org/drawingml/2006/main">
              <a:ext uri="{FF2B5EF4-FFF2-40B4-BE49-F238E27FC236}">
                <a16:creationId xmlns:a16="http://schemas.microsoft.com/office/drawing/2014/main" id="{22D93F33-EFDE-49D0-B0D2-AA1D5D3047F7}"/>
              </a:ext>
            </a:extLst>
          </p:cNvPr>
          <p:cNvSpPr>
            <a:spLocks xmlns:a="http://schemas.openxmlformats.org/drawingml/2006/main" noGrp="1"/>
          </p:cNvSpPr>
          <p:nvPr/>
        </p:nvSpPr>
        <p:spPr>
          <a:xfrm xmlns:a="http://schemas.openxmlformats.org/drawingml/2006/main">
            <a:off x="8134350" y="5124450"/>
            <a:ext cx="34956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Sustenta validar contra pesajes de referencia.</a:t>
            </a:r>
          </a:p>
        </p:txBody>
      </p:sp>
      <p:sp>
        <p:nvSpPr>
          <p:cNvPr id="19" name="Su muestra no reemplaza nuestras 30 porciones.">
            <a:extLst xmlns:a="http://schemas.openxmlformats.org/drawingml/2006/main">
              <a:ext uri="{FF2B5EF4-FFF2-40B4-BE49-F238E27FC236}">
                <a16:creationId xmlns:a16="http://schemas.microsoft.com/office/drawing/2014/main" id="{CA6429AC-2DC9-4E9A-B4FD-F1454F12909E}"/>
              </a:ext>
            </a:extLst>
          </p:cNvPr>
          <p:cNvSpPr>
            <a:spLocks xmlns:a="http://schemas.openxmlformats.org/drawingml/2006/main" noGrp="1"/>
          </p:cNvSpPr>
          <p:nvPr/>
        </p:nvSpPr>
        <p:spPr>
          <a:xfrm xmlns:a="http://schemas.openxmlformats.org/drawingml/2006/main">
            <a:off x="8134350" y="5772150"/>
            <a:ext cx="3495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Su muestra no reemplaza nuestras 30 porciones.</a:t>
            </a:r>
          </a:p>
        </p:txBody>
      </p:sp>
      <p:sp>
        <p:nvSpPr>
          <p:cNvPr id="20" name="Factor común: contexto del usuario + cantidad de r">
            <a:extLst xmlns:a="http://schemas.openxmlformats.org/drawingml/2006/main">
              <a:ext uri="{FF2B5EF4-FFF2-40B4-BE49-F238E27FC236}">
                <a16:creationId xmlns:a16="http://schemas.microsoft.com/office/drawing/2014/main" id="{42189B72-709A-4503-9A77-76CA8CC40DD9}"/>
              </a:ext>
            </a:extLst>
          </p:cNvPr>
          <p:cNvSpPr>
            <a:spLocks xmlns:a="http://schemas.openxmlformats.org/drawingml/2006/main" noGrp="1"/>
          </p:cNvSpPr>
          <p:nvPr/>
        </p:nvSpPr>
        <p:spPr>
          <a:xfrm xmlns:a="http://schemas.openxmlformats.org/drawingml/2006/main">
            <a:off x="571500" y="62007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Factor común: contexto del usuario + cantidad de referencia + validación propia de LE20.</a:t>
            </a:r>
          </a:p>
        </p:txBody>
      </p:sp>
    </p:spTree>
    <p:extLst>
      <p:ext uri="{BB962C8B-B14F-4D97-AF65-F5344CB8AC3E}">
        <p14:creationId xmlns:p14="http://schemas.microsoft.com/office/powerpoint/2010/main" val="1348180918"/>
      </p:ext>
    </p:extLst>
  </p:cSld>
</p:sld>
</file>

<file path=ppt/slides/slide6.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1" name="2. Estado de la tecnología: productos">
            <a:extLst xmlns:a="http://schemas.openxmlformats.org/drawingml/2006/main">
              <a:ext uri="{FF2B5EF4-FFF2-40B4-BE49-F238E27FC236}">
                <a16:creationId xmlns:a16="http://schemas.microsoft.com/office/drawing/2014/main" id="{499360E7-8A3F-4616-8E19-695EB64A7A9B}"/>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2. Estado de la tecnología: productos</a:t>
            </a:r>
          </a:p>
        </p:txBody>
      </p:sp>
      <p:sp>
        <p:nvSpPr>
          <p:cNvPr id="2" name="Tres referencias comerciales. Funciones útiles y l">
            <a:extLst xmlns:a="http://schemas.openxmlformats.org/drawingml/2006/main">
              <a:ext uri="{FF2B5EF4-FFF2-40B4-BE49-F238E27FC236}">
                <a16:creationId xmlns:a16="http://schemas.microsoft.com/office/drawing/2014/main" id="{45F75392-3501-40C4-B9D7-68EAF49F8FD9}"/>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Tres referencias comerciales. Funciones útiles y límites de sus afirmaciones.</a:t>
            </a:r>
          </a:p>
        </p:txBody>
      </p:sp>
      <p:sp>
        <p:nvSpPr>
          <p:cNvPr id="3" name="Fuentes [13], [14], [15]. Referencias al final.">
            <a:extLst xmlns:a="http://schemas.openxmlformats.org/drawingml/2006/main">
              <a:ext uri="{FF2B5EF4-FFF2-40B4-BE49-F238E27FC236}">
                <a16:creationId xmlns:a16="http://schemas.microsoft.com/office/drawing/2014/main" id="{5934F734-CD96-4CF8-A801-20EC321B9B8C}"/>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[13], [14], [15]. Referencias al final.</a:t>
            </a:r>
          </a:p>
        </p:txBody>
      </p:sp>
      <p:sp>
        <p:nvSpPr>
          <p:cNvPr id="4" name="06">
            <a:extLst xmlns:a="http://schemas.openxmlformats.org/drawingml/2006/main">
              <a:ext uri="{FF2B5EF4-FFF2-40B4-BE49-F238E27FC236}">
                <a16:creationId xmlns:a16="http://schemas.microsoft.com/office/drawing/2014/main" id="{727594FB-5BCE-4AC8-A179-8538D35D75BE}"/>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06</a:t>
            </a:r>
          </a:p>
        </p:txBody>
      </p:sp>
      <p:pic>
        <p:nvPicPr>
          <p:cNvPr id="5" name="">
            <a:extLst xmlns:a="http://schemas.openxmlformats.org/drawingml/2006/main">
              <a:ext uri="{FF2B5EF4-FFF2-40B4-BE49-F238E27FC236}">
                <a16:creationId xmlns:a16="http://schemas.microsoft.com/office/drawing/2014/main" id="{BF28816D-4266-49E2-8B04-F6A4F519C3FE}"/>
              </a:ext>
            </a:extLst>
          </p:cNvPr>
          <p:cNvPicPr>
            <a:picLocks xmlns:a="http://schemas.openxmlformats.org/drawingml/2006/main" noChangeAspect="1"/>
          </p:cNvPicPr>
          <p:nvPr/>
        </p:nvPicPr>
        <p:blipFill>
          <a:blip xmlns:r="http://schemas.openxmlformats.org/officeDocument/2006/relationships" xmlns:a="http://schemas.openxmlformats.org/drawingml/2006/main" r:embed="Rb60bec5bcbf34a32"/>
          <a:stretch xmlns:a="http://schemas.openxmlformats.org/drawingml/2006/main"/>
        </p:blipFill>
        <p:spPr>
          <a:xfrm xmlns:a="http://schemas.openxmlformats.org/drawingml/2006/main">
            <a:off x="1414463" y="1724025"/>
            <a:ext cx="1809750" cy="1809750"/>
          </a:xfrm>
          <a:prstGeom xmlns:a="http://schemas.openxmlformats.org/drawingml/2006/main" prst="rect">
            <a:avLst/>
          </a:prstGeom>
        </p:spPr>
      </p:pic>
      <p:sp>
        <p:nvSpPr>
          <p:cNvPr id="6" name="Etekcity ESN00 [13]">
            <a:extLst xmlns:a="http://schemas.openxmlformats.org/drawingml/2006/main">
              <a:ext uri="{FF2B5EF4-FFF2-40B4-BE49-F238E27FC236}">
                <a16:creationId xmlns:a16="http://schemas.microsoft.com/office/drawing/2014/main" id="{54C3B761-29BB-4447-896A-4C4E013058DB}"/>
              </a:ext>
            </a:extLst>
          </p:cNvPr>
          <p:cNvSpPr>
            <a:spLocks xmlns:a="http://schemas.openxmlformats.org/drawingml/2006/main" noGrp="1"/>
          </p:cNvSpPr>
          <p:nvPr/>
        </p:nvSpPr>
        <p:spPr>
          <a:xfrm xmlns:a="http://schemas.openxmlformats.org/drawingml/2006/main">
            <a:off x="571500" y="3638550"/>
            <a:ext cx="3495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Etekcity ESN00 [13]</a:t>
            </a:r>
          </a:p>
        </p:txBody>
      </p:sp>
      <p:sp>
        <p:nvSpPr>
          <p:cNvPr id="7" name="3–5000 g; incremento de 1 g. VeSync, 19 nutrientes">
            <a:extLst xmlns:a="http://schemas.openxmlformats.org/drawingml/2006/main">
              <a:ext uri="{FF2B5EF4-FFF2-40B4-BE49-F238E27FC236}">
                <a16:creationId xmlns:a16="http://schemas.microsoft.com/office/drawing/2014/main" id="{FEFC7375-2F58-462A-B38C-AA2D44C98804}"/>
              </a:ext>
            </a:extLst>
          </p:cNvPr>
          <p:cNvSpPr>
            <a:spLocks xmlns:a="http://schemas.openxmlformats.org/drawingml/2006/main" noGrp="1"/>
          </p:cNvSpPr>
          <p:nvPr/>
        </p:nvSpPr>
        <p:spPr>
          <a:xfrm xmlns:a="http://schemas.openxmlformats.org/drawingml/2006/main">
            <a:off x="571500" y="4133850"/>
            <a:ext cx="34956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3–5000 g; incremento de 1 g. VeSync, 19 nutrientes y selección del alimento.</a:t>
            </a:r>
          </a:p>
        </p:txBody>
      </p:sp>
      <p:sp>
        <p:nvSpPr>
          <p:cNvPr id="8" name="Pesaje, tara y base nutricional conectada.">
            <a:extLst xmlns:a="http://schemas.openxmlformats.org/drawingml/2006/main">
              <a:ext uri="{FF2B5EF4-FFF2-40B4-BE49-F238E27FC236}">
                <a16:creationId xmlns:a16="http://schemas.microsoft.com/office/drawing/2014/main" id="{88BBC8BD-612C-48B9-8DCC-23240D1527C7}"/>
              </a:ext>
            </a:extLst>
          </p:cNvPr>
          <p:cNvSpPr>
            <a:spLocks xmlns:a="http://schemas.openxmlformats.org/drawingml/2006/main" noGrp="1"/>
          </p:cNvSpPr>
          <p:nvPr/>
        </p:nvSpPr>
        <p:spPr>
          <a:xfrm xmlns:a="http://schemas.openxmlformats.org/drawingml/2006/main">
            <a:off x="571500" y="5048250"/>
            <a:ext cx="34956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Pesaje, tara y base nutricional conectada.</a:t>
            </a:r>
          </a:p>
        </p:txBody>
      </p:sp>
      <p:sp>
        <p:nvSpPr>
          <p:cNvPr id="9" name="Incremento de 1 g no acredita exactitud ±1 g.">
            <a:extLst xmlns:a="http://schemas.openxmlformats.org/drawingml/2006/main">
              <a:ext uri="{FF2B5EF4-FFF2-40B4-BE49-F238E27FC236}">
                <a16:creationId xmlns:a16="http://schemas.microsoft.com/office/drawing/2014/main" id="{48322C85-607C-4466-A02A-686149C397AB}"/>
              </a:ext>
            </a:extLst>
          </p:cNvPr>
          <p:cNvSpPr>
            <a:spLocks xmlns:a="http://schemas.openxmlformats.org/drawingml/2006/main" noGrp="1"/>
          </p:cNvSpPr>
          <p:nvPr/>
        </p:nvSpPr>
        <p:spPr>
          <a:xfrm xmlns:a="http://schemas.openxmlformats.org/drawingml/2006/main">
            <a:off x="571500" y="5724525"/>
            <a:ext cx="34956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Incremento de 1 g no acredita exactitud ±1 g.</a:t>
            </a:r>
          </a:p>
        </p:txBody>
      </p:sp>
      <p:pic>
        <p:nvPicPr>
          <p:cNvPr id="10" name="">
            <a:extLst xmlns:a="http://schemas.openxmlformats.org/drawingml/2006/main">
              <a:ext uri="{FF2B5EF4-FFF2-40B4-BE49-F238E27FC236}">
                <a16:creationId xmlns:a16="http://schemas.microsoft.com/office/drawing/2014/main" id="{760EF964-0FC1-4AE8-81DB-A204CED71440}"/>
              </a:ext>
            </a:extLst>
          </p:cNvPr>
          <p:cNvPicPr>
            <a:picLocks xmlns:a="http://schemas.openxmlformats.org/drawingml/2006/main" noChangeAspect="1"/>
          </p:cNvPicPr>
          <p:nvPr/>
        </p:nvPicPr>
        <p:blipFill>
          <a:blip xmlns:r="http://schemas.openxmlformats.org/officeDocument/2006/relationships" xmlns:a="http://schemas.openxmlformats.org/drawingml/2006/main" r:embed="R5e697392d7ff42eb"/>
          <a:stretch xmlns:a="http://schemas.openxmlformats.org/drawingml/2006/main"/>
        </p:blipFill>
        <p:spPr>
          <a:xfrm xmlns:a="http://schemas.openxmlformats.org/drawingml/2006/main">
            <a:off x="5683332" y="1724025"/>
            <a:ext cx="834860" cy="1809750"/>
          </a:xfrm>
          <a:prstGeom xmlns:a="http://schemas.openxmlformats.org/drawingml/2006/main" prst="rect">
            <a:avLst/>
          </a:prstGeom>
        </p:spPr>
      </p:pic>
      <p:sp>
        <p:nvSpPr>
          <p:cNvPr id="11" name="Fitia [14]">
            <a:extLst xmlns:a="http://schemas.openxmlformats.org/drawingml/2006/main">
              <a:ext uri="{FF2B5EF4-FFF2-40B4-BE49-F238E27FC236}">
                <a16:creationId xmlns:a16="http://schemas.microsoft.com/office/drawing/2014/main" id="{E5BE3051-812C-4F4F-A842-B228CEDF9D44}"/>
              </a:ext>
            </a:extLst>
          </p:cNvPr>
          <p:cNvSpPr>
            <a:spLocks xmlns:a="http://schemas.openxmlformats.org/drawingml/2006/main" noGrp="1"/>
          </p:cNvSpPr>
          <p:nvPr/>
        </p:nvSpPr>
        <p:spPr>
          <a:xfrm xmlns:a="http://schemas.openxmlformats.org/drawingml/2006/main">
            <a:off x="4352925" y="3638550"/>
            <a:ext cx="3495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Fitia [14]</a:t>
            </a:r>
          </a:p>
        </p:txBody>
      </p:sp>
      <p:sp>
        <p:nvSpPr>
          <p:cNvPr id="12" name="Foto, voz, texto y código de barras. Registro, aju">
            <a:extLst xmlns:a="http://schemas.openxmlformats.org/drawingml/2006/main">
              <a:ext uri="{FF2B5EF4-FFF2-40B4-BE49-F238E27FC236}">
                <a16:creationId xmlns:a16="http://schemas.microsoft.com/office/drawing/2014/main" id="{92DF0277-F0CF-475D-8E0D-CB99191D9FDF}"/>
              </a:ext>
            </a:extLst>
          </p:cNvPr>
          <p:cNvSpPr>
            <a:spLocks xmlns:a="http://schemas.openxmlformats.org/drawingml/2006/main" noGrp="1"/>
          </p:cNvSpPr>
          <p:nvPr/>
        </p:nvSpPr>
        <p:spPr>
          <a:xfrm xmlns:a="http://schemas.openxmlformats.org/drawingml/2006/main">
            <a:off x="4352925" y="4133850"/>
            <a:ext cx="34956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Foto, voz, texto y código de barras. Registro, ajustes de porción y macros.</a:t>
            </a:r>
          </a:p>
        </p:txBody>
      </p:sp>
      <p:sp>
        <p:nvSpPr>
          <p:cNvPr id="13" name="Entradas flexibles y corrección del usuario.">
            <a:extLst xmlns:a="http://schemas.openxmlformats.org/drawingml/2006/main">
              <a:ext uri="{FF2B5EF4-FFF2-40B4-BE49-F238E27FC236}">
                <a16:creationId xmlns:a16="http://schemas.microsoft.com/office/drawing/2014/main" id="{A3AD2088-F5E5-4467-9FF3-7732DE357D31}"/>
              </a:ext>
            </a:extLst>
          </p:cNvPr>
          <p:cNvSpPr>
            <a:spLocks xmlns:a="http://schemas.openxmlformats.org/drawingml/2006/main" noGrp="1"/>
          </p:cNvSpPr>
          <p:nvPr/>
        </p:nvSpPr>
        <p:spPr>
          <a:xfrm xmlns:a="http://schemas.openxmlformats.org/drawingml/2006/main">
            <a:off x="4352925" y="5048250"/>
            <a:ext cx="34956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Entradas flexibles y corrección del usuario.</a:t>
            </a:r>
          </a:p>
        </p:txBody>
      </p:sp>
      <p:sp>
        <p:nvSpPr>
          <p:cNvPr id="14" name="Sin error en gramos publicado en la fuente.">
            <a:extLst xmlns:a="http://schemas.openxmlformats.org/drawingml/2006/main">
              <a:ext uri="{FF2B5EF4-FFF2-40B4-BE49-F238E27FC236}">
                <a16:creationId xmlns:a16="http://schemas.microsoft.com/office/drawing/2014/main" id="{1CA4B1CA-C8FD-4D9B-BAF6-99F74092B382}"/>
              </a:ext>
            </a:extLst>
          </p:cNvPr>
          <p:cNvSpPr>
            <a:spLocks xmlns:a="http://schemas.openxmlformats.org/drawingml/2006/main" noGrp="1"/>
          </p:cNvSpPr>
          <p:nvPr/>
        </p:nvSpPr>
        <p:spPr>
          <a:xfrm xmlns:a="http://schemas.openxmlformats.org/drawingml/2006/main">
            <a:off x="4352925" y="5724525"/>
            <a:ext cx="34956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Sin error en gramos publicado en la fuente.</a:t>
            </a:r>
          </a:p>
        </p:txBody>
      </p:sp>
      <p:pic>
        <p:nvPicPr>
          <p:cNvPr id="15" name="">
            <a:extLst xmlns:a="http://schemas.openxmlformats.org/drawingml/2006/main">
              <a:ext uri="{FF2B5EF4-FFF2-40B4-BE49-F238E27FC236}">
                <a16:creationId xmlns:a16="http://schemas.microsoft.com/office/drawing/2014/main" id="{CEBDB28C-99C4-47FF-9FD2-6EFA228FA798}"/>
              </a:ext>
            </a:extLst>
          </p:cNvPr>
          <p:cNvPicPr>
            <a:picLocks xmlns:a="http://schemas.openxmlformats.org/drawingml/2006/main" noChangeAspect="1"/>
          </p:cNvPicPr>
          <p:nvPr/>
        </p:nvPicPr>
        <p:blipFill>
          <a:blip xmlns:r="http://schemas.openxmlformats.org/officeDocument/2006/relationships" xmlns:a="http://schemas.openxmlformats.org/drawingml/2006/main" r:embed="R968d77f2ebf245ff"/>
          <a:stretch xmlns:a="http://schemas.openxmlformats.org/drawingml/2006/main"/>
        </p:blipFill>
        <p:spPr>
          <a:xfrm xmlns:a="http://schemas.openxmlformats.org/drawingml/2006/main">
            <a:off x="8959379" y="1724025"/>
            <a:ext cx="1845618" cy="1809750"/>
          </a:xfrm>
          <a:prstGeom xmlns:a="http://schemas.openxmlformats.org/drawingml/2006/main" prst="rect">
            <a:avLst/>
          </a:prstGeom>
        </p:spPr>
      </p:pic>
      <p:sp>
        <p:nvSpPr>
          <p:cNvPr id="16" name="SnapCalorie [15]">
            <a:extLst xmlns:a="http://schemas.openxmlformats.org/drawingml/2006/main">
              <a:ext uri="{FF2B5EF4-FFF2-40B4-BE49-F238E27FC236}">
                <a16:creationId xmlns:a16="http://schemas.microsoft.com/office/drawing/2014/main" id="{FDB5A4E9-E6E1-432E-9972-62A583C9133E}"/>
              </a:ext>
            </a:extLst>
          </p:cNvPr>
          <p:cNvSpPr>
            <a:spLocks xmlns:a="http://schemas.openxmlformats.org/drawingml/2006/main" noGrp="1"/>
          </p:cNvSpPr>
          <p:nvPr/>
        </p:nvSpPr>
        <p:spPr>
          <a:xfrm xmlns:a="http://schemas.openxmlformats.org/drawingml/2006/main">
            <a:off x="8134350" y="3638550"/>
            <a:ext cx="3495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SnapCalorie [15]</a:t>
            </a:r>
          </a:p>
        </p:txBody>
      </p:sp>
      <p:sp>
        <p:nvSpPr>
          <p:cNvPr id="17" name="Foto, identificación, revisión y guardado. Kcal, m">
            <a:extLst xmlns:a="http://schemas.openxmlformats.org/drawingml/2006/main">
              <a:ext uri="{FF2B5EF4-FFF2-40B4-BE49-F238E27FC236}">
                <a16:creationId xmlns:a16="http://schemas.microsoft.com/office/drawing/2014/main" id="{58C6E311-FD50-4761-83A8-A15AE32980A0}"/>
              </a:ext>
            </a:extLst>
          </p:cNvPr>
          <p:cNvSpPr>
            <a:spLocks xmlns:a="http://schemas.openxmlformats.org/drawingml/2006/main" noGrp="1"/>
          </p:cNvSpPr>
          <p:nvPr/>
        </p:nvSpPr>
        <p:spPr>
          <a:xfrm xmlns:a="http://schemas.openxmlformats.org/drawingml/2006/main">
            <a:off x="8134350" y="4133850"/>
            <a:ext cx="34956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Foto, identificación, revisión y guardado. Kcal, macros y seguimiento.</a:t>
            </a:r>
          </a:p>
        </p:txBody>
      </p:sp>
      <p:sp>
        <p:nvSpPr>
          <p:cNvPr id="18" name="Flujo corto con revisión antes de registrar.">
            <a:extLst xmlns:a="http://schemas.openxmlformats.org/drawingml/2006/main">
              <a:ext uri="{FF2B5EF4-FFF2-40B4-BE49-F238E27FC236}">
                <a16:creationId xmlns:a16="http://schemas.microsoft.com/office/drawing/2014/main" id="{409FA6B6-B272-4AE0-9FB8-25E08D30B944}"/>
              </a:ext>
            </a:extLst>
          </p:cNvPr>
          <p:cNvSpPr>
            <a:spLocks xmlns:a="http://schemas.openxmlformats.org/drawingml/2006/main" noGrp="1"/>
          </p:cNvSpPr>
          <p:nvPr/>
        </p:nvSpPr>
        <p:spPr>
          <a:xfrm xmlns:a="http://schemas.openxmlformats.org/drawingml/2006/main">
            <a:off x="8134350" y="5048250"/>
            <a:ext cx="34956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Flujo corto con revisión antes de registrar.</a:t>
            </a:r>
          </a:p>
        </p:txBody>
      </p:sp>
      <p:sp>
        <p:nvSpPr>
          <p:cNvPr id="19" name="“5× rápido” y “2× precisión”: afirmaciones comerci">
            <a:extLst xmlns:a="http://schemas.openxmlformats.org/drawingml/2006/main">
              <a:ext uri="{FF2B5EF4-FFF2-40B4-BE49-F238E27FC236}">
                <a16:creationId xmlns:a16="http://schemas.microsoft.com/office/drawing/2014/main" id="{0484282D-2FD9-4A57-B4CF-243B8C2E670E}"/>
              </a:ext>
            </a:extLst>
          </p:cNvPr>
          <p:cNvSpPr>
            <a:spLocks xmlns:a="http://schemas.openxmlformats.org/drawingml/2006/main" noGrp="1"/>
          </p:cNvSpPr>
          <p:nvPr/>
        </p:nvSpPr>
        <p:spPr>
          <a:xfrm xmlns:a="http://schemas.openxmlformats.org/drawingml/2006/main">
            <a:off x="8134350" y="5724525"/>
            <a:ext cx="34956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“5× rápido” y “2× precisión”: afirmaciones comerciales.</a:t>
            </a:r>
          </a:p>
        </p:txBody>
      </p:sp>
      <p:sp>
        <p:nvSpPr>
          <p:cNvPr id="20" name="Factor común: F5 cantidad, F6 corrección, F9 infor">
            <a:extLst xmlns:a="http://schemas.openxmlformats.org/drawingml/2006/main">
              <a:ext uri="{FF2B5EF4-FFF2-40B4-BE49-F238E27FC236}">
                <a16:creationId xmlns:a16="http://schemas.microsoft.com/office/drawing/2014/main" id="{AD6A1E14-6EA1-471C-977C-43A611F937A6}"/>
              </a:ext>
            </a:extLst>
          </p:cNvPr>
          <p:cNvSpPr>
            <a:spLocks xmlns:a="http://schemas.openxmlformats.org/drawingml/2006/main" noGrp="1"/>
          </p:cNvSpPr>
          <p:nvPr/>
        </p:nvSpPr>
        <p:spPr>
          <a:xfrm xmlns:a="http://schemas.openxmlformats.org/drawingml/2006/main">
            <a:off x="571500" y="62007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Factor común: F5 cantidad, F6 corrección, F9 información y F10 registro con pocos pasos.</a:t>
            </a:r>
          </a:p>
        </p:txBody>
      </p:sp>
    </p:spTree>
    <p:extLst>
      <p:ext uri="{BB962C8B-B14F-4D97-AF65-F5344CB8AC3E}">
        <p14:creationId xmlns:p14="http://schemas.microsoft.com/office/powerpoint/2010/main" val="2037161599"/>
      </p:ext>
    </p:extLst>
  </p:cSld>
</p:sld>
</file>

<file path=ppt/slides/slide7.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7" name="3. Lista de exigencias (1/2)">
            <a:extLst xmlns:a="http://schemas.openxmlformats.org/drawingml/2006/main">
              <a:ext uri="{FF2B5EF4-FFF2-40B4-BE49-F238E27FC236}">
                <a16:creationId xmlns:a16="http://schemas.microsoft.com/office/drawing/2014/main" id="{E20854CA-D1BF-4C6F-9A37-9BD4A9E651FB}"/>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3. Lista de exigencias (1/2)</a:t>
            </a:r>
          </a:p>
        </p:txBody>
      </p:sp>
      <p:sp>
        <p:nvSpPr>
          <p:cNvPr id="2" name="E = obligatoria; D = deseable. Requisito acotado, ">
            <a:extLst xmlns:a="http://schemas.openxmlformats.org/drawingml/2006/main">
              <a:ext uri="{FF2B5EF4-FFF2-40B4-BE49-F238E27FC236}">
                <a16:creationId xmlns:a16="http://schemas.microsoft.com/office/drawing/2014/main" id="{EDE384D6-1390-4E38-9ACF-241B9CD60D60}"/>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E = obligatoria; D = deseable. Requisito acotado, comprobación y antecedente.</a:t>
            </a:r>
          </a:p>
        </p:txBody>
      </p:sp>
      <p:sp>
        <p:nvSpPr>
          <p:cNvPr id="3" name="Fuentes [24]. Referencias al final.">
            <a:extLst xmlns:a="http://schemas.openxmlformats.org/drawingml/2006/main">
              <a:ext uri="{FF2B5EF4-FFF2-40B4-BE49-F238E27FC236}">
                <a16:creationId xmlns:a16="http://schemas.microsoft.com/office/drawing/2014/main" id="{6F0056CB-6577-455F-AF10-6CFF06252DC9}"/>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[24]. Referencias al final.</a:t>
            </a:r>
          </a:p>
        </p:txBody>
      </p:sp>
      <p:sp>
        <p:nvSpPr>
          <p:cNvPr id="4" name="07">
            <a:extLst xmlns:a="http://schemas.openxmlformats.org/drawingml/2006/main">
              <a:ext uri="{FF2B5EF4-FFF2-40B4-BE49-F238E27FC236}">
                <a16:creationId xmlns:a16="http://schemas.microsoft.com/office/drawing/2014/main" id="{86C2FA9C-0F54-497B-9D7C-42247256EDA2}"/>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07</a:t>
            </a:r>
          </a:p>
        </p:txBody>
      </p:sp>
      <p:graphicFrame>
        <p:nvGraphicFramePr>
          <p:cNvPr id="5" name="">
            <a:extLst xmlns:a="http://schemas.openxmlformats.org/drawingml/2006/main">
              <a:ext uri="{FF2B5EF4-FFF2-40B4-BE49-F238E27FC236}">
                <a16:creationId xmlns:a16="http://schemas.microsoft.com/office/drawing/2014/main" id="{54165A8C-93BB-440D-9444-4E3525152F92}"/>
              </a:ext>
            </a:extLst>
          </p:cNvPr>
          <p:cNvGraphicFramePr/>
          <p:nvPr/>
        </p:nvGraphicFramePr>
        <p:xfrm>
          <a:off xmlns:a="http://schemas.openxmlformats.org/drawingml/2006/main" x="571500" y="1704975"/>
          <a:ext xmlns:a="http://schemas.openxmlformats.org/drawingml/2006/main" cx="11049000" cy="4229100"/>
        </p:xfrm>
        <a:graphic xmlns:a="http://schemas.openxmlformats.org/drawingml/2006/main">
          <a:graphicData uri="http://schemas.openxmlformats.org/drawingml/2006/table">
            <a:tbl>
              <a:tblPr/>
              <a:tblGrid>
                <a:gridCol w="1323975"/>
                <a:gridCol w="571500"/>
                <a:gridCol w="5438775"/>
                <a:gridCol w="3714750"/>
              </a:tblGrid>
              <a:tr h="428625">
                <a:tc>
                  <a:txBody>
                    <a:bodyPr/>
                    <a:lstStyle/>
                    <a:p>
                      <a:r>
                        <a:rPr sz="1500" b="1">
                          <a:solidFill>
                            <a:srgbClr val="FFFFFF"/>
                          </a:solidFill>
                          <a:latin typeface="Arial"/>
                          <a:ea typeface="Arial"/>
                          <a:cs typeface="Arial"/>
                        </a:rPr>
                        <a:t>ID</a:t>
                      </a:r>
                    </a:p>
                  </a:txBody>
                  <a:tcPr marL="95250" marR="95250" marT="19050" marB="19050" anchor="ctr">
                    <a:solidFill>
                      <a:srgbClr val="173F2F"/>
                    </a:solidFill>
                  </a:tcPr>
                </a:tc>
                <a:tc>
                  <a:txBody>
                    <a:bodyPr/>
                    <a:lstStyle/>
                    <a:p>
                      <a:r>
                        <a:rPr sz="1500" b="1">
                          <a:solidFill>
                            <a:srgbClr val="FFFFFF"/>
                          </a:solidFill>
                          <a:latin typeface="Arial"/>
                          <a:ea typeface="Arial"/>
                          <a:cs typeface="Arial"/>
                        </a:rPr>
                        <a:t>Tipo</a:t>
                      </a:r>
                    </a:p>
                  </a:txBody>
                  <a:tcPr marL="95250" marR="95250" marT="19050" marB="19050" anchor="ctr">
                    <a:solidFill>
                      <a:srgbClr val="173F2F"/>
                    </a:solidFill>
                  </a:tcPr>
                </a:tc>
                <a:tc>
                  <a:txBody>
                    <a:bodyPr/>
                    <a:lstStyle/>
                    <a:p>
                      <a:r>
                        <a:rPr sz="1500" b="1">
                          <a:solidFill>
                            <a:srgbClr val="FFFFFF"/>
                          </a:solidFill>
                          <a:latin typeface="Arial"/>
                          <a:ea typeface="Arial"/>
                          <a:cs typeface="Arial"/>
                        </a:rPr>
                        <a:t>Exigencia de diseño</a:t>
                      </a:r>
                    </a:p>
                  </a:txBody>
                  <a:tcPr marL="95250" marR="95250" marT="19050" marB="19050" anchor="ctr">
                    <a:solidFill>
                      <a:srgbClr val="173F2F"/>
                    </a:solidFill>
                  </a:tcPr>
                </a:tc>
                <a:tc>
                  <a:txBody>
                    <a:bodyPr/>
                    <a:lstStyle/>
                    <a:p>
                      <a:r>
                        <a:rPr sz="1500" b="1">
                          <a:solidFill>
                            <a:srgbClr val="FFFFFF"/>
                          </a:solidFill>
                          <a:latin typeface="Arial"/>
                          <a:ea typeface="Arial"/>
                          <a:cs typeface="Arial"/>
                        </a:rPr>
                        <a:t>Cómo se comprueba</a:t>
                      </a:r>
                    </a:p>
                  </a:txBody>
                  <a:tcPr marL="95250" marR="95250" marT="19050" marB="19050" anchor="ctr">
                    <a:solidFill>
                      <a:srgbClr val="173F2F"/>
                    </a:solidFill>
                  </a:tcPr>
                </a:tc>
              </a:tr>
              <a:tr h="542925">
                <a:tc>
                  <a:txBody>
                    <a:bodyPr/>
                    <a:lstStyle/>
                    <a:p>
                      <a:r>
                        <a:rPr sz="1350">
                          <a:solidFill>
                            <a:srgbClr val="173F2F"/>
                          </a:solidFill>
                          <a:latin typeface="Arial"/>
                          <a:ea typeface="Arial"/>
                          <a:cs typeface="Arial"/>
                        </a:rPr>
                        <a:t>LE01/09/10</a:t>
                      </a:r>
                    </a:p>
                  </a:txBody>
                  <a:tcPr marL="95250" marR="95250" marT="19050" marB="19050" anchor="ctr">
                    <a:solidFill>
                      <a:srgbClr val="FFFFFF"/>
                    </a:solidFill>
                  </a:tcPr>
                </a:tc>
                <a:tc>
                  <a:txBody>
                    <a:bodyPr/>
                    <a:lstStyle/>
                    <a:p>
                      <a:r>
                        <a:rPr sz="1500">
                          <a:solidFill>
                            <a:srgbClr val="173F2F"/>
                          </a:solidFill>
                          <a:latin typeface="Arial"/>
                          <a:ea typeface="Arial"/>
                          <a:cs typeface="Arial"/>
                        </a:rPr>
                        <a:t>E</a:t>
                      </a:r>
                    </a:p>
                  </a:txBody>
                  <a:tcPr marL="95250" marR="95250" marT="19050" marB="19050" anchor="ctr">
                    <a:solidFill>
                      <a:srgbClr val="FFFFFF"/>
                    </a:solidFill>
                  </a:tcPr>
                </a:tc>
                <a:tc>
                  <a:txBody>
                    <a:bodyPr/>
                    <a:lstStyle/>
                    <a:p>
                      <a:r>
                        <a:rPr sz="1500">
                          <a:solidFill>
                            <a:srgbClr val="173F2F"/>
                          </a:solidFill>
                          <a:latin typeface="Arial"/>
                          <a:ea typeface="Arial"/>
                          <a:cs typeface="Arial"/>
                        </a:rPr>
                        <a:t>Informar g, kcal, proteínas, carbohidratos y grasas, con fuente.</a:t>
                      </a:r>
                    </a:p>
                  </a:txBody>
                  <a:tcPr marL="95250" marR="95250" marT="19050" marB="19050" anchor="ctr">
                    <a:solidFill>
                      <a:srgbClr val="FFFFFF"/>
                    </a:solidFill>
                  </a:tcPr>
                </a:tc>
                <a:tc>
                  <a:txBody>
                    <a:bodyPr/>
                    <a:lstStyle/>
                    <a:p>
                      <a:r>
                        <a:rPr sz="1425">
                          <a:solidFill>
                            <a:srgbClr val="173F2F"/>
                          </a:solidFill>
                          <a:latin typeface="Arial"/>
                          <a:ea typeface="Arial"/>
                          <a:cs typeface="Arial"/>
                        </a:rPr>
                        <a:t>Caso con cinco salidas [4,13,16]</a:t>
                      </a:r>
                    </a:p>
                  </a:txBody>
                  <a:tcPr marL="95250" marR="95250" marT="19050" marB="19050" anchor="ctr">
                    <a:solidFill>
                      <a:srgbClr val="FFFFFF"/>
                    </a:solidFill>
                  </a:tcPr>
                </a:tc>
              </a:tr>
              <a:tr h="542925">
                <a:tc>
                  <a:txBody>
                    <a:bodyPr/>
                    <a:lstStyle/>
                    <a:p>
                      <a:r>
                        <a:rPr sz="1350">
                          <a:solidFill>
                            <a:srgbClr val="173F2F"/>
                          </a:solidFill>
                          <a:latin typeface="Arial"/>
                          <a:ea typeface="Arial"/>
                          <a:cs typeface="Arial"/>
                        </a:rPr>
                        <a:t>LE04/07/21</a:t>
                      </a:r>
                    </a:p>
                  </a:txBody>
                  <a:tcPr marL="95250" marR="95250" marT="19050" marB="19050" anchor="ctr">
                    <a:solidFill>
                      <a:srgbClr val="EFF2E8"/>
                    </a:solidFill>
                  </a:tcPr>
                </a:tc>
                <a:tc>
                  <a:txBody>
                    <a:bodyPr/>
                    <a:lstStyle/>
                    <a:p>
                      <a:r>
                        <a:rPr sz="1500">
                          <a:solidFill>
                            <a:srgbClr val="173F2F"/>
                          </a:solidFill>
                          <a:latin typeface="Arial"/>
                          <a:ea typeface="Arial"/>
                          <a:cs typeface="Arial"/>
                        </a:rPr>
                        <a:t>E</a:t>
                      </a:r>
                    </a:p>
                  </a:txBody>
                  <a:tcPr marL="95250" marR="95250" marT="19050" marB="19050" anchor="ctr">
                    <a:solidFill>
                      <a:srgbClr val="EFF2E8"/>
                    </a:solidFill>
                  </a:tcPr>
                </a:tc>
                <a:tc>
                  <a:txBody>
                    <a:bodyPr/>
                    <a:lstStyle/>
                    <a:p>
                      <a:r>
                        <a:rPr sz="1500">
                          <a:solidFill>
                            <a:srgbClr val="173F2F"/>
                          </a:solidFill>
                          <a:latin typeface="Arial"/>
                          <a:ea typeface="Arial"/>
                          <a:cs typeface="Arial"/>
                        </a:rPr>
                        <a:t>Sólidos y semisólidos; masa neta 50–1000 g. Error ≤ máx. de 5 g o 2 %.</a:t>
                      </a:r>
                    </a:p>
                  </a:txBody>
                  <a:tcPr marL="95250" marR="95250" marT="19050" marB="19050" anchor="ctr">
                    <a:solidFill>
                      <a:srgbClr val="EFF2E8"/>
                    </a:solidFill>
                  </a:tcPr>
                </a:tc>
                <a:tc>
                  <a:txBody>
                    <a:bodyPr/>
                    <a:lstStyle/>
                    <a:p>
                      <a:r>
                        <a:rPr sz="1425">
                          <a:solidFill>
                            <a:srgbClr val="173F2F"/>
                          </a:solidFill>
                          <a:latin typeface="Arial"/>
                          <a:ea typeface="Arial"/>
                          <a:cs typeface="Arial"/>
                        </a:rPr>
                        <a:t>Cargas conocidas y tara [12,18,19]</a:t>
                      </a:r>
                    </a:p>
                  </a:txBody>
                  <a:tcPr marL="95250" marR="95250" marT="19050" marB="19050" anchor="ctr">
                    <a:solidFill>
                      <a:srgbClr val="EFF2E8"/>
                    </a:solidFill>
                  </a:tcPr>
                </a:tc>
              </a:tr>
              <a:tr h="542925">
                <a:tc>
                  <a:txBody>
                    <a:bodyPr/>
                    <a:lstStyle/>
                    <a:p>
                      <a:r>
                        <a:rPr sz="1350">
                          <a:solidFill>
                            <a:srgbClr val="173F2F"/>
                          </a:solidFill>
                          <a:latin typeface="Arial"/>
                          <a:ea typeface="Arial"/>
                          <a:cs typeface="Arial"/>
                        </a:rPr>
                        <a:t>LE11/16</a:t>
                      </a:r>
                    </a:p>
                  </a:txBody>
                  <a:tcPr marL="95250" marR="95250" marT="19050" marB="19050" anchor="ctr">
                    <a:solidFill>
                      <a:srgbClr val="FFFFFF"/>
                    </a:solidFill>
                  </a:tcPr>
                </a:tc>
                <a:tc>
                  <a:txBody>
                    <a:bodyPr/>
                    <a:lstStyle/>
                    <a:p>
                      <a:r>
                        <a:rPr sz="1500">
                          <a:solidFill>
                            <a:srgbClr val="173F2F"/>
                          </a:solidFill>
                          <a:latin typeface="Arial"/>
                          <a:ea typeface="Arial"/>
                          <a:cs typeface="Arial"/>
                        </a:rPr>
                        <a:t>E</a:t>
                      </a:r>
                    </a:p>
                  </a:txBody>
                  <a:tcPr marL="95250" marR="95250" marT="19050" marB="19050" anchor="ctr">
                    <a:solidFill>
                      <a:srgbClr val="FFFFFF"/>
                    </a:solidFill>
                  </a:tcPr>
                </a:tc>
                <a:tc>
                  <a:txBody>
                    <a:bodyPr/>
                    <a:lstStyle/>
                    <a:p>
                      <a:r>
                        <a:rPr sz="1500">
                          <a:solidFill>
                            <a:srgbClr val="173F2F"/>
                          </a:solidFill>
                          <a:latin typeface="Arial"/>
                          <a:ea typeface="Arial"/>
                          <a:cs typeface="Arial"/>
                        </a:rPr>
                        <a:t>Corregir alimento y cantidad; señalar medición y estimación. Sin diagnósticos.</a:t>
                      </a:r>
                    </a:p>
                  </a:txBody>
                  <a:tcPr marL="95250" marR="95250" marT="19050" marB="19050" anchor="ctr">
                    <a:solidFill>
                      <a:srgbClr val="FFFFFF"/>
                    </a:solidFill>
                  </a:tcPr>
                </a:tc>
                <a:tc>
                  <a:txBody>
                    <a:bodyPr/>
                    <a:lstStyle/>
                    <a:p>
                      <a:r>
                        <a:rPr sz="1425">
                          <a:solidFill>
                            <a:srgbClr val="173F2F"/>
                          </a:solidFill>
                          <a:latin typeface="Arial"/>
                          <a:ea typeface="Arial"/>
                          <a:cs typeface="Arial"/>
                        </a:rPr>
                        <a:t>Prueba de corrección [3,14,15]</a:t>
                      </a:r>
                    </a:p>
                  </a:txBody>
                  <a:tcPr marL="95250" marR="95250" marT="19050" marB="19050" anchor="ctr">
                    <a:solidFill>
                      <a:srgbClr val="FFFFFF"/>
                    </a:solidFill>
                  </a:tcPr>
                </a:tc>
              </a:tr>
              <a:tr h="542925">
                <a:tc>
                  <a:txBody>
                    <a:bodyPr/>
                    <a:lstStyle/>
                    <a:p>
                      <a:r>
                        <a:rPr sz="1350">
                          <a:solidFill>
                            <a:srgbClr val="173F2F"/>
                          </a:solidFill>
                          <a:latin typeface="Arial"/>
                          <a:ea typeface="Arial"/>
                          <a:cs typeface="Arial"/>
                        </a:rPr>
                        <a:t>LE13</a:t>
                      </a:r>
                    </a:p>
                  </a:txBody>
                  <a:tcPr marL="95250" marR="95250" marT="19050" marB="19050" anchor="ctr">
                    <a:solidFill>
                      <a:srgbClr val="EFF2E8"/>
                    </a:solidFill>
                  </a:tcPr>
                </a:tc>
                <a:tc>
                  <a:txBody>
                    <a:bodyPr/>
                    <a:lstStyle/>
                    <a:p>
                      <a:r>
                        <a:rPr sz="1500">
                          <a:solidFill>
                            <a:srgbClr val="173F2F"/>
                          </a:solidFill>
                          <a:latin typeface="Arial"/>
                          <a:ea typeface="Arial"/>
                          <a:cs typeface="Arial"/>
                        </a:rPr>
                        <a:t>E</a:t>
                      </a:r>
                    </a:p>
                  </a:txBody>
                  <a:tcPr marL="95250" marR="95250" marT="19050" marB="19050" anchor="ctr">
                    <a:solidFill>
                      <a:srgbClr val="EFF2E8"/>
                    </a:solidFill>
                  </a:tcPr>
                </a:tc>
                <a:tc>
                  <a:txBody>
                    <a:bodyPr/>
                    <a:lstStyle/>
                    <a:p>
                      <a:r>
                        <a:rPr sz="1500">
                          <a:solidFill>
                            <a:srgbClr val="173F2F"/>
                          </a:solidFill>
                          <a:latin typeface="Arial"/>
                          <a:ea typeface="Arial"/>
                          <a:cs typeface="Arial"/>
                        </a:rPr>
                        <a:t>Escalar cada nutriente por masa; error de cálculo ≤ 1 %.</a:t>
                      </a:r>
                    </a:p>
                  </a:txBody>
                  <a:tcPr marL="95250" marR="95250" marT="19050" marB="19050" anchor="ctr">
                    <a:solidFill>
                      <a:srgbClr val="EFF2E8"/>
                    </a:solidFill>
                  </a:tcPr>
                </a:tc>
                <a:tc>
                  <a:txBody>
                    <a:bodyPr/>
                    <a:lstStyle/>
                    <a:p>
                      <a:r>
                        <a:rPr sz="1425">
                          <a:solidFill>
                            <a:srgbClr val="173F2F"/>
                          </a:solidFill>
                          <a:latin typeface="Arial"/>
                          <a:ea typeface="Arial"/>
                          <a:cs typeface="Arial"/>
                        </a:rPr>
                        <a:t>Recálculo independiente [6,9,16]</a:t>
                      </a:r>
                    </a:p>
                  </a:txBody>
                  <a:tcPr marL="95250" marR="95250" marT="19050" marB="19050" anchor="ctr">
                    <a:solidFill>
                      <a:srgbClr val="EFF2E8"/>
                    </a:solidFill>
                  </a:tcPr>
                </a:tc>
              </a:tr>
              <a:tr h="542925">
                <a:tc>
                  <a:txBody>
                    <a:bodyPr/>
                    <a:lstStyle/>
                    <a:p>
                      <a:r>
                        <a:rPr sz="1350">
                          <a:solidFill>
                            <a:srgbClr val="173F2F"/>
                          </a:solidFill>
                          <a:latin typeface="Arial"/>
                          <a:ea typeface="Arial"/>
                          <a:cs typeface="Arial"/>
                        </a:rPr>
                        <a:t>LE17</a:t>
                      </a:r>
                    </a:p>
                  </a:txBody>
                  <a:tcPr marL="95250" marR="95250" marT="19050" marB="19050" anchor="ctr">
                    <a:solidFill>
                      <a:srgbClr val="FFFFFF"/>
                    </a:solidFill>
                  </a:tcPr>
                </a:tc>
                <a:tc>
                  <a:txBody>
                    <a:bodyPr/>
                    <a:lstStyle/>
                    <a:p>
                      <a:r>
                        <a:rPr sz="1500">
                          <a:solidFill>
                            <a:srgbClr val="173F2F"/>
                          </a:solidFill>
                          <a:latin typeface="Arial"/>
                          <a:ea typeface="Arial"/>
                          <a:cs typeface="Arial"/>
                        </a:rPr>
                        <a:t>E</a:t>
                      </a:r>
                    </a:p>
                  </a:txBody>
                  <a:tcPr marL="95250" marR="95250" marT="19050" marB="19050" anchor="ctr">
                    <a:solidFill>
                      <a:srgbClr val="FFFFFF"/>
                    </a:solidFill>
                  </a:tcPr>
                </a:tc>
                <a:tc>
                  <a:txBody>
                    <a:bodyPr/>
                    <a:lstStyle/>
                    <a:p>
                      <a:r>
                        <a:rPr sz="1500">
                          <a:solidFill>
                            <a:srgbClr val="173F2F"/>
                          </a:solidFill>
                          <a:latin typeface="Arial"/>
                          <a:ea typeface="Arial"/>
                          <a:cs typeface="Arial"/>
                        </a:rPr>
                        <a:t>Interfaz en español; registro ≤ 60 s y ≤ 5 acciones.</a:t>
                      </a:r>
                    </a:p>
                  </a:txBody>
                  <a:tcPr marL="95250" marR="95250" marT="19050" marB="19050" anchor="ctr">
                    <a:solidFill>
                      <a:srgbClr val="FFFFFF"/>
                    </a:solidFill>
                  </a:tcPr>
                </a:tc>
                <a:tc>
                  <a:txBody>
                    <a:bodyPr/>
                    <a:lstStyle/>
                    <a:p>
                      <a:r>
                        <a:rPr sz="1425">
                          <a:solidFill>
                            <a:srgbClr val="173F2F"/>
                          </a:solidFill>
                          <a:latin typeface="Arial"/>
                          <a:ea typeface="Arial"/>
                          <a:cs typeface="Arial"/>
                        </a:rPr>
                        <a:t>Cronómetro y conteo [14,15]</a:t>
                      </a:r>
                    </a:p>
                  </a:txBody>
                  <a:tcPr marL="95250" marR="95250" marT="19050" marB="19050" anchor="ctr">
                    <a:solidFill>
                      <a:srgbClr val="FFFFFF"/>
                    </a:solidFill>
                  </a:tcPr>
                </a:tc>
              </a:tr>
              <a:tr h="542925">
                <a:tc>
                  <a:txBody>
                    <a:bodyPr/>
                    <a:lstStyle/>
                    <a:p>
                      <a:r>
                        <a:rPr sz="1350">
                          <a:solidFill>
                            <a:srgbClr val="173F2F"/>
                          </a:solidFill>
                          <a:latin typeface="Arial"/>
                          <a:ea typeface="Arial"/>
                          <a:cs typeface="Arial"/>
                        </a:rPr>
                        <a:t>LE20</a:t>
                      </a:r>
                    </a:p>
                  </a:txBody>
                  <a:tcPr marL="95250" marR="95250" marT="19050" marB="19050" anchor="ctr">
                    <a:solidFill>
                      <a:srgbClr val="EFF2E8"/>
                    </a:solidFill>
                  </a:tcPr>
                </a:tc>
                <a:tc>
                  <a:txBody>
                    <a:bodyPr/>
                    <a:lstStyle/>
                    <a:p>
                      <a:r>
                        <a:rPr sz="1500">
                          <a:solidFill>
                            <a:srgbClr val="173F2F"/>
                          </a:solidFill>
                          <a:latin typeface="Arial"/>
                          <a:ea typeface="Arial"/>
                          <a:cs typeface="Arial"/>
                        </a:rPr>
                        <a:t>E</a:t>
                      </a:r>
                    </a:p>
                  </a:txBody>
                  <a:tcPr marL="95250" marR="95250" marT="19050" marB="19050" anchor="ctr">
                    <a:solidFill>
                      <a:srgbClr val="EFF2E8"/>
                    </a:solidFill>
                  </a:tcPr>
                </a:tc>
                <a:tc>
                  <a:txBody>
                    <a:bodyPr/>
                    <a:lstStyle/>
                    <a:p>
                      <a:r>
                        <a:rPr sz="1500">
                          <a:solidFill>
                            <a:srgbClr val="173F2F"/>
                          </a:solidFill>
                          <a:latin typeface="Arial"/>
                          <a:ea typeface="Arial"/>
                          <a:cs typeface="Arial"/>
                        </a:rPr>
                        <a:t>Validar ≥ 30 porciones; error porcentual medio de cantidad ≤ 20 %.</a:t>
                      </a:r>
                    </a:p>
                  </a:txBody>
                  <a:tcPr marL="95250" marR="95250" marT="19050" marB="19050" anchor="ctr">
                    <a:solidFill>
                      <a:srgbClr val="EFF2E8"/>
                    </a:solidFill>
                  </a:tcPr>
                </a:tc>
                <a:tc>
                  <a:txBody>
                    <a:bodyPr/>
                    <a:lstStyle/>
                    <a:p>
                      <a:r>
                        <a:rPr sz="1425">
                          <a:solidFill>
                            <a:srgbClr val="173F2F"/>
                          </a:solidFill>
                          <a:latin typeface="Arial"/>
                          <a:ea typeface="Arial"/>
                          <a:cs typeface="Arial"/>
                        </a:rPr>
                        <a:t>Pesajes de referencia [1,2,12]</a:t>
                      </a:r>
                    </a:p>
                  </a:txBody>
                  <a:tcPr marL="95250" marR="95250" marT="19050" marB="19050" anchor="ctr">
                    <a:solidFill>
                      <a:srgbClr val="EFF2E8"/>
                    </a:solidFill>
                  </a:tcPr>
                </a:tc>
              </a:tr>
              <a:tr h="542925">
                <a:tc>
                  <a:txBody>
                    <a:bodyPr/>
                    <a:lstStyle/>
                    <a:p>
                      <a:r>
                        <a:rPr sz="1350">
                          <a:solidFill>
                            <a:srgbClr val="173F2F"/>
                          </a:solidFill>
                          <a:latin typeface="Arial"/>
                          <a:ea typeface="Arial"/>
                          <a:cs typeface="Arial"/>
                        </a:rPr>
                        <a:t>LE19</a:t>
                      </a:r>
                    </a:p>
                  </a:txBody>
                  <a:tcPr marL="95250" marR="95250" marT="19050" marB="19050" anchor="ctr">
                    <a:solidFill>
                      <a:srgbClr val="FFFFFF"/>
                    </a:solidFill>
                  </a:tcPr>
                </a:tc>
                <a:tc>
                  <a:txBody>
                    <a:bodyPr/>
                    <a:lstStyle/>
                    <a:p>
                      <a:r>
                        <a:rPr sz="1500">
                          <a:solidFill>
                            <a:srgbClr val="173F2F"/>
                          </a:solidFill>
                          <a:latin typeface="Arial"/>
                          <a:ea typeface="Arial"/>
                          <a:cs typeface="Arial"/>
                        </a:rPr>
                        <a:t>E</a:t>
                      </a:r>
                    </a:p>
                  </a:txBody>
                  <a:tcPr marL="95250" marR="95250" marT="19050" marB="19050" anchor="ctr">
                    <a:solidFill>
                      <a:srgbClr val="FFFFFF"/>
                    </a:solidFill>
                  </a:tcPr>
                </a:tc>
                <a:tc>
                  <a:txBody>
                    <a:bodyPr/>
                    <a:lstStyle/>
                    <a:p>
                      <a:r>
                        <a:rPr sz="1500">
                          <a:solidFill>
                            <a:srgbClr val="173F2F"/>
                          </a:solidFill>
                          <a:latin typeface="Arial"/>
                          <a:ea typeface="Arial"/>
                          <a:cs typeface="Arial"/>
                        </a:rPr>
                        <a:t>Contacto alimentario con recipiente apto, removible y lavable.</a:t>
                      </a:r>
                    </a:p>
                  </a:txBody>
                  <a:tcPr marL="95250" marR="95250" marT="19050" marB="19050" anchor="ctr">
                    <a:solidFill>
                      <a:srgbClr val="FFFFFF"/>
                    </a:solidFill>
                  </a:tcPr>
                </a:tc>
                <a:tc>
                  <a:txBody>
                    <a:bodyPr/>
                    <a:lstStyle/>
                    <a:p>
                      <a:r>
                        <a:rPr sz="1425">
                          <a:solidFill>
                            <a:srgbClr val="173F2F"/>
                          </a:solidFill>
                          <a:latin typeface="Arial"/>
                          <a:ea typeface="Arial"/>
                          <a:cs typeface="Arial"/>
                        </a:rPr>
                        <a:t>Inspección y limpieza [5,13]</a:t>
                      </a:r>
                    </a:p>
                  </a:txBody>
                  <a:tcPr marL="95250" marR="95250" marT="19050" marB="19050" anchor="ctr">
                    <a:solidFill>
                      <a:srgbClr val="FFFFFF"/>
                    </a:solidFill>
                  </a:tcPr>
                </a:tc>
              </a:tr>
            </a:tbl>
          </a:graphicData>
        </a:graphic>
      </p:graphicFrame>
      <p:sp>
        <p:nvSpPr>
          <p:cNvPr id="6" name="Cantidad e identidad se comprueban por separado; l">
            <a:extLst xmlns:a="http://schemas.openxmlformats.org/drawingml/2006/main">
              <a:ext uri="{FF2B5EF4-FFF2-40B4-BE49-F238E27FC236}">
                <a16:creationId xmlns:a16="http://schemas.microsoft.com/office/drawing/2014/main" id="{2C37BFB9-D2E9-4752-A05A-4E29520F8701}"/>
              </a:ext>
            </a:extLst>
          </p:cNvPr>
          <p:cNvSpPr>
            <a:spLocks xmlns:a="http://schemas.openxmlformats.org/drawingml/2006/main" noGrp="1"/>
          </p:cNvSpPr>
          <p:nvPr/>
        </p:nvSpPr>
        <p:spPr>
          <a:xfrm xmlns:a="http://schemas.openxmlformats.org/drawingml/2006/main">
            <a:off x="571500" y="60579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Cantidad e identidad se comprueban por separado; las metas aún requieren validación.</a:t>
            </a:r>
          </a:p>
        </p:txBody>
      </p:sp>
    </p:spTree>
    <p:extLst>
      <p:ext uri="{BB962C8B-B14F-4D97-AF65-F5344CB8AC3E}">
        <p14:creationId xmlns:p14="http://schemas.microsoft.com/office/powerpoint/2010/main" val="1888425650"/>
      </p:ext>
    </p:extLst>
  </p:cSld>
</p:sld>
</file>

<file path=ppt/slides/slide8.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7" name="3. Lista de exigencias (2/2)">
            <a:extLst xmlns:a="http://schemas.openxmlformats.org/drawingml/2006/main">
              <a:ext uri="{FF2B5EF4-FFF2-40B4-BE49-F238E27FC236}">
                <a16:creationId xmlns:a16="http://schemas.microsoft.com/office/drawing/2014/main" id="{3681F120-6226-4E9B-98B7-D12CCD83514A}"/>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3. Lista de exigencias (2/2)</a:t>
            </a:r>
          </a:p>
        </p:txBody>
      </p:sp>
      <p:sp>
        <p:nvSpPr>
          <p:cNvPr id="2" name="E = obligatoria; D = deseable. Requisito acotado, ">
            <a:extLst xmlns:a="http://schemas.openxmlformats.org/drawingml/2006/main">
              <a:ext uri="{FF2B5EF4-FFF2-40B4-BE49-F238E27FC236}">
                <a16:creationId xmlns:a16="http://schemas.microsoft.com/office/drawing/2014/main" id="{794649D5-859F-4ED1-8628-A6AC1C3719FC}"/>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E = obligatoria; D = deseable. Requisito acotado, comprobación y antecedente.</a:t>
            </a:r>
          </a:p>
        </p:txBody>
      </p:sp>
      <p:sp>
        <p:nvSpPr>
          <p:cNvPr id="3" name="Fuentes [24]. Referencias al final.">
            <a:extLst xmlns:a="http://schemas.openxmlformats.org/drawingml/2006/main">
              <a:ext uri="{FF2B5EF4-FFF2-40B4-BE49-F238E27FC236}">
                <a16:creationId xmlns:a16="http://schemas.microsoft.com/office/drawing/2014/main" id="{9E027A74-12F1-4D3E-A69C-C40E959CB3B1}"/>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[24]. Referencias al final.</a:t>
            </a:r>
          </a:p>
        </p:txBody>
      </p:sp>
      <p:sp>
        <p:nvSpPr>
          <p:cNvPr id="4" name="08">
            <a:extLst xmlns:a="http://schemas.openxmlformats.org/drawingml/2006/main">
              <a:ext uri="{FF2B5EF4-FFF2-40B4-BE49-F238E27FC236}">
                <a16:creationId xmlns:a16="http://schemas.microsoft.com/office/drawing/2014/main" id="{A20628CF-55BD-4617-AAE1-1BE7C19B4BA9}"/>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08</a:t>
            </a:r>
          </a:p>
        </p:txBody>
      </p:sp>
      <p:graphicFrame>
        <p:nvGraphicFramePr>
          <p:cNvPr id="5" name="">
            <a:extLst xmlns:a="http://schemas.openxmlformats.org/drawingml/2006/main">
              <a:ext uri="{FF2B5EF4-FFF2-40B4-BE49-F238E27FC236}">
                <a16:creationId xmlns:a16="http://schemas.microsoft.com/office/drawing/2014/main" id="{F1E89014-B1E8-4186-9ECC-AFBA7BD4D15E}"/>
              </a:ext>
            </a:extLst>
          </p:cNvPr>
          <p:cNvGraphicFramePr/>
          <p:nvPr/>
        </p:nvGraphicFramePr>
        <p:xfrm>
          <a:off xmlns:a="http://schemas.openxmlformats.org/drawingml/2006/main" x="571500" y="1704975"/>
          <a:ext xmlns:a="http://schemas.openxmlformats.org/drawingml/2006/main" cx="11049000" cy="4229100"/>
        </p:xfrm>
        <a:graphic xmlns:a="http://schemas.openxmlformats.org/drawingml/2006/main">
          <a:graphicData uri="http://schemas.openxmlformats.org/drawingml/2006/table">
            <a:tbl>
              <a:tblPr/>
              <a:tblGrid>
                <a:gridCol w="1323975"/>
                <a:gridCol w="571500"/>
                <a:gridCol w="5438775"/>
                <a:gridCol w="3714750"/>
              </a:tblGrid>
              <a:tr h="428625">
                <a:tc>
                  <a:txBody>
                    <a:bodyPr/>
                    <a:lstStyle/>
                    <a:p>
                      <a:r>
                        <a:rPr sz="1500" b="1">
                          <a:solidFill>
                            <a:srgbClr val="FFFFFF"/>
                          </a:solidFill>
                          <a:latin typeface="Arial"/>
                          <a:ea typeface="Arial"/>
                          <a:cs typeface="Arial"/>
                        </a:rPr>
                        <a:t>ID</a:t>
                      </a:r>
                    </a:p>
                  </a:txBody>
                  <a:tcPr marL="95250" marR="95250" marT="19050" marB="19050" anchor="ctr">
                    <a:solidFill>
                      <a:srgbClr val="173F2F"/>
                    </a:solidFill>
                  </a:tcPr>
                </a:tc>
                <a:tc>
                  <a:txBody>
                    <a:bodyPr/>
                    <a:lstStyle/>
                    <a:p>
                      <a:r>
                        <a:rPr sz="1500" b="1">
                          <a:solidFill>
                            <a:srgbClr val="FFFFFF"/>
                          </a:solidFill>
                          <a:latin typeface="Arial"/>
                          <a:ea typeface="Arial"/>
                          <a:cs typeface="Arial"/>
                        </a:rPr>
                        <a:t>Tipo</a:t>
                      </a:r>
                    </a:p>
                  </a:txBody>
                  <a:tcPr marL="95250" marR="95250" marT="19050" marB="19050" anchor="ctr">
                    <a:solidFill>
                      <a:srgbClr val="173F2F"/>
                    </a:solidFill>
                  </a:tcPr>
                </a:tc>
                <a:tc>
                  <a:txBody>
                    <a:bodyPr/>
                    <a:lstStyle/>
                    <a:p>
                      <a:r>
                        <a:rPr sz="1500" b="1">
                          <a:solidFill>
                            <a:srgbClr val="FFFFFF"/>
                          </a:solidFill>
                          <a:latin typeface="Arial"/>
                          <a:ea typeface="Arial"/>
                          <a:cs typeface="Arial"/>
                        </a:rPr>
                        <a:t>Exigencia de diseño</a:t>
                      </a:r>
                    </a:p>
                  </a:txBody>
                  <a:tcPr marL="95250" marR="95250" marT="19050" marB="19050" anchor="ctr">
                    <a:solidFill>
                      <a:srgbClr val="173F2F"/>
                    </a:solidFill>
                  </a:tcPr>
                </a:tc>
                <a:tc>
                  <a:txBody>
                    <a:bodyPr/>
                    <a:lstStyle/>
                    <a:p>
                      <a:r>
                        <a:rPr sz="1500" b="1">
                          <a:solidFill>
                            <a:srgbClr val="FFFFFF"/>
                          </a:solidFill>
                          <a:latin typeface="Arial"/>
                          <a:ea typeface="Arial"/>
                          <a:cs typeface="Arial"/>
                        </a:rPr>
                        <a:t>Cómo se comprueba</a:t>
                      </a:r>
                    </a:p>
                  </a:txBody>
                  <a:tcPr marL="95250" marR="95250" marT="19050" marB="19050" anchor="ctr">
                    <a:solidFill>
                      <a:srgbClr val="173F2F"/>
                    </a:solidFill>
                  </a:tcPr>
                </a:tc>
              </a:tr>
              <a:tr h="542925">
                <a:tc>
                  <a:txBody>
                    <a:bodyPr/>
                    <a:lstStyle/>
                    <a:p>
                      <a:r>
                        <a:rPr sz="1350">
                          <a:solidFill>
                            <a:srgbClr val="173F2F"/>
                          </a:solidFill>
                          <a:latin typeface="Arial"/>
                          <a:ea typeface="Arial"/>
                          <a:cs typeface="Arial"/>
                        </a:rPr>
                        <a:t>LE25</a:t>
                      </a:r>
                    </a:p>
                  </a:txBody>
                  <a:tcPr marL="95250" marR="95250" marT="19050" marB="19050" anchor="ctr">
                    <a:solidFill>
                      <a:srgbClr val="FFFFFF"/>
                    </a:solidFill>
                  </a:tcPr>
                </a:tc>
                <a:tc>
                  <a:txBody>
                    <a:bodyPr/>
                    <a:lstStyle/>
                    <a:p>
                      <a:r>
                        <a:rPr sz="1500">
                          <a:solidFill>
                            <a:srgbClr val="173F2F"/>
                          </a:solidFill>
                          <a:latin typeface="Arial"/>
                          <a:ea typeface="Arial"/>
                          <a:cs typeface="Arial"/>
                        </a:rPr>
                        <a:t>E</a:t>
                      </a:r>
                    </a:p>
                  </a:txBody>
                  <a:tcPr marL="95250" marR="95250" marT="19050" marB="19050" anchor="ctr">
                    <a:solidFill>
                      <a:srgbClr val="FFFFFF"/>
                    </a:solidFill>
                  </a:tcPr>
                </a:tc>
                <a:tc>
                  <a:txBody>
                    <a:bodyPr/>
                    <a:lstStyle/>
                    <a:p>
                      <a:r>
                        <a:rPr sz="1500">
                          <a:solidFill>
                            <a:srgbClr val="173F2F"/>
                          </a:solidFill>
                          <a:latin typeface="Arial"/>
                          <a:ea typeface="Arial"/>
                          <a:cs typeface="Arial"/>
                        </a:rPr>
                        <a:t>Conectar prototipo y app; intercambiar cantidad, estado y comandos.</a:t>
                      </a:r>
                    </a:p>
                  </a:txBody>
                  <a:tcPr marL="95250" marR="95250" marT="19050" marB="19050" anchor="ctr">
                    <a:solidFill>
                      <a:srgbClr val="FFFFFF"/>
                    </a:solidFill>
                  </a:tcPr>
                </a:tc>
                <a:tc>
                  <a:txBody>
                    <a:bodyPr/>
                    <a:lstStyle/>
                    <a:p>
                      <a:r>
                        <a:rPr sz="1425">
                          <a:solidFill>
                            <a:srgbClr val="173F2F"/>
                          </a:solidFill>
                          <a:latin typeface="Arial"/>
                          <a:ea typeface="Arial"/>
                          <a:cs typeface="Arial"/>
                        </a:rPr>
                        <a:t>Prueba del enlace [5,8]</a:t>
                      </a:r>
                    </a:p>
                  </a:txBody>
                  <a:tcPr marL="95250" marR="95250" marT="19050" marB="19050" anchor="ctr">
                    <a:solidFill>
                      <a:srgbClr val="FFFFFF"/>
                    </a:solidFill>
                  </a:tcPr>
                </a:tc>
              </a:tr>
              <a:tr h="542925">
                <a:tc>
                  <a:txBody>
                    <a:bodyPr/>
                    <a:lstStyle/>
                    <a:p>
                      <a:r>
                        <a:rPr sz="1350">
                          <a:solidFill>
                            <a:srgbClr val="173F2F"/>
                          </a:solidFill>
                          <a:latin typeface="Arial"/>
                          <a:ea typeface="Arial"/>
                          <a:cs typeface="Arial"/>
                        </a:rPr>
                        <a:t>LE24</a:t>
                      </a:r>
                    </a:p>
                  </a:txBody>
                  <a:tcPr marL="95250" marR="95250" marT="19050" marB="19050" anchor="ctr">
                    <a:solidFill>
                      <a:srgbClr val="EFF2E8"/>
                    </a:solidFill>
                  </a:tcPr>
                </a:tc>
                <a:tc>
                  <a:txBody>
                    <a:bodyPr/>
                    <a:lstStyle/>
                    <a:p>
                      <a:r>
                        <a:rPr sz="1500">
                          <a:solidFill>
                            <a:srgbClr val="173F2F"/>
                          </a:solidFill>
                          <a:latin typeface="Arial"/>
                          <a:ea typeface="Arial"/>
                          <a:cs typeface="Arial"/>
                        </a:rPr>
                        <a:t>E</a:t>
                      </a:r>
                    </a:p>
                  </a:txBody>
                  <a:tcPr marL="95250" marR="95250" marT="19050" marB="19050" anchor="ctr">
                    <a:solidFill>
                      <a:srgbClr val="EFF2E8"/>
                    </a:solidFill>
                  </a:tcPr>
                </a:tc>
                <a:tc>
                  <a:txBody>
                    <a:bodyPr/>
                    <a:lstStyle/>
                    <a:p>
                      <a:r>
                        <a:rPr sz="1500">
                          <a:solidFill>
                            <a:srgbClr val="173F2F"/>
                          </a:solidFill>
                          <a:latin typeface="Arial"/>
                          <a:ea typeface="Arial"/>
                          <a:cs typeface="Arial"/>
                        </a:rPr>
                        <a:t>Completar el Entregable 2 hasta el 08/10/2026.</a:t>
                      </a:r>
                    </a:p>
                  </a:txBody>
                  <a:tcPr marL="95250" marR="95250" marT="19050" marB="19050" anchor="ctr">
                    <a:solidFill>
                      <a:srgbClr val="EFF2E8"/>
                    </a:solidFill>
                  </a:tcPr>
                </a:tc>
                <a:tc>
                  <a:txBody>
                    <a:bodyPr/>
                    <a:lstStyle/>
                    <a:p>
                      <a:r>
                        <a:rPr sz="1425">
                          <a:solidFill>
                            <a:srgbClr val="173F2F"/>
                          </a:solidFill>
                          <a:latin typeface="Arial"/>
                          <a:ea typeface="Arial"/>
                          <a:cs typeface="Arial"/>
                        </a:rPr>
                        <a:t>Revisión de entrega [24]</a:t>
                      </a:r>
                    </a:p>
                  </a:txBody>
                  <a:tcPr marL="95250" marR="95250" marT="19050" marB="19050" anchor="ctr">
                    <a:solidFill>
                      <a:srgbClr val="EFF2E8"/>
                    </a:solidFill>
                  </a:tcPr>
                </a:tc>
              </a:tr>
              <a:tr h="542925">
                <a:tc>
                  <a:txBody>
                    <a:bodyPr/>
                    <a:lstStyle/>
                    <a:p>
                      <a:r>
                        <a:rPr sz="1350">
                          <a:solidFill>
                            <a:srgbClr val="173F2F"/>
                          </a:solidFill>
                          <a:latin typeface="Arial"/>
                          <a:ea typeface="Arial"/>
                          <a:cs typeface="Arial"/>
                        </a:rPr>
                        <a:t>LE02/03</a:t>
                      </a:r>
                    </a:p>
                  </a:txBody>
                  <a:tcPr marL="95250" marR="95250" marT="19050" marB="19050" anchor="ctr">
                    <a:solidFill>
                      <a:srgbClr val="FFFFFF"/>
                    </a:solidFill>
                  </a:tcPr>
                </a:tc>
                <a:tc>
                  <a:txBody>
                    <a:bodyPr/>
                    <a:lstStyle/>
                    <a:p>
                      <a:r>
                        <a:rPr sz="1500">
                          <a:solidFill>
                            <a:srgbClr val="173F2F"/>
                          </a:solidFill>
                          <a:latin typeface="Arial"/>
                          <a:ea typeface="Arial"/>
                          <a:cs typeface="Arial"/>
                        </a:rPr>
                        <a:t>D</a:t>
                      </a:r>
                    </a:p>
                  </a:txBody>
                  <a:tcPr marL="95250" marR="95250" marT="19050" marB="19050" anchor="ctr">
                    <a:solidFill>
                      <a:srgbClr val="FFFFFF"/>
                    </a:solidFill>
                  </a:tcPr>
                </a:tc>
                <a:tc>
                  <a:txBody>
                    <a:bodyPr/>
                    <a:lstStyle/>
                    <a:p>
                      <a:r>
                        <a:rPr sz="1500">
                          <a:solidFill>
                            <a:srgbClr val="173F2F"/>
                          </a:solidFill>
                          <a:latin typeface="Arial"/>
                          <a:ea typeface="Arial"/>
                          <a:cs typeface="Arial"/>
                        </a:rPr>
                        <a:t>Dimensión mayor ≤ 35 cm y masa del módulo ≤ 1,5 kg.</a:t>
                      </a:r>
                    </a:p>
                  </a:txBody>
                  <a:tcPr marL="95250" marR="95250" marT="19050" marB="19050" anchor="ctr">
                    <a:solidFill>
                      <a:srgbClr val="FFFFFF"/>
                    </a:solidFill>
                  </a:tcPr>
                </a:tc>
                <a:tc>
                  <a:txBody>
                    <a:bodyPr/>
                    <a:lstStyle/>
                    <a:p>
                      <a:r>
                        <a:rPr sz="1425">
                          <a:solidFill>
                            <a:srgbClr val="173F2F"/>
                          </a:solidFill>
                          <a:latin typeface="Arial"/>
                          <a:ea typeface="Arial"/>
                          <a:cs typeface="Arial"/>
                        </a:rPr>
                        <a:t>Regla y balanza [24]</a:t>
                      </a:r>
                    </a:p>
                  </a:txBody>
                  <a:tcPr marL="95250" marR="95250" marT="19050" marB="19050" anchor="ctr">
                    <a:solidFill>
                      <a:srgbClr val="FFFFFF"/>
                    </a:solidFill>
                  </a:tcPr>
                </a:tc>
              </a:tr>
              <a:tr h="542925">
                <a:tc>
                  <a:txBody>
                    <a:bodyPr/>
                    <a:lstStyle/>
                    <a:p>
                      <a:r>
                        <a:rPr sz="1350">
                          <a:solidFill>
                            <a:srgbClr val="173F2F"/>
                          </a:solidFill>
                          <a:latin typeface="Arial"/>
                          <a:ea typeface="Arial"/>
                          <a:cs typeface="Arial"/>
                        </a:rPr>
                        <a:t>LE06</a:t>
                      </a:r>
                    </a:p>
                  </a:txBody>
                  <a:tcPr marL="95250" marR="95250" marT="19050" marB="19050" anchor="ctr">
                    <a:solidFill>
                      <a:srgbClr val="EFF2E8"/>
                    </a:solidFill>
                  </a:tcPr>
                </a:tc>
                <a:tc>
                  <a:txBody>
                    <a:bodyPr/>
                    <a:lstStyle/>
                    <a:p>
                      <a:r>
                        <a:rPr sz="1500">
                          <a:solidFill>
                            <a:srgbClr val="173F2F"/>
                          </a:solidFill>
                          <a:latin typeface="Arial"/>
                          <a:ea typeface="Arial"/>
                          <a:cs typeface="Arial"/>
                        </a:rPr>
                        <a:t>D</a:t>
                      </a:r>
                    </a:p>
                  </a:txBody>
                  <a:tcPr marL="95250" marR="95250" marT="19050" marB="19050" anchor="ctr">
                    <a:solidFill>
                      <a:srgbClr val="EFF2E8"/>
                    </a:solidFill>
                  </a:tcPr>
                </a:tc>
                <a:tc>
                  <a:txBody>
                    <a:bodyPr/>
                    <a:lstStyle/>
                    <a:p>
                      <a:r>
                        <a:rPr sz="1500">
                          <a:solidFill>
                            <a:srgbClr val="173F2F"/>
                          </a:solidFill>
                          <a:latin typeface="Arial"/>
                          <a:ea typeface="Arial"/>
                          <a:cs typeface="Arial"/>
                        </a:rPr>
                        <a:t>Fuente externa regulada de 5 V / 2,4 A.</a:t>
                      </a:r>
                    </a:p>
                  </a:txBody>
                  <a:tcPr marL="95250" marR="95250" marT="19050" marB="19050" anchor="ctr">
                    <a:solidFill>
                      <a:srgbClr val="EFF2E8"/>
                    </a:solidFill>
                  </a:tcPr>
                </a:tc>
                <a:tc>
                  <a:txBody>
                    <a:bodyPr/>
                    <a:lstStyle/>
                    <a:p>
                      <a:r>
                        <a:rPr sz="1425">
                          <a:solidFill>
                            <a:srgbClr val="173F2F"/>
                          </a:solidFill>
                          <a:latin typeface="Arial"/>
                          <a:ea typeface="Arial"/>
                          <a:cs typeface="Arial"/>
                        </a:rPr>
                        <a:t>Etiqueta y tensión bajo carga [20]</a:t>
                      </a:r>
                    </a:p>
                  </a:txBody>
                  <a:tcPr marL="95250" marR="95250" marT="19050" marB="19050" anchor="ctr">
                    <a:solidFill>
                      <a:srgbClr val="EFF2E8"/>
                    </a:solidFill>
                  </a:tcPr>
                </a:tc>
              </a:tr>
              <a:tr h="542925">
                <a:tc>
                  <a:txBody>
                    <a:bodyPr/>
                    <a:lstStyle/>
                    <a:p>
                      <a:r>
                        <a:rPr sz="1350">
                          <a:solidFill>
                            <a:srgbClr val="173F2F"/>
                          </a:solidFill>
                          <a:latin typeface="Arial"/>
                          <a:ea typeface="Arial"/>
                          <a:cs typeface="Arial"/>
                        </a:rPr>
                        <a:t>LE05/08</a:t>
                      </a:r>
                    </a:p>
                  </a:txBody>
                  <a:tcPr marL="95250" marR="95250" marT="19050" marB="19050" anchor="ctr">
                    <a:solidFill>
                      <a:srgbClr val="FFFFFF"/>
                    </a:solidFill>
                  </a:tcPr>
                </a:tc>
                <a:tc>
                  <a:txBody>
                    <a:bodyPr/>
                    <a:lstStyle/>
                    <a:p>
                      <a:r>
                        <a:rPr sz="1500">
                          <a:solidFill>
                            <a:srgbClr val="173F2F"/>
                          </a:solidFill>
                          <a:latin typeface="Arial"/>
                          <a:ea typeface="Arial"/>
                          <a:cs typeface="Arial"/>
                        </a:rPr>
                        <a:t>D</a:t>
                      </a:r>
                    </a:p>
                  </a:txBody>
                  <a:tcPr marL="95250" marR="95250" marT="19050" marB="19050" anchor="ctr">
                    <a:solidFill>
                      <a:srgbClr val="FFFFFF"/>
                    </a:solidFill>
                  </a:tcPr>
                </a:tc>
                <a:tc>
                  <a:txBody>
                    <a:bodyPr/>
                    <a:lstStyle/>
                    <a:p>
                      <a:r>
                        <a:rPr sz="1500">
                          <a:solidFill>
                            <a:srgbClr val="173F2F"/>
                          </a:solidFill>
                          <a:latin typeface="Arial"/>
                          <a:ea typeface="Arial"/>
                          <a:cs typeface="Arial"/>
                        </a:rPr>
                        <a:t>Admitir mezclas y bebidas; foto, voz o texto como entradas.</a:t>
                      </a:r>
                    </a:p>
                  </a:txBody>
                  <a:tcPr marL="95250" marR="95250" marT="19050" marB="19050" anchor="ctr">
                    <a:solidFill>
                      <a:srgbClr val="FFFFFF"/>
                    </a:solidFill>
                  </a:tcPr>
                </a:tc>
                <a:tc>
                  <a:txBody>
                    <a:bodyPr/>
                    <a:lstStyle/>
                    <a:p>
                      <a:r>
                        <a:rPr sz="1425">
                          <a:solidFill>
                            <a:srgbClr val="173F2F"/>
                          </a:solidFill>
                          <a:latin typeface="Arial"/>
                          <a:ea typeface="Arial"/>
                          <a:cs typeface="Arial"/>
                        </a:rPr>
                        <a:t>Casos de registro [7,14,15]</a:t>
                      </a:r>
                    </a:p>
                  </a:txBody>
                  <a:tcPr marL="95250" marR="95250" marT="19050" marB="19050" anchor="ctr">
                    <a:solidFill>
                      <a:srgbClr val="FFFFFF"/>
                    </a:solidFill>
                  </a:tcPr>
                </a:tc>
              </a:tr>
              <a:tr h="542925">
                <a:tc>
                  <a:txBody>
                    <a:bodyPr/>
                    <a:lstStyle/>
                    <a:p>
                      <a:r>
                        <a:rPr sz="1350">
                          <a:solidFill>
                            <a:srgbClr val="173F2F"/>
                          </a:solidFill>
                          <a:latin typeface="Arial"/>
                          <a:ea typeface="Arial"/>
                          <a:cs typeface="Arial"/>
                        </a:rPr>
                        <a:t>LE14/15</a:t>
                      </a:r>
                    </a:p>
                  </a:txBody>
                  <a:tcPr marL="95250" marR="95250" marT="19050" marB="19050" anchor="ctr">
                    <a:solidFill>
                      <a:srgbClr val="EFF2E8"/>
                    </a:solidFill>
                  </a:tcPr>
                </a:tc>
                <a:tc>
                  <a:txBody>
                    <a:bodyPr/>
                    <a:lstStyle/>
                    <a:p>
                      <a:r>
                        <a:rPr sz="1500">
                          <a:solidFill>
                            <a:srgbClr val="173F2F"/>
                          </a:solidFill>
                          <a:latin typeface="Arial"/>
                          <a:ea typeface="Arial"/>
                          <a:cs typeface="Arial"/>
                        </a:rPr>
                        <a:t>D</a:t>
                      </a:r>
                    </a:p>
                  </a:txBody>
                  <a:tcPr marL="95250" marR="95250" marT="19050" marB="19050" anchor="ctr">
                    <a:solidFill>
                      <a:srgbClr val="EFF2E8"/>
                    </a:solidFill>
                  </a:tcPr>
                </a:tc>
                <a:tc>
                  <a:txBody>
                    <a:bodyPr/>
                    <a:lstStyle/>
                    <a:p>
                      <a:r>
                        <a:rPr sz="1500">
                          <a:solidFill>
                            <a:srgbClr val="173F2F"/>
                          </a:solidFill>
                          <a:latin typeface="Arial"/>
                          <a:ea typeface="Arial"/>
                          <a:cs typeface="Arial"/>
                        </a:rPr>
                        <a:t>Historial por fecha y comida; registro sin red y sincronización posterior.</a:t>
                      </a:r>
                    </a:p>
                  </a:txBody>
                  <a:tcPr marL="95250" marR="95250" marT="19050" marB="19050" anchor="ctr">
                    <a:solidFill>
                      <a:srgbClr val="EFF2E8"/>
                    </a:solidFill>
                  </a:tcPr>
                </a:tc>
                <a:tc>
                  <a:txBody>
                    <a:bodyPr/>
                    <a:lstStyle/>
                    <a:p>
                      <a:r>
                        <a:rPr sz="1425">
                          <a:solidFill>
                            <a:srgbClr val="173F2F"/>
                          </a:solidFill>
                          <a:latin typeface="Arial"/>
                          <a:ea typeface="Arial"/>
                          <a:cs typeface="Arial"/>
                        </a:rPr>
                        <a:t>Guardar y reconectar [5,8,15]</a:t>
                      </a:r>
                    </a:p>
                  </a:txBody>
                  <a:tcPr marL="95250" marR="95250" marT="19050" marB="19050" anchor="ctr">
                    <a:solidFill>
                      <a:srgbClr val="EFF2E8"/>
                    </a:solidFill>
                  </a:tcPr>
                </a:tc>
              </a:tr>
              <a:tr h="542925">
                <a:tc>
                  <a:txBody>
                    <a:bodyPr/>
                    <a:lstStyle/>
                    <a:p>
                      <a:r>
                        <a:rPr sz="1350">
                          <a:solidFill>
                            <a:srgbClr val="173F2F"/>
                          </a:solidFill>
                          <a:latin typeface="Arial"/>
                          <a:ea typeface="Arial"/>
                          <a:cs typeface="Arial"/>
                        </a:rPr>
                        <a:t>LE18/22/23</a:t>
                      </a:r>
                    </a:p>
                  </a:txBody>
                  <a:tcPr marL="95250" marR="95250" marT="19050" marB="19050" anchor="ctr">
                    <a:solidFill>
                      <a:srgbClr val="FFFFFF"/>
                    </a:solidFill>
                  </a:tcPr>
                </a:tc>
                <a:tc>
                  <a:txBody>
                    <a:bodyPr/>
                    <a:lstStyle/>
                    <a:p>
                      <a:r>
                        <a:rPr sz="1500">
                          <a:solidFill>
                            <a:srgbClr val="173F2F"/>
                          </a:solidFill>
                          <a:latin typeface="Arial"/>
                          <a:ea typeface="Arial"/>
                          <a:cs typeface="Arial"/>
                        </a:rPr>
                        <a:t>D</a:t>
                      </a:r>
                    </a:p>
                  </a:txBody>
                  <a:tcPr marL="95250" marR="95250" marT="19050" marB="19050" anchor="ctr">
                    <a:solidFill>
                      <a:srgbClr val="FFFFFF"/>
                    </a:solidFill>
                  </a:tcPr>
                </a:tc>
                <a:tc>
                  <a:txBody>
                    <a:bodyPr/>
                    <a:lstStyle/>
                    <a:p>
                      <a:r>
                        <a:rPr sz="1500">
                          <a:solidFill>
                            <a:srgbClr val="173F2F"/>
                          </a:solidFill>
                          <a:latin typeface="Arial"/>
                          <a:ea typeface="Arial"/>
                          <a:cs typeface="Arial"/>
                        </a:rPr>
                        <a:t>Componentes locales; conservar fuente y versión; costo ≤ S/ 500 sin suscripción obligatoria.</a:t>
                      </a:r>
                    </a:p>
                  </a:txBody>
                  <a:tcPr marL="95250" marR="95250" marT="19050" marB="19050" anchor="ctr">
                    <a:solidFill>
                      <a:srgbClr val="FFFFFF"/>
                    </a:solidFill>
                  </a:tcPr>
                </a:tc>
                <a:tc>
                  <a:txBody>
                    <a:bodyPr/>
                    <a:lstStyle/>
                    <a:p>
                      <a:r>
                        <a:rPr sz="1425">
                          <a:solidFill>
                            <a:srgbClr val="173F2F"/>
                          </a:solidFill>
                          <a:latin typeface="Arial"/>
                          <a:ea typeface="Arial"/>
                          <a:cs typeface="Arial"/>
                        </a:rPr>
                        <a:t>Catálogo, versión y presupuesto [17–24]</a:t>
                      </a:r>
                    </a:p>
                  </a:txBody>
                  <a:tcPr marL="95250" marR="95250" marT="19050" marB="19050" anchor="ctr">
                    <a:solidFill>
                      <a:srgbClr val="FFFFFF"/>
                    </a:solidFill>
                  </a:tcPr>
                </a:tc>
              </a:tr>
            </a:tbl>
          </a:graphicData>
        </a:graphic>
      </p:graphicFrame>
      <p:sp>
        <p:nvSpPr>
          <p:cNvPr id="6" name="Ajustes propuestos: LE02 (35 cm), LE06 (fuente ext">
            <a:extLst xmlns:a="http://schemas.openxmlformats.org/drawingml/2006/main">
              <a:ext uri="{FF2B5EF4-FFF2-40B4-BE49-F238E27FC236}">
                <a16:creationId xmlns:a16="http://schemas.microsoft.com/office/drawing/2014/main" id="{A4FEAE2E-A21E-44AC-A6D0-D2BB6E617299}"/>
              </a:ext>
            </a:extLst>
          </p:cNvPr>
          <p:cNvSpPr>
            <a:spLocks xmlns:a="http://schemas.openxmlformats.org/drawingml/2006/main" noGrp="1"/>
          </p:cNvSpPr>
          <p:nvPr/>
        </p:nvSpPr>
        <p:spPr>
          <a:xfrm xmlns:a="http://schemas.openxmlformats.org/drawingml/2006/main">
            <a:off x="571500" y="60579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Ajustes propuestos: LE02 (35 cm), LE06 (fuente externa) y LE21 (50–1000 g).</a:t>
            </a:r>
          </a:p>
        </p:txBody>
      </p:sp>
    </p:spTree>
    <p:extLst>
      <p:ext uri="{BB962C8B-B14F-4D97-AF65-F5344CB8AC3E}">
        <p14:creationId xmlns:p14="http://schemas.microsoft.com/office/powerpoint/2010/main" val="1936547828"/>
      </p:ext>
    </p:extLst>
  </p:cSld>
</p:sld>
</file>

<file path=ppt/slides/slide9.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30" name="4. Caja negra">
            <a:extLst xmlns:a="http://schemas.openxmlformats.org/drawingml/2006/main">
              <a:ext uri="{FF2B5EF4-FFF2-40B4-BE49-F238E27FC236}">
                <a16:creationId xmlns:a16="http://schemas.microsoft.com/office/drawing/2014/main" id="{25046F09-D9FD-44E5-9DC0-CA3342CD6BAB}"/>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4. Caja negra</a:t>
            </a:r>
          </a:p>
        </p:txBody>
      </p:sp>
      <p:sp>
        <p:nvSpPr>
          <p:cNvPr id="2" name="Función global: transformar alimento, cantidad y r">
            <a:extLst xmlns:a="http://schemas.openxmlformats.org/drawingml/2006/main">
              <a:ext uri="{FF2B5EF4-FFF2-40B4-BE49-F238E27FC236}">
                <a16:creationId xmlns:a16="http://schemas.microsoft.com/office/drawing/2014/main" id="{E54E32AF-E2E5-4711-B33F-0D713A2704D1}"/>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Función global: transformar alimento, cantidad y referencia en información nutricional trazable.</a:t>
            </a:r>
          </a:p>
        </p:txBody>
      </p:sp>
      <p:sp>
        <p:nvSpPr>
          <p:cNvPr id="3" name="Fuentes [24]. Referencias al final.">
            <a:extLst xmlns:a="http://schemas.openxmlformats.org/drawingml/2006/main">
              <a:ext uri="{FF2B5EF4-FFF2-40B4-BE49-F238E27FC236}">
                <a16:creationId xmlns:a16="http://schemas.microsoft.com/office/drawing/2014/main" id="{0FE867A2-4A62-4DD9-ADEA-EBE5510D42B8}"/>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[24]. Referencias al final.</a:t>
            </a:r>
          </a:p>
        </p:txBody>
      </p:sp>
      <p:sp>
        <p:nvSpPr>
          <p:cNvPr id="4" name="09">
            <a:extLst xmlns:a="http://schemas.openxmlformats.org/drawingml/2006/main">
              <a:ext uri="{FF2B5EF4-FFF2-40B4-BE49-F238E27FC236}">
                <a16:creationId xmlns:a16="http://schemas.microsoft.com/office/drawing/2014/main" id="{E6CDD1B1-25B1-44E1-ABFF-7D35FC27343F}"/>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09</a:t>
            </a:r>
          </a:p>
        </p:txBody>
      </p:sp>
      <p:sp>
        <p:nvSpPr>
          <p:cNvPr id="5" name="FoodScan&#10;&#10;Sistema de captura,&#10;cantidad e">
            <a:extLst xmlns:a="http://schemas.openxmlformats.org/drawingml/2006/main">
              <a:ext uri="{FF2B5EF4-FFF2-40B4-BE49-F238E27FC236}">
                <a16:creationId xmlns:a16="http://schemas.microsoft.com/office/drawing/2014/main" id="{1101E5B0-75E2-4778-9027-85F1100816F6}"/>
              </a:ext>
            </a:extLst>
          </p:cNvPr>
          <p:cNvSpPr>
            <a:spLocks xmlns:a="http://schemas.openxmlformats.org/drawingml/2006/main" noGrp="1"/>
          </p:cNvSpPr>
          <p:nvPr/>
        </p:nvSpPr>
        <p:spPr>
          <a:xfrm xmlns:a="http://schemas.openxmlformats.org/drawingml/2006/main">
            <a:off x="4219575" y="2190750"/>
            <a:ext cx="3714750" cy="3019425"/>
          </a:xfrm>
          <a:prstGeom xmlns:a="http://schemas.openxmlformats.org/drawingml/2006/main" prst="rect">
            <a:avLst/>
          </a:prstGeom>
          <a:solidFill xmlns:a="http://schemas.openxmlformats.org/drawingml/2006/main">
            <a:srgbClr val="173F2F"/>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2175" b="1">
                <a:solidFill>
                  <a:srgbClr val="FFFFFF"/>
                </a:solidFill>
                <a:latin typeface="Arial"/>
                <a:ea typeface="Arial"/>
                <a:cs typeface="Arial"/>
              </a:defRPr>
            </a:def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FoodScan</a:t>
            </a:r>
          </a:p>
          <a:p xmlns:a="http://schemas.openxmlformats.org/drawingml/2006/main">
            <a:r>
              <a:t/>
            </a:r>
          </a:p>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Sistema de captura,</a:t>
            </a:r>
          </a:p>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cantidad e información</a:t>
            </a:r>
          </a:p>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nutricional</a:t>
            </a:r>
          </a:p>
        </p:txBody>
      </p:sp>
      <p:sp>
        <p:nvSpPr>
          <p:cNvPr id="6" name="Entradas">
            <a:extLst xmlns:a="http://schemas.openxmlformats.org/drawingml/2006/main">
              <a:ext uri="{FF2B5EF4-FFF2-40B4-BE49-F238E27FC236}">
                <a16:creationId xmlns:a16="http://schemas.microsoft.com/office/drawing/2014/main" id="{16714AC1-91D5-4314-9AEB-BD845C05EE16}"/>
              </a:ext>
            </a:extLst>
          </p:cNvPr>
          <p:cNvSpPr>
            <a:spLocks xmlns:a="http://schemas.openxmlformats.org/drawingml/2006/main" noGrp="1"/>
          </p:cNvSpPr>
          <p:nvPr/>
        </p:nvSpPr>
        <p:spPr>
          <a:xfrm xmlns:a="http://schemas.openxmlformats.org/drawingml/2006/main">
            <a:off x="571500" y="1714500"/>
            <a:ext cx="304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F2F"/>
                </a:solidFill>
                <a:latin typeface="Arial"/>
                <a:ea typeface="Arial"/>
                <a:cs typeface="Arial"/>
              </a:defRPr>
            </a:defPPr>
          </a:lstStyle>
          <a:p xmlns:a="http://schemas.openxmlformats.org/drawingml/2006/main">
            <a:pPr>
              <a:defRPr sz="2175" b="1">
                <a:solidFill>
                  <a:srgbClr val="173F2F"/>
                </a:solidFill>
                <a:latin typeface="Arial"/>
                <a:ea typeface="Arial"/>
                <a:cs typeface="Arial"/>
              </a:defRPr>
            </a:pPr>
            <a:r>
              <a:rPr sz="2175" b="1">
                <a:solidFill>
                  <a:srgbClr val="173F2F"/>
                </a:solidFill>
                <a:latin typeface="Arial"/>
                <a:ea typeface="Arial"/>
                <a:cs typeface="Arial"/>
              </a:rPr>
              <a:t>Entradas</a:t>
            </a:r>
          </a:p>
        </p:txBody>
      </p:sp>
      <p:sp>
        <p:nvSpPr>
          <p:cNvPr id="7" name="Salidas">
            <a:extLst xmlns:a="http://schemas.openxmlformats.org/drawingml/2006/main">
              <a:ext uri="{FF2B5EF4-FFF2-40B4-BE49-F238E27FC236}">
                <a16:creationId xmlns:a16="http://schemas.microsoft.com/office/drawing/2014/main" id="{1FA1A21A-DF1D-493A-A834-8DB28B642433}"/>
              </a:ext>
            </a:extLst>
          </p:cNvPr>
          <p:cNvSpPr>
            <a:spLocks xmlns:a="http://schemas.openxmlformats.org/drawingml/2006/main" noGrp="1"/>
          </p:cNvSpPr>
          <p:nvPr/>
        </p:nvSpPr>
        <p:spPr>
          <a:xfrm xmlns:a="http://schemas.openxmlformats.org/drawingml/2006/main">
            <a:off x="8486775" y="1714500"/>
            <a:ext cx="3095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F2F"/>
                </a:solidFill>
                <a:latin typeface="Arial"/>
                <a:ea typeface="Arial"/>
                <a:cs typeface="Arial"/>
              </a:defRPr>
            </a:defPPr>
          </a:lstStyle>
          <a:p xmlns:a="http://schemas.openxmlformats.org/drawingml/2006/main">
            <a:pPr>
              <a:defRPr sz="2175" b="1">
                <a:solidFill>
                  <a:srgbClr val="173F2F"/>
                </a:solidFill>
                <a:latin typeface="Arial"/>
                <a:ea typeface="Arial"/>
                <a:cs typeface="Arial"/>
              </a:defRPr>
            </a:pPr>
            <a:r>
              <a:rPr sz="2175" b="1">
                <a:solidFill>
                  <a:srgbClr val="173F2F"/>
                </a:solidFill>
                <a:latin typeface="Arial"/>
                <a:ea typeface="Arial"/>
                <a:cs typeface="Arial"/>
              </a:rPr>
              <a:t>Salidas</a:t>
            </a:r>
          </a:p>
        </p:txBody>
      </p:sp>
      <p:sp>
        <p:nvSpPr>
          <p:cNvPr id="8" name="Materia">
            <a:extLst xmlns:a="http://schemas.openxmlformats.org/drawingml/2006/main">
              <a:ext uri="{FF2B5EF4-FFF2-40B4-BE49-F238E27FC236}">
                <a16:creationId xmlns:a16="http://schemas.microsoft.com/office/drawing/2014/main" id="{1B54D537-8A03-4760-86D1-3EF85551118C}"/>
              </a:ext>
            </a:extLst>
          </p:cNvPr>
          <p:cNvSpPr>
            <a:spLocks xmlns:a="http://schemas.openxmlformats.org/drawingml/2006/main" noGrp="1"/>
          </p:cNvSpPr>
          <p:nvPr/>
        </p:nvSpPr>
        <p:spPr>
          <a:xfrm xmlns:a="http://schemas.openxmlformats.org/drawingml/2006/main">
            <a:off x="571500" y="2305050"/>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Materia</a:t>
            </a:r>
          </a:p>
        </p:txBody>
      </p:sp>
      <p:sp>
        <p:nvSpPr>
          <p:cNvPr id="9" name="Porción + recipiente">
            <a:extLst xmlns:a="http://schemas.openxmlformats.org/drawingml/2006/main">
              <a:ext uri="{FF2B5EF4-FFF2-40B4-BE49-F238E27FC236}">
                <a16:creationId xmlns:a16="http://schemas.microsoft.com/office/drawing/2014/main" id="{F0921F8F-B9C0-49CC-A130-6AB4A3E6EC75}"/>
              </a:ext>
            </a:extLst>
          </p:cNvPr>
          <p:cNvSpPr>
            <a:spLocks xmlns:a="http://schemas.openxmlformats.org/drawingml/2006/main" noGrp="1"/>
          </p:cNvSpPr>
          <p:nvPr/>
        </p:nvSpPr>
        <p:spPr>
          <a:xfrm xmlns:a="http://schemas.openxmlformats.org/drawingml/2006/main">
            <a:off x="571500" y="2628900"/>
            <a:ext cx="3257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Porción + recipiente</a:t>
            </a:r>
          </a:p>
        </p:txBody>
      </p:sp>
      <p:sp>
        <p:nvSpPr>
          <p:cNvPr id="10" name="Porción + recipiente&#10;sin alteración intencional">
            <a:extLst xmlns:a="http://schemas.openxmlformats.org/drawingml/2006/main">
              <a:ext uri="{FF2B5EF4-FFF2-40B4-BE49-F238E27FC236}">
                <a16:creationId xmlns:a16="http://schemas.microsoft.com/office/drawing/2014/main" id="{697F9F00-6D38-45E8-99D7-4444EDF8EEC0}"/>
              </a:ext>
            </a:extLst>
          </p:cNvPr>
          <p:cNvSpPr>
            <a:spLocks xmlns:a="http://schemas.openxmlformats.org/drawingml/2006/main" noGrp="1"/>
          </p:cNvSpPr>
          <p:nvPr/>
        </p:nvSpPr>
        <p:spPr>
          <a:xfrm xmlns:a="http://schemas.openxmlformats.org/drawingml/2006/main">
            <a:off x="8486775" y="2543175"/>
            <a:ext cx="31146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Porción + recipiente</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sin alteración intencional</a:t>
            </a:r>
          </a:p>
        </p:txBody>
      </p:sp>
      <p:sp>
        <p:nvSpPr>
          <p:cNvPr id="11" name="">
            <a:extLst xmlns:a="http://schemas.openxmlformats.org/drawingml/2006/main">
              <a:ext uri="{FF2B5EF4-FFF2-40B4-BE49-F238E27FC236}">
                <a16:creationId xmlns:a16="http://schemas.microsoft.com/office/drawing/2014/main" id="{62FCFDC1-9FC7-4173-B250-85FCF4647254}"/>
              </a:ext>
            </a:extLst>
          </p:cNvPr>
          <p:cNvSpPr>
            <a:spLocks xmlns:a="http://schemas.openxmlformats.org/drawingml/2006/main" noGrp="1"/>
          </p:cNvSpPr>
          <p:nvPr/>
        </p:nvSpPr>
        <p:spPr>
          <a:xfrm xmlns:a="http://schemas.openxmlformats.org/drawingml/2006/main" rot="0">
            <a:off x="3495675" y="2790825"/>
            <a:ext cx="50482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34877A8-3627-4D03-9F57-0E0A1EEB7183}"/>
              </a:ext>
            </a:extLst>
          </p:cNvPr>
          <p:cNvSpPr>
            <a:spLocks xmlns:a="http://schemas.openxmlformats.org/drawingml/2006/main" noGrp="1"/>
          </p:cNvSpPr>
          <p:nvPr/>
        </p:nvSpPr>
        <p:spPr>
          <a:xfrm xmlns:a="http://schemas.openxmlformats.org/drawingml/2006/main" rot="5400000">
            <a:off x="3981450" y="2752725"/>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95CDE7F-1DA8-49E4-A54F-EAE74BB32AEA}"/>
              </a:ext>
            </a:extLst>
          </p:cNvPr>
          <p:cNvSpPr>
            <a:spLocks xmlns:a="http://schemas.openxmlformats.org/drawingml/2006/main" noGrp="1"/>
          </p:cNvSpPr>
          <p:nvPr/>
        </p:nvSpPr>
        <p:spPr>
          <a:xfrm xmlns:a="http://schemas.openxmlformats.org/drawingml/2006/main" rot="0">
            <a:off x="8048625" y="2790825"/>
            <a:ext cx="209550"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4C70201-5CE0-4986-A966-832760EF40DA}"/>
              </a:ext>
            </a:extLst>
          </p:cNvPr>
          <p:cNvSpPr>
            <a:spLocks xmlns:a="http://schemas.openxmlformats.org/drawingml/2006/main" noGrp="1"/>
          </p:cNvSpPr>
          <p:nvPr/>
        </p:nvSpPr>
        <p:spPr>
          <a:xfrm xmlns:a="http://schemas.openxmlformats.org/drawingml/2006/main" rot="5400000">
            <a:off x="8239125" y="2752725"/>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15" name="Energía">
            <a:extLst xmlns:a="http://schemas.openxmlformats.org/drawingml/2006/main">
              <a:ext uri="{FF2B5EF4-FFF2-40B4-BE49-F238E27FC236}">
                <a16:creationId xmlns:a16="http://schemas.microsoft.com/office/drawing/2014/main" id="{31D9C105-311E-4F1D-8B78-F9F3F98E9D91}"/>
              </a:ext>
            </a:extLst>
          </p:cNvPr>
          <p:cNvSpPr>
            <a:spLocks xmlns:a="http://schemas.openxmlformats.org/drawingml/2006/main" noGrp="1"/>
          </p:cNvSpPr>
          <p:nvPr/>
        </p:nvSpPr>
        <p:spPr>
          <a:xfrm xmlns:a="http://schemas.openxmlformats.org/drawingml/2006/main">
            <a:off x="571500" y="355282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Energía</a:t>
            </a:r>
          </a:p>
        </p:txBody>
      </p:sp>
      <p:sp>
        <p:nvSpPr>
          <p:cNvPr id="16" name="Electricidad">
            <a:extLst xmlns:a="http://schemas.openxmlformats.org/drawingml/2006/main">
              <a:ext uri="{FF2B5EF4-FFF2-40B4-BE49-F238E27FC236}">
                <a16:creationId xmlns:a16="http://schemas.microsoft.com/office/drawing/2014/main" id="{4FE9D6D4-7A52-4CA0-83B4-7D565838D750}"/>
              </a:ext>
            </a:extLst>
          </p:cNvPr>
          <p:cNvSpPr>
            <a:spLocks xmlns:a="http://schemas.openxmlformats.org/drawingml/2006/main" noGrp="1"/>
          </p:cNvSpPr>
          <p:nvPr/>
        </p:nvSpPr>
        <p:spPr>
          <a:xfrm xmlns:a="http://schemas.openxmlformats.org/drawingml/2006/main">
            <a:off x="571500" y="3876675"/>
            <a:ext cx="3257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Electricidad</a:t>
            </a:r>
          </a:p>
        </p:txBody>
      </p:sp>
      <p:sp>
        <p:nvSpPr>
          <p:cNvPr id="17" name="Calor disipado">
            <a:extLst xmlns:a="http://schemas.openxmlformats.org/drawingml/2006/main">
              <a:ext uri="{FF2B5EF4-FFF2-40B4-BE49-F238E27FC236}">
                <a16:creationId xmlns:a16="http://schemas.microsoft.com/office/drawing/2014/main" id="{5E7035C7-7E11-4055-A5E9-DE931713C91E}"/>
              </a:ext>
            </a:extLst>
          </p:cNvPr>
          <p:cNvSpPr>
            <a:spLocks xmlns:a="http://schemas.openxmlformats.org/drawingml/2006/main" noGrp="1"/>
          </p:cNvSpPr>
          <p:nvPr/>
        </p:nvSpPr>
        <p:spPr>
          <a:xfrm xmlns:a="http://schemas.openxmlformats.org/drawingml/2006/main">
            <a:off x="8486775" y="3790950"/>
            <a:ext cx="31146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Calor disipado</a:t>
            </a:r>
          </a:p>
        </p:txBody>
      </p:sp>
      <p:sp>
        <p:nvSpPr>
          <p:cNvPr id="18" name="">
            <a:extLst xmlns:a="http://schemas.openxmlformats.org/drawingml/2006/main">
              <a:ext uri="{FF2B5EF4-FFF2-40B4-BE49-F238E27FC236}">
                <a16:creationId xmlns:a16="http://schemas.microsoft.com/office/drawing/2014/main" id="{2359F4A6-AF0F-4F58-84C5-2ACFC5052EAF}"/>
              </a:ext>
            </a:extLst>
          </p:cNvPr>
          <p:cNvSpPr>
            <a:spLocks xmlns:a="http://schemas.openxmlformats.org/drawingml/2006/main" noGrp="1"/>
          </p:cNvSpPr>
          <p:nvPr/>
        </p:nvSpPr>
        <p:spPr>
          <a:xfrm xmlns:a="http://schemas.openxmlformats.org/drawingml/2006/main" rot="0">
            <a:off x="3495675" y="4038600"/>
            <a:ext cx="50482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C7187A1-965A-4BDA-A572-DD6D0BE5AAC1}"/>
              </a:ext>
            </a:extLst>
          </p:cNvPr>
          <p:cNvSpPr>
            <a:spLocks xmlns:a="http://schemas.openxmlformats.org/drawingml/2006/main" noGrp="1"/>
          </p:cNvSpPr>
          <p:nvPr/>
        </p:nvSpPr>
        <p:spPr>
          <a:xfrm xmlns:a="http://schemas.openxmlformats.org/drawingml/2006/main" rot="5400000">
            <a:off x="3981450" y="40005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E3D6ECE-579B-4042-8491-3FD3CCAF803A}"/>
              </a:ext>
            </a:extLst>
          </p:cNvPr>
          <p:cNvSpPr>
            <a:spLocks xmlns:a="http://schemas.openxmlformats.org/drawingml/2006/main" noGrp="1"/>
          </p:cNvSpPr>
          <p:nvPr/>
        </p:nvSpPr>
        <p:spPr>
          <a:xfrm xmlns:a="http://schemas.openxmlformats.org/drawingml/2006/main" rot="0">
            <a:off x="8048625" y="4038600"/>
            <a:ext cx="209550"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DDF650C-7676-42AF-AD33-093E8688B430}"/>
              </a:ext>
            </a:extLst>
          </p:cNvPr>
          <p:cNvSpPr>
            <a:spLocks xmlns:a="http://schemas.openxmlformats.org/drawingml/2006/main" noGrp="1"/>
          </p:cNvSpPr>
          <p:nvPr/>
        </p:nvSpPr>
        <p:spPr>
          <a:xfrm xmlns:a="http://schemas.openxmlformats.org/drawingml/2006/main" rot="5400000">
            <a:off x="8239125" y="40005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22" name="Señales">
            <a:extLst xmlns:a="http://schemas.openxmlformats.org/drawingml/2006/main">
              <a:ext uri="{FF2B5EF4-FFF2-40B4-BE49-F238E27FC236}">
                <a16:creationId xmlns:a16="http://schemas.microsoft.com/office/drawing/2014/main" id="{34CD38E7-72C8-44BD-AE75-8CF63A6BED0D}"/>
              </a:ext>
            </a:extLst>
          </p:cNvPr>
          <p:cNvSpPr>
            <a:spLocks xmlns:a="http://schemas.openxmlformats.org/drawingml/2006/main" noGrp="1"/>
          </p:cNvSpPr>
          <p:nvPr/>
        </p:nvSpPr>
        <p:spPr>
          <a:xfrm xmlns:a="http://schemas.openxmlformats.org/drawingml/2006/main">
            <a:off x="571500" y="4800600"/>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Señales</a:t>
            </a:r>
          </a:p>
        </p:txBody>
      </p:sp>
      <p:sp>
        <p:nvSpPr>
          <p:cNvPr id="23" name="Foto, masa neta y órdenes&#10;Referencia por 100 g">
            <a:extLst xmlns:a="http://schemas.openxmlformats.org/drawingml/2006/main">
              <a:ext uri="{FF2B5EF4-FFF2-40B4-BE49-F238E27FC236}">
                <a16:creationId xmlns:a16="http://schemas.microsoft.com/office/drawing/2014/main" id="{9B7C0BB0-3A67-4724-9AE2-1047F24F67E3}"/>
              </a:ext>
            </a:extLst>
          </p:cNvPr>
          <p:cNvSpPr>
            <a:spLocks xmlns:a="http://schemas.openxmlformats.org/drawingml/2006/main" noGrp="1"/>
          </p:cNvSpPr>
          <p:nvPr/>
        </p:nvSpPr>
        <p:spPr>
          <a:xfrm xmlns:a="http://schemas.openxmlformats.org/drawingml/2006/main">
            <a:off x="571500" y="5124450"/>
            <a:ext cx="3257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Foto, masa neta y órdenes</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Referencia por 100 g</a:t>
            </a:r>
          </a:p>
        </p:txBody>
      </p:sp>
      <p:sp>
        <p:nvSpPr>
          <p:cNvPr id="24" name="g, kcal y macros&#10;Fuente, estado e historial">
            <a:extLst xmlns:a="http://schemas.openxmlformats.org/drawingml/2006/main">
              <a:ext uri="{FF2B5EF4-FFF2-40B4-BE49-F238E27FC236}">
                <a16:creationId xmlns:a16="http://schemas.microsoft.com/office/drawing/2014/main" id="{F41A8AC5-3E63-4594-92B1-D86DD5E553CE}"/>
              </a:ext>
            </a:extLst>
          </p:cNvPr>
          <p:cNvSpPr>
            <a:spLocks xmlns:a="http://schemas.openxmlformats.org/drawingml/2006/main" noGrp="1"/>
          </p:cNvSpPr>
          <p:nvPr/>
        </p:nvSpPr>
        <p:spPr>
          <a:xfrm xmlns:a="http://schemas.openxmlformats.org/drawingml/2006/main">
            <a:off x="8486775" y="5038725"/>
            <a:ext cx="31146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g, kcal y macros</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Fuente, estado e historial</a:t>
            </a:r>
          </a:p>
        </p:txBody>
      </p:sp>
      <p:sp>
        <p:nvSpPr>
          <p:cNvPr id="25" name="">
            <a:extLst xmlns:a="http://schemas.openxmlformats.org/drawingml/2006/main">
              <a:ext uri="{FF2B5EF4-FFF2-40B4-BE49-F238E27FC236}">
                <a16:creationId xmlns:a16="http://schemas.microsoft.com/office/drawing/2014/main" id="{60075FD3-0A38-4EBA-8E25-EE812F9B37C0}"/>
              </a:ext>
            </a:extLst>
          </p:cNvPr>
          <p:cNvSpPr>
            <a:spLocks xmlns:a="http://schemas.openxmlformats.org/drawingml/2006/main" noGrp="1"/>
          </p:cNvSpPr>
          <p:nvPr/>
        </p:nvSpPr>
        <p:spPr>
          <a:xfrm xmlns:a="http://schemas.openxmlformats.org/drawingml/2006/main" rot="0">
            <a:off x="3495675" y="5286375"/>
            <a:ext cx="50482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3B45E6C-3242-4367-BCFA-88635829C8F6}"/>
              </a:ext>
            </a:extLst>
          </p:cNvPr>
          <p:cNvSpPr>
            <a:spLocks xmlns:a="http://schemas.openxmlformats.org/drawingml/2006/main" noGrp="1"/>
          </p:cNvSpPr>
          <p:nvPr/>
        </p:nvSpPr>
        <p:spPr>
          <a:xfrm xmlns:a="http://schemas.openxmlformats.org/drawingml/2006/main" rot="5400000">
            <a:off x="3981450" y="5248275"/>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C53AD76-5A9F-49C0-A0A9-695918142B1D}"/>
              </a:ext>
            </a:extLst>
          </p:cNvPr>
          <p:cNvSpPr>
            <a:spLocks xmlns:a="http://schemas.openxmlformats.org/drawingml/2006/main" noGrp="1"/>
          </p:cNvSpPr>
          <p:nvPr/>
        </p:nvSpPr>
        <p:spPr>
          <a:xfrm xmlns:a="http://schemas.openxmlformats.org/drawingml/2006/main" rot="0">
            <a:off x="8048625" y="5286375"/>
            <a:ext cx="209550"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ED1543C-30C4-4624-AECC-1282F4DF701C}"/>
              </a:ext>
            </a:extLst>
          </p:cNvPr>
          <p:cNvSpPr>
            <a:spLocks xmlns:a="http://schemas.openxmlformats.org/drawingml/2006/main" noGrp="1"/>
          </p:cNvSpPr>
          <p:nvPr/>
        </p:nvSpPr>
        <p:spPr>
          <a:xfrm xmlns:a="http://schemas.openxmlformats.org/drawingml/2006/main" rot="5400000">
            <a:off x="8239125" y="5248275"/>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29" name="El alimento se pesa y se observa; los nutrientes s">
            <a:extLst xmlns:a="http://schemas.openxmlformats.org/drawingml/2006/main">
              <a:ext uri="{FF2B5EF4-FFF2-40B4-BE49-F238E27FC236}">
                <a16:creationId xmlns:a16="http://schemas.microsoft.com/office/drawing/2014/main" id="{76D72DBF-1224-4BEC-836B-CF565160272B}"/>
              </a:ext>
            </a:extLst>
          </p:cNvPr>
          <p:cNvSpPr>
            <a:spLocks xmlns:a="http://schemas.openxmlformats.org/drawingml/2006/main" noGrp="1"/>
          </p:cNvSpPr>
          <p:nvPr/>
        </p:nvSpPr>
        <p:spPr>
          <a:xfrm xmlns:a="http://schemas.openxmlformats.org/drawingml/2006/main">
            <a:off x="571500" y="5953125"/>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El alimento se pesa y se observa; los nutrientes se calculan con una referencia.</a:t>
            </a:r>
          </a:p>
        </p:txBody>
      </p:sp>
    </p:spTree>
    <p:extLst>
      <p:ext uri="{BB962C8B-B14F-4D97-AF65-F5344CB8AC3E}">
        <p14:creationId xmlns:p14="http://schemas.microsoft.com/office/powerpoint/2010/main" val="1309384091"/>
      </p:ext>
    </p:extLst>
  </p:cSld>
</p:sld>
</file>

<file path=ppt/slides/slide10.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3" name="5. Secuencia de operaciones: usuario">
            <a:extLst xmlns:a="http://schemas.openxmlformats.org/drawingml/2006/main">
              <a:ext uri="{FF2B5EF4-FFF2-40B4-BE49-F238E27FC236}">
                <a16:creationId xmlns:a16="http://schemas.microsoft.com/office/drawing/2014/main" id="{C7DB634D-8D28-44F3-9D88-DC846329C742}"/>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5. Secuencia de operaciones: usuario</a:t>
            </a:r>
          </a:p>
        </p:txBody>
      </p:sp>
      <p:sp>
        <p:nvSpPr>
          <p:cNvPr id="2" name="Flujo del registro actual con balanza externa. Un ">
            <a:extLst xmlns:a="http://schemas.openxmlformats.org/drawingml/2006/main">
              <a:ext uri="{FF2B5EF4-FFF2-40B4-BE49-F238E27FC236}">
                <a16:creationId xmlns:a16="http://schemas.microsoft.com/office/drawing/2014/main" id="{6A8E1106-3777-42C7-B4ED-A469C527C0AE}"/>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Flujo del registro actual con balanza externa. Un único peso neto del plato.</a:t>
            </a:r>
          </a:p>
        </p:txBody>
      </p:sp>
      <p:sp>
        <p:nvSpPr>
          <p:cNvPr id="3" name="Fuentes [24]. Referencias al final.">
            <a:extLst xmlns:a="http://schemas.openxmlformats.org/drawingml/2006/main">
              <a:ext uri="{FF2B5EF4-FFF2-40B4-BE49-F238E27FC236}">
                <a16:creationId xmlns:a16="http://schemas.microsoft.com/office/drawing/2014/main" id="{7A8B634D-9CD1-4ABF-BCB5-A6F53B3E1431}"/>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[24]. Referencias al final.</a:t>
            </a:r>
          </a:p>
        </p:txBody>
      </p:sp>
      <p:sp>
        <p:nvSpPr>
          <p:cNvPr id="4" name="10">
            <a:extLst xmlns:a="http://schemas.openxmlformats.org/drawingml/2006/main">
              <a:ext uri="{FF2B5EF4-FFF2-40B4-BE49-F238E27FC236}">
                <a16:creationId xmlns:a16="http://schemas.microsoft.com/office/drawing/2014/main" id="{C4517115-B517-447B-B788-4724465D8688}"/>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10</a:t>
            </a:r>
          </a:p>
        </p:txBody>
      </p:sp>
      <p:sp>
        <p:nvSpPr>
          <p:cNvPr id="5" name="1. Preparar y fotografiar">
            <a:extLst xmlns:a="http://schemas.openxmlformats.org/drawingml/2006/main">
              <a:ext uri="{FF2B5EF4-FFF2-40B4-BE49-F238E27FC236}">
                <a16:creationId xmlns:a16="http://schemas.microsoft.com/office/drawing/2014/main" id="{CC23D1D2-792B-4211-ACF2-D689BC182358}"/>
              </a:ext>
            </a:extLst>
          </p:cNvPr>
          <p:cNvSpPr>
            <a:spLocks xmlns:a="http://schemas.openxmlformats.org/drawingml/2006/main" noGrp="1"/>
          </p:cNvSpPr>
          <p:nvPr/>
        </p:nvSpPr>
        <p:spPr>
          <a:xfrm xmlns:a="http://schemas.openxmlformats.org/drawingml/2006/main">
            <a:off x="571500" y="1695450"/>
            <a:ext cx="26289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1. Preparar y fotografiar</a:t>
            </a:r>
          </a:p>
        </p:txBody>
      </p:sp>
      <p:pic>
        <p:nvPicPr>
          <p:cNvPr id="6" name="">
            <a:extLst xmlns:a="http://schemas.openxmlformats.org/drawingml/2006/main">
              <a:ext uri="{FF2B5EF4-FFF2-40B4-BE49-F238E27FC236}">
                <a16:creationId xmlns:a16="http://schemas.microsoft.com/office/drawing/2014/main" id="{329CB199-FE9F-4813-AF1D-44723E0F2DD1}"/>
              </a:ext>
            </a:extLst>
          </p:cNvPr>
          <p:cNvPicPr>
            <a:picLocks xmlns:a="http://schemas.openxmlformats.org/drawingml/2006/main" noChangeAspect="1"/>
          </p:cNvPicPr>
          <p:nvPr/>
        </p:nvPicPr>
        <p:blipFill>
          <a:blip xmlns:r="http://schemas.openxmlformats.org/officeDocument/2006/relationships" xmlns:a="http://schemas.openxmlformats.org/drawingml/2006/main" r:embed="R06db773e26034c87"/>
          <a:stretch xmlns:a="http://schemas.openxmlformats.org/drawingml/2006/main"/>
        </p:blipFill>
        <p:spPr>
          <a:xfrm xmlns:a="http://schemas.openxmlformats.org/drawingml/2006/main">
            <a:off x="1185730" y="2362200"/>
            <a:ext cx="1305191" cy="2828925"/>
          </a:xfrm>
          <a:prstGeom xmlns:a="http://schemas.openxmlformats.org/drawingml/2006/main" prst="rect">
            <a:avLst/>
          </a:prstGeom>
        </p:spPr>
      </p:pic>
      <p:sp>
        <p:nvSpPr>
          <p:cNvPr id="7" name="Abrir Escanear mi plato.&#10;Foto o imagen de galería.">
            <a:extLst xmlns:a="http://schemas.openxmlformats.org/drawingml/2006/main">
              <a:ext uri="{FF2B5EF4-FFF2-40B4-BE49-F238E27FC236}">
                <a16:creationId xmlns:a16="http://schemas.microsoft.com/office/drawing/2014/main" id="{EA525EE6-A724-4159-9FEF-779A84144297}"/>
              </a:ext>
            </a:extLst>
          </p:cNvPr>
          <p:cNvSpPr>
            <a:spLocks xmlns:a="http://schemas.openxmlformats.org/drawingml/2006/main" noGrp="1"/>
          </p:cNvSpPr>
          <p:nvPr/>
        </p:nvSpPr>
        <p:spPr>
          <a:xfrm xmlns:a="http://schemas.openxmlformats.org/drawingml/2006/main">
            <a:off x="571500" y="5505450"/>
            <a:ext cx="264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Abrir Escanear mi plato.</a:t>
            </a:r>
          </a:p>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Foto o imagen de galería.</a:t>
            </a:r>
          </a:p>
        </p:txBody>
      </p:sp>
      <p:sp>
        <p:nvSpPr>
          <p:cNvPr id="8" name="">
            <a:extLst xmlns:a="http://schemas.openxmlformats.org/drawingml/2006/main">
              <a:ext uri="{FF2B5EF4-FFF2-40B4-BE49-F238E27FC236}">
                <a16:creationId xmlns:a16="http://schemas.microsoft.com/office/drawing/2014/main" id="{6C67DB5D-1C47-45E4-8190-E0156A53ED8D}"/>
              </a:ext>
            </a:extLst>
          </p:cNvPr>
          <p:cNvSpPr>
            <a:spLocks xmlns:a="http://schemas.openxmlformats.org/drawingml/2006/main" noGrp="1"/>
          </p:cNvSpPr>
          <p:nvPr/>
        </p:nvSpPr>
        <p:spPr>
          <a:xfrm xmlns:a="http://schemas.openxmlformats.org/drawingml/2006/main" rot="0">
            <a:off x="3114675" y="3676650"/>
            <a:ext cx="8572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8DE548C-7460-4491-8145-C999066C4D00}"/>
              </a:ext>
            </a:extLst>
          </p:cNvPr>
          <p:cNvSpPr>
            <a:spLocks xmlns:a="http://schemas.openxmlformats.org/drawingml/2006/main" noGrp="1"/>
          </p:cNvSpPr>
          <p:nvPr/>
        </p:nvSpPr>
        <p:spPr>
          <a:xfrm xmlns:a="http://schemas.openxmlformats.org/drawingml/2006/main" rot="5400000">
            <a:off x="3181350" y="363855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10" name="2. Tarar e ingresar masa">
            <a:extLst xmlns:a="http://schemas.openxmlformats.org/drawingml/2006/main">
              <a:ext uri="{FF2B5EF4-FFF2-40B4-BE49-F238E27FC236}">
                <a16:creationId xmlns:a16="http://schemas.microsoft.com/office/drawing/2014/main" id="{48841C48-2012-4622-BF5A-C4C521AAE014}"/>
              </a:ext>
            </a:extLst>
          </p:cNvPr>
          <p:cNvSpPr>
            <a:spLocks xmlns:a="http://schemas.openxmlformats.org/drawingml/2006/main" noGrp="1"/>
          </p:cNvSpPr>
          <p:nvPr/>
        </p:nvSpPr>
        <p:spPr>
          <a:xfrm xmlns:a="http://schemas.openxmlformats.org/drawingml/2006/main">
            <a:off x="3371850" y="1695450"/>
            <a:ext cx="26289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2. Tarar e ingresar masa</a:t>
            </a:r>
          </a:p>
        </p:txBody>
      </p:sp>
      <p:pic>
        <p:nvPicPr>
          <p:cNvPr id="11" name="">
            <a:extLst xmlns:a="http://schemas.openxmlformats.org/drawingml/2006/main">
              <a:ext uri="{FF2B5EF4-FFF2-40B4-BE49-F238E27FC236}">
                <a16:creationId xmlns:a16="http://schemas.microsoft.com/office/drawing/2014/main" id="{08E91AC9-208D-42DF-ADFA-C0893DBE3820}"/>
              </a:ext>
            </a:extLst>
          </p:cNvPr>
          <p:cNvPicPr>
            <a:picLocks xmlns:a="http://schemas.openxmlformats.org/drawingml/2006/main" noChangeAspect="1"/>
          </p:cNvPicPr>
          <p:nvPr/>
        </p:nvPicPr>
        <p:blipFill>
          <a:blip xmlns:r="http://schemas.openxmlformats.org/officeDocument/2006/relationships" xmlns:a="http://schemas.openxmlformats.org/drawingml/2006/main" r:embed="R562bb3ca2a2b4c2f"/>
          <a:stretch xmlns:a="http://schemas.openxmlformats.org/drawingml/2006/main"/>
        </p:blipFill>
        <p:spPr>
          <a:xfrm xmlns:a="http://schemas.openxmlformats.org/drawingml/2006/main">
            <a:off x="3763703" y="2362200"/>
            <a:ext cx="1749944" cy="2828925"/>
          </a:xfrm>
          <a:prstGeom xmlns:a="http://schemas.openxmlformats.org/drawingml/2006/main" prst="rect">
            <a:avLst/>
          </a:prstGeom>
        </p:spPr>
      </p:pic>
      <p:sp>
        <p:nvSpPr>
          <p:cNvPr id="12" name="Descontar el recipiente.&#10;Un peso neto total.">
            <a:extLst xmlns:a="http://schemas.openxmlformats.org/drawingml/2006/main">
              <a:ext uri="{FF2B5EF4-FFF2-40B4-BE49-F238E27FC236}">
                <a16:creationId xmlns:a16="http://schemas.microsoft.com/office/drawing/2014/main" id="{B42E3D35-C300-42B6-ADDE-3DAB5C793003}"/>
              </a:ext>
            </a:extLst>
          </p:cNvPr>
          <p:cNvSpPr>
            <a:spLocks xmlns:a="http://schemas.openxmlformats.org/drawingml/2006/main" noGrp="1"/>
          </p:cNvSpPr>
          <p:nvPr/>
        </p:nvSpPr>
        <p:spPr>
          <a:xfrm xmlns:a="http://schemas.openxmlformats.org/drawingml/2006/main">
            <a:off x="3371850" y="5505450"/>
            <a:ext cx="264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Descontar el recipiente.</a:t>
            </a:r>
          </a:p>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Un peso neto total.</a:t>
            </a:r>
          </a:p>
        </p:txBody>
      </p:sp>
      <p:sp>
        <p:nvSpPr>
          <p:cNvPr id="13" name="">
            <a:extLst xmlns:a="http://schemas.openxmlformats.org/drawingml/2006/main">
              <a:ext uri="{FF2B5EF4-FFF2-40B4-BE49-F238E27FC236}">
                <a16:creationId xmlns:a16="http://schemas.microsoft.com/office/drawing/2014/main" id="{9D23A852-20A5-4E3B-9B4E-ADADF70B1831}"/>
              </a:ext>
            </a:extLst>
          </p:cNvPr>
          <p:cNvSpPr>
            <a:spLocks xmlns:a="http://schemas.openxmlformats.org/drawingml/2006/main" noGrp="1"/>
          </p:cNvSpPr>
          <p:nvPr/>
        </p:nvSpPr>
        <p:spPr>
          <a:xfrm xmlns:a="http://schemas.openxmlformats.org/drawingml/2006/main" rot="0">
            <a:off x="5915025" y="3676650"/>
            <a:ext cx="8572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59A3D0C-970E-4AE8-BCD5-4479425A9BDA}"/>
              </a:ext>
            </a:extLst>
          </p:cNvPr>
          <p:cNvSpPr>
            <a:spLocks xmlns:a="http://schemas.openxmlformats.org/drawingml/2006/main" noGrp="1"/>
          </p:cNvSpPr>
          <p:nvPr/>
        </p:nvSpPr>
        <p:spPr>
          <a:xfrm xmlns:a="http://schemas.openxmlformats.org/drawingml/2006/main" rot="5400000">
            <a:off x="5981700" y="363855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15" name="3. Analizar y revisar">
            <a:extLst xmlns:a="http://schemas.openxmlformats.org/drawingml/2006/main">
              <a:ext uri="{FF2B5EF4-FFF2-40B4-BE49-F238E27FC236}">
                <a16:creationId xmlns:a16="http://schemas.microsoft.com/office/drawing/2014/main" id="{5675C80E-8B08-4AFD-82E5-596CD865E509}"/>
              </a:ext>
            </a:extLst>
          </p:cNvPr>
          <p:cNvSpPr>
            <a:spLocks xmlns:a="http://schemas.openxmlformats.org/drawingml/2006/main" noGrp="1"/>
          </p:cNvSpPr>
          <p:nvPr/>
        </p:nvSpPr>
        <p:spPr>
          <a:xfrm xmlns:a="http://schemas.openxmlformats.org/drawingml/2006/main">
            <a:off x="6172200" y="1695450"/>
            <a:ext cx="26289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3. Analizar y revisar</a:t>
            </a:r>
          </a:p>
        </p:txBody>
      </p:sp>
      <p:pic>
        <p:nvPicPr>
          <p:cNvPr id="16" name="">
            <a:extLst xmlns:a="http://schemas.openxmlformats.org/drawingml/2006/main">
              <a:ext uri="{FF2B5EF4-FFF2-40B4-BE49-F238E27FC236}">
                <a16:creationId xmlns:a16="http://schemas.microsoft.com/office/drawing/2014/main" id="{691EB187-2D83-41E2-A056-6654B25DB387}"/>
              </a:ext>
            </a:extLst>
          </p:cNvPr>
          <p:cNvPicPr>
            <a:picLocks xmlns:a="http://schemas.openxmlformats.org/drawingml/2006/main" noChangeAspect="1"/>
          </p:cNvPicPr>
          <p:nvPr/>
        </p:nvPicPr>
        <p:blipFill>
          <a:blip xmlns:r="http://schemas.openxmlformats.org/officeDocument/2006/relationships" xmlns:a="http://schemas.openxmlformats.org/drawingml/2006/main" r:embed="Ra56ce437c70c4eb7"/>
          <a:stretch xmlns:a="http://schemas.openxmlformats.org/drawingml/2006/main"/>
        </p:blipFill>
        <p:spPr>
          <a:xfrm xmlns:a="http://schemas.openxmlformats.org/drawingml/2006/main">
            <a:off x="6884165" y="2362200"/>
            <a:ext cx="1109721" cy="2828925"/>
          </a:xfrm>
          <a:prstGeom xmlns:a="http://schemas.openxmlformats.org/drawingml/2006/main" prst="rect">
            <a:avLst/>
          </a:prstGeom>
        </p:spPr>
      </p:pic>
      <p:sp>
        <p:nvSpPr>
          <p:cNvPr id="17" name="Identidad y gramos.&#10;Corregir antes de confirmar.">
            <a:extLst xmlns:a="http://schemas.openxmlformats.org/drawingml/2006/main">
              <a:ext uri="{FF2B5EF4-FFF2-40B4-BE49-F238E27FC236}">
                <a16:creationId xmlns:a16="http://schemas.microsoft.com/office/drawing/2014/main" id="{BDC5DA77-EAFC-4391-A2E4-1B345D9666B5}"/>
              </a:ext>
            </a:extLst>
          </p:cNvPr>
          <p:cNvSpPr>
            <a:spLocks xmlns:a="http://schemas.openxmlformats.org/drawingml/2006/main" noGrp="1"/>
          </p:cNvSpPr>
          <p:nvPr/>
        </p:nvSpPr>
        <p:spPr>
          <a:xfrm xmlns:a="http://schemas.openxmlformats.org/drawingml/2006/main">
            <a:off x="6172200" y="5505450"/>
            <a:ext cx="264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Identidad y gramos.</a:t>
            </a:r>
          </a:p>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Corregir antes de confirmar.</a:t>
            </a:r>
          </a:p>
        </p:txBody>
      </p:sp>
      <p:sp>
        <p:nvSpPr>
          <p:cNvPr id="18" name="">
            <a:extLst xmlns:a="http://schemas.openxmlformats.org/drawingml/2006/main">
              <a:ext uri="{FF2B5EF4-FFF2-40B4-BE49-F238E27FC236}">
                <a16:creationId xmlns:a16="http://schemas.microsoft.com/office/drawing/2014/main" id="{A729CF98-9491-48B2-B57E-983B4C2F2655}"/>
              </a:ext>
            </a:extLst>
          </p:cNvPr>
          <p:cNvSpPr>
            <a:spLocks xmlns:a="http://schemas.openxmlformats.org/drawingml/2006/main" noGrp="1"/>
          </p:cNvSpPr>
          <p:nvPr/>
        </p:nvSpPr>
        <p:spPr>
          <a:xfrm xmlns:a="http://schemas.openxmlformats.org/drawingml/2006/main" rot="0">
            <a:off x="8715375" y="3676650"/>
            <a:ext cx="8572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8852E0F-719F-4A72-BD62-554DB3137482}"/>
              </a:ext>
            </a:extLst>
          </p:cNvPr>
          <p:cNvSpPr>
            <a:spLocks xmlns:a="http://schemas.openxmlformats.org/drawingml/2006/main" noGrp="1"/>
          </p:cNvSpPr>
          <p:nvPr/>
        </p:nvSpPr>
        <p:spPr>
          <a:xfrm xmlns:a="http://schemas.openxmlformats.org/drawingml/2006/main" rot="5400000">
            <a:off x="8782050" y="363855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20" name="4. Confirmar y guardar">
            <a:extLst xmlns:a="http://schemas.openxmlformats.org/drawingml/2006/main">
              <a:ext uri="{FF2B5EF4-FFF2-40B4-BE49-F238E27FC236}">
                <a16:creationId xmlns:a16="http://schemas.microsoft.com/office/drawing/2014/main" id="{FFB9B72D-BFD3-4B99-A287-CB10B7C00906}"/>
              </a:ext>
            </a:extLst>
          </p:cNvPr>
          <p:cNvSpPr>
            <a:spLocks xmlns:a="http://schemas.openxmlformats.org/drawingml/2006/main" noGrp="1"/>
          </p:cNvSpPr>
          <p:nvPr/>
        </p:nvSpPr>
        <p:spPr>
          <a:xfrm xmlns:a="http://schemas.openxmlformats.org/drawingml/2006/main">
            <a:off x="8972550" y="1695450"/>
            <a:ext cx="26289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4. Confirmar y guardar</a:t>
            </a:r>
          </a:p>
        </p:txBody>
      </p:sp>
      <p:pic>
        <p:nvPicPr>
          <p:cNvPr id="21" name="">
            <a:extLst xmlns:a="http://schemas.openxmlformats.org/drawingml/2006/main">
              <a:ext uri="{FF2B5EF4-FFF2-40B4-BE49-F238E27FC236}">
                <a16:creationId xmlns:a16="http://schemas.microsoft.com/office/drawing/2014/main" id="{1F6C5D42-452F-4B93-B174-85DB9609C0C9}"/>
              </a:ext>
            </a:extLst>
          </p:cNvPr>
          <p:cNvPicPr>
            <a:picLocks xmlns:a="http://schemas.openxmlformats.org/drawingml/2006/main" noChangeAspect="1"/>
          </p:cNvPicPr>
          <p:nvPr/>
        </p:nvPicPr>
        <p:blipFill>
          <a:blip xmlns:r="http://schemas.openxmlformats.org/officeDocument/2006/relationships" xmlns:a="http://schemas.openxmlformats.org/drawingml/2006/main" r:embed="R3fa3f0e91fef4cac"/>
          <a:stretch xmlns:a="http://schemas.openxmlformats.org/drawingml/2006/main"/>
        </p:blipFill>
        <p:spPr>
          <a:xfrm xmlns:a="http://schemas.openxmlformats.org/drawingml/2006/main">
            <a:off x="9586780" y="2362200"/>
            <a:ext cx="1305191" cy="2828925"/>
          </a:xfrm>
          <a:prstGeom xmlns:a="http://schemas.openxmlformats.org/drawingml/2006/main" prst="rect">
            <a:avLst/>
          </a:prstGeom>
        </p:spPr>
      </p:pic>
      <p:sp>
        <p:nvSpPr>
          <p:cNvPr id="22" name="Guardar el plato.&#10;Consultar el historial.">
            <a:extLst xmlns:a="http://schemas.openxmlformats.org/drawingml/2006/main">
              <a:ext uri="{FF2B5EF4-FFF2-40B4-BE49-F238E27FC236}">
                <a16:creationId xmlns:a16="http://schemas.microsoft.com/office/drawing/2014/main" id="{55F24ED5-A69E-4180-8861-0EC4D8CFD8B9}"/>
              </a:ext>
            </a:extLst>
          </p:cNvPr>
          <p:cNvSpPr>
            <a:spLocks xmlns:a="http://schemas.openxmlformats.org/drawingml/2006/main" noGrp="1"/>
          </p:cNvSpPr>
          <p:nvPr/>
        </p:nvSpPr>
        <p:spPr>
          <a:xfrm xmlns:a="http://schemas.openxmlformats.org/drawingml/2006/main">
            <a:off x="8972550" y="5505450"/>
            <a:ext cx="264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Guardar el plato.</a:t>
            </a:r>
          </a:p>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Consultar el historial.</a:t>
            </a:r>
          </a:p>
        </p:txBody>
      </p:sp>
    </p:spTree>
    <p:extLst>
      <p:ext uri="{BB962C8B-B14F-4D97-AF65-F5344CB8AC3E}">
        <p14:creationId xmlns:p14="http://schemas.microsoft.com/office/powerpoint/2010/main" val="1248705261"/>
      </p:ext>
    </p:extLst>
  </p:cSld>
</p:sld>
</file>

<file path=ppt/slides/slide11.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4" name="5. Secuencia de operaciones: dispositivo">
            <a:extLst xmlns:a="http://schemas.openxmlformats.org/drawingml/2006/main">
              <a:ext uri="{FF2B5EF4-FFF2-40B4-BE49-F238E27FC236}">
                <a16:creationId xmlns:a16="http://schemas.microsoft.com/office/drawing/2014/main" id="{C4B6EBAD-01F4-41D8-A11F-7E8F81006741}"/>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5. Secuencia de operaciones: dispositivo</a:t>
            </a:r>
          </a:p>
        </p:txBody>
      </p:sp>
      <p:sp>
        <p:nvSpPr>
          <p:cNvPr id="2" name="Lógica del sistema objetivo C. La adquisición físi">
            <a:extLst xmlns:a="http://schemas.openxmlformats.org/drawingml/2006/main">
              <a:ext uri="{FF2B5EF4-FFF2-40B4-BE49-F238E27FC236}">
                <a16:creationId xmlns:a16="http://schemas.microsoft.com/office/drawing/2014/main" id="{121BA3D6-D08A-412A-BD59-684A41AE26B1}"/>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Lógica del sistema objetivo C. La adquisición física y su enlace están pendientes.</a:t>
            </a:r>
          </a:p>
        </p:txBody>
      </p:sp>
      <p:sp>
        <p:nvSpPr>
          <p:cNvPr id="3" name="Fuentes [16], [18], [19], [24]. Referencias al fin">
            <a:extLst xmlns:a="http://schemas.openxmlformats.org/drawingml/2006/main">
              <a:ext uri="{FF2B5EF4-FFF2-40B4-BE49-F238E27FC236}">
                <a16:creationId xmlns:a16="http://schemas.microsoft.com/office/drawing/2014/main" id="{DAADF7D3-699B-48F0-85DA-6B6F1B441C95}"/>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[16], [18], [19], [24]. Referencias al final.</a:t>
            </a:r>
          </a:p>
        </p:txBody>
      </p:sp>
      <p:sp>
        <p:nvSpPr>
          <p:cNvPr id="4" name="11">
            <a:extLst xmlns:a="http://schemas.openxmlformats.org/drawingml/2006/main">
              <a:ext uri="{FF2B5EF4-FFF2-40B4-BE49-F238E27FC236}">
                <a16:creationId xmlns:a16="http://schemas.microsoft.com/office/drawing/2014/main" id="{6AA2765C-40F4-4CEF-8F32-160F03E5DCC7}"/>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11</a:t>
            </a:r>
          </a:p>
        </p:txBody>
      </p:sp>
      <p:sp>
        <p:nvSpPr>
          <p:cNvPr id="5" name="1. Habilitar">
            <a:extLst xmlns:a="http://schemas.openxmlformats.org/drawingml/2006/main">
              <a:ext uri="{FF2B5EF4-FFF2-40B4-BE49-F238E27FC236}">
                <a16:creationId xmlns:a16="http://schemas.microsoft.com/office/drawing/2014/main" id="{F769DDA7-D6F3-4BAA-A403-0B136F173115}"/>
              </a:ext>
            </a:extLst>
          </p:cNvPr>
          <p:cNvSpPr>
            <a:spLocks xmlns:a="http://schemas.openxmlformats.org/drawingml/2006/main" noGrp="1"/>
          </p:cNvSpPr>
          <p:nvPr/>
        </p:nvSpPr>
        <p:spPr>
          <a:xfrm xmlns:a="http://schemas.openxmlformats.org/drawingml/2006/main">
            <a:off x="571500" y="1714500"/>
            <a:ext cx="2562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1. Habilitar</a:t>
            </a:r>
          </a:p>
        </p:txBody>
      </p:sp>
      <p:pic>
        <p:nvPicPr>
          <p:cNvPr id="6" name="">
            <a:extLst xmlns:a="http://schemas.openxmlformats.org/drawingml/2006/main">
              <a:ext uri="{FF2B5EF4-FFF2-40B4-BE49-F238E27FC236}">
                <a16:creationId xmlns:a16="http://schemas.microsoft.com/office/drawing/2014/main" id="{6EDFF4F0-79B8-4486-A113-094CD3A3C14B}"/>
              </a:ext>
            </a:extLst>
          </p:cNvPr>
          <p:cNvPicPr>
            <a:picLocks xmlns:a="http://schemas.openxmlformats.org/drawingml/2006/main" noChangeAspect="1"/>
          </p:cNvPicPr>
          <p:nvPr/>
        </p:nvPicPr>
        <p:blipFill>
          <a:blip xmlns:r="http://schemas.openxmlformats.org/officeDocument/2006/relationships" xmlns:a="http://schemas.openxmlformats.org/drawingml/2006/main" r:embed="Rfe3e840d1cb34eb1"/>
          <a:stretch xmlns:a="http://schemas.openxmlformats.org/drawingml/2006/main"/>
        </p:blipFill>
        <p:spPr>
          <a:xfrm xmlns:a="http://schemas.openxmlformats.org/drawingml/2006/main">
            <a:off x="800100" y="2276475"/>
            <a:ext cx="2124075" cy="2124075"/>
          </a:xfrm>
          <a:prstGeom xmlns:a="http://schemas.openxmlformats.org/drawingml/2006/main" prst="rect">
            <a:avLst/>
          </a:prstGeom>
        </p:spPr>
      </p:pic>
      <p:sp>
        <p:nvSpPr>
          <p:cNvPr id="7" name="Energizar y conectar.&#10;Calibración y tara.">
            <a:extLst xmlns:a="http://schemas.openxmlformats.org/drawingml/2006/main">
              <a:ext uri="{FF2B5EF4-FFF2-40B4-BE49-F238E27FC236}">
                <a16:creationId xmlns:a16="http://schemas.microsoft.com/office/drawing/2014/main" id="{2AF64569-7079-456F-AF44-910AE81C8F84}"/>
              </a:ext>
            </a:extLst>
          </p:cNvPr>
          <p:cNvSpPr>
            <a:spLocks xmlns:a="http://schemas.openxmlformats.org/drawingml/2006/main" noGrp="1"/>
          </p:cNvSpPr>
          <p:nvPr/>
        </p:nvSpPr>
        <p:spPr>
          <a:xfrm xmlns:a="http://schemas.openxmlformats.org/drawingml/2006/main">
            <a:off x="571500" y="4686300"/>
            <a:ext cx="25622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Energizar y conectar.</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Calibración y tara.</a:t>
            </a:r>
          </a:p>
        </p:txBody>
      </p:sp>
      <p:sp>
        <p:nvSpPr>
          <p:cNvPr id="8" name="">
            <a:extLst xmlns:a="http://schemas.openxmlformats.org/drawingml/2006/main">
              <a:ext uri="{FF2B5EF4-FFF2-40B4-BE49-F238E27FC236}">
                <a16:creationId xmlns:a16="http://schemas.microsoft.com/office/drawing/2014/main" id="{FA850B68-3D87-498E-8D02-D5DAD1EA207C}"/>
              </a:ext>
            </a:extLst>
          </p:cNvPr>
          <p:cNvSpPr>
            <a:spLocks xmlns:a="http://schemas.openxmlformats.org/drawingml/2006/main" noGrp="1"/>
          </p:cNvSpPr>
          <p:nvPr/>
        </p:nvSpPr>
        <p:spPr>
          <a:xfrm xmlns:a="http://schemas.openxmlformats.org/drawingml/2006/main" rot="0">
            <a:off x="3076575" y="3267075"/>
            <a:ext cx="133350"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4E94FF4-5614-4EC2-94EA-C1DE41AC873D}"/>
              </a:ext>
            </a:extLst>
          </p:cNvPr>
          <p:cNvSpPr>
            <a:spLocks xmlns:a="http://schemas.openxmlformats.org/drawingml/2006/main" noGrp="1"/>
          </p:cNvSpPr>
          <p:nvPr/>
        </p:nvSpPr>
        <p:spPr>
          <a:xfrm xmlns:a="http://schemas.openxmlformats.org/drawingml/2006/main" rot="5400000">
            <a:off x="3190875" y="3228975"/>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10" name="2. Adquirir">
            <a:extLst xmlns:a="http://schemas.openxmlformats.org/drawingml/2006/main">
              <a:ext uri="{FF2B5EF4-FFF2-40B4-BE49-F238E27FC236}">
                <a16:creationId xmlns:a16="http://schemas.microsoft.com/office/drawing/2014/main" id="{4D58B08A-0B59-4EAF-BA0E-200D77384E9B}"/>
              </a:ext>
            </a:extLst>
          </p:cNvPr>
          <p:cNvSpPr>
            <a:spLocks xmlns:a="http://schemas.openxmlformats.org/drawingml/2006/main" noGrp="1"/>
          </p:cNvSpPr>
          <p:nvPr/>
        </p:nvSpPr>
        <p:spPr>
          <a:xfrm xmlns:a="http://schemas.openxmlformats.org/drawingml/2006/main">
            <a:off x="3400425" y="1714500"/>
            <a:ext cx="2562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2. Adquirir</a:t>
            </a:r>
          </a:p>
        </p:txBody>
      </p:sp>
      <p:pic>
        <p:nvPicPr>
          <p:cNvPr id="11" name="">
            <a:extLst xmlns:a="http://schemas.openxmlformats.org/drawingml/2006/main">
              <a:ext uri="{FF2B5EF4-FFF2-40B4-BE49-F238E27FC236}">
                <a16:creationId xmlns:a16="http://schemas.microsoft.com/office/drawing/2014/main" id="{BEFCB72A-EE77-404F-94EE-3ACDE787FCC6}"/>
              </a:ext>
            </a:extLst>
          </p:cNvPr>
          <p:cNvPicPr>
            <a:picLocks xmlns:a="http://schemas.openxmlformats.org/drawingml/2006/main" noChangeAspect="1"/>
          </p:cNvPicPr>
          <p:nvPr/>
        </p:nvPicPr>
        <p:blipFill>
          <a:blip xmlns:r="http://schemas.openxmlformats.org/officeDocument/2006/relationships" xmlns:a="http://schemas.openxmlformats.org/drawingml/2006/main" r:embed="R8109267a16f44b55"/>
          <a:stretch xmlns:a="http://schemas.openxmlformats.org/drawingml/2006/main"/>
        </p:blipFill>
        <p:spPr>
          <a:xfrm xmlns:a="http://schemas.openxmlformats.org/drawingml/2006/main">
            <a:off x="3629025" y="2276475"/>
            <a:ext cx="2124075" cy="2124075"/>
          </a:xfrm>
          <a:prstGeom xmlns:a="http://schemas.openxmlformats.org/drawingml/2006/main" prst="rect">
            <a:avLst/>
          </a:prstGeom>
        </p:spPr>
      </p:pic>
      <p:sp>
        <p:nvSpPr>
          <p:cNvPr id="12" name="Puerta cerrada + estabilidad.&#10;Foto y masa vinculad">
            <a:extLst xmlns:a="http://schemas.openxmlformats.org/drawingml/2006/main">
              <a:ext uri="{FF2B5EF4-FFF2-40B4-BE49-F238E27FC236}">
                <a16:creationId xmlns:a16="http://schemas.microsoft.com/office/drawing/2014/main" id="{BBCD9233-49A8-44B2-8FE2-F1D15D4E15C4}"/>
              </a:ext>
            </a:extLst>
          </p:cNvPr>
          <p:cNvSpPr>
            <a:spLocks xmlns:a="http://schemas.openxmlformats.org/drawingml/2006/main" noGrp="1"/>
          </p:cNvSpPr>
          <p:nvPr/>
        </p:nvSpPr>
        <p:spPr>
          <a:xfrm xmlns:a="http://schemas.openxmlformats.org/drawingml/2006/main">
            <a:off x="3400425" y="4686300"/>
            <a:ext cx="25622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Puerta cerrada + estabilidad.</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Foto y masa vinculadas.</a:t>
            </a:r>
          </a:p>
        </p:txBody>
      </p:sp>
      <p:sp>
        <p:nvSpPr>
          <p:cNvPr id="13" name="">
            <a:extLst xmlns:a="http://schemas.openxmlformats.org/drawingml/2006/main">
              <a:ext uri="{FF2B5EF4-FFF2-40B4-BE49-F238E27FC236}">
                <a16:creationId xmlns:a16="http://schemas.microsoft.com/office/drawing/2014/main" id="{BD031AB2-160A-4ABD-A32E-B807F2CC5999}"/>
              </a:ext>
            </a:extLst>
          </p:cNvPr>
          <p:cNvSpPr>
            <a:spLocks xmlns:a="http://schemas.openxmlformats.org/drawingml/2006/main" noGrp="1"/>
          </p:cNvSpPr>
          <p:nvPr/>
        </p:nvSpPr>
        <p:spPr>
          <a:xfrm xmlns:a="http://schemas.openxmlformats.org/drawingml/2006/main" rot="0">
            <a:off x="5905500" y="3267075"/>
            <a:ext cx="133350"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DF22EE9-549E-45C4-809E-C52E88C52F9F}"/>
              </a:ext>
            </a:extLst>
          </p:cNvPr>
          <p:cNvSpPr>
            <a:spLocks xmlns:a="http://schemas.openxmlformats.org/drawingml/2006/main" noGrp="1"/>
          </p:cNvSpPr>
          <p:nvPr/>
        </p:nvSpPr>
        <p:spPr>
          <a:xfrm xmlns:a="http://schemas.openxmlformats.org/drawingml/2006/main" rot="5400000">
            <a:off x="6019800" y="3228975"/>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15" name="3. Procesar">
            <a:extLst xmlns:a="http://schemas.openxmlformats.org/drawingml/2006/main">
              <a:ext uri="{FF2B5EF4-FFF2-40B4-BE49-F238E27FC236}">
                <a16:creationId xmlns:a16="http://schemas.microsoft.com/office/drawing/2014/main" id="{95A92E7F-77F7-4EBE-8FC1-253D4D863630}"/>
              </a:ext>
            </a:extLst>
          </p:cNvPr>
          <p:cNvSpPr>
            <a:spLocks xmlns:a="http://schemas.openxmlformats.org/drawingml/2006/main" noGrp="1"/>
          </p:cNvSpPr>
          <p:nvPr/>
        </p:nvSpPr>
        <p:spPr>
          <a:xfrm xmlns:a="http://schemas.openxmlformats.org/drawingml/2006/main">
            <a:off x="6229350" y="1714500"/>
            <a:ext cx="2562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3. Procesar</a:t>
            </a:r>
          </a:p>
        </p:txBody>
      </p:sp>
      <p:pic>
        <p:nvPicPr>
          <p:cNvPr id="16" name="">
            <a:extLst xmlns:a="http://schemas.openxmlformats.org/drawingml/2006/main">
              <a:ext uri="{FF2B5EF4-FFF2-40B4-BE49-F238E27FC236}">
                <a16:creationId xmlns:a16="http://schemas.microsoft.com/office/drawing/2014/main" id="{67DE9E4A-8DA7-4F66-8DF0-0E7E3D175FF7}"/>
              </a:ext>
            </a:extLst>
          </p:cNvPr>
          <p:cNvPicPr>
            <a:picLocks xmlns:a="http://schemas.openxmlformats.org/drawingml/2006/main" noChangeAspect="1"/>
          </p:cNvPicPr>
          <p:nvPr/>
        </p:nvPicPr>
        <p:blipFill>
          <a:blip xmlns:r="http://schemas.openxmlformats.org/officeDocument/2006/relationships" xmlns:a="http://schemas.openxmlformats.org/drawingml/2006/main" r:embed="R9b40ad69e79d4dba"/>
          <a:stretch xmlns:a="http://schemas.openxmlformats.org/drawingml/2006/main"/>
        </p:blipFill>
        <p:spPr>
          <a:xfrm xmlns:a="http://schemas.openxmlformats.org/drawingml/2006/main">
            <a:off x="6438900" y="2546075"/>
            <a:ext cx="2162175" cy="1584874"/>
          </a:xfrm>
          <a:prstGeom xmlns:a="http://schemas.openxmlformats.org/drawingml/2006/main" prst="rect">
            <a:avLst/>
          </a:prstGeom>
        </p:spPr>
      </p:pic>
      <p:sp>
        <p:nvSpPr>
          <p:cNvPr id="17" name="Identificar y consultar TPCA.&#10;Calcular por masa.">
            <a:extLst xmlns:a="http://schemas.openxmlformats.org/drawingml/2006/main">
              <a:ext uri="{FF2B5EF4-FFF2-40B4-BE49-F238E27FC236}">
                <a16:creationId xmlns:a16="http://schemas.microsoft.com/office/drawing/2014/main" id="{D89D4F0E-07DD-4422-8C0B-042A18681456}"/>
              </a:ext>
            </a:extLst>
          </p:cNvPr>
          <p:cNvSpPr>
            <a:spLocks xmlns:a="http://schemas.openxmlformats.org/drawingml/2006/main" noGrp="1"/>
          </p:cNvSpPr>
          <p:nvPr/>
        </p:nvSpPr>
        <p:spPr>
          <a:xfrm xmlns:a="http://schemas.openxmlformats.org/drawingml/2006/main">
            <a:off x="6229350" y="4686300"/>
            <a:ext cx="25622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Identificar y consultar TPCA.</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Calcular por masa.</a:t>
            </a:r>
          </a:p>
        </p:txBody>
      </p:sp>
      <p:sp>
        <p:nvSpPr>
          <p:cNvPr id="18" name="">
            <a:extLst xmlns:a="http://schemas.openxmlformats.org/drawingml/2006/main">
              <a:ext uri="{FF2B5EF4-FFF2-40B4-BE49-F238E27FC236}">
                <a16:creationId xmlns:a16="http://schemas.microsoft.com/office/drawing/2014/main" id="{9FB22320-FB78-444E-A523-D6EFE6AB9E2C}"/>
              </a:ext>
            </a:extLst>
          </p:cNvPr>
          <p:cNvSpPr>
            <a:spLocks xmlns:a="http://schemas.openxmlformats.org/drawingml/2006/main" noGrp="1"/>
          </p:cNvSpPr>
          <p:nvPr/>
        </p:nvSpPr>
        <p:spPr>
          <a:xfrm xmlns:a="http://schemas.openxmlformats.org/drawingml/2006/main" rot="0">
            <a:off x="8734425" y="3267075"/>
            <a:ext cx="133350"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A670316-949C-46D8-BEC8-6186AF0ABFEB}"/>
              </a:ext>
            </a:extLst>
          </p:cNvPr>
          <p:cNvSpPr>
            <a:spLocks xmlns:a="http://schemas.openxmlformats.org/drawingml/2006/main" noGrp="1"/>
          </p:cNvSpPr>
          <p:nvPr/>
        </p:nvSpPr>
        <p:spPr>
          <a:xfrm xmlns:a="http://schemas.openxmlformats.org/drawingml/2006/main" rot="5400000">
            <a:off x="8848725" y="3228975"/>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20" name="4. Confirmar">
            <a:extLst xmlns:a="http://schemas.openxmlformats.org/drawingml/2006/main">
              <a:ext uri="{FF2B5EF4-FFF2-40B4-BE49-F238E27FC236}">
                <a16:creationId xmlns:a16="http://schemas.microsoft.com/office/drawing/2014/main" id="{AD280751-8391-41E0-9047-86D3069DB922}"/>
              </a:ext>
            </a:extLst>
          </p:cNvPr>
          <p:cNvSpPr>
            <a:spLocks xmlns:a="http://schemas.openxmlformats.org/drawingml/2006/main" noGrp="1"/>
          </p:cNvSpPr>
          <p:nvPr/>
        </p:nvSpPr>
        <p:spPr>
          <a:xfrm xmlns:a="http://schemas.openxmlformats.org/drawingml/2006/main">
            <a:off x="9058275" y="1714500"/>
            <a:ext cx="2562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4. Confirmar</a:t>
            </a:r>
          </a:p>
        </p:txBody>
      </p:sp>
      <p:pic>
        <p:nvPicPr>
          <p:cNvPr id="21" name="">
            <a:extLst xmlns:a="http://schemas.openxmlformats.org/drawingml/2006/main">
              <a:ext uri="{FF2B5EF4-FFF2-40B4-BE49-F238E27FC236}">
                <a16:creationId xmlns:a16="http://schemas.microsoft.com/office/drawing/2014/main" id="{E793CFE4-EC5A-4421-A102-9F01798A6C32}"/>
              </a:ext>
            </a:extLst>
          </p:cNvPr>
          <p:cNvPicPr>
            <a:picLocks xmlns:a="http://schemas.openxmlformats.org/drawingml/2006/main" noChangeAspect="1"/>
          </p:cNvPicPr>
          <p:nvPr/>
        </p:nvPicPr>
        <p:blipFill>
          <a:blip xmlns:r="http://schemas.openxmlformats.org/officeDocument/2006/relationships" xmlns:a="http://schemas.openxmlformats.org/drawingml/2006/main" r:embed="R0584fa2c4d5a4575"/>
          <a:stretch xmlns:a="http://schemas.openxmlformats.org/drawingml/2006/main"/>
        </p:blipFill>
        <p:spPr>
          <a:xfrm xmlns:a="http://schemas.openxmlformats.org/drawingml/2006/main">
            <a:off x="9607599" y="2276475"/>
            <a:ext cx="1482627" cy="2124075"/>
          </a:xfrm>
          <a:prstGeom xmlns:a="http://schemas.openxmlformats.org/drawingml/2006/main" prst="rect">
            <a:avLst/>
          </a:prstGeom>
        </p:spPr>
      </p:pic>
      <p:sp>
        <p:nvSpPr>
          <p:cNvPr id="22" name="Mostrar y permitir corregir.&#10;Guardar tras confirma">
            <a:extLst xmlns:a="http://schemas.openxmlformats.org/drawingml/2006/main">
              <a:ext uri="{FF2B5EF4-FFF2-40B4-BE49-F238E27FC236}">
                <a16:creationId xmlns:a16="http://schemas.microsoft.com/office/drawing/2014/main" id="{DE48865A-5AD7-4810-9E91-EB0B89779591}"/>
              </a:ext>
            </a:extLst>
          </p:cNvPr>
          <p:cNvSpPr>
            <a:spLocks xmlns:a="http://schemas.openxmlformats.org/drawingml/2006/main" noGrp="1"/>
          </p:cNvSpPr>
          <p:nvPr/>
        </p:nvSpPr>
        <p:spPr>
          <a:xfrm xmlns:a="http://schemas.openxmlformats.org/drawingml/2006/main">
            <a:off x="9058275" y="4686300"/>
            <a:ext cx="25622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Mostrar y permitir corregir.</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Guardar tras confirmar.</a:t>
            </a:r>
          </a:p>
        </p:txBody>
      </p:sp>
      <p:sp>
        <p:nvSpPr>
          <p:cNvPr id="23" name="Puerta abierta, sobrecarga o señal inestable: bloq">
            <a:extLst xmlns:a="http://schemas.openxmlformats.org/drawingml/2006/main">
              <a:ext uri="{FF2B5EF4-FFF2-40B4-BE49-F238E27FC236}">
                <a16:creationId xmlns:a16="http://schemas.microsoft.com/office/drawing/2014/main" id="{7AD5B7B6-BD97-4F72-BA03-55523D1088A7}"/>
              </a:ext>
            </a:extLst>
          </p:cNvPr>
          <p:cNvSpPr>
            <a:spLocks xmlns:a="http://schemas.openxmlformats.org/drawingml/2006/main" noGrp="1"/>
          </p:cNvSpPr>
          <p:nvPr/>
        </p:nvSpPr>
        <p:spPr>
          <a:xfrm xmlns:a="http://schemas.openxmlformats.org/drawingml/2006/main">
            <a:off x="571500" y="592455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AD6240"/>
                </a:solidFill>
                <a:latin typeface="Arial"/>
                <a:ea typeface="Arial"/>
                <a:cs typeface="Arial"/>
              </a:defRPr>
            </a:defPPr>
          </a:lstStyle>
          <a:p xmlns:a="http://schemas.openxmlformats.org/drawingml/2006/main">
            <a:pPr>
              <a:defRPr sz="1875" b="1">
                <a:solidFill>
                  <a:srgbClr val="AD6240"/>
                </a:solidFill>
                <a:latin typeface="Arial"/>
                <a:ea typeface="Arial"/>
                <a:cs typeface="Arial"/>
              </a:defRPr>
            </a:pPr>
            <a:r>
              <a:rPr sz="1875" b="1">
                <a:solidFill>
                  <a:srgbClr val="AD6240"/>
                </a:solidFill>
                <a:latin typeface="Arial"/>
                <a:ea typeface="Arial"/>
                <a:cs typeface="Arial"/>
              </a:rPr>
              <a:t>Puerta abierta, sobrecarga o señal inestable: bloquear captura e informar estado.</a:t>
            </a:r>
          </a:p>
        </p:txBody>
      </p:sp>
    </p:spTree>
    <p:extLst>
      <p:ext uri="{BB962C8B-B14F-4D97-AF65-F5344CB8AC3E}">
        <p14:creationId xmlns:p14="http://schemas.microsoft.com/office/powerpoint/2010/main" val="17822730"/>
      </p:ext>
    </p:extLst>
  </p:cSld>
</p:sld>
</file>

<file path=ppt/slides/slide12.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6" name="6. Estructura de funciones: adquisición">
            <a:extLst xmlns:a="http://schemas.openxmlformats.org/drawingml/2006/main">
              <a:ext uri="{FF2B5EF4-FFF2-40B4-BE49-F238E27FC236}">
                <a16:creationId xmlns:a16="http://schemas.microsoft.com/office/drawing/2014/main" id="{90AE7B5C-D34A-4E7E-BD0A-D47ED0C6A2A4}"/>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6. Estructura de funciones: adquisición</a:t>
            </a:r>
          </a:p>
        </p:txBody>
      </p:sp>
      <p:sp>
        <p:nvSpPr>
          <p:cNvPr id="2" name="Dominios: energía, comunicación, adquisición, medi">
            <a:extLst xmlns:a="http://schemas.openxmlformats.org/drawingml/2006/main">
              <a:ext uri="{FF2B5EF4-FFF2-40B4-BE49-F238E27FC236}">
                <a16:creationId xmlns:a16="http://schemas.microsoft.com/office/drawing/2014/main" id="{9390C6C7-1A4B-48F3-AD6C-6399BDFEB35B}"/>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Dominios: energía, comunicación, adquisición, medición y mecánica.</a:t>
            </a:r>
          </a:p>
        </p:txBody>
      </p:sp>
      <p:sp>
        <p:nvSpPr>
          <p:cNvPr id="3" name="Fuentes [24]. Referencias al final.">
            <a:extLst xmlns:a="http://schemas.openxmlformats.org/drawingml/2006/main">
              <a:ext uri="{FF2B5EF4-FFF2-40B4-BE49-F238E27FC236}">
                <a16:creationId xmlns:a16="http://schemas.microsoft.com/office/drawing/2014/main" id="{254F3860-FACF-482D-8558-0DEE0315BACD}"/>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[24]. Referencias al final.</a:t>
            </a:r>
          </a:p>
        </p:txBody>
      </p:sp>
      <p:sp>
        <p:nvSpPr>
          <p:cNvPr id="4" name="12">
            <a:extLst xmlns:a="http://schemas.openxmlformats.org/drawingml/2006/main">
              <a:ext uri="{FF2B5EF4-FFF2-40B4-BE49-F238E27FC236}">
                <a16:creationId xmlns:a16="http://schemas.microsoft.com/office/drawing/2014/main" id="{490EA558-D865-4AEE-9875-8D049207B1AA}"/>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12</a:t>
            </a:r>
          </a:p>
        </p:txBody>
      </p:sp>
      <p:sp>
        <p:nvSpPr>
          <p:cNvPr id="5" name="F1 · Energizar">
            <a:extLst xmlns:a="http://schemas.openxmlformats.org/drawingml/2006/main">
              <a:ext uri="{FF2B5EF4-FFF2-40B4-BE49-F238E27FC236}">
                <a16:creationId xmlns:a16="http://schemas.microsoft.com/office/drawing/2014/main" id="{51209E43-E34E-45F5-8410-4E217F926E05}"/>
              </a:ext>
            </a:extLst>
          </p:cNvPr>
          <p:cNvSpPr>
            <a:spLocks xmlns:a="http://schemas.openxmlformats.org/drawingml/2006/main" noGrp="1"/>
          </p:cNvSpPr>
          <p:nvPr/>
        </p:nvSpPr>
        <p:spPr>
          <a:xfrm xmlns:a="http://schemas.openxmlformats.org/drawingml/2006/main">
            <a:off x="571500"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F1 · Energizar</a:t>
            </a:r>
          </a:p>
        </p:txBody>
      </p:sp>
      <p:sp>
        <p:nvSpPr>
          <p:cNvPr id="6" name="Suministrar 5 V.&#10;Regular 3,3 V.">
            <a:extLst xmlns:a="http://schemas.openxmlformats.org/drawingml/2006/main">
              <a:ext uri="{FF2B5EF4-FFF2-40B4-BE49-F238E27FC236}">
                <a16:creationId xmlns:a16="http://schemas.microsoft.com/office/drawing/2014/main" id="{D2FE34BA-E939-4F16-A0D8-C37483452336}"/>
              </a:ext>
            </a:extLst>
          </p:cNvPr>
          <p:cNvSpPr>
            <a:spLocks xmlns:a="http://schemas.openxmlformats.org/drawingml/2006/main" noGrp="1"/>
          </p:cNvSpPr>
          <p:nvPr/>
        </p:nvSpPr>
        <p:spPr>
          <a:xfrm xmlns:a="http://schemas.openxmlformats.org/drawingml/2006/main">
            <a:off x="571500" y="3019425"/>
            <a:ext cx="2047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Suministrar 5 V.</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Regular 3,3 V.</a:t>
            </a:r>
          </a:p>
        </p:txBody>
      </p:sp>
      <p:sp>
        <p:nvSpPr>
          <p:cNvPr id="7" name="">
            <a:extLst xmlns:a="http://schemas.openxmlformats.org/drawingml/2006/main">
              <a:ext uri="{FF2B5EF4-FFF2-40B4-BE49-F238E27FC236}">
                <a16:creationId xmlns:a16="http://schemas.microsoft.com/office/drawing/2014/main" id="{5C0406AC-1E09-497E-92D4-EDDBCC8AEA00}"/>
              </a:ext>
            </a:extLst>
          </p:cNvPr>
          <p:cNvSpPr>
            <a:spLocks xmlns:a="http://schemas.openxmlformats.org/drawingml/2006/main" noGrp="1"/>
          </p:cNvSpPr>
          <p:nvPr/>
        </p:nvSpPr>
        <p:spPr>
          <a:xfrm xmlns:a="http://schemas.openxmlformats.org/drawingml/2006/main" rot="0">
            <a:off x="2628900" y="2362200"/>
            <a:ext cx="6667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3DE103A-9CDA-497A-887B-ACA254063D55}"/>
              </a:ext>
            </a:extLst>
          </p:cNvPr>
          <p:cNvSpPr>
            <a:spLocks xmlns:a="http://schemas.openxmlformats.org/drawingml/2006/main" noGrp="1"/>
          </p:cNvSpPr>
          <p:nvPr/>
        </p:nvSpPr>
        <p:spPr>
          <a:xfrm xmlns:a="http://schemas.openxmlformats.org/drawingml/2006/main" rot="5400000">
            <a:off x="2676525" y="23241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9" name="F2 · Conectar">
            <a:extLst xmlns:a="http://schemas.openxmlformats.org/drawingml/2006/main">
              <a:ext uri="{FF2B5EF4-FFF2-40B4-BE49-F238E27FC236}">
                <a16:creationId xmlns:a16="http://schemas.microsoft.com/office/drawing/2014/main" id="{7F3B2598-5A32-482D-8E7E-A665EA8CBF9B}"/>
              </a:ext>
            </a:extLst>
          </p:cNvPr>
          <p:cNvSpPr>
            <a:spLocks xmlns:a="http://schemas.openxmlformats.org/drawingml/2006/main" noGrp="1"/>
          </p:cNvSpPr>
          <p:nvPr/>
        </p:nvSpPr>
        <p:spPr>
          <a:xfrm xmlns:a="http://schemas.openxmlformats.org/drawingml/2006/main">
            <a:off x="2809875"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F2 · Conectar</a:t>
            </a:r>
          </a:p>
        </p:txBody>
      </p:sp>
      <p:sp>
        <p:nvSpPr>
          <p:cNvPr id="10" name="Establecer enlace.&#10;Comprobar estado.">
            <a:extLst xmlns:a="http://schemas.openxmlformats.org/drawingml/2006/main">
              <a:ext uri="{FF2B5EF4-FFF2-40B4-BE49-F238E27FC236}">
                <a16:creationId xmlns:a16="http://schemas.microsoft.com/office/drawing/2014/main" id="{CDCE1275-DCBF-4015-927F-D4CAF186097D}"/>
              </a:ext>
            </a:extLst>
          </p:cNvPr>
          <p:cNvSpPr>
            <a:spLocks xmlns:a="http://schemas.openxmlformats.org/drawingml/2006/main" noGrp="1"/>
          </p:cNvSpPr>
          <p:nvPr/>
        </p:nvSpPr>
        <p:spPr>
          <a:xfrm xmlns:a="http://schemas.openxmlformats.org/drawingml/2006/main">
            <a:off x="2809875" y="3019425"/>
            <a:ext cx="2047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Establecer enlace.</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Comprobar estado.</a:t>
            </a:r>
          </a:p>
        </p:txBody>
      </p:sp>
      <p:sp>
        <p:nvSpPr>
          <p:cNvPr id="11" name="">
            <a:extLst xmlns:a="http://schemas.openxmlformats.org/drawingml/2006/main">
              <a:ext uri="{FF2B5EF4-FFF2-40B4-BE49-F238E27FC236}">
                <a16:creationId xmlns:a16="http://schemas.microsoft.com/office/drawing/2014/main" id="{679B5C3D-5E9D-4A66-B226-77E02F6CE884}"/>
              </a:ext>
            </a:extLst>
          </p:cNvPr>
          <p:cNvSpPr>
            <a:spLocks xmlns:a="http://schemas.openxmlformats.org/drawingml/2006/main" noGrp="1"/>
          </p:cNvSpPr>
          <p:nvPr/>
        </p:nvSpPr>
        <p:spPr>
          <a:xfrm xmlns:a="http://schemas.openxmlformats.org/drawingml/2006/main" rot="0">
            <a:off x="4867275" y="2362200"/>
            <a:ext cx="6667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503EF52-C473-4F7B-9C93-FA6F4CF34702}"/>
              </a:ext>
            </a:extLst>
          </p:cNvPr>
          <p:cNvSpPr>
            <a:spLocks xmlns:a="http://schemas.openxmlformats.org/drawingml/2006/main" noGrp="1"/>
          </p:cNvSpPr>
          <p:nvPr/>
        </p:nvSpPr>
        <p:spPr>
          <a:xfrm xmlns:a="http://schemas.openxmlformats.org/drawingml/2006/main" rot="5400000">
            <a:off x="4914900" y="23241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13" name="F3 · Capturar">
            <a:extLst xmlns:a="http://schemas.openxmlformats.org/drawingml/2006/main">
              <a:ext uri="{FF2B5EF4-FFF2-40B4-BE49-F238E27FC236}">
                <a16:creationId xmlns:a16="http://schemas.microsoft.com/office/drawing/2014/main" id="{27881F32-C0BF-4278-8261-F3EEDB09891A}"/>
              </a:ext>
            </a:extLst>
          </p:cNvPr>
          <p:cNvSpPr>
            <a:spLocks xmlns:a="http://schemas.openxmlformats.org/drawingml/2006/main" noGrp="1"/>
          </p:cNvSpPr>
          <p:nvPr/>
        </p:nvSpPr>
        <p:spPr>
          <a:xfrm xmlns:a="http://schemas.openxmlformats.org/drawingml/2006/main">
            <a:off x="5048250"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F3 · Capturar</a:t>
            </a:r>
          </a:p>
        </p:txBody>
      </p:sp>
      <p:sp>
        <p:nvSpPr>
          <p:cNvPr id="14" name="Encuadrar e iluminar.&#10;Adquirir imagen.">
            <a:extLst xmlns:a="http://schemas.openxmlformats.org/drawingml/2006/main">
              <a:ext uri="{FF2B5EF4-FFF2-40B4-BE49-F238E27FC236}">
                <a16:creationId xmlns:a16="http://schemas.microsoft.com/office/drawing/2014/main" id="{92E7241B-C982-4969-A53D-DC4B3F5D42EC}"/>
              </a:ext>
            </a:extLst>
          </p:cNvPr>
          <p:cNvSpPr>
            <a:spLocks xmlns:a="http://schemas.openxmlformats.org/drawingml/2006/main" noGrp="1"/>
          </p:cNvSpPr>
          <p:nvPr/>
        </p:nvSpPr>
        <p:spPr>
          <a:xfrm xmlns:a="http://schemas.openxmlformats.org/drawingml/2006/main">
            <a:off x="5048250" y="3019425"/>
            <a:ext cx="2047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Encuadrar e iluminar.</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Adquirir imagen.</a:t>
            </a:r>
          </a:p>
        </p:txBody>
      </p:sp>
      <p:sp>
        <p:nvSpPr>
          <p:cNvPr id="15" name="">
            <a:extLst xmlns:a="http://schemas.openxmlformats.org/drawingml/2006/main">
              <a:ext uri="{FF2B5EF4-FFF2-40B4-BE49-F238E27FC236}">
                <a16:creationId xmlns:a16="http://schemas.microsoft.com/office/drawing/2014/main" id="{9E93D5B2-A70C-4D40-99B8-A31DA1F26F31}"/>
              </a:ext>
            </a:extLst>
          </p:cNvPr>
          <p:cNvSpPr>
            <a:spLocks xmlns:a="http://schemas.openxmlformats.org/drawingml/2006/main" noGrp="1"/>
          </p:cNvSpPr>
          <p:nvPr/>
        </p:nvSpPr>
        <p:spPr>
          <a:xfrm xmlns:a="http://schemas.openxmlformats.org/drawingml/2006/main" rot="0">
            <a:off x="7105650" y="2362200"/>
            <a:ext cx="6667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B9D457E-0D9C-480E-B5B5-43B5B3A02F75}"/>
              </a:ext>
            </a:extLst>
          </p:cNvPr>
          <p:cNvSpPr>
            <a:spLocks xmlns:a="http://schemas.openxmlformats.org/drawingml/2006/main" noGrp="1"/>
          </p:cNvSpPr>
          <p:nvPr/>
        </p:nvSpPr>
        <p:spPr>
          <a:xfrm xmlns:a="http://schemas.openxmlformats.org/drawingml/2006/main" rot="5400000">
            <a:off x="7153275" y="23241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17" name="F5 · Cantidad">
            <a:extLst xmlns:a="http://schemas.openxmlformats.org/drawingml/2006/main">
              <a:ext uri="{FF2B5EF4-FFF2-40B4-BE49-F238E27FC236}">
                <a16:creationId xmlns:a16="http://schemas.microsoft.com/office/drawing/2014/main" id="{BACBC6C2-F2C7-4812-8DDC-7352BCA9F002}"/>
              </a:ext>
            </a:extLst>
          </p:cNvPr>
          <p:cNvSpPr>
            <a:spLocks xmlns:a="http://schemas.openxmlformats.org/drawingml/2006/main" noGrp="1"/>
          </p:cNvSpPr>
          <p:nvPr/>
        </p:nvSpPr>
        <p:spPr>
          <a:xfrm xmlns:a="http://schemas.openxmlformats.org/drawingml/2006/main">
            <a:off x="7286625"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F5 · Cantidad</a:t>
            </a:r>
          </a:p>
        </p:txBody>
      </p:sp>
      <p:sp>
        <p:nvSpPr>
          <p:cNvPr id="18" name="Calibrar y tarar.&#10;Comprobar estabilidad.">
            <a:extLst xmlns:a="http://schemas.openxmlformats.org/drawingml/2006/main">
              <a:ext uri="{FF2B5EF4-FFF2-40B4-BE49-F238E27FC236}">
                <a16:creationId xmlns:a16="http://schemas.microsoft.com/office/drawing/2014/main" id="{AF29A319-3027-4160-A01F-337ED4238A76}"/>
              </a:ext>
            </a:extLst>
          </p:cNvPr>
          <p:cNvSpPr>
            <a:spLocks xmlns:a="http://schemas.openxmlformats.org/drawingml/2006/main" noGrp="1"/>
          </p:cNvSpPr>
          <p:nvPr/>
        </p:nvSpPr>
        <p:spPr>
          <a:xfrm xmlns:a="http://schemas.openxmlformats.org/drawingml/2006/main">
            <a:off x="7286625" y="3019425"/>
            <a:ext cx="2047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Calibrar y tarar.</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Comprobar estabilidad.</a:t>
            </a:r>
          </a:p>
        </p:txBody>
      </p:sp>
      <p:sp>
        <p:nvSpPr>
          <p:cNvPr id="19" name="">
            <a:extLst xmlns:a="http://schemas.openxmlformats.org/drawingml/2006/main">
              <a:ext uri="{FF2B5EF4-FFF2-40B4-BE49-F238E27FC236}">
                <a16:creationId xmlns:a16="http://schemas.microsoft.com/office/drawing/2014/main" id="{07CE91F8-74F5-4F3C-8E12-6F531AAE121C}"/>
              </a:ext>
            </a:extLst>
          </p:cNvPr>
          <p:cNvSpPr>
            <a:spLocks xmlns:a="http://schemas.openxmlformats.org/drawingml/2006/main" noGrp="1"/>
          </p:cNvSpPr>
          <p:nvPr/>
        </p:nvSpPr>
        <p:spPr>
          <a:xfrm xmlns:a="http://schemas.openxmlformats.org/drawingml/2006/main" rot="0">
            <a:off x="9344025" y="2362200"/>
            <a:ext cx="6667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6507C9D-2077-4ECD-95FF-52988F07ACEC}"/>
              </a:ext>
            </a:extLst>
          </p:cNvPr>
          <p:cNvSpPr>
            <a:spLocks xmlns:a="http://schemas.openxmlformats.org/drawingml/2006/main" noGrp="1"/>
          </p:cNvSpPr>
          <p:nvPr/>
        </p:nvSpPr>
        <p:spPr>
          <a:xfrm xmlns:a="http://schemas.openxmlformats.org/drawingml/2006/main" rot="5400000">
            <a:off x="9391650" y="23241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21" name="F4 · Transmitir">
            <a:extLst xmlns:a="http://schemas.openxmlformats.org/drawingml/2006/main">
              <a:ext uri="{FF2B5EF4-FFF2-40B4-BE49-F238E27FC236}">
                <a16:creationId xmlns:a16="http://schemas.microsoft.com/office/drawing/2014/main" id="{A50BDAB1-A732-4922-B97A-021141F02613}"/>
              </a:ext>
            </a:extLst>
          </p:cNvPr>
          <p:cNvSpPr>
            <a:spLocks xmlns:a="http://schemas.openxmlformats.org/drawingml/2006/main" noGrp="1"/>
          </p:cNvSpPr>
          <p:nvPr/>
        </p:nvSpPr>
        <p:spPr>
          <a:xfrm xmlns:a="http://schemas.openxmlformats.org/drawingml/2006/main">
            <a:off x="9525000"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F4 · Transmitir</a:t>
            </a:r>
          </a:p>
        </p:txBody>
      </p:sp>
      <p:sp>
        <p:nvSpPr>
          <p:cNvPr id="22" name="Vincular foto y masa.&#10;Enviar datos y estado.">
            <a:extLst xmlns:a="http://schemas.openxmlformats.org/drawingml/2006/main">
              <a:ext uri="{FF2B5EF4-FFF2-40B4-BE49-F238E27FC236}">
                <a16:creationId xmlns:a16="http://schemas.microsoft.com/office/drawing/2014/main" id="{9EB259FD-7C13-41D0-8F1B-AFFDC84C5221}"/>
              </a:ext>
            </a:extLst>
          </p:cNvPr>
          <p:cNvSpPr>
            <a:spLocks xmlns:a="http://schemas.openxmlformats.org/drawingml/2006/main" noGrp="1"/>
          </p:cNvSpPr>
          <p:nvPr/>
        </p:nvSpPr>
        <p:spPr>
          <a:xfrm xmlns:a="http://schemas.openxmlformats.org/drawingml/2006/main">
            <a:off x="9525000" y="3019425"/>
            <a:ext cx="2047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Vincular foto y masa.</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Enviar datos y estado.</a:t>
            </a:r>
          </a:p>
        </p:txBody>
      </p:sp>
      <p:sp>
        <p:nvSpPr>
          <p:cNvPr id="23" name="Salida hacia procesamiento: imagen + masa neta + e">
            <a:extLst xmlns:a="http://schemas.openxmlformats.org/drawingml/2006/main">
              <a:ext uri="{FF2B5EF4-FFF2-40B4-BE49-F238E27FC236}">
                <a16:creationId xmlns:a16="http://schemas.microsoft.com/office/drawing/2014/main" id="{263555EA-DD17-4962-BA33-D98D5D509D35}"/>
              </a:ext>
            </a:extLst>
          </p:cNvPr>
          <p:cNvSpPr>
            <a:spLocks xmlns:a="http://schemas.openxmlformats.org/drawingml/2006/main" noGrp="1"/>
          </p:cNvSpPr>
          <p:nvPr/>
        </p:nvSpPr>
        <p:spPr>
          <a:xfrm xmlns:a="http://schemas.openxmlformats.org/drawingml/2006/main">
            <a:off x="571500" y="43815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Salida hacia procesamiento: imagen + masa neta + estado + identificador del registro.</a:t>
            </a:r>
          </a:p>
        </p:txBody>
      </p:sp>
      <p:sp>
        <p:nvSpPr>
          <p:cNvPr id="24" name="F11 · Sostener la porción y permitir lim">
            <a:extLst xmlns:a="http://schemas.openxmlformats.org/drawingml/2006/main">
              <a:ext uri="{FF2B5EF4-FFF2-40B4-BE49-F238E27FC236}">
                <a16:creationId xmlns:a16="http://schemas.microsoft.com/office/drawing/2014/main" id="{18F030BF-85A1-475F-81FA-35B4CCCA562C}"/>
              </a:ext>
            </a:extLst>
          </p:cNvPr>
          <p:cNvSpPr>
            <a:spLocks xmlns:a="http://schemas.openxmlformats.org/drawingml/2006/main" noGrp="1"/>
          </p:cNvSpPr>
          <p:nvPr/>
        </p:nvSpPr>
        <p:spPr>
          <a:xfrm xmlns:a="http://schemas.openxmlformats.org/drawingml/2006/main">
            <a:off x="571500" y="5276850"/>
            <a:ext cx="110490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F11 · Sostener la porción y permitir limpieza</a:t>
            </a:r>
          </a:p>
        </p:txBody>
      </p:sp>
      <p:sp>
        <p:nvSpPr>
          <p:cNvPr id="25" name="Subfunciones mecánicas: soportar carga, aislar roc">
            <a:extLst xmlns:a="http://schemas.openxmlformats.org/drawingml/2006/main">
              <a:ext uri="{FF2B5EF4-FFF2-40B4-BE49-F238E27FC236}">
                <a16:creationId xmlns:a16="http://schemas.microsoft.com/office/drawing/2014/main" id="{394D5B52-B254-4D8C-B62C-C89690D816EB}"/>
              </a:ext>
            </a:extLst>
          </p:cNvPr>
          <p:cNvSpPr>
            <a:spLocks xmlns:a="http://schemas.openxmlformats.org/drawingml/2006/main" noGrp="1"/>
          </p:cNvSpPr>
          <p:nvPr/>
        </p:nvSpPr>
        <p:spPr>
          <a:xfrm xmlns:a="http://schemas.openxmlformats.org/drawingml/2006/main">
            <a:off x="571500" y="6067425"/>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Subfunciones mecánicas: soportar carga, aislar roces y retirar el recipiente.</a:t>
            </a:r>
          </a:p>
        </p:txBody>
      </p:sp>
    </p:spTree>
    <p:extLst>
      <p:ext uri="{BB962C8B-B14F-4D97-AF65-F5344CB8AC3E}">
        <p14:creationId xmlns:p14="http://schemas.microsoft.com/office/powerpoint/2010/main" val="673470406"/>
      </p:ext>
    </p:extLst>
  </p:cSld>
</p:sld>
</file>

<file path=ppt/slides/slide13.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7" name="6. Estructura de funciones: información">
            <a:extLst xmlns:a="http://schemas.openxmlformats.org/drawingml/2006/main">
              <a:ext uri="{FF2B5EF4-FFF2-40B4-BE49-F238E27FC236}">
                <a16:creationId xmlns:a16="http://schemas.microsoft.com/office/drawing/2014/main" id="{C45FD897-2956-47F6-82F8-FF5A00F671A2}"/>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6. Estructura de funciones: información</a:t>
            </a:r>
          </a:p>
        </p:txBody>
      </p:sp>
      <p:sp>
        <p:nvSpPr>
          <p:cNvPr id="2" name="Dominios: procesamiento, datos, interfaz y almacen">
            <a:extLst xmlns:a="http://schemas.openxmlformats.org/drawingml/2006/main">
              <a:ext uri="{FF2B5EF4-FFF2-40B4-BE49-F238E27FC236}">
                <a16:creationId xmlns:a16="http://schemas.microsoft.com/office/drawing/2014/main" id="{E348BA3D-2AF7-41A8-8BC0-DF127A66E781}"/>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Dominios: procesamiento, datos, interfaz y almacenamiento.</a:t>
            </a:r>
          </a:p>
        </p:txBody>
      </p:sp>
      <p:sp>
        <p:nvSpPr>
          <p:cNvPr id="3" name="Fuentes [3], [16], [24]. Referencias al final.">
            <a:extLst xmlns:a="http://schemas.openxmlformats.org/drawingml/2006/main">
              <a:ext uri="{FF2B5EF4-FFF2-40B4-BE49-F238E27FC236}">
                <a16:creationId xmlns:a16="http://schemas.microsoft.com/office/drawing/2014/main" id="{C07B4528-B86C-485C-92E5-AF321A847300}"/>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[3], [16], [24]. Referencias al final.</a:t>
            </a:r>
          </a:p>
        </p:txBody>
      </p:sp>
      <p:sp>
        <p:nvSpPr>
          <p:cNvPr id="4" name="13">
            <a:extLst xmlns:a="http://schemas.openxmlformats.org/drawingml/2006/main">
              <a:ext uri="{FF2B5EF4-FFF2-40B4-BE49-F238E27FC236}">
                <a16:creationId xmlns:a16="http://schemas.microsoft.com/office/drawing/2014/main" id="{EF77BBBC-D925-4B11-A00C-9DB600417ADC}"/>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13</a:t>
            </a:r>
          </a:p>
        </p:txBody>
      </p:sp>
      <p:sp>
        <p:nvSpPr>
          <p:cNvPr id="5" name="F6 · Identificar">
            <a:extLst xmlns:a="http://schemas.openxmlformats.org/drawingml/2006/main">
              <a:ext uri="{FF2B5EF4-FFF2-40B4-BE49-F238E27FC236}">
                <a16:creationId xmlns:a16="http://schemas.microsoft.com/office/drawing/2014/main" id="{5752EA33-69E7-4C12-BC2E-5F73AFF7A164}"/>
              </a:ext>
            </a:extLst>
          </p:cNvPr>
          <p:cNvSpPr>
            <a:spLocks xmlns:a="http://schemas.openxmlformats.org/drawingml/2006/main" noGrp="1"/>
          </p:cNvSpPr>
          <p:nvPr/>
        </p:nvSpPr>
        <p:spPr>
          <a:xfrm xmlns:a="http://schemas.openxmlformats.org/drawingml/2006/main">
            <a:off x="571500"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F6 · Identificar</a:t>
            </a:r>
          </a:p>
        </p:txBody>
      </p:sp>
      <p:sp>
        <p:nvSpPr>
          <p:cNvPr id="6" name="Reconocer y proponer.&#10;Revisar y corregir.">
            <a:extLst xmlns:a="http://schemas.openxmlformats.org/drawingml/2006/main">
              <a:ext uri="{FF2B5EF4-FFF2-40B4-BE49-F238E27FC236}">
                <a16:creationId xmlns:a16="http://schemas.microsoft.com/office/drawing/2014/main" id="{7F53ED19-3F3A-4ADD-AFD2-9AB0CFC5BB71}"/>
              </a:ext>
            </a:extLst>
          </p:cNvPr>
          <p:cNvSpPr>
            <a:spLocks xmlns:a="http://schemas.openxmlformats.org/drawingml/2006/main" noGrp="1"/>
          </p:cNvSpPr>
          <p:nvPr/>
        </p:nvSpPr>
        <p:spPr>
          <a:xfrm xmlns:a="http://schemas.openxmlformats.org/drawingml/2006/main">
            <a:off x="571500" y="3019425"/>
            <a:ext cx="20478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Reconocer y proponer.</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Revisar y corregir.</a:t>
            </a:r>
          </a:p>
        </p:txBody>
      </p:sp>
      <p:sp>
        <p:nvSpPr>
          <p:cNvPr id="7" name="">
            <a:extLst xmlns:a="http://schemas.openxmlformats.org/drawingml/2006/main">
              <a:ext uri="{FF2B5EF4-FFF2-40B4-BE49-F238E27FC236}">
                <a16:creationId xmlns:a16="http://schemas.microsoft.com/office/drawing/2014/main" id="{0D41F03A-E2CA-404E-81C4-016D36330331}"/>
              </a:ext>
            </a:extLst>
          </p:cNvPr>
          <p:cNvSpPr>
            <a:spLocks xmlns:a="http://schemas.openxmlformats.org/drawingml/2006/main" noGrp="1"/>
          </p:cNvSpPr>
          <p:nvPr/>
        </p:nvSpPr>
        <p:spPr>
          <a:xfrm xmlns:a="http://schemas.openxmlformats.org/drawingml/2006/main" rot="0">
            <a:off x="2628900" y="2362200"/>
            <a:ext cx="6667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5E26013-234A-4BB3-A13D-416F1178CC57}"/>
              </a:ext>
            </a:extLst>
          </p:cNvPr>
          <p:cNvSpPr>
            <a:spLocks xmlns:a="http://schemas.openxmlformats.org/drawingml/2006/main" noGrp="1"/>
          </p:cNvSpPr>
          <p:nvPr/>
        </p:nvSpPr>
        <p:spPr>
          <a:xfrm xmlns:a="http://schemas.openxmlformats.org/drawingml/2006/main" rot="5400000">
            <a:off x="2676525" y="23241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9" name="F7 · Referencia">
            <a:extLst xmlns:a="http://schemas.openxmlformats.org/drawingml/2006/main">
              <a:ext uri="{FF2B5EF4-FFF2-40B4-BE49-F238E27FC236}">
                <a16:creationId xmlns:a16="http://schemas.microsoft.com/office/drawing/2014/main" id="{545A6BFC-48BF-4487-9875-50AEDD6BFBB9}"/>
              </a:ext>
            </a:extLst>
          </p:cNvPr>
          <p:cNvSpPr>
            <a:spLocks xmlns:a="http://schemas.openxmlformats.org/drawingml/2006/main" noGrp="1"/>
          </p:cNvSpPr>
          <p:nvPr/>
        </p:nvSpPr>
        <p:spPr>
          <a:xfrm xmlns:a="http://schemas.openxmlformats.org/drawingml/2006/main">
            <a:off x="2809875"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F7 · Referencia</a:t>
            </a:r>
          </a:p>
        </p:txBody>
      </p:sp>
      <p:sp>
        <p:nvSpPr>
          <p:cNvPr id="10" name="Consultar código y tabla.&#10;Conservar fuente y edici">
            <a:extLst xmlns:a="http://schemas.openxmlformats.org/drawingml/2006/main">
              <a:ext uri="{FF2B5EF4-FFF2-40B4-BE49-F238E27FC236}">
                <a16:creationId xmlns:a16="http://schemas.microsoft.com/office/drawing/2014/main" id="{1B54ED4B-9234-4FD9-8E9B-5AA7217F393D}"/>
              </a:ext>
            </a:extLst>
          </p:cNvPr>
          <p:cNvSpPr>
            <a:spLocks xmlns:a="http://schemas.openxmlformats.org/drawingml/2006/main" noGrp="1"/>
          </p:cNvSpPr>
          <p:nvPr/>
        </p:nvSpPr>
        <p:spPr>
          <a:xfrm xmlns:a="http://schemas.openxmlformats.org/drawingml/2006/main">
            <a:off x="2809875" y="3019425"/>
            <a:ext cx="20478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Consultar código y tabla.</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Conservar fuente y edición.</a:t>
            </a:r>
          </a:p>
        </p:txBody>
      </p:sp>
      <p:sp>
        <p:nvSpPr>
          <p:cNvPr id="11" name="">
            <a:extLst xmlns:a="http://schemas.openxmlformats.org/drawingml/2006/main">
              <a:ext uri="{FF2B5EF4-FFF2-40B4-BE49-F238E27FC236}">
                <a16:creationId xmlns:a16="http://schemas.microsoft.com/office/drawing/2014/main" id="{1E9C3047-8EEB-4245-8921-3935D748F6A2}"/>
              </a:ext>
            </a:extLst>
          </p:cNvPr>
          <p:cNvSpPr>
            <a:spLocks xmlns:a="http://schemas.openxmlformats.org/drawingml/2006/main" noGrp="1"/>
          </p:cNvSpPr>
          <p:nvPr/>
        </p:nvSpPr>
        <p:spPr>
          <a:xfrm xmlns:a="http://schemas.openxmlformats.org/drawingml/2006/main" rot="0">
            <a:off x="4867275" y="2362200"/>
            <a:ext cx="6667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8EE6C84-3025-44FB-AFD4-F1AE36FFFCC4}"/>
              </a:ext>
            </a:extLst>
          </p:cNvPr>
          <p:cNvSpPr>
            <a:spLocks xmlns:a="http://schemas.openxmlformats.org/drawingml/2006/main" noGrp="1"/>
          </p:cNvSpPr>
          <p:nvPr/>
        </p:nvSpPr>
        <p:spPr>
          <a:xfrm xmlns:a="http://schemas.openxmlformats.org/drawingml/2006/main" rot="5400000">
            <a:off x="4914900" y="23241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13" name="F8 · Calcular">
            <a:extLst xmlns:a="http://schemas.openxmlformats.org/drawingml/2006/main">
              <a:ext uri="{FF2B5EF4-FFF2-40B4-BE49-F238E27FC236}">
                <a16:creationId xmlns:a16="http://schemas.microsoft.com/office/drawing/2014/main" id="{DAEB23D5-C259-44D3-9C41-2109A1045B75}"/>
              </a:ext>
            </a:extLst>
          </p:cNvPr>
          <p:cNvSpPr>
            <a:spLocks xmlns:a="http://schemas.openxmlformats.org/drawingml/2006/main" noGrp="1"/>
          </p:cNvSpPr>
          <p:nvPr/>
        </p:nvSpPr>
        <p:spPr>
          <a:xfrm xmlns:a="http://schemas.openxmlformats.org/drawingml/2006/main">
            <a:off x="5048250"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F8 · Calcular</a:t>
            </a:r>
          </a:p>
        </p:txBody>
      </p:sp>
      <p:sp>
        <p:nvSpPr>
          <p:cNvPr id="14" name="Normalizar gramos.&#10;Escalar y sumar nutrientes.">
            <a:extLst xmlns:a="http://schemas.openxmlformats.org/drawingml/2006/main">
              <a:ext uri="{FF2B5EF4-FFF2-40B4-BE49-F238E27FC236}">
                <a16:creationId xmlns:a16="http://schemas.microsoft.com/office/drawing/2014/main" id="{B79962C1-A840-4009-864A-5A236710D98E}"/>
              </a:ext>
            </a:extLst>
          </p:cNvPr>
          <p:cNvSpPr>
            <a:spLocks xmlns:a="http://schemas.openxmlformats.org/drawingml/2006/main" noGrp="1"/>
          </p:cNvSpPr>
          <p:nvPr/>
        </p:nvSpPr>
        <p:spPr>
          <a:xfrm xmlns:a="http://schemas.openxmlformats.org/drawingml/2006/main">
            <a:off x="5048250" y="3019425"/>
            <a:ext cx="20478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Normalizar gramos.</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Escalar y sumar nutrientes.</a:t>
            </a:r>
          </a:p>
        </p:txBody>
      </p:sp>
      <p:sp>
        <p:nvSpPr>
          <p:cNvPr id="15" name="">
            <a:extLst xmlns:a="http://schemas.openxmlformats.org/drawingml/2006/main">
              <a:ext uri="{FF2B5EF4-FFF2-40B4-BE49-F238E27FC236}">
                <a16:creationId xmlns:a16="http://schemas.microsoft.com/office/drawing/2014/main" id="{05D94DA0-3AB2-4D44-B164-DF108A4A5CD3}"/>
              </a:ext>
            </a:extLst>
          </p:cNvPr>
          <p:cNvSpPr>
            <a:spLocks xmlns:a="http://schemas.openxmlformats.org/drawingml/2006/main" noGrp="1"/>
          </p:cNvSpPr>
          <p:nvPr/>
        </p:nvSpPr>
        <p:spPr>
          <a:xfrm xmlns:a="http://schemas.openxmlformats.org/drawingml/2006/main" rot="0">
            <a:off x="7105650" y="2362200"/>
            <a:ext cx="6667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6F65014-AA9A-48BF-B467-2F3D413A57E2}"/>
              </a:ext>
            </a:extLst>
          </p:cNvPr>
          <p:cNvSpPr>
            <a:spLocks xmlns:a="http://schemas.openxmlformats.org/drawingml/2006/main" noGrp="1"/>
          </p:cNvSpPr>
          <p:nvPr/>
        </p:nvSpPr>
        <p:spPr>
          <a:xfrm xmlns:a="http://schemas.openxmlformats.org/drawingml/2006/main" rot="5400000">
            <a:off x="7153275" y="23241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17" name="F9 · Informar">
            <a:extLst xmlns:a="http://schemas.openxmlformats.org/drawingml/2006/main">
              <a:ext uri="{FF2B5EF4-FFF2-40B4-BE49-F238E27FC236}">
                <a16:creationId xmlns:a16="http://schemas.microsoft.com/office/drawing/2014/main" id="{3F2EAE48-F1E4-4639-AD3E-118AA1256A5C}"/>
              </a:ext>
            </a:extLst>
          </p:cNvPr>
          <p:cNvSpPr>
            <a:spLocks xmlns:a="http://schemas.openxmlformats.org/drawingml/2006/main" noGrp="1"/>
          </p:cNvSpPr>
          <p:nvPr/>
        </p:nvSpPr>
        <p:spPr>
          <a:xfrm xmlns:a="http://schemas.openxmlformats.org/drawingml/2006/main">
            <a:off x="7286625"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F9 · Informar</a:t>
            </a:r>
          </a:p>
        </p:txBody>
      </p:sp>
      <p:sp>
        <p:nvSpPr>
          <p:cNvPr id="18" name="Mostrar g, kcal y macros.&#10;Indicar origen del dato.">
            <a:extLst xmlns:a="http://schemas.openxmlformats.org/drawingml/2006/main">
              <a:ext uri="{FF2B5EF4-FFF2-40B4-BE49-F238E27FC236}">
                <a16:creationId xmlns:a16="http://schemas.microsoft.com/office/drawing/2014/main" id="{628685E4-8620-45CA-AADA-1111F978C356}"/>
              </a:ext>
            </a:extLst>
          </p:cNvPr>
          <p:cNvSpPr>
            <a:spLocks xmlns:a="http://schemas.openxmlformats.org/drawingml/2006/main" noGrp="1"/>
          </p:cNvSpPr>
          <p:nvPr/>
        </p:nvSpPr>
        <p:spPr>
          <a:xfrm xmlns:a="http://schemas.openxmlformats.org/drawingml/2006/main">
            <a:off x="7286625" y="3019425"/>
            <a:ext cx="20478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Mostrar g, kcal y macros.</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Indicar origen del dato.</a:t>
            </a:r>
          </a:p>
        </p:txBody>
      </p:sp>
      <p:sp>
        <p:nvSpPr>
          <p:cNvPr id="19" name="">
            <a:extLst xmlns:a="http://schemas.openxmlformats.org/drawingml/2006/main">
              <a:ext uri="{FF2B5EF4-FFF2-40B4-BE49-F238E27FC236}">
                <a16:creationId xmlns:a16="http://schemas.microsoft.com/office/drawing/2014/main" id="{326A0CAA-55FF-4503-ADE4-EA7B8B958E3D}"/>
              </a:ext>
            </a:extLst>
          </p:cNvPr>
          <p:cNvSpPr>
            <a:spLocks xmlns:a="http://schemas.openxmlformats.org/drawingml/2006/main" noGrp="1"/>
          </p:cNvSpPr>
          <p:nvPr/>
        </p:nvSpPr>
        <p:spPr>
          <a:xfrm xmlns:a="http://schemas.openxmlformats.org/drawingml/2006/main" rot="0">
            <a:off x="9344025" y="2362200"/>
            <a:ext cx="6667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5468002-90E4-4B45-BA4F-C21E158745B4}"/>
              </a:ext>
            </a:extLst>
          </p:cNvPr>
          <p:cNvSpPr>
            <a:spLocks xmlns:a="http://schemas.openxmlformats.org/drawingml/2006/main" noGrp="1"/>
          </p:cNvSpPr>
          <p:nvPr/>
        </p:nvSpPr>
        <p:spPr>
          <a:xfrm xmlns:a="http://schemas.openxmlformats.org/drawingml/2006/main" rot="5400000">
            <a:off x="9391650" y="23241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21" name="F10 · Guardar">
            <a:extLst xmlns:a="http://schemas.openxmlformats.org/drawingml/2006/main">
              <a:ext uri="{FF2B5EF4-FFF2-40B4-BE49-F238E27FC236}">
                <a16:creationId xmlns:a16="http://schemas.microsoft.com/office/drawing/2014/main" id="{3BC6D9B8-6977-4DBF-947B-D5BC1339233A}"/>
              </a:ext>
            </a:extLst>
          </p:cNvPr>
          <p:cNvSpPr>
            <a:spLocks xmlns:a="http://schemas.openxmlformats.org/drawingml/2006/main" noGrp="1"/>
          </p:cNvSpPr>
          <p:nvPr/>
        </p:nvSpPr>
        <p:spPr>
          <a:xfrm xmlns:a="http://schemas.openxmlformats.org/drawingml/2006/main">
            <a:off x="9525000"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F10 · Guardar</a:t>
            </a:r>
          </a:p>
        </p:txBody>
      </p:sp>
      <p:sp>
        <p:nvSpPr>
          <p:cNvPr id="22" name="Confirmar el registro.&#10;Guardar fecha y fuente.">
            <a:extLst xmlns:a="http://schemas.openxmlformats.org/drawingml/2006/main">
              <a:ext uri="{FF2B5EF4-FFF2-40B4-BE49-F238E27FC236}">
                <a16:creationId xmlns:a16="http://schemas.microsoft.com/office/drawing/2014/main" id="{3D6E0407-5212-42A1-9594-F6C1A36FBF7B}"/>
              </a:ext>
            </a:extLst>
          </p:cNvPr>
          <p:cNvSpPr>
            <a:spLocks xmlns:a="http://schemas.openxmlformats.org/drawingml/2006/main" noGrp="1"/>
          </p:cNvSpPr>
          <p:nvPr/>
        </p:nvSpPr>
        <p:spPr>
          <a:xfrm xmlns:a="http://schemas.openxmlformats.org/drawingml/2006/main">
            <a:off x="9525000" y="3019425"/>
            <a:ext cx="20478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Confirmar el registro.</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Guardar fecha y fuente.</a:t>
            </a:r>
          </a:p>
        </p:txBody>
      </p:sp>
      <p:sp>
        <p:nvSpPr>
          <p:cNvPr id="23" name="">
            <a:extLst xmlns:a="http://schemas.openxmlformats.org/drawingml/2006/main">
              <a:ext uri="{FF2B5EF4-FFF2-40B4-BE49-F238E27FC236}">
                <a16:creationId xmlns:a16="http://schemas.microsoft.com/office/drawing/2014/main" id="{3CAACE3F-299B-41A9-B653-CE2ED7B00B46}"/>
              </a:ext>
            </a:extLst>
          </p:cNvPr>
          <p:cNvSpPr>
            <a:spLocks xmlns:a="http://schemas.openxmlformats.org/drawingml/2006/main" noGrp="1"/>
          </p:cNvSpPr>
          <p:nvPr/>
        </p:nvSpPr>
        <p:spPr>
          <a:xfrm xmlns:a="http://schemas.openxmlformats.org/drawingml/2006/main" rot="0">
            <a:off x="3238500" y="4533900"/>
            <a:ext cx="4286250"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2390D13-121A-4C13-B51B-A632554196A2}"/>
              </a:ext>
            </a:extLst>
          </p:cNvPr>
          <p:cNvSpPr>
            <a:spLocks xmlns:a="http://schemas.openxmlformats.org/drawingml/2006/main" noGrp="1"/>
          </p:cNvSpPr>
          <p:nvPr/>
        </p:nvSpPr>
        <p:spPr>
          <a:xfrm xmlns:a="http://schemas.openxmlformats.org/drawingml/2006/main" rot="16200000">
            <a:off x="3143250" y="44958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25" name="Corrección de identidad o cantidad: consultar y re">
            <a:extLst xmlns:a="http://schemas.openxmlformats.org/drawingml/2006/main">
              <a:ext uri="{FF2B5EF4-FFF2-40B4-BE49-F238E27FC236}">
                <a16:creationId xmlns:a16="http://schemas.microsoft.com/office/drawing/2014/main" id="{9266573C-D6CF-4223-943B-24CD260E46B1}"/>
              </a:ext>
            </a:extLst>
          </p:cNvPr>
          <p:cNvSpPr>
            <a:spLocks xmlns:a="http://schemas.openxmlformats.org/drawingml/2006/main" noGrp="1"/>
          </p:cNvSpPr>
          <p:nvPr/>
        </p:nvSpPr>
        <p:spPr>
          <a:xfrm xmlns:a="http://schemas.openxmlformats.org/drawingml/2006/main">
            <a:off x="571500" y="49434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AD6240"/>
                </a:solidFill>
                <a:latin typeface="Arial"/>
                <a:ea typeface="Arial"/>
                <a:cs typeface="Arial"/>
              </a:defRPr>
            </a:defPPr>
          </a:lstStyle>
          <a:p xmlns:a="http://schemas.openxmlformats.org/drawingml/2006/main">
            <a:pPr>
              <a:defRPr sz="2025" b="1">
                <a:solidFill>
                  <a:srgbClr val="AD6240"/>
                </a:solidFill>
                <a:latin typeface="Arial"/>
                <a:ea typeface="Arial"/>
                <a:cs typeface="Arial"/>
              </a:defRPr>
            </a:pPr>
            <a:r>
              <a:rPr sz="2025" b="1">
                <a:solidFill>
                  <a:srgbClr val="AD6240"/>
                </a:solidFill>
                <a:latin typeface="Arial"/>
                <a:ea typeface="Arial"/>
                <a:cs typeface="Arial"/>
              </a:rPr>
              <a:t>Corrección de identidad o cantidad: consultar y recalcular antes de guardar.</a:t>
            </a:r>
          </a:p>
        </p:txBody>
      </p:sp>
      <p:sp>
        <p:nvSpPr>
          <p:cNvPr id="26" name="Medido: masa total. Estimado: reparto por alimento">
            <a:extLst xmlns:a="http://schemas.openxmlformats.org/drawingml/2006/main">
              <a:ext uri="{FF2B5EF4-FFF2-40B4-BE49-F238E27FC236}">
                <a16:creationId xmlns:a16="http://schemas.microsoft.com/office/drawing/2014/main" id="{400E49C2-20DD-4430-B06A-B8107758C495}"/>
              </a:ext>
            </a:extLst>
          </p:cNvPr>
          <p:cNvSpPr>
            <a:spLocks xmlns:a="http://schemas.openxmlformats.org/drawingml/2006/main" noGrp="1"/>
          </p:cNvSpPr>
          <p:nvPr/>
        </p:nvSpPr>
        <p:spPr>
          <a:xfrm xmlns:a="http://schemas.openxmlformats.org/drawingml/2006/main">
            <a:off x="571500" y="596265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Medido: masa total. Estimado: reparto por alimento. Calculado: kcal y macronutrientes.</a:t>
            </a:r>
          </a:p>
        </p:txBody>
      </p:sp>
    </p:spTree>
    <p:extLst>
      <p:ext uri="{BB962C8B-B14F-4D97-AF65-F5344CB8AC3E}">
        <p14:creationId xmlns:p14="http://schemas.microsoft.com/office/powerpoint/2010/main" val="1811481732"/>
      </p:ext>
    </p:extLst>
  </p:cSld>
</p:sld>
</file>

<file path=ppt/slides/slide14.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73" name="7. Matriz morfológica y conceptos (1/2)">
            <a:extLst xmlns:a="http://schemas.openxmlformats.org/drawingml/2006/main">
              <a:ext uri="{FF2B5EF4-FFF2-40B4-BE49-F238E27FC236}">
                <a16:creationId xmlns:a16="http://schemas.microsoft.com/office/drawing/2014/main" id="{933982E0-B5B2-4677-895D-BEFF1E0C95B5}"/>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7. Matriz morfológica y conceptos (1/2)</a:t>
            </a:r>
          </a:p>
        </p:txBody>
      </p:sp>
      <p:sp>
        <p:nvSpPr>
          <p:cNvPr id="2" name="Dominios físicos y de adquisición. Cada color cone">
            <a:extLst xmlns:a="http://schemas.openxmlformats.org/drawingml/2006/main">
              <a:ext uri="{FF2B5EF4-FFF2-40B4-BE49-F238E27FC236}">
                <a16:creationId xmlns:a16="http://schemas.microsoft.com/office/drawing/2014/main" id="{7413DAA1-F5CD-4ECE-A97A-2788CD394036}"/>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Dominios físicos y de adquisición. Cada color conecta un concepto compatible.</a:t>
            </a:r>
          </a:p>
        </p:txBody>
      </p:sp>
      <p:sp>
        <p:nvSpPr>
          <p:cNvPr id="3" name="Fuentes [16], [17], [18], [19], [20], [23], [24]. ">
            <a:extLst xmlns:a="http://schemas.openxmlformats.org/drawingml/2006/main">
              <a:ext uri="{FF2B5EF4-FFF2-40B4-BE49-F238E27FC236}">
                <a16:creationId xmlns:a16="http://schemas.microsoft.com/office/drawing/2014/main" id="{AAD7E7CE-B36A-4578-A242-328FDCC4CF70}"/>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[16], [17], [18], [19], [20], [23], [24]. Referencias al final.</a:t>
            </a:r>
          </a:p>
        </p:txBody>
      </p:sp>
      <p:sp>
        <p:nvSpPr>
          <p:cNvPr id="4" name="14">
            <a:extLst xmlns:a="http://schemas.openxmlformats.org/drawingml/2006/main">
              <a:ext uri="{FF2B5EF4-FFF2-40B4-BE49-F238E27FC236}">
                <a16:creationId xmlns:a16="http://schemas.microsoft.com/office/drawing/2014/main" id="{E332A6E3-F962-4124-BD9D-F0093F5A3B1D}"/>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14</a:t>
            </a:r>
          </a:p>
        </p:txBody>
      </p:sp>
      <p:graphicFrame>
        <p:nvGraphicFramePr>
          <p:cNvPr id="5" name="">
            <a:extLst xmlns:a="http://schemas.openxmlformats.org/drawingml/2006/main">
              <a:ext uri="{FF2B5EF4-FFF2-40B4-BE49-F238E27FC236}">
                <a16:creationId xmlns:a16="http://schemas.microsoft.com/office/drawing/2014/main" id="{0D5A7960-7B70-4130-B8FE-E775AE671F56}"/>
              </a:ext>
            </a:extLst>
          </p:cNvPr>
          <p:cNvGraphicFramePr/>
          <p:nvPr/>
        </p:nvGraphicFramePr>
        <p:xfrm>
          <a:off xmlns:a="http://schemas.openxmlformats.org/drawingml/2006/main" x="571500" y="1885950"/>
          <a:ext xmlns:a="http://schemas.openxmlformats.org/drawingml/2006/main" cx="11049000" cy="4124325"/>
        </p:xfrm>
        <a:graphic xmlns:a="http://schemas.openxmlformats.org/drawingml/2006/main">
          <a:graphicData uri="http://schemas.openxmlformats.org/drawingml/2006/table">
            <a:tbl>
              <a:tblPr/>
              <a:tblGrid>
                <a:gridCol w="2238375"/>
                <a:gridCol w="2933700"/>
                <a:gridCol w="2933700"/>
                <a:gridCol w="2943225"/>
              </a:tblGrid>
              <a:tr h="409575">
                <a:tc>
                  <a:txBody>
                    <a:bodyPr/>
                    <a:lstStyle/>
                    <a:p>
                      <a:r>
                        <a:rPr sz="1575" b="1">
                          <a:solidFill>
                            <a:srgbClr val="FFFFFF"/>
                          </a:solidFill>
                          <a:latin typeface="Arial"/>
                          <a:ea typeface="Arial"/>
                          <a:cs typeface="Arial"/>
                        </a:rPr>
                        <a:t>Función / dominio</a:t>
                      </a:r>
                    </a:p>
                  </a:txBody>
                  <a:tcPr marL="95250" marR="95250" marT="19050" marB="19050" anchor="ctr">
                    <a:solidFill>
                      <a:srgbClr val="173F2F"/>
                    </a:solidFill>
                  </a:tcPr>
                </a:tc>
                <a:tc>
                  <a:txBody>
                    <a:bodyPr/>
                    <a:lstStyle/>
                    <a:p>
                      <a:r>
                        <a:rPr sz="1575" b="1">
                          <a:solidFill>
                            <a:srgbClr val="FFFFFF"/>
                          </a:solidFill>
                          <a:latin typeface="Arial"/>
                          <a:ea typeface="Arial"/>
                          <a:cs typeface="Arial"/>
                        </a:rPr>
                        <a:t>A · Visual</a:t>
                      </a:r>
                    </a:p>
                  </a:txBody>
                  <a:tcPr marL="95250" marR="95250" marT="19050" marB="19050" anchor="ctr">
                    <a:solidFill>
                      <a:srgbClr val="173F2F"/>
                    </a:solidFill>
                  </a:tcPr>
                </a:tc>
                <a:tc>
                  <a:txBody>
                    <a:bodyPr/>
                    <a:lstStyle/>
                    <a:p>
                      <a:r>
                        <a:rPr sz="1575" b="1">
                          <a:solidFill>
                            <a:srgbClr val="FFFFFF"/>
                          </a:solidFill>
                          <a:latin typeface="Arial"/>
                          <a:ea typeface="Arial"/>
                          <a:cs typeface="Arial"/>
                        </a:rPr>
                        <a:t>B · Balanza externa</a:t>
                      </a:r>
                    </a:p>
                  </a:txBody>
                  <a:tcPr marL="95250" marR="95250" marT="19050" marB="19050" anchor="ctr">
                    <a:solidFill>
                      <a:srgbClr val="173F2F"/>
                    </a:solidFill>
                  </a:tcPr>
                </a:tc>
                <a:tc>
                  <a:txBody>
                    <a:bodyPr/>
                    <a:lstStyle/>
                    <a:p>
                      <a:r>
                        <a:rPr sz="1575" b="1">
                          <a:solidFill>
                            <a:srgbClr val="FFFFFF"/>
                          </a:solidFill>
                          <a:latin typeface="Arial"/>
                          <a:ea typeface="Arial"/>
                          <a:cs typeface="Arial"/>
                        </a:rPr>
                        <a:t>C · Caja integrada</a:t>
                      </a:r>
                    </a:p>
                  </a:txBody>
                  <a:tcPr marL="95250" marR="95250" marT="19050" marB="19050" anchor="ctr">
                    <a:solidFill>
                      <a:srgbClr val="173F2F"/>
                    </a:solidFill>
                  </a:tcPr>
                </a:tc>
              </a:tr>
              <a:tr h="619125">
                <a:tc>
                  <a:txBody>
                    <a:bodyPr/>
                    <a:lstStyle/>
                    <a:p>
                      <a:r>
                        <a:rPr sz="1350">
                          <a:solidFill>
                            <a:srgbClr val="173F2F"/>
                          </a:solidFill>
                          <a:latin typeface="Arial"/>
                          <a:ea typeface="Arial"/>
                          <a:cs typeface="Arial"/>
                        </a:rPr>
                        <a:t>F1 · Energía</a:t>
                      </a:r>
                    </a:p>
                    <a:p>
                      <a:r>
                        <a:rPr sz="1350">
                          <a:solidFill>
                            <a:srgbClr val="173F2F"/>
                          </a:solidFill>
                          <a:latin typeface="Arial"/>
                          <a:ea typeface="Arial"/>
                          <a:cs typeface="Arial"/>
                        </a:rPr>
                        <a:t>Energizar</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r>
              <a:tr h="619125">
                <a:tc>
                  <a:txBody>
                    <a:bodyPr/>
                    <a:lstStyle/>
                    <a:p>
                      <a:r>
                        <a:rPr sz="1350">
                          <a:solidFill>
                            <a:srgbClr val="173F2F"/>
                          </a:solidFill>
                          <a:latin typeface="Arial"/>
                          <a:ea typeface="Arial"/>
                          <a:cs typeface="Arial"/>
                        </a:rPr>
                        <a:t>F2 · Comunicación</a:t>
                      </a:r>
                    </a:p>
                    <a:p>
                      <a:r>
                        <a:rPr sz="1350">
                          <a:solidFill>
                            <a:srgbClr val="173F2F"/>
                          </a:solidFill>
                          <a:latin typeface="Arial"/>
                          <a:ea typeface="Arial"/>
                          <a:cs typeface="Arial"/>
                        </a:rPr>
                        <a:t>Conectar</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r>
              <a:tr h="619125">
                <a:tc>
                  <a:txBody>
                    <a:bodyPr/>
                    <a:lstStyle/>
                    <a:p>
                      <a:r>
                        <a:rPr sz="1350">
                          <a:solidFill>
                            <a:srgbClr val="173F2F"/>
                          </a:solidFill>
                          <a:latin typeface="Arial"/>
                          <a:ea typeface="Arial"/>
                          <a:cs typeface="Arial"/>
                        </a:rPr>
                        <a:t>F3 · Adquisición</a:t>
                      </a:r>
                    </a:p>
                    <a:p>
                      <a:r>
                        <a:rPr sz="1350">
                          <a:solidFill>
                            <a:srgbClr val="173F2F"/>
                          </a:solidFill>
                          <a:latin typeface="Arial"/>
                          <a:ea typeface="Arial"/>
                          <a:cs typeface="Arial"/>
                        </a:rPr>
                        <a:t>Capturar</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r>
              <a:tr h="619125">
                <a:tc>
                  <a:txBody>
                    <a:bodyPr/>
                    <a:lstStyle/>
                    <a:p>
                      <a:r>
                        <a:rPr sz="1350">
                          <a:solidFill>
                            <a:srgbClr val="173F2F"/>
                          </a:solidFill>
                          <a:latin typeface="Arial"/>
                          <a:ea typeface="Arial"/>
                          <a:cs typeface="Arial"/>
                        </a:rPr>
                        <a:t>F4 · Comunicación</a:t>
                      </a:r>
                    </a:p>
                    <a:p>
                      <a:r>
                        <a:rPr sz="1350">
                          <a:solidFill>
                            <a:srgbClr val="173F2F"/>
                          </a:solidFill>
                          <a:latin typeface="Arial"/>
                          <a:ea typeface="Arial"/>
                          <a:cs typeface="Arial"/>
                        </a:rPr>
                        <a:t>Transmitir</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r>
              <a:tr h="619125">
                <a:tc>
                  <a:txBody>
                    <a:bodyPr/>
                    <a:lstStyle/>
                    <a:p>
                      <a:r>
                        <a:rPr sz="1350">
                          <a:solidFill>
                            <a:srgbClr val="173F2F"/>
                          </a:solidFill>
                          <a:latin typeface="Arial"/>
                          <a:ea typeface="Arial"/>
                          <a:cs typeface="Arial"/>
                        </a:rPr>
                        <a:t>F5 · Medición</a:t>
                      </a:r>
                    </a:p>
                    <a:p>
                      <a:r>
                        <a:rPr sz="1350">
                          <a:solidFill>
                            <a:srgbClr val="173F2F"/>
                          </a:solidFill>
                          <a:latin typeface="Arial"/>
                          <a:ea typeface="Arial"/>
                          <a:cs typeface="Arial"/>
                        </a:rPr>
                        <a:t>Determinar cantidad</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r>
              <a:tr h="619125">
                <a:tc>
                  <a:txBody>
                    <a:bodyPr/>
                    <a:lstStyle/>
                    <a:p>
                      <a:r>
                        <a:rPr sz="1350">
                          <a:solidFill>
                            <a:srgbClr val="173F2F"/>
                          </a:solidFill>
                          <a:latin typeface="Arial"/>
                          <a:ea typeface="Arial"/>
                          <a:cs typeface="Arial"/>
                        </a:rPr>
                        <a:t>F11 · Mecánica</a:t>
                      </a:r>
                    </a:p>
                    <a:p>
                      <a:r>
                        <a:rPr sz="1350">
                          <a:solidFill>
                            <a:srgbClr val="173F2F"/>
                          </a:solidFill>
                          <a:latin typeface="Arial"/>
                          <a:ea typeface="Arial"/>
                          <a:cs typeface="Arial"/>
                        </a:rPr>
                        <a:t>Sostener y limpiar</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r>
            </a:tbl>
          </a:graphicData>
        </a:graphic>
      </p:graphicFrame>
      <p:pic>
        <p:nvPicPr>
          <p:cNvPr id="6" name="">
            <a:extLst xmlns:a="http://schemas.openxmlformats.org/drawingml/2006/main">
              <a:ext uri="{FF2B5EF4-FFF2-40B4-BE49-F238E27FC236}">
                <a16:creationId xmlns:a16="http://schemas.microsoft.com/office/drawing/2014/main" id="{834A5E7B-5422-4DBD-8441-14C49653148E}"/>
              </a:ext>
            </a:extLst>
          </p:cNvPr>
          <p:cNvPicPr>
            <a:picLocks xmlns:a="http://schemas.openxmlformats.org/drawingml/2006/main" noChangeAspect="1"/>
          </p:cNvPicPr>
          <p:nvPr/>
        </p:nvPicPr>
        <p:blipFill>
          <a:blip xmlns:r="http://schemas.openxmlformats.org/officeDocument/2006/relationships" xmlns:a="http://schemas.openxmlformats.org/drawingml/2006/main" r:embed="Rfd63f4f8291b4e8d"/>
          <a:stretch xmlns:a="http://schemas.openxmlformats.org/drawingml/2006/main"/>
        </p:blipFill>
        <p:spPr>
          <a:xfrm xmlns:a="http://schemas.openxmlformats.org/drawingml/2006/main">
            <a:off x="3122044" y="2352675"/>
            <a:ext cx="232913" cy="504825"/>
          </a:xfrm>
          <a:prstGeom xmlns:a="http://schemas.openxmlformats.org/drawingml/2006/main" prst="rect">
            <a:avLst/>
          </a:prstGeom>
        </p:spPr>
      </p:pic>
      <p:sp>
        <p:nvSpPr>
          <p:cNvPr id="7" name="Batería del&#10;celular">
            <a:extLst xmlns:a="http://schemas.openxmlformats.org/drawingml/2006/main">
              <a:ext uri="{FF2B5EF4-FFF2-40B4-BE49-F238E27FC236}">
                <a16:creationId xmlns:a16="http://schemas.microsoft.com/office/drawing/2014/main" id="{C1EB49F2-65A9-4E9A-902C-A0BF172538FF}"/>
              </a:ext>
            </a:extLst>
          </p:cNvPr>
          <p:cNvSpPr>
            <a:spLocks xmlns:a="http://schemas.openxmlformats.org/drawingml/2006/main" noGrp="1"/>
          </p:cNvSpPr>
          <p:nvPr/>
        </p:nvSpPr>
        <p:spPr>
          <a:xfrm xmlns:a="http://schemas.openxmlformats.org/drawingml/2006/main">
            <a:off x="3676650" y="2381250"/>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Batería del</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celular</a:t>
            </a:r>
          </a:p>
        </p:txBody>
      </p:sp>
      <p:sp>
        <p:nvSpPr>
          <p:cNvPr id="8" name="">
            <a:extLst xmlns:a="http://schemas.openxmlformats.org/drawingml/2006/main">
              <a:ext uri="{FF2B5EF4-FFF2-40B4-BE49-F238E27FC236}">
                <a16:creationId xmlns:a16="http://schemas.microsoft.com/office/drawing/2014/main" id="{B093C149-E359-477C-80B4-D0C4F8171DD2}"/>
              </a:ext>
            </a:extLst>
          </p:cNvPr>
          <p:cNvSpPr>
            <a:spLocks xmlns:a="http://schemas.openxmlformats.org/drawingml/2006/main" noGrp="1"/>
          </p:cNvSpPr>
          <p:nvPr/>
        </p:nvSpPr>
        <p:spPr>
          <a:xfrm xmlns:a="http://schemas.openxmlformats.org/drawingml/2006/main" rot="0">
            <a:off x="5624513" y="2605088"/>
            <a:ext cx="28575" cy="523875"/>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90AC981-776E-4E03-81EF-DBCA39FF2B89}"/>
              </a:ext>
            </a:extLst>
          </p:cNvPr>
          <p:cNvSpPr>
            <a:spLocks xmlns:a="http://schemas.openxmlformats.org/drawingml/2006/main" noGrp="1"/>
          </p:cNvSpPr>
          <p:nvPr/>
        </p:nvSpPr>
        <p:spPr>
          <a:xfrm xmlns:a="http://schemas.openxmlformats.org/drawingml/2006/main" rot="10800000">
            <a:off x="5581650" y="3109913"/>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pic>
        <p:nvPicPr>
          <p:cNvPr id="10" name="">
            <a:extLst xmlns:a="http://schemas.openxmlformats.org/drawingml/2006/main">
              <a:ext uri="{FF2B5EF4-FFF2-40B4-BE49-F238E27FC236}">
                <a16:creationId xmlns:a16="http://schemas.microsoft.com/office/drawing/2014/main" id="{26257334-F2A3-4727-BEF8-9933EEA7EE74}"/>
              </a:ext>
            </a:extLst>
          </p:cNvPr>
          <p:cNvPicPr>
            <a:picLocks xmlns:a="http://schemas.openxmlformats.org/drawingml/2006/main" noChangeAspect="1"/>
          </p:cNvPicPr>
          <p:nvPr/>
        </p:nvPicPr>
        <p:blipFill>
          <a:blip xmlns:r="http://schemas.openxmlformats.org/officeDocument/2006/relationships" xmlns:a="http://schemas.openxmlformats.org/drawingml/2006/main" r:embed="R5a33e82607ef4182"/>
          <a:stretch xmlns:a="http://schemas.openxmlformats.org/drawingml/2006/main"/>
        </p:blipFill>
        <p:spPr>
          <a:xfrm xmlns:a="http://schemas.openxmlformats.org/drawingml/2006/main">
            <a:off x="6020812" y="2352675"/>
            <a:ext cx="302776" cy="504825"/>
          </a:xfrm>
          <a:prstGeom xmlns:a="http://schemas.openxmlformats.org/drawingml/2006/main" prst="rect">
            <a:avLst/>
          </a:prstGeom>
        </p:spPr>
      </p:pic>
      <p:sp>
        <p:nvSpPr>
          <p:cNvPr id="11" name="Celular +&#10;balanza externa">
            <a:extLst xmlns:a="http://schemas.openxmlformats.org/drawingml/2006/main">
              <a:ext uri="{FF2B5EF4-FFF2-40B4-BE49-F238E27FC236}">
                <a16:creationId xmlns:a16="http://schemas.microsoft.com/office/drawing/2014/main" id="{8872CD6E-AC50-4F81-9056-3E148532A3A7}"/>
              </a:ext>
            </a:extLst>
          </p:cNvPr>
          <p:cNvSpPr>
            <a:spLocks xmlns:a="http://schemas.openxmlformats.org/drawingml/2006/main" noGrp="1"/>
          </p:cNvSpPr>
          <p:nvPr/>
        </p:nvSpPr>
        <p:spPr>
          <a:xfrm xmlns:a="http://schemas.openxmlformats.org/drawingml/2006/main">
            <a:off x="6610350" y="2381250"/>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Celular +</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balanza externa</a:t>
            </a:r>
          </a:p>
        </p:txBody>
      </p:sp>
      <p:sp>
        <p:nvSpPr>
          <p:cNvPr id="12" name="">
            <a:extLst xmlns:a="http://schemas.openxmlformats.org/drawingml/2006/main">
              <a:ext uri="{FF2B5EF4-FFF2-40B4-BE49-F238E27FC236}">
                <a16:creationId xmlns:a16="http://schemas.microsoft.com/office/drawing/2014/main" id="{E5A9C42F-4358-4C78-938C-47AC39F23799}"/>
              </a:ext>
            </a:extLst>
          </p:cNvPr>
          <p:cNvSpPr>
            <a:spLocks xmlns:a="http://schemas.openxmlformats.org/drawingml/2006/main" noGrp="1"/>
          </p:cNvSpPr>
          <p:nvPr/>
        </p:nvSpPr>
        <p:spPr>
          <a:xfrm xmlns:a="http://schemas.openxmlformats.org/drawingml/2006/main" rot="0">
            <a:off x="8558213" y="2605088"/>
            <a:ext cx="28575" cy="523875"/>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A108A7D-0A6B-4421-A8FF-6924DBEB73C1}"/>
              </a:ext>
            </a:extLst>
          </p:cNvPr>
          <p:cNvSpPr>
            <a:spLocks xmlns:a="http://schemas.openxmlformats.org/drawingml/2006/main" noGrp="1"/>
          </p:cNvSpPr>
          <p:nvPr/>
        </p:nvSpPr>
        <p:spPr>
          <a:xfrm xmlns:a="http://schemas.openxmlformats.org/drawingml/2006/main" rot="10800000">
            <a:off x="8515350" y="3109913"/>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ACC4BAB9-EA09-41F7-8482-A795B954C8CE}"/>
              </a:ext>
            </a:extLst>
          </p:cNvPr>
          <p:cNvPicPr>
            <a:picLocks xmlns:a="http://schemas.openxmlformats.org/drawingml/2006/main" noChangeAspect="1"/>
          </p:cNvPicPr>
          <p:nvPr/>
        </p:nvPicPr>
        <p:blipFill>
          <a:blip xmlns:r="http://schemas.openxmlformats.org/officeDocument/2006/relationships" xmlns:a="http://schemas.openxmlformats.org/drawingml/2006/main" r:embed="Rf1e2611f724b418e"/>
          <a:stretch xmlns:a="http://schemas.openxmlformats.org/drawingml/2006/main"/>
        </p:blipFill>
        <p:spPr>
          <a:xfrm xmlns:a="http://schemas.openxmlformats.org/drawingml/2006/main">
            <a:off x="8853488" y="2352675"/>
            <a:ext cx="504825" cy="504825"/>
          </a:xfrm>
          <a:prstGeom xmlns:a="http://schemas.openxmlformats.org/drawingml/2006/main" prst="rect">
            <a:avLst/>
          </a:prstGeom>
        </p:spPr>
      </p:pic>
      <p:sp>
        <p:nvSpPr>
          <p:cNvPr id="15" name="WODE 5 V&#10;2,4 A">
            <a:extLst xmlns:a="http://schemas.openxmlformats.org/drawingml/2006/main">
              <a:ext uri="{FF2B5EF4-FFF2-40B4-BE49-F238E27FC236}">
                <a16:creationId xmlns:a16="http://schemas.microsoft.com/office/drawing/2014/main" id="{6DA6D8C9-7B8E-482A-A8D0-3D5CC7C23FF5}"/>
              </a:ext>
            </a:extLst>
          </p:cNvPr>
          <p:cNvSpPr>
            <a:spLocks xmlns:a="http://schemas.openxmlformats.org/drawingml/2006/main" noGrp="1"/>
          </p:cNvSpPr>
          <p:nvPr/>
        </p:nvSpPr>
        <p:spPr>
          <a:xfrm xmlns:a="http://schemas.openxmlformats.org/drawingml/2006/main">
            <a:off x="9544050" y="2381250"/>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WODE 5 V</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2,4 A</a:t>
            </a:r>
          </a:p>
        </p:txBody>
      </p:sp>
      <p:sp>
        <p:nvSpPr>
          <p:cNvPr id="16" name="">
            <a:extLst xmlns:a="http://schemas.openxmlformats.org/drawingml/2006/main">
              <a:ext uri="{FF2B5EF4-FFF2-40B4-BE49-F238E27FC236}">
                <a16:creationId xmlns:a16="http://schemas.microsoft.com/office/drawing/2014/main" id="{B325665D-AEB3-4D4A-BB5A-7B32C4634BAE}"/>
              </a:ext>
            </a:extLst>
          </p:cNvPr>
          <p:cNvSpPr>
            <a:spLocks xmlns:a="http://schemas.openxmlformats.org/drawingml/2006/main" noGrp="1"/>
          </p:cNvSpPr>
          <p:nvPr/>
        </p:nvSpPr>
        <p:spPr>
          <a:xfrm xmlns:a="http://schemas.openxmlformats.org/drawingml/2006/main" rot="0">
            <a:off x="11491913" y="2605088"/>
            <a:ext cx="28575" cy="523875"/>
          </a:xfrm>
          <a:prstGeom xmlns:a="http://schemas.openxmlformats.org/drawingml/2006/main" prst="rect">
            <a:avLst/>
          </a:prstGeom>
          <a:solidFill xmlns:a="http://schemas.openxmlformats.org/drawingml/2006/main">
            <a:srgbClr val="173F2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41EF355-8D54-43E8-9EB1-D7BEB2FCB409}"/>
              </a:ext>
            </a:extLst>
          </p:cNvPr>
          <p:cNvSpPr>
            <a:spLocks xmlns:a="http://schemas.openxmlformats.org/drawingml/2006/main" noGrp="1"/>
          </p:cNvSpPr>
          <p:nvPr/>
        </p:nvSpPr>
        <p:spPr>
          <a:xfrm xmlns:a="http://schemas.openxmlformats.org/drawingml/2006/main" rot="10800000">
            <a:off x="11449050" y="3109913"/>
            <a:ext cx="114300" cy="114300"/>
          </a:xfrm>
          <a:prstGeom xmlns:a="http://schemas.openxmlformats.org/drawingml/2006/main" prst="triangle">
            <a:avLst/>
          </a:prstGeom>
          <a:solidFill xmlns:a="http://schemas.openxmlformats.org/drawingml/2006/main">
            <a:srgbClr val="173F2F"/>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995BC1E8-F1E8-4240-AE49-A3BDAB8EF3B5}"/>
              </a:ext>
            </a:extLst>
          </p:cNvPr>
          <p:cNvPicPr>
            <a:picLocks xmlns:a="http://schemas.openxmlformats.org/drawingml/2006/main" noChangeAspect="1"/>
          </p:cNvPicPr>
          <p:nvPr/>
        </p:nvPicPr>
        <p:blipFill>
          <a:blip xmlns:r="http://schemas.openxmlformats.org/officeDocument/2006/relationships" xmlns:a="http://schemas.openxmlformats.org/drawingml/2006/main" r:embed="R71b03a7548f04045"/>
          <a:stretch xmlns:a="http://schemas.openxmlformats.org/drawingml/2006/main"/>
        </p:blipFill>
        <p:spPr>
          <a:xfrm xmlns:a="http://schemas.openxmlformats.org/drawingml/2006/main">
            <a:off x="3122044" y="2971800"/>
            <a:ext cx="232913" cy="504825"/>
          </a:xfrm>
          <a:prstGeom xmlns:a="http://schemas.openxmlformats.org/drawingml/2006/main" prst="rect">
            <a:avLst/>
          </a:prstGeom>
        </p:spPr>
      </p:pic>
      <p:sp>
        <p:nvSpPr>
          <p:cNvPr id="19" name="Internet&#10;HTTPS">
            <a:extLst xmlns:a="http://schemas.openxmlformats.org/drawingml/2006/main">
              <a:ext uri="{FF2B5EF4-FFF2-40B4-BE49-F238E27FC236}">
                <a16:creationId xmlns:a16="http://schemas.microsoft.com/office/drawing/2014/main" id="{A56F6D2E-1D8C-47B6-BF18-832CA96FBD65}"/>
              </a:ext>
            </a:extLst>
          </p:cNvPr>
          <p:cNvSpPr>
            <a:spLocks xmlns:a="http://schemas.openxmlformats.org/drawingml/2006/main" noGrp="1"/>
          </p:cNvSpPr>
          <p:nvPr/>
        </p:nvSpPr>
        <p:spPr>
          <a:xfrm xmlns:a="http://schemas.openxmlformats.org/drawingml/2006/main">
            <a:off x="3676650" y="3000375"/>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Internet</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HTTPS</a:t>
            </a:r>
          </a:p>
        </p:txBody>
      </p:sp>
      <p:sp>
        <p:nvSpPr>
          <p:cNvPr id="20" name="">
            <a:extLst xmlns:a="http://schemas.openxmlformats.org/drawingml/2006/main">
              <a:ext uri="{FF2B5EF4-FFF2-40B4-BE49-F238E27FC236}">
                <a16:creationId xmlns:a16="http://schemas.microsoft.com/office/drawing/2014/main" id="{C13B3BCE-80D0-4580-8205-366066D75504}"/>
              </a:ext>
            </a:extLst>
          </p:cNvPr>
          <p:cNvSpPr>
            <a:spLocks xmlns:a="http://schemas.openxmlformats.org/drawingml/2006/main" noGrp="1"/>
          </p:cNvSpPr>
          <p:nvPr/>
        </p:nvSpPr>
        <p:spPr>
          <a:xfrm xmlns:a="http://schemas.openxmlformats.org/drawingml/2006/main" rot="0">
            <a:off x="5624513" y="3224213"/>
            <a:ext cx="28575" cy="523875"/>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03037F8-76D0-4DD3-842E-64ECF25C973B}"/>
              </a:ext>
            </a:extLst>
          </p:cNvPr>
          <p:cNvSpPr>
            <a:spLocks xmlns:a="http://schemas.openxmlformats.org/drawingml/2006/main" noGrp="1"/>
          </p:cNvSpPr>
          <p:nvPr/>
        </p:nvSpPr>
        <p:spPr>
          <a:xfrm xmlns:a="http://schemas.openxmlformats.org/drawingml/2006/main" rot="10800000">
            <a:off x="5581650" y="3729038"/>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pic>
        <p:nvPicPr>
          <p:cNvPr id="22" name="">
            <a:extLst xmlns:a="http://schemas.openxmlformats.org/drawingml/2006/main">
              <a:ext uri="{FF2B5EF4-FFF2-40B4-BE49-F238E27FC236}">
                <a16:creationId xmlns:a16="http://schemas.microsoft.com/office/drawing/2014/main" id="{E47A3188-2028-4B79-937B-770C46E9B85E}"/>
              </a:ext>
            </a:extLst>
          </p:cNvPr>
          <p:cNvPicPr>
            <a:picLocks xmlns:a="http://schemas.openxmlformats.org/drawingml/2006/main" noChangeAspect="1"/>
          </p:cNvPicPr>
          <p:nvPr/>
        </p:nvPicPr>
        <p:blipFill>
          <a:blip xmlns:r="http://schemas.openxmlformats.org/officeDocument/2006/relationships" xmlns:a="http://schemas.openxmlformats.org/drawingml/2006/main" r:embed="R515214b92819485b"/>
          <a:stretch xmlns:a="http://schemas.openxmlformats.org/drawingml/2006/main"/>
        </p:blipFill>
        <p:spPr>
          <a:xfrm xmlns:a="http://schemas.openxmlformats.org/drawingml/2006/main">
            <a:off x="6055744" y="2971800"/>
            <a:ext cx="232913" cy="504825"/>
          </a:xfrm>
          <a:prstGeom xmlns:a="http://schemas.openxmlformats.org/drawingml/2006/main" prst="rect">
            <a:avLst/>
          </a:prstGeom>
        </p:spPr>
      </p:pic>
      <p:sp>
        <p:nvSpPr>
          <p:cNvPr id="23" name="Internet&#10;HTTPS">
            <a:extLst xmlns:a="http://schemas.openxmlformats.org/drawingml/2006/main">
              <a:ext uri="{FF2B5EF4-FFF2-40B4-BE49-F238E27FC236}">
                <a16:creationId xmlns:a16="http://schemas.microsoft.com/office/drawing/2014/main" id="{64A43E1C-7BA0-458C-9D85-4644EAC43A1D}"/>
              </a:ext>
            </a:extLst>
          </p:cNvPr>
          <p:cNvSpPr>
            <a:spLocks xmlns:a="http://schemas.openxmlformats.org/drawingml/2006/main" noGrp="1"/>
          </p:cNvSpPr>
          <p:nvPr/>
        </p:nvSpPr>
        <p:spPr>
          <a:xfrm xmlns:a="http://schemas.openxmlformats.org/drawingml/2006/main">
            <a:off x="6610350" y="3000375"/>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Internet</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HTTPS</a:t>
            </a:r>
          </a:p>
        </p:txBody>
      </p:sp>
      <p:sp>
        <p:nvSpPr>
          <p:cNvPr id="24" name="">
            <a:extLst xmlns:a="http://schemas.openxmlformats.org/drawingml/2006/main">
              <a:ext uri="{FF2B5EF4-FFF2-40B4-BE49-F238E27FC236}">
                <a16:creationId xmlns:a16="http://schemas.microsoft.com/office/drawing/2014/main" id="{752A61AD-9FEE-4E31-87F1-28E0C31F402A}"/>
              </a:ext>
            </a:extLst>
          </p:cNvPr>
          <p:cNvSpPr>
            <a:spLocks xmlns:a="http://schemas.openxmlformats.org/drawingml/2006/main" noGrp="1"/>
          </p:cNvSpPr>
          <p:nvPr/>
        </p:nvSpPr>
        <p:spPr>
          <a:xfrm xmlns:a="http://schemas.openxmlformats.org/drawingml/2006/main" rot="0">
            <a:off x="8558213" y="3224213"/>
            <a:ext cx="28575" cy="523875"/>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AB72A61B-8E25-46F8-819C-155290C5B328}"/>
              </a:ext>
            </a:extLst>
          </p:cNvPr>
          <p:cNvSpPr>
            <a:spLocks xmlns:a="http://schemas.openxmlformats.org/drawingml/2006/main" noGrp="1"/>
          </p:cNvSpPr>
          <p:nvPr/>
        </p:nvSpPr>
        <p:spPr>
          <a:xfrm xmlns:a="http://schemas.openxmlformats.org/drawingml/2006/main" rot="10800000">
            <a:off x="8515350" y="3729038"/>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pic>
        <p:nvPicPr>
          <p:cNvPr id="26" name="">
            <a:extLst xmlns:a="http://schemas.openxmlformats.org/drawingml/2006/main">
              <a:ext uri="{FF2B5EF4-FFF2-40B4-BE49-F238E27FC236}">
                <a16:creationId xmlns:a16="http://schemas.microsoft.com/office/drawing/2014/main" id="{F5D08CA8-2A66-4882-A4C5-01B934949C66}"/>
              </a:ext>
            </a:extLst>
          </p:cNvPr>
          <p:cNvPicPr>
            <a:picLocks xmlns:a="http://schemas.openxmlformats.org/drawingml/2006/main" noChangeAspect="1"/>
          </p:cNvPicPr>
          <p:nvPr/>
        </p:nvPicPr>
        <p:blipFill>
          <a:blip xmlns:r="http://schemas.openxmlformats.org/officeDocument/2006/relationships" xmlns:a="http://schemas.openxmlformats.org/drawingml/2006/main" r:embed="Rdae69cb471ce496d"/>
          <a:stretch xmlns:a="http://schemas.openxmlformats.org/drawingml/2006/main"/>
        </p:blipFill>
        <p:spPr>
          <a:xfrm xmlns:a="http://schemas.openxmlformats.org/drawingml/2006/main">
            <a:off x="8853488" y="2971800"/>
            <a:ext cx="504825" cy="504825"/>
          </a:xfrm>
          <a:prstGeom xmlns:a="http://schemas.openxmlformats.org/drawingml/2006/main" prst="rect">
            <a:avLst/>
          </a:prstGeom>
        </p:spPr>
      </p:pic>
      <p:sp>
        <p:nvSpPr>
          <p:cNvPr id="27" name="Wi-Fi 2,4 GHz&#10;HTTP + Internet">
            <a:extLst xmlns:a="http://schemas.openxmlformats.org/drawingml/2006/main">
              <a:ext uri="{FF2B5EF4-FFF2-40B4-BE49-F238E27FC236}">
                <a16:creationId xmlns:a16="http://schemas.microsoft.com/office/drawing/2014/main" id="{C58DA470-A706-4725-A1DE-474892929857}"/>
              </a:ext>
            </a:extLst>
          </p:cNvPr>
          <p:cNvSpPr>
            <a:spLocks xmlns:a="http://schemas.openxmlformats.org/drawingml/2006/main" noGrp="1"/>
          </p:cNvSpPr>
          <p:nvPr/>
        </p:nvSpPr>
        <p:spPr>
          <a:xfrm xmlns:a="http://schemas.openxmlformats.org/drawingml/2006/main">
            <a:off x="9544050" y="3000375"/>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Wi-Fi 2,4 GHz</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HTTP + Internet</a:t>
            </a:r>
          </a:p>
        </p:txBody>
      </p:sp>
      <p:sp>
        <p:nvSpPr>
          <p:cNvPr id="28" name="">
            <a:extLst xmlns:a="http://schemas.openxmlformats.org/drawingml/2006/main">
              <a:ext uri="{FF2B5EF4-FFF2-40B4-BE49-F238E27FC236}">
                <a16:creationId xmlns:a16="http://schemas.microsoft.com/office/drawing/2014/main" id="{7B5A0A43-0115-4C4A-B820-6A6E4AF81E80}"/>
              </a:ext>
            </a:extLst>
          </p:cNvPr>
          <p:cNvSpPr>
            <a:spLocks xmlns:a="http://schemas.openxmlformats.org/drawingml/2006/main" noGrp="1"/>
          </p:cNvSpPr>
          <p:nvPr/>
        </p:nvSpPr>
        <p:spPr>
          <a:xfrm xmlns:a="http://schemas.openxmlformats.org/drawingml/2006/main" rot="0">
            <a:off x="11491913" y="3224213"/>
            <a:ext cx="28575" cy="523875"/>
          </a:xfrm>
          <a:prstGeom xmlns:a="http://schemas.openxmlformats.org/drawingml/2006/main" prst="rect">
            <a:avLst/>
          </a:prstGeom>
          <a:solidFill xmlns:a="http://schemas.openxmlformats.org/drawingml/2006/main">
            <a:srgbClr val="173F2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93A82AF-B738-475E-AE19-A501102AEEC8}"/>
              </a:ext>
            </a:extLst>
          </p:cNvPr>
          <p:cNvSpPr>
            <a:spLocks xmlns:a="http://schemas.openxmlformats.org/drawingml/2006/main" noGrp="1"/>
          </p:cNvSpPr>
          <p:nvPr/>
        </p:nvSpPr>
        <p:spPr>
          <a:xfrm xmlns:a="http://schemas.openxmlformats.org/drawingml/2006/main" rot="10800000">
            <a:off x="11449050" y="3729038"/>
            <a:ext cx="114300" cy="114300"/>
          </a:xfrm>
          <a:prstGeom xmlns:a="http://schemas.openxmlformats.org/drawingml/2006/main" prst="triangle">
            <a:avLst/>
          </a:prstGeom>
          <a:solidFill xmlns:a="http://schemas.openxmlformats.org/drawingml/2006/main">
            <a:srgbClr val="173F2F"/>
          </a:solidFill>
          <a:ln xmlns:a="http://schemas.openxmlformats.org/drawingml/2006/main" w="0">
            <a:noFill/>
          </a:ln>
        </p:spPr>
      </p:sp>
      <p:pic>
        <p:nvPicPr>
          <p:cNvPr id="30" name="">
            <a:extLst xmlns:a="http://schemas.openxmlformats.org/drawingml/2006/main">
              <a:ext uri="{FF2B5EF4-FFF2-40B4-BE49-F238E27FC236}">
                <a16:creationId xmlns:a16="http://schemas.microsoft.com/office/drawing/2014/main" id="{3AE6A693-B8F7-4B17-8411-8830AB1C9432}"/>
              </a:ext>
            </a:extLst>
          </p:cNvPr>
          <p:cNvPicPr>
            <a:picLocks xmlns:a="http://schemas.openxmlformats.org/drawingml/2006/main" noChangeAspect="1"/>
          </p:cNvPicPr>
          <p:nvPr/>
        </p:nvPicPr>
        <p:blipFill>
          <a:blip xmlns:r="http://schemas.openxmlformats.org/officeDocument/2006/relationships" xmlns:a="http://schemas.openxmlformats.org/drawingml/2006/main" r:embed="R911c376a014243af"/>
          <a:stretch xmlns:a="http://schemas.openxmlformats.org/drawingml/2006/main"/>
        </p:blipFill>
        <p:spPr>
          <a:xfrm xmlns:a="http://schemas.openxmlformats.org/drawingml/2006/main">
            <a:off x="3091259" y="3590925"/>
            <a:ext cx="294481" cy="504825"/>
          </a:xfrm>
          <a:prstGeom xmlns:a="http://schemas.openxmlformats.org/drawingml/2006/main" prst="rect">
            <a:avLst/>
          </a:prstGeom>
        </p:spPr>
      </p:pic>
      <p:sp>
        <p:nvSpPr>
          <p:cNvPr id="31" name="Foto a mano&#10;o galería">
            <a:extLst xmlns:a="http://schemas.openxmlformats.org/drawingml/2006/main">
              <a:ext uri="{FF2B5EF4-FFF2-40B4-BE49-F238E27FC236}">
                <a16:creationId xmlns:a16="http://schemas.microsoft.com/office/drawing/2014/main" id="{BDA418B8-5F02-41D0-BA03-C8C6E2EC6BA8}"/>
              </a:ext>
            </a:extLst>
          </p:cNvPr>
          <p:cNvSpPr>
            <a:spLocks xmlns:a="http://schemas.openxmlformats.org/drawingml/2006/main" noGrp="1"/>
          </p:cNvSpPr>
          <p:nvPr/>
        </p:nvSpPr>
        <p:spPr>
          <a:xfrm xmlns:a="http://schemas.openxmlformats.org/drawingml/2006/main">
            <a:off x="3676650" y="3619500"/>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Foto a mano</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o galería</a:t>
            </a:r>
          </a:p>
        </p:txBody>
      </p:sp>
      <p:sp>
        <p:nvSpPr>
          <p:cNvPr id="32" name="">
            <a:extLst xmlns:a="http://schemas.openxmlformats.org/drawingml/2006/main">
              <a:ext uri="{FF2B5EF4-FFF2-40B4-BE49-F238E27FC236}">
                <a16:creationId xmlns:a16="http://schemas.microsoft.com/office/drawing/2014/main" id="{6B67CD2C-9AD1-4CBC-98C7-97B0D89B641F}"/>
              </a:ext>
            </a:extLst>
          </p:cNvPr>
          <p:cNvSpPr>
            <a:spLocks xmlns:a="http://schemas.openxmlformats.org/drawingml/2006/main" noGrp="1"/>
          </p:cNvSpPr>
          <p:nvPr/>
        </p:nvSpPr>
        <p:spPr>
          <a:xfrm xmlns:a="http://schemas.openxmlformats.org/drawingml/2006/main" rot="0">
            <a:off x="5624513" y="3843338"/>
            <a:ext cx="28575" cy="523875"/>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1652AE07-625F-476B-8CFE-2840FB19EDE3}"/>
              </a:ext>
            </a:extLst>
          </p:cNvPr>
          <p:cNvSpPr>
            <a:spLocks xmlns:a="http://schemas.openxmlformats.org/drawingml/2006/main" noGrp="1"/>
          </p:cNvSpPr>
          <p:nvPr/>
        </p:nvSpPr>
        <p:spPr>
          <a:xfrm xmlns:a="http://schemas.openxmlformats.org/drawingml/2006/main" rot="10800000">
            <a:off x="5581650" y="4348163"/>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pic>
        <p:nvPicPr>
          <p:cNvPr id="34" name="">
            <a:extLst xmlns:a="http://schemas.openxmlformats.org/drawingml/2006/main">
              <a:ext uri="{FF2B5EF4-FFF2-40B4-BE49-F238E27FC236}">
                <a16:creationId xmlns:a16="http://schemas.microsoft.com/office/drawing/2014/main" id="{FC25DA08-7D53-4505-94BA-75615E060FB8}"/>
              </a:ext>
            </a:extLst>
          </p:cNvPr>
          <p:cNvPicPr>
            <a:picLocks xmlns:a="http://schemas.openxmlformats.org/drawingml/2006/main" noChangeAspect="1"/>
          </p:cNvPicPr>
          <p:nvPr/>
        </p:nvPicPr>
        <p:blipFill>
          <a:blip xmlns:r="http://schemas.openxmlformats.org/officeDocument/2006/relationships" xmlns:a="http://schemas.openxmlformats.org/drawingml/2006/main" r:embed="R9f0446a168d64f4e"/>
          <a:stretch xmlns:a="http://schemas.openxmlformats.org/drawingml/2006/main"/>
        </p:blipFill>
        <p:spPr>
          <a:xfrm xmlns:a="http://schemas.openxmlformats.org/drawingml/2006/main">
            <a:off x="6020812" y="3590925"/>
            <a:ext cx="302776" cy="504825"/>
          </a:xfrm>
          <a:prstGeom xmlns:a="http://schemas.openxmlformats.org/drawingml/2006/main" prst="rect">
            <a:avLst/>
          </a:prstGeom>
        </p:spPr>
      </p:pic>
      <p:sp>
        <p:nvSpPr>
          <p:cNvPr id="35" name="Celular en&#10;soporte fijo">
            <a:extLst xmlns:a="http://schemas.openxmlformats.org/drawingml/2006/main">
              <a:ext uri="{FF2B5EF4-FFF2-40B4-BE49-F238E27FC236}">
                <a16:creationId xmlns:a16="http://schemas.microsoft.com/office/drawing/2014/main" id="{E39CDB2A-F199-4599-81FF-0E53DCAF80F8}"/>
              </a:ext>
            </a:extLst>
          </p:cNvPr>
          <p:cNvSpPr>
            <a:spLocks xmlns:a="http://schemas.openxmlformats.org/drawingml/2006/main" noGrp="1"/>
          </p:cNvSpPr>
          <p:nvPr/>
        </p:nvSpPr>
        <p:spPr>
          <a:xfrm xmlns:a="http://schemas.openxmlformats.org/drawingml/2006/main">
            <a:off x="6610350" y="3619500"/>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Celular en</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soporte fijo</a:t>
            </a:r>
          </a:p>
        </p:txBody>
      </p:sp>
      <p:sp>
        <p:nvSpPr>
          <p:cNvPr id="36" name="">
            <a:extLst xmlns:a="http://schemas.openxmlformats.org/drawingml/2006/main">
              <a:ext uri="{FF2B5EF4-FFF2-40B4-BE49-F238E27FC236}">
                <a16:creationId xmlns:a16="http://schemas.microsoft.com/office/drawing/2014/main" id="{254946B8-41D2-47C4-B325-5C6CC4134AFC}"/>
              </a:ext>
            </a:extLst>
          </p:cNvPr>
          <p:cNvSpPr>
            <a:spLocks xmlns:a="http://schemas.openxmlformats.org/drawingml/2006/main" noGrp="1"/>
          </p:cNvSpPr>
          <p:nvPr/>
        </p:nvSpPr>
        <p:spPr>
          <a:xfrm xmlns:a="http://schemas.openxmlformats.org/drawingml/2006/main" rot="0">
            <a:off x="8558213" y="3843338"/>
            <a:ext cx="28575" cy="523875"/>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48E355E4-1661-42AB-AF7D-4BA47F4FA846}"/>
              </a:ext>
            </a:extLst>
          </p:cNvPr>
          <p:cNvSpPr>
            <a:spLocks xmlns:a="http://schemas.openxmlformats.org/drawingml/2006/main" noGrp="1"/>
          </p:cNvSpPr>
          <p:nvPr/>
        </p:nvSpPr>
        <p:spPr>
          <a:xfrm xmlns:a="http://schemas.openxmlformats.org/drawingml/2006/main" rot="10800000">
            <a:off x="8515350" y="4348163"/>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pic>
        <p:nvPicPr>
          <p:cNvPr id="38" name="">
            <a:extLst xmlns:a="http://schemas.openxmlformats.org/drawingml/2006/main">
              <a:ext uri="{FF2B5EF4-FFF2-40B4-BE49-F238E27FC236}">
                <a16:creationId xmlns:a16="http://schemas.microsoft.com/office/drawing/2014/main" id="{2448F99A-BA6E-413B-97E6-BAE68279948B}"/>
              </a:ext>
            </a:extLst>
          </p:cNvPr>
          <p:cNvPicPr>
            <a:picLocks xmlns:a="http://schemas.openxmlformats.org/drawingml/2006/main" noChangeAspect="1"/>
          </p:cNvPicPr>
          <p:nvPr/>
        </p:nvPicPr>
        <p:blipFill>
          <a:blip xmlns:r="http://schemas.openxmlformats.org/officeDocument/2006/relationships" xmlns:a="http://schemas.openxmlformats.org/drawingml/2006/main" r:embed="R1ef4cb3e3c474bdf"/>
          <a:stretch xmlns:a="http://schemas.openxmlformats.org/drawingml/2006/main"/>
        </p:blipFill>
        <p:spPr>
          <a:xfrm xmlns:a="http://schemas.openxmlformats.org/drawingml/2006/main">
            <a:off x="8853488" y="3590925"/>
            <a:ext cx="504825" cy="504825"/>
          </a:xfrm>
          <a:prstGeom xmlns:a="http://schemas.openxmlformats.org/drawingml/2006/main" prst="rect">
            <a:avLst/>
          </a:prstGeom>
        </p:spPr>
      </p:pic>
      <p:sp>
        <p:nvSpPr>
          <p:cNvPr id="39" name="OV2640 2 MP&#10;12 LED blancos">
            <a:extLst xmlns:a="http://schemas.openxmlformats.org/drawingml/2006/main">
              <a:ext uri="{FF2B5EF4-FFF2-40B4-BE49-F238E27FC236}">
                <a16:creationId xmlns:a16="http://schemas.microsoft.com/office/drawing/2014/main" id="{E73C6ADA-0630-4D19-8974-F863045C55F5}"/>
              </a:ext>
            </a:extLst>
          </p:cNvPr>
          <p:cNvSpPr>
            <a:spLocks xmlns:a="http://schemas.openxmlformats.org/drawingml/2006/main" noGrp="1"/>
          </p:cNvSpPr>
          <p:nvPr/>
        </p:nvSpPr>
        <p:spPr>
          <a:xfrm xmlns:a="http://schemas.openxmlformats.org/drawingml/2006/main">
            <a:off x="9544050" y="3619500"/>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OV2640 2 MP</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12 LED blancos</a:t>
            </a:r>
          </a:p>
        </p:txBody>
      </p:sp>
      <p:sp>
        <p:nvSpPr>
          <p:cNvPr id="40" name="">
            <a:extLst xmlns:a="http://schemas.openxmlformats.org/drawingml/2006/main">
              <a:ext uri="{FF2B5EF4-FFF2-40B4-BE49-F238E27FC236}">
                <a16:creationId xmlns:a16="http://schemas.microsoft.com/office/drawing/2014/main" id="{62C9BF63-8A84-4995-9B90-179FC049B2C8}"/>
              </a:ext>
            </a:extLst>
          </p:cNvPr>
          <p:cNvSpPr>
            <a:spLocks xmlns:a="http://schemas.openxmlformats.org/drawingml/2006/main" noGrp="1"/>
          </p:cNvSpPr>
          <p:nvPr/>
        </p:nvSpPr>
        <p:spPr>
          <a:xfrm xmlns:a="http://schemas.openxmlformats.org/drawingml/2006/main" rot="0">
            <a:off x="11491913" y="3843338"/>
            <a:ext cx="28575" cy="523875"/>
          </a:xfrm>
          <a:prstGeom xmlns:a="http://schemas.openxmlformats.org/drawingml/2006/main" prst="rect">
            <a:avLst/>
          </a:prstGeom>
          <a:solidFill xmlns:a="http://schemas.openxmlformats.org/drawingml/2006/main">
            <a:srgbClr val="173F2F"/>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C9122384-49F0-4067-9E78-320F3F388069}"/>
              </a:ext>
            </a:extLst>
          </p:cNvPr>
          <p:cNvSpPr>
            <a:spLocks xmlns:a="http://schemas.openxmlformats.org/drawingml/2006/main" noGrp="1"/>
          </p:cNvSpPr>
          <p:nvPr/>
        </p:nvSpPr>
        <p:spPr>
          <a:xfrm xmlns:a="http://schemas.openxmlformats.org/drawingml/2006/main" rot="10800000">
            <a:off x="11449050" y="4348163"/>
            <a:ext cx="114300" cy="114300"/>
          </a:xfrm>
          <a:prstGeom xmlns:a="http://schemas.openxmlformats.org/drawingml/2006/main" prst="triangle">
            <a:avLst/>
          </a:prstGeom>
          <a:solidFill xmlns:a="http://schemas.openxmlformats.org/drawingml/2006/main">
            <a:srgbClr val="173F2F"/>
          </a:solidFill>
          <a:ln xmlns:a="http://schemas.openxmlformats.org/drawingml/2006/main" w="0">
            <a:noFill/>
          </a:ln>
        </p:spPr>
      </p:sp>
      <p:pic>
        <p:nvPicPr>
          <p:cNvPr id="42" name="">
            <a:extLst xmlns:a="http://schemas.openxmlformats.org/drawingml/2006/main">
              <a:ext uri="{FF2B5EF4-FFF2-40B4-BE49-F238E27FC236}">
                <a16:creationId xmlns:a16="http://schemas.microsoft.com/office/drawing/2014/main" id="{58A05BA6-CAA6-4C3B-8AB1-BEDB279D0F69}"/>
              </a:ext>
            </a:extLst>
          </p:cNvPr>
          <p:cNvPicPr>
            <a:picLocks xmlns:a="http://schemas.openxmlformats.org/drawingml/2006/main" noChangeAspect="1"/>
          </p:cNvPicPr>
          <p:nvPr/>
        </p:nvPicPr>
        <p:blipFill>
          <a:blip xmlns:r="http://schemas.openxmlformats.org/officeDocument/2006/relationships" xmlns:a="http://schemas.openxmlformats.org/drawingml/2006/main" r:embed="R2daac1070c924697"/>
          <a:stretch xmlns:a="http://schemas.openxmlformats.org/drawingml/2006/main"/>
        </p:blipFill>
        <p:spPr>
          <a:xfrm xmlns:a="http://schemas.openxmlformats.org/drawingml/2006/main">
            <a:off x="3082360" y="4210050"/>
            <a:ext cx="312280" cy="504825"/>
          </a:xfrm>
          <a:prstGeom xmlns:a="http://schemas.openxmlformats.org/drawingml/2006/main" prst="rect">
            <a:avLst/>
          </a:prstGeom>
        </p:spPr>
      </p:pic>
      <p:sp>
        <p:nvSpPr>
          <p:cNvPr id="43" name="Foto al&#10;servidor">
            <a:extLst xmlns:a="http://schemas.openxmlformats.org/drawingml/2006/main">
              <a:ext uri="{FF2B5EF4-FFF2-40B4-BE49-F238E27FC236}">
                <a16:creationId xmlns:a16="http://schemas.microsoft.com/office/drawing/2014/main" id="{546FCC47-3804-4245-B8E3-271617F6300D}"/>
              </a:ext>
            </a:extLst>
          </p:cNvPr>
          <p:cNvSpPr>
            <a:spLocks xmlns:a="http://schemas.openxmlformats.org/drawingml/2006/main" noGrp="1"/>
          </p:cNvSpPr>
          <p:nvPr/>
        </p:nvSpPr>
        <p:spPr>
          <a:xfrm xmlns:a="http://schemas.openxmlformats.org/drawingml/2006/main">
            <a:off x="3676650" y="4238625"/>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Foto al</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servidor</a:t>
            </a:r>
          </a:p>
        </p:txBody>
      </p:sp>
      <p:sp>
        <p:nvSpPr>
          <p:cNvPr id="44" name="">
            <a:extLst xmlns:a="http://schemas.openxmlformats.org/drawingml/2006/main">
              <a:ext uri="{FF2B5EF4-FFF2-40B4-BE49-F238E27FC236}">
                <a16:creationId xmlns:a16="http://schemas.microsoft.com/office/drawing/2014/main" id="{E157E3A4-474B-43E8-B654-63D7E7231895}"/>
              </a:ext>
            </a:extLst>
          </p:cNvPr>
          <p:cNvSpPr>
            <a:spLocks xmlns:a="http://schemas.openxmlformats.org/drawingml/2006/main" noGrp="1"/>
          </p:cNvSpPr>
          <p:nvPr/>
        </p:nvSpPr>
        <p:spPr>
          <a:xfrm xmlns:a="http://schemas.openxmlformats.org/drawingml/2006/main" rot="0">
            <a:off x="5624513" y="4462463"/>
            <a:ext cx="28575" cy="523875"/>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60E8F0A4-BE89-4205-A45F-F178B46E75CF}"/>
              </a:ext>
            </a:extLst>
          </p:cNvPr>
          <p:cNvSpPr>
            <a:spLocks xmlns:a="http://schemas.openxmlformats.org/drawingml/2006/main" noGrp="1"/>
          </p:cNvSpPr>
          <p:nvPr/>
        </p:nvSpPr>
        <p:spPr>
          <a:xfrm xmlns:a="http://schemas.openxmlformats.org/drawingml/2006/main" rot="10800000">
            <a:off x="5581650" y="4967288"/>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pic>
        <p:nvPicPr>
          <p:cNvPr id="46" name="">
            <a:extLst xmlns:a="http://schemas.openxmlformats.org/drawingml/2006/main">
              <a:ext uri="{FF2B5EF4-FFF2-40B4-BE49-F238E27FC236}">
                <a16:creationId xmlns:a16="http://schemas.microsoft.com/office/drawing/2014/main" id="{EBE11BE5-5181-4709-A78D-F73F5C84189C}"/>
              </a:ext>
            </a:extLst>
          </p:cNvPr>
          <p:cNvPicPr>
            <a:picLocks xmlns:a="http://schemas.openxmlformats.org/drawingml/2006/main" noChangeAspect="1"/>
          </p:cNvPicPr>
          <p:nvPr/>
        </p:nvPicPr>
        <p:blipFill>
          <a:blip xmlns:r="http://schemas.openxmlformats.org/officeDocument/2006/relationships" xmlns:a="http://schemas.openxmlformats.org/drawingml/2006/main" r:embed="R29969883473a4bbf"/>
          <a:stretch xmlns:a="http://schemas.openxmlformats.org/drawingml/2006/main"/>
        </p:blipFill>
        <p:spPr>
          <a:xfrm xmlns:a="http://schemas.openxmlformats.org/drawingml/2006/main">
            <a:off x="6016060" y="4210050"/>
            <a:ext cx="312280" cy="504825"/>
          </a:xfrm>
          <a:prstGeom xmlns:a="http://schemas.openxmlformats.org/drawingml/2006/main" prst="rect">
            <a:avLst/>
          </a:prstGeom>
        </p:spPr>
      </p:pic>
      <p:sp>
        <p:nvSpPr>
          <p:cNvPr id="47" name="Foto + peso&#10;manual al servidor">
            <a:extLst xmlns:a="http://schemas.openxmlformats.org/drawingml/2006/main">
              <a:ext uri="{FF2B5EF4-FFF2-40B4-BE49-F238E27FC236}">
                <a16:creationId xmlns:a16="http://schemas.microsoft.com/office/drawing/2014/main" id="{FC55C662-9D92-42A8-8452-3B20938B2539}"/>
              </a:ext>
            </a:extLst>
          </p:cNvPr>
          <p:cNvSpPr>
            <a:spLocks xmlns:a="http://schemas.openxmlformats.org/drawingml/2006/main" noGrp="1"/>
          </p:cNvSpPr>
          <p:nvPr/>
        </p:nvSpPr>
        <p:spPr>
          <a:xfrm xmlns:a="http://schemas.openxmlformats.org/drawingml/2006/main">
            <a:off x="6610350" y="4238625"/>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Foto + peso</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manual al servidor</a:t>
            </a:r>
          </a:p>
        </p:txBody>
      </p:sp>
      <p:sp>
        <p:nvSpPr>
          <p:cNvPr id="48" name="">
            <a:extLst xmlns:a="http://schemas.openxmlformats.org/drawingml/2006/main">
              <a:ext uri="{FF2B5EF4-FFF2-40B4-BE49-F238E27FC236}">
                <a16:creationId xmlns:a16="http://schemas.microsoft.com/office/drawing/2014/main" id="{25C426B9-0624-488A-89DB-E591AC01E519}"/>
              </a:ext>
            </a:extLst>
          </p:cNvPr>
          <p:cNvSpPr>
            <a:spLocks xmlns:a="http://schemas.openxmlformats.org/drawingml/2006/main" noGrp="1"/>
          </p:cNvSpPr>
          <p:nvPr/>
        </p:nvSpPr>
        <p:spPr>
          <a:xfrm xmlns:a="http://schemas.openxmlformats.org/drawingml/2006/main" rot="0">
            <a:off x="8558213" y="4462463"/>
            <a:ext cx="28575" cy="523875"/>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5F0FC5D1-B384-4485-8A2B-B5DD349E02E8}"/>
              </a:ext>
            </a:extLst>
          </p:cNvPr>
          <p:cNvSpPr>
            <a:spLocks xmlns:a="http://schemas.openxmlformats.org/drawingml/2006/main" noGrp="1"/>
          </p:cNvSpPr>
          <p:nvPr/>
        </p:nvSpPr>
        <p:spPr>
          <a:xfrm xmlns:a="http://schemas.openxmlformats.org/drawingml/2006/main" rot="10800000">
            <a:off x="8515350" y="4967288"/>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pic>
        <p:nvPicPr>
          <p:cNvPr id="50" name="">
            <a:extLst xmlns:a="http://schemas.openxmlformats.org/drawingml/2006/main">
              <a:ext uri="{FF2B5EF4-FFF2-40B4-BE49-F238E27FC236}">
                <a16:creationId xmlns:a16="http://schemas.microsoft.com/office/drawing/2014/main" id="{F7174631-09FF-487E-A61D-740378FE02B9}"/>
              </a:ext>
            </a:extLst>
          </p:cNvPr>
          <p:cNvPicPr>
            <a:picLocks xmlns:a="http://schemas.openxmlformats.org/drawingml/2006/main" noChangeAspect="1"/>
          </p:cNvPicPr>
          <p:nvPr/>
        </p:nvPicPr>
        <p:blipFill>
          <a:blip xmlns:r="http://schemas.openxmlformats.org/officeDocument/2006/relationships" xmlns:a="http://schemas.openxmlformats.org/drawingml/2006/main" r:embed="R7971632c3ac44de9"/>
          <a:stretch xmlns:a="http://schemas.openxmlformats.org/drawingml/2006/main"/>
        </p:blipFill>
        <p:spPr>
          <a:xfrm xmlns:a="http://schemas.openxmlformats.org/drawingml/2006/main">
            <a:off x="8853488" y="4210050"/>
            <a:ext cx="504825" cy="504825"/>
          </a:xfrm>
          <a:prstGeom xmlns:a="http://schemas.openxmlformats.org/drawingml/2006/main" prst="rect">
            <a:avLst/>
          </a:prstGeom>
        </p:spPr>
      </p:pic>
      <p:sp>
        <p:nvSpPr>
          <p:cNvPr id="51" name="Foto, masa&#10;y estado a la app">
            <a:extLst xmlns:a="http://schemas.openxmlformats.org/drawingml/2006/main">
              <a:ext uri="{FF2B5EF4-FFF2-40B4-BE49-F238E27FC236}">
                <a16:creationId xmlns:a16="http://schemas.microsoft.com/office/drawing/2014/main" id="{15C1A493-9554-49D5-9079-586B2CE63F52}"/>
              </a:ext>
            </a:extLst>
          </p:cNvPr>
          <p:cNvSpPr>
            <a:spLocks xmlns:a="http://schemas.openxmlformats.org/drawingml/2006/main" noGrp="1"/>
          </p:cNvSpPr>
          <p:nvPr/>
        </p:nvSpPr>
        <p:spPr>
          <a:xfrm xmlns:a="http://schemas.openxmlformats.org/drawingml/2006/main">
            <a:off x="9544050" y="4238625"/>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Foto, masa</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y estado a la app</a:t>
            </a:r>
          </a:p>
        </p:txBody>
      </p:sp>
      <p:sp>
        <p:nvSpPr>
          <p:cNvPr id="52" name="">
            <a:extLst xmlns:a="http://schemas.openxmlformats.org/drawingml/2006/main">
              <a:ext uri="{FF2B5EF4-FFF2-40B4-BE49-F238E27FC236}">
                <a16:creationId xmlns:a16="http://schemas.microsoft.com/office/drawing/2014/main" id="{DF22942A-C486-460D-A19D-5BD7FEAFD08E}"/>
              </a:ext>
            </a:extLst>
          </p:cNvPr>
          <p:cNvSpPr>
            <a:spLocks xmlns:a="http://schemas.openxmlformats.org/drawingml/2006/main" noGrp="1"/>
          </p:cNvSpPr>
          <p:nvPr/>
        </p:nvSpPr>
        <p:spPr>
          <a:xfrm xmlns:a="http://schemas.openxmlformats.org/drawingml/2006/main" rot="0">
            <a:off x="11491913" y="4462463"/>
            <a:ext cx="28575" cy="523875"/>
          </a:xfrm>
          <a:prstGeom xmlns:a="http://schemas.openxmlformats.org/drawingml/2006/main" prst="rect">
            <a:avLst/>
          </a:prstGeom>
          <a:solidFill xmlns:a="http://schemas.openxmlformats.org/drawingml/2006/main">
            <a:srgbClr val="173F2F"/>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27123B10-94C6-49C7-A281-48FB8EA8FD58}"/>
              </a:ext>
            </a:extLst>
          </p:cNvPr>
          <p:cNvSpPr>
            <a:spLocks xmlns:a="http://schemas.openxmlformats.org/drawingml/2006/main" noGrp="1"/>
          </p:cNvSpPr>
          <p:nvPr/>
        </p:nvSpPr>
        <p:spPr>
          <a:xfrm xmlns:a="http://schemas.openxmlformats.org/drawingml/2006/main" rot="10800000">
            <a:off x="11449050" y="4967288"/>
            <a:ext cx="114300" cy="114300"/>
          </a:xfrm>
          <a:prstGeom xmlns:a="http://schemas.openxmlformats.org/drawingml/2006/main" prst="triangle">
            <a:avLst/>
          </a:prstGeom>
          <a:solidFill xmlns:a="http://schemas.openxmlformats.org/drawingml/2006/main">
            <a:srgbClr val="173F2F"/>
          </a:solidFill>
          <a:ln xmlns:a="http://schemas.openxmlformats.org/drawingml/2006/main" w="0">
            <a:noFill/>
          </a:ln>
        </p:spPr>
      </p:sp>
      <p:pic>
        <p:nvPicPr>
          <p:cNvPr id="54" name="">
            <a:extLst xmlns:a="http://schemas.openxmlformats.org/drawingml/2006/main">
              <a:ext uri="{FF2B5EF4-FFF2-40B4-BE49-F238E27FC236}">
                <a16:creationId xmlns:a16="http://schemas.microsoft.com/office/drawing/2014/main" id="{CDEB9CAC-1922-4111-944B-A92A6F4C6A72}"/>
              </a:ext>
            </a:extLst>
          </p:cNvPr>
          <p:cNvPicPr>
            <a:picLocks xmlns:a="http://schemas.openxmlformats.org/drawingml/2006/main" noChangeAspect="1"/>
          </p:cNvPicPr>
          <p:nvPr/>
        </p:nvPicPr>
        <p:blipFill>
          <a:blip xmlns:r="http://schemas.openxmlformats.org/officeDocument/2006/relationships" xmlns:a="http://schemas.openxmlformats.org/drawingml/2006/main" r:embed="R7b2295aec2674eaf"/>
          <a:stretch xmlns:a="http://schemas.openxmlformats.org/drawingml/2006/main"/>
        </p:blipFill>
        <p:spPr>
          <a:xfrm xmlns:a="http://schemas.openxmlformats.org/drawingml/2006/main">
            <a:off x="3091259" y="4829175"/>
            <a:ext cx="294481" cy="504825"/>
          </a:xfrm>
          <a:prstGeom xmlns:a="http://schemas.openxmlformats.org/drawingml/2006/main" prst="rect">
            <a:avLst/>
          </a:prstGeom>
        </p:spPr>
      </p:pic>
      <p:sp>
        <p:nvSpPr>
          <p:cNvPr id="55" name="Estimación&#10;visual total">
            <a:extLst xmlns:a="http://schemas.openxmlformats.org/drawingml/2006/main">
              <a:ext uri="{FF2B5EF4-FFF2-40B4-BE49-F238E27FC236}">
                <a16:creationId xmlns:a16="http://schemas.microsoft.com/office/drawing/2014/main" id="{20C58FB9-1EEA-4015-8233-AA6BA5A32107}"/>
              </a:ext>
            </a:extLst>
          </p:cNvPr>
          <p:cNvSpPr>
            <a:spLocks xmlns:a="http://schemas.openxmlformats.org/drawingml/2006/main" noGrp="1"/>
          </p:cNvSpPr>
          <p:nvPr/>
        </p:nvSpPr>
        <p:spPr>
          <a:xfrm xmlns:a="http://schemas.openxmlformats.org/drawingml/2006/main">
            <a:off x="3676650" y="4857750"/>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Estimación</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visual total</a:t>
            </a:r>
          </a:p>
        </p:txBody>
      </p:sp>
      <p:sp>
        <p:nvSpPr>
          <p:cNvPr id="56" name="">
            <a:extLst xmlns:a="http://schemas.openxmlformats.org/drawingml/2006/main">
              <a:ext uri="{FF2B5EF4-FFF2-40B4-BE49-F238E27FC236}">
                <a16:creationId xmlns:a16="http://schemas.microsoft.com/office/drawing/2014/main" id="{F28093C4-2BC1-4234-830E-19CEC99161E9}"/>
              </a:ext>
            </a:extLst>
          </p:cNvPr>
          <p:cNvSpPr>
            <a:spLocks xmlns:a="http://schemas.openxmlformats.org/drawingml/2006/main" noGrp="1"/>
          </p:cNvSpPr>
          <p:nvPr/>
        </p:nvSpPr>
        <p:spPr>
          <a:xfrm xmlns:a="http://schemas.openxmlformats.org/drawingml/2006/main" rot="0">
            <a:off x="5624513" y="5081588"/>
            <a:ext cx="28575" cy="523875"/>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47A7517A-97A6-40F9-B9C9-E5C38D0A4A48}"/>
              </a:ext>
            </a:extLst>
          </p:cNvPr>
          <p:cNvSpPr>
            <a:spLocks xmlns:a="http://schemas.openxmlformats.org/drawingml/2006/main" noGrp="1"/>
          </p:cNvSpPr>
          <p:nvPr/>
        </p:nvSpPr>
        <p:spPr>
          <a:xfrm xmlns:a="http://schemas.openxmlformats.org/drawingml/2006/main" rot="10800000">
            <a:off x="5581650" y="5586413"/>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pic>
        <p:nvPicPr>
          <p:cNvPr id="58" name="">
            <a:extLst xmlns:a="http://schemas.openxmlformats.org/drawingml/2006/main">
              <a:ext uri="{FF2B5EF4-FFF2-40B4-BE49-F238E27FC236}">
                <a16:creationId xmlns:a16="http://schemas.microsoft.com/office/drawing/2014/main" id="{E1F73738-F73D-45D5-867B-1DFF41038FEC}"/>
              </a:ext>
            </a:extLst>
          </p:cNvPr>
          <p:cNvPicPr>
            <a:picLocks xmlns:a="http://schemas.openxmlformats.org/drawingml/2006/main" noChangeAspect="1"/>
          </p:cNvPicPr>
          <p:nvPr/>
        </p:nvPicPr>
        <p:blipFill>
          <a:blip xmlns:r="http://schemas.openxmlformats.org/officeDocument/2006/relationships" xmlns:a="http://schemas.openxmlformats.org/drawingml/2006/main" r:embed="R01e411c9408a43b9"/>
          <a:stretch xmlns:a="http://schemas.openxmlformats.org/drawingml/2006/main"/>
        </p:blipFill>
        <p:spPr>
          <a:xfrm xmlns:a="http://schemas.openxmlformats.org/drawingml/2006/main">
            <a:off x="6020812" y="4829175"/>
            <a:ext cx="302776" cy="504825"/>
          </a:xfrm>
          <a:prstGeom xmlns:a="http://schemas.openxmlformats.org/drawingml/2006/main" prst="rect">
            <a:avLst/>
          </a:prstGeom>
        </p:spPr>
      </p:pic>
      <p:sp>
        <p:nvSpPr>
          <p:cNvPr id="59" name="Balanza externa&#10;de 5 kg + tara">
            <a:extLst xmlns:a="http://schemas.openxmlformats.org/drawingml/2006/main">
              <a:ext uri="{FF2B5EF4-FFF2-40B4-BE49-F238E27FC236}">
                <a16:creationId xmlns:a16="http://schemas.microsoft.com/office/drawing/2014/main" id="{45C9B275-6BE9-402F-8764-C6F27E08B233}"/>
              </a:ext>
            </a:extLst>
          </p:cNvPr>
          <p:cNvSpPr>
            <a:spLocks xmlns:a="http://schemas.openxmlformats.org/drawingml/2006/main" noGrp="1"/>
          </p:cNvSpPr>
          <p:nvPr/>
        </p:nvSpPr>
        <p:spPr>
          <a:xfrm xmlns:a="http://schemas.openxmlformats.org/drawingml/2006/main">
            <a:off x="6610350" y="4857750"/>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Balanza externa</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de 5 kg + tara</a:t>
            </a:r>
          </a:p>
        </p:txBody>
      </p:sp>
      <p:sp>
        <p:nvSpPr>
          <p:cNvPr id="60" name="">
            <a:extLst xmlns:a="http://schemas.openxmlformats.org/drawingml/2006/main">
              <a:ext uri="{FF2B5EF4-FFF2-40B4-BE49-F238E27FC236}">
                <a16:creationId xmlns:a16="http://schemas.microsoft.com/office/drawing/2014/main" id="{7C3CCE4D-9E9C-4FFD-B58C-31D0927C396B}"/>
              </a:ext>
            </a:extLst>
          </p:cNvPr>
          <p:cNvSpPr>
            <a:spLocks xmlns:a="http://schemas.openxmlformats.org/drawingml/2006/main" noGrp="1"/>
          </p:cNvSpPr>
          <p:nvPr/>
        </p:nvSpPr>
        <p:spPr>
          <a:xfrm xmlns:a="http://schemas.openxmlformats.org/drawingml/2006/main" rot="0">
            <a:off x="8558213" y="5081588"/>
            <a:ext cx="28575" cy="523875"/>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BCD63876-6DC2-4ACA-8569-A3C009A37958}"/>
              </a:ext>
            </a:extLst>
          </p:cNvPr>
          <p:cNvSpPr>
            <a:spLocks xmlns:a="http://schemas.openxmlformats.org/drawingml/2006/main" noGrp="1"/>
          </p:cNvSpPr>
          <p:nvPr/>
        </p:nvSpPr>
        <p:spPr>
          <a:xfrm xmlns:a="http://schemas.openxmlformats.org/drawingml/2006/main" rot="10800000">
            <a:off x="8515350" y="5586413"/>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pic>
        <p:nvPicPr>
          <p:cNvPr id="62" name="">
            <a:extLst xmlns:a="http://schemas.openxmlformats.org/drawingml/2006/main">
              <a:ext uri="{FF2B5EF4-FFF2-40B4-BE49-F238E27FC236}">
                <a16:creationId xmlns:a16="http://schemas.microsoft.com/office/drawing/2014/main" id="{AAEBDCE0-3B44-42F5-B716-225FBD62003B}"/>
              </a:ext>
            </a:extLst>
          </p:cNvPr>
          <p:cNvPicPr>
            <a:picLocks xmlns:a="http://schemas.openxmlformats.org/drawingml/2006/main" noChangeAspect="1"/>
          </p:cNvPicPr>
          <p:nvPr/>
        </p:nvPicPr>
        <p:blipFill>
          <a:blip xmlns:r="http://schemas.openxmlformats.org/officeDocument/2006/relationships" xmlns:a="http://schemas.openxmlformats.org/drawingml/2006/main" r:embed="R56a229f20d9a4f14"/>
          <a:stretch xmlns:a="http://schemas.openxmlformats.org/drawingml/2006/main"/>
        </p:blipFill>
        <p:spPr>
          <a:xfrm xmlns:a="http://schemas.openxmlformats.org/drawingml/2006/main">
            <a:off x="8853488" y="4829175"/>
            <a:ext cx="504825" cy="504825"/>
          </a:xfrm>
          <a:prstGeom xmlns:a="http://schemas.openxmlformats.org/drawingml/2006/main" prst="rect">
            <a:avLst/>
          </a:prstGeom>
        </p:spPr>
      </p:pic>
      <p:sp>
        <p:nvSpPr>
          <p:cNvPr id="63" name="Celda 5 kg&#10;HX711 a 3,3 V">
            <a:extLst xmlns:a="http://schemas.openxmlformats.org/drawingml/2006/main">
              <a:ext uri="{FF2B5EF4-FFF2-40B4-BE49-F238E27FC236}">
                <a16:creationId xmlns:a16="http://schemas.microsoft.com/office/drawing/2014/main" id="{10305361-0C33-48CD-BABA-BD7360ABC2D6}"/>
              </a:ext>
            </a:extLst>
          </p:cNvPr>
          <p:cNvSpPr>
            <a:spLocks xmlns:a="http://schemas.openxmlformats.org/drawingml/2006/main" noGrp="1"/>
          </p:cNvSpPr>
          <p:nvPr/>
        </p:nvSpPr>
        <p:spPr>
          <a:xfrm xmlns:a="http://schemas.openxmlformats.org/drawingml/2006/main">
            <a:off x="9544050" y="4857750"/>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Celda 5 kg</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HX711 a 3,3 V</a:t>
            </a:r>
          </a:p>
        </p:txBody>
      </p:sp>
      <p:sp>
        <p:nvSpPr>
          <p:cNvPr id="64" name="">
            <a:extLst xmlns:a="http://schemas.openxmlformats.org/drawingml/2006/main">
              <a:ext uri="{FF2B5EF4-FFF2-40B4-BE49-F238E27FC236}">
                <a16:creationId xmlns:a16="http://schemas.microsoft.com/office/drawing/2014/main" id="{3DCA7C1B-231E-4A1E-AF29-0A42E355C063}"/>
              </a:ext>
            </a:extLst>
          </p:cNvPr>
          <p:cNvSpPr>
            <a:spLocks xmlns:a="http://schemas.openxmlformats.org/drawingml/2006/main" noGrp="1"/>
          </p:cNvSpPr>
          <p:nvPr/>
        </p:nvSpPr>
        <p:spPr>
          <a:xfrm xmlns:a="http://schemas.openxmlformats.org/drawingml/2006/main" rot="0">
            <a:off x="11491913" y="5081588"/>
            <a:ext cx="28575" cy="523875"/>
          </a:xfrm>
          <a:prstGeom xmlns:a="http://schemas.openxmlformats.org/drawingml/2006/main" prst="rect">
            <a:avLst/>
          </a:prstGeom>
          <a:solidFill xmlns:a="http://schemas.openxmlformats.org/drawingml/2006/main">
            <a:srgbClr val="173F2F"/>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44ECD6D2-B953-4EBD-A785-4C4FD72AA8A5}"/>
              </a:ext>
            </a:extLst>
          </p:cNvPr>
          <p:cNvSpPr>
            <a:spLocks xmlns:a="http://schemas.openxmlformats.org/drawingml/2006/main" noGrp="1"/>
          </p:cNvSpPr>
          <p:nvPr/>
        </p:nvSpPr>
        <p:spPr>
          <a:xfrm xmlns:a="http://schemas.openxmlformats.org/drawingml/2006/main" rot="10800000">
            <a:off x="11449050" y="5586413"/>
            <a:ext cx="114300" cy="114300"/>
          </a:xfrm>
          <a:prstGeom xmlns:a="http://schemas.openxmlformats.org/drawingml/2006/main" prst="triangle">
            <a:avLst/>
          </a:prstGeom>
          <a:solidFill xmlns:a="http://schemas.openxmlformats.org/drawingml/2006/main">
            <a:srgbClr val="173F2F"/>
          </a:solidFill>
          <a:ln xmlns:a="http://schemas.openxmlformats.org/drawingml/2006/main" w="0">
            <a:noFill/>
          </a:ln>
        </p:spPr>
      </p:sp>
      <p:pic>
        <p:nvPicPr>
          <p:cNvPr id="66" name="">
            <a:extLst xmlns:a="http://schemas.openxmlformats.org/drawingml/2006/main">
              <a:ext uri="{FF2B5EF4-FFF2-40B4-BE49-F238E27FC236}">
                <a16:creationId xmlns:a16="http://schemas.microsoft.com/office/drawing/2014/main" id="{E9ADFC04-6263-4872-8459-5CAA55596822}"/>
              </a:ext>
            </a:extLst>
          </p:cNvPr>
          <p:cNvPicPr>
            <a:picLocks xmlns:a="http://schemas.openxmlformats.org/drawingml/2006/main" noChangeAspect="1"/>
          </p:cNvPicPr>
          <p:nvPr/>
        </p:nvPicPr>
        <p:blipFill>
          <a:blip xmlns:r="http://schemas.openxmlformats.org/officeDocument/2006/relationships" xmlns:a="http://schemas.openxmlformats.org/drawingml/2006/main" r:embed="R6d257fe5be024c23"/>
          <a:stretch xmlns:a="http://schemas.openxmlformats.org/drawingml/2006/main"/>
        </p:blipFill>
        <p:spPr>
          <a:xfrm xmlns:a="http://schemas.openxmlformats.org/drawingml/2006/main">
            <a:off x="3091259" y="5448300"/>
            <a:ext cx="294481" cy="504825"/>
          </a:xfrm>
          <a:prstGeom xmlns:a="http://schemas.openxmlformats.org/drawingml/2006/main" prst="rect">
            <a:avLst/>
          </a:prstGeom>
        </p:spPr>
      </p:pic>
      <p:sp>
        <p:nvSpPr>
          <p:cNvPr id="67" name="Recipiente&#10;sobre mesa">
            <a:extLst xmlns:a="http://schemas.openxmlformats.org/drawingml/2006/main">
              <a:ext uri="{FF2B5EF4-FFF2-40B4-BE49-F238E27FC236}">
                <a16:creationId xmlns:a16="http://schemas.microsoft.com/office/drawing/2014/main" id="{45CF8BC2-BD8B-4FAA-924F-C0414B1104CE}"/>
              </a:ext>
            </a:extLst>
          </p:cNvPr>
          <p:cNvSpPr>
            <a:spLocks xmlns:a="http://schemas.openxmlformats.org/drawingml/2006/main" noGrp="1"/>
          </p:cNvSpPr>
          <p:nvPr/>
        </p:nvSpPr>
        <p:spPr>
          <a:xfrm xmlns:a="http://schemas.openxmlformats.org/drawingml/2006/main">
            <a:off x="3676650" y="5476875"/>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Recipiente</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sobre mesa</a:t>
            </a:r>
          </a:p>
        </p:txBody>
      </p:sp>
      <p:pic>
        <p:nvPicPr>
          <p:cNvPr id="68" name="">
            <a:extLst xmlns:a="http://schemas.openxmlformats.org/drawingml/2006/main">
              <a:ext uri="{FF2B5EF4-FFF2-40B4-BE49-F238E27FC236}">
                <a16:creationId xmlns:a16="http://schemas.microsoft.com/office/drawing/2014/main" id="{079C5A82-D6C3-4BBA-84EA-8B9444DEE901}"/>
              </a:ext>
            </a:extLst>
          </p:cNvPr>
          <p:cNvPicPr>
            <a:picLocks xmlns:a="http://schemas.openxmlformats.org/drawingml/2006/main" noChangeAspect="1"/>
          </p:cNvPicPr>
          <p:nvPr/>
        </p:nvPicPr>
        <p:blipFill>
          <a:blip xmlns:r="http://schemas.openxmlformats.org/officeDocument/2006/relationships" xmlns:a="http://schemas.openxmlformats.org/drawingml/2006/main" r:embed="R9033e45bf2dc44f8"/>
          <a:stretch xmlns:a="http://schemas.openxmlformats.org/drawingml/2006/main"/>
        </p:blipFill>
        <p:spPr>
          <a:xfrm xmlns:a="http://schemas.openxmlformats.org/drawingml/2006/main">
            <a:off x="6020812" y="5448300"/>
            <a:ext cx="302776" cy="504825"/>
          </a:xfrm>
          <a:prstGeom xmlns:a="http://schemas.openxmlformats.org/drawingml/2006/main" prst="rect">
            <a:avLst/>
          </a:prstGeom>
        </p:spPr>
      </p:pic>
      <p:sp>
        <p:nvSpPr>
          <p:cNvPr id="69" name="Recipiente&#10;sobre balanza">
            <a:extLst xmlns:a="http://schemas.openxmlformats.org/drawingml/2006/main">
              <a:ext uri="{FF2B5EF4-FFF2-40B4-BE49-F238E27FC236}">
                <a16:creationId xmlns:a16="http://schemas.microsoft.com/office/drawing/2014/main" id="{D9762DC7-AB28-425B-9D13-0538FCDB4CC2}"/>
              </a:ext>
            </a:extLst>
          </p:cNvPr>
          <p:cNvSpPr>
            <a:spLocks xmlns:a="http://schemas.openxmlformats.org/drawingml/2006/main" noGrp="1"/>
          </p:cNvSpPr>
          <p:nvPr/>
        </p:nvSpPr>
        <p:spPr>
          <a:xfrm xmlns:a="http://schemas.openxmlformats.org/drawingml/2006/main">
            <a:off x="6610350" y="5476875"/>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Recipiente</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sobre balanza</a:t>
            </a:r>
          </a:p>
        </p:txBody>
      </p:sp>
      <p:pic>
        <p:nvPicPr>
          <p:cNvPr id="70" name="">
            <a:extLst xmlns:a="http://schemas.openxmlformats.org/drawingml/2006/main">
              <a:ext uri="{FF2B5EF4-FFF2-40B4-BE49-F238E27FC236}">
                <a16:creationId xmlns:a16="http://schemas.microsoft.com/office/drawing/2014/main" id="{9C11573F-C7D4-4D2A-AA7D-B7C0FD2C60AD}"/>
              </a:ext>
            </a:extLst>
          </p:cNvPr>
          <p:cNvPicPr>
            <a:picLocks xmlns:a="http://schemas.openxmlformats.org/drawingml/2006/main" noChangeAspect="1"/>
          </p:cNvPicPr>
          <p:nvPr/>
        </p:nvPicPr>
        <p:blipFill>
          <a:blip xmlns:r="http://schemas.openxmlformats.org/officeDocument/2006/relationships" xmlns:a="http://schemas.openxmlformats.org/drawingml/2006/main" r:embed="Rccf44bdafc22408f"/>
          <a:stretch xmlns:a="http://schemas.openxmlformats.org/drawingml/2006/main"/>
        </p:blipFill>
        <p:spPr>
          <a:xfrm xmlns:a="http://schemas.openxmlformats.org/drawingml/2006/main">
            <a:off x="8857339" y="5448300"/>
            <a:ext cx="497122" cy="504825"/>
          </a:xfrm>
          <a:prstGeom xmlns:a="http://schemas.openxmlformats.org/drawingml/2006/main" prst="rect">
            <a:avLst/>
          </a:prstGeom>
        </p:spPr>
      </p:pic>
      <p:sp>
        <p:nvSpPr>
          <p:cNvPr id="71" name="Plataforma&#10;flotante 220 mm">
            <a:extLst xmlns:a="http://schemas.openxmlformats.org/drawingml/2006/main">
              <a:ext uri="{FF2B5EF4-FFF2-40B4-BE49-F238E27FC236}">
                <a16:creationId xmlns:a16="http://schemas.microsoft.com/office/drawing/2014/main" id="{2EA77EE5-F743-410F-A1EC-1D7F905322ED}"/>
              </a:ext>
            </a:extLst>
          </p:cNvPr>
          <p:cNvSpPr>
            <a:spLocks xmlns:a="http://schemas.openxmlformats.org/drawingml/2006/main" noGrp="1"/>
          </p:cNvSpPr>
          <p:nvPr/>
        </p:nvSpPr>
        <p:spPr>
          <a:xfrm xmlns:a="http://schemas.openxmlformats.org/drawingml/2006/main">
            <a:off x="9544050" y="5476875"/>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Plataforma</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flotante 220 mm</a:t>
            </a:r>
          </a:p>
        </p:txBody>
      </p:sp>
      <p:sp>
        <p:nvSpPr>
          <p:cNvPr id="72" name="Compatibilidad C: 5 V a ESP32; 3,3 V a HX711; GPIO">
            <a:extLst xmlns:a="http://schemas.openxmlformats.org/drawingml/2006/main">
              <a:ext uri="{FF2B5EF4-FFF2-40B4-BE49-F238E27FC236}">
                <a16:creationId xmlns:a16="http://schemas.microsoft.com/office/drawing/2014/main" id="{E84DD8B5-B977-42AA-9ECD-88AEEFB392CF}"/>
              </a:ext>
            </a:extLst>
          </p:cNvPr>
          <p:cNvSpPr>
            <a:spLocks xmlns:a="http://schemas.openxmlformats.org/drawingml/2006/main" noGrp="1"/>
          </p:cNvSpPr>
          <p:nvPr/>
        </p:nvSpPr>
        <p:spPr>
          <a:xfrm xmlns:a="http://schemas.openxmlformats.org/drawingml/2006/main">
            <a:off x="571500" y="6124575"/>
            <a:ext cx="1104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AD6240"/>
                </a:solidFill>
                <a:latin typeface="Arial"/>
                <a:ea typeface="Arial"/>
                <a:cs typeface="Arial"/>
              </a:defRPr>
            </a:defPPr>
          </a:lstStyle>
          <a:p xmlns:a="http://schemas.openxmlformats.org/drawingml/2006/main">
            <a:pPr>
              <a:defRPr sz="1500" b="1">
                <a:solidFill>
                  <a:srgbClr val="AD6240"/>
                </a:solidFill>
                <a:latin typeface="Arial"/>
                <a:ea typeface="Arial"/>
                <a:cs typeface="Arial"/>
              </a:defRPr>
            </a:pPr>
            <a:r>
              <a:rPr sz="1500" b="1">
                <a:solidFill>
                  <a:srgbClr val="AD6240"/>
                </a:solidFill>
                <a:latin typeface="Arial"/>
                <a:ea typeface="Arial"/>
                <a:cs typeface="Arial"/>
              </a:rPr>
              <a:t>Compatibilidad C: 5 V a ESP32; 3,3 V a HX711; GPIO13/14/15 sin microSD.</a:t>
            </a:r>
          </a:p>
        </p:txBody>
      </p:sp>
    </p:spTree>
    <p:extLst>
      <p:ext uri="{BB962C8B-B14F-4D97-AF65-F5344CB8AC3E}">
        <p14:creationId xmlns:p14="http://schemas.microsoft.com/office/powerpoint/2010/main" val="528158905"/>
      </p:ext>
    </p:extLst>
  </p:cSld>
</p:sld>
</file>

<file path=ppt/slides/slide15.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61" name="7. Matriz morfológica y conceptos (2/2)">
            <a:extLst xmlns:a="http://schemas.openxmlformats.org/drawingml/2006/main">
              <a:ext uri="{FF2B5EF4-FFF2-40B4-BE49-F238E27FC236}">
                <a16:creationId xmlns:a16="http://schemas.microsoft.com/office/drawing/2014/main" id="{1694EACC-5C13-4B4F-9E34-BCA194D41676}"/>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7. Matriz morfológica y conceptos (2/2)</a:t>
            </a:r>
          </a:p>
        </p:txBody>
      </p:sp>
      <p:sp>
        <p:nvSpPr>
          <p:cNvPr id="2" name="Dominios de procesamiento, datos, interfaz y regis">
            <a:extLst xmlns:a="http://schemas.openxmlformats.org/drawingml/2006/main">
              <a:ext uri="{FF2B5EF4-FFF2-40B4-BE49-F238E27FC236}">
                <a16:creationId xmlns:a16="http://schemas.microsoft.com/office/drawing/2014/main" id="{912B6CB7-AD6E-4FBB-8389-0DDABB437368}"/>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Dominios de procesamiento, datos, interfaz y registro. Continuación de los tres caminos.</a:t>
            </a:r>
          </a:p>
        </p:txBody>
      </p:sp>
      <p:sp>
        <p:nvSpPr>
          <p:cNvPr id="3" name="Fuentes [16], [17], [18], [19], [20], [23], [24]. ">
            <a:extLst xmlns:a="http://schemas.openxmlformats.org/drawingml/2006/main">
              <a:ext uri="{FF2B5EF4-FFF2-40B4-BE49-F238E27FC236}">
                <a16:creationId xmlns:a16="http://schemas.microsoft.com/office/drawing/2014/main" id="{95774EAD-BC59-4E6C-B8D4-88C505E904EA}"/>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[16], [17], [18], [19], [20], [23], [24]. Referencias al final.</a:t>
            </a:r>
          </a:p>
        </p:txBody>
      </p:sp>
      <p:sp>
        <p:nvSpPr>
          <p:cNvPr id="4" name="15">
            <a:extLst xmlns:a="http://schemas.openxmlformats.org/drawingml/2006/main">
              <a:ext uri="{FF2B5EF4-FFF2-40B4-BE49-F238E27FC236}">
                <a16:creationId xmlns:a16="http://schemas.microsoft.com/office/drawing/2014/main" id="{B93BC01E-DB8A-4672-A99D-DDBF93922BB7}"/>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15</a:t>
            </a:r>
          </a:p>
        </p:txBody>
      </p:sp>
      <p:graphicFrame>
        <p:nvGraphicFramePr>
          <p:cNvPr id="5" name="">
            <a:extLst xmlns:a="http://schemas.openxmlformats.org/drawingml/2006/main">
              <a:ext uri="{FF2B5EF4-FFF2-40B4-BE49-F238E27FC236}">
                <a16:creationId xmlns:a16="http://schemas.microsoft.com/office/drawing/2014/main" id="{EEF15789-CDC7-46D7-B550-58C7F0E85B96}"/>
              </a:ext>
            </a:extLst>
          </p:cNvPr>
          <p:cNvGraphicFramePr/>
          <p:nvPr/>
        </p:nvGraphicFramePr>
        <p:xfrm>
          <a:off xmlns:a="http://schemas.openxmlformats.org/drawingml/2006/main" x="571500" y="1885950"/>
          <a:ext xmlns:a="http://schemas.openxmlformats.org/drawingml/2006/main" cx="11049000" cy="4124325"/>
        </p:xfrm>
        <a:graphic xmlns:a="http://schemas.openxmlformats.org/drawingml/2006/main">
          <a:graphicData uri="http://schemas.openxmlformats.org/drawingml/2006/table">
            <a:tbl>
              <a:tblPr/>
              <a:tblGrid>
                <a:gridCol w="2238375"/>
                <a:gridCol w="2933700"/>
                <a:gridCol w="2933700"/>
                <a:gridCol w="2943225"/>
              </a:tblGrid>
              <a:tr h="409575">
                <a:tc>
                  <a:txBody>
                    <a:bodyPr/>
                    <a:lstStyle/>
                    <a:p>
                      <a:r>
                        <a:rPr sz="1575" b="1">
                          <a:solidFill>
                            <a:srgbClr val="FFFFFF"/>
                          </a:solidFill>
                          <a:latin typeface="Arial"/>
                          <a:ea typeface="Arial"/>
                          <a:cs typeface="Arial"/>
                        </a:rPr>
                        <a:t>Función / dominio</a:t>
                      </a:r>
                    </a:p>
                  </a:txBody>
                  <a:tcPr marL="95250" marR="95250" marT="19050" marB="19050" anchor="ctr">
                    <a:solidFill>
                      <a:srgbClr val="173F2F"/>
                    </a:solidFill>
                  </a:tcPr>
                </a:tc>
                <a:tc>
                  <a:txBody>
                    <a:bodyPr/>
                    <a:lstStyle/>
                    <a:p>
                      <a:r>
                        <a:rPr sz="1575" b="1">
                          <a:solidFill>
                            <a:srgbClr val="FFFFFF"/>
                          </a:solidFill>
                          <a:latin typeface="Arial"/>
                          <a:ea typeface="Arial"/>
                          <a:cs typeface="Arial"/>
                        </a:rPr>
                        <a:t>A · Visual</a:t>
                      </a:r>
                    </a:p>
                  </a:txBody>
                  <a:tcPr marL="95250" marR="95250" marT="19050" marB="19050" anchor="ctr">
                    <a:solidFill>
                      <a:srgbClr val="173F2F"/>
                    </a:solidFill>
                  </a:tcPr>
                </a:tc>
                <a:tc>
                  <a:txBody>
                    <a:bodyPr/>
                    <a:lstStyle/>
                    <a:p>
                      <a:r>
                        <a:rPr sz="1575" b="1">
                          <a:solidFill>
                            <a:srgbClr val="FFFFFF"/>
                          </a:solidFill>
                          <a:latin typeface="Arial"/>
                          <a:ea typeface="Arial"/>
                          <a:cs typeface="Arial"/>
                        </a:rPr>
                        <a:t>B · Balanza externa</a:t>
                      </a:r>
                    </a:p>
                  </a:txBody>
                  <a:tcPr marL="95250" marR="95250" marT="19050" marB="19050" anchor="ctr">
                    <a:solidFill>
                      <a:srgbClr val="173F2F"/>
                    </a:solidFill>
                  </a:tcPr>
                </a:tc>
                <a:tc>
                  <a:txBody>
                    <a:bodyPr/>
                    <a:lstStyle/>
                    <a:p>
                      <a:r>
                        <a:rPr sz="1575" b="1">
                          <a:solidFill>
                            <a:srgbClr val="FFFFFF"/>
                          </a:solidFill>
                          <a:latin typeface="Arial"/>
                          <a:ea typeface="Arial"/>
                          <a:cs typeface="Arial"/>
                        </a:rPr>
                        <a:t>C · Caja integrada</a:t>
                      </a:r>
                    </a:p>
                  </a:txBody>
                  <a:tcPr marL="95250" marR="95250" marT="19050" marB="19050" anchor="ctr">
                    <a:solidFill>
                      <a:srgbClr val="173F2F"/>
                    </a:solidFill>
                  </a:tcPr>
                </a:tc>
              </a:tr>
              <a:tr h="742950">
                <a:tc>
                  <a:txBody>
                    <a:bodyPr/>
                    <a:lstStyle/>
                    <a:p>
                      <a:r>
                        <a:rPr sz="1350">
                          <a:solidFill>
                            <a:srgbClr val="173F2F"/>
                          </a:solidFill>
                          <a:latin typeface="Arial"/>
                          <a:ea typeface="Arial"/>
                          <a:cs typeface="Arial"/>
                        </a:rPr>
                        <a:t>F6 · Procesamiento</a:t>
                      </a:r>
                    </a:p>
                    <a:p>
                      <a:r>
                        <a:rPr sz="1350">
                          <a:solidFill>
                            <a:srgbClr val="173F2F"/>
                          </a:solidFill>
                          <a:latin typeface="Arial"/>
                          <a:ea typeface="Arial"/>
                          <a:cs typeface="Arial"/>
                        </a:rPr>
                        <a:t>Identificar y corregir</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r>
              <a:tr h="742950">
                <a:tc>
                  <a:txBody>
                    <a:bodyPr/>
                    <a:lstStyle/>
                    <a:p>
                      <a:r>
                        <a:rPr sz="1350">
                          <a:solidFill>
                            <a:srgbClr val="173F2F"/>
                          </a:solidFill>
                          <a:latin typeface="Arial"/>
                          <a:ea typeface="Arial"/>
                          <a:cs typeface="Arial"/>
                        </a:rPr>
                        <a:t>F7 · Datos</a:t>
                      </a:r>
                    </a:p>
                    <a:p>
                      <a:r>
                        <a:rPr sz="1350">
                          <a:solidFill>
                            <a:srgbClr val="173F2F"/>
                          </a:solidFill>
                          <a:latin typeface="Arial"/>
                          <a:ea typeface="Arial"/>
                          <a:cs typeface="Arial"/>
                        </a:rPr>
                        <a:t>Consultar referencia</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r>
              <a:tr h="742950">
                <a:tc>
                  <a:txBody>
                    <a:bodyPr/>
                    <a:lstStyle/>
                    <a:p>
                      <a:r>
                        <a:rPr sz="1350">
                          <a:solidFill>
                            <a:srgbClr val="173F2F"/>
                          </a:solidFill>
                          <a:latin typeface="Arial"/>
                          <a:ea typeface="Arial"/>
                          <a:cs typeface="Arial"/>
                        </a:rPr>
                        <a:t>F8 · Procesamiento</a:t>
                      </a:r>
                    </a:p>
                    <a:p>
                      <a:r>
                        <a:rPr sz="1350">
                          <a:solidFill>
                            <a:srgbClr val="173F2F"/>
                          </a:solidFill>
                          <a:latin typeface="Arial"/>
                          <a:ea typeface="Arial"/>
                          <a:cs typeface="Arial"/>
                        </a:rPr>
                        <a:t>Calcular</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r>
              <a:tr h="742950">
                <a:tc>
                  <a:txBody>
                    <a:bodyPr/>
                    <a:lstStyle/>
                    <a:p>
                      <a:r>
                        <a:rPr sz="1350">
                          <a:solidFill>
                            <a:srgbClr val="173F2F"/>
                          </a:solidFill>
                          <a:latin typeface="Arial"/>
                          <a:ea typeface="Arial"/>
                          <a:cs typeface="Arial"/>
                        </a:rPr>
                        <a:t>F9 · Interfaz</a:t>
                      </a:r>
                    </a:p>
                    <a:p>
                      <a:r>
                        <a:rPr sz="1350">
                          <a:solidFill>
                            <a:srgbClr val="173F2F"/>
                          </a:solidFill>
                          <a:latin typeface="Arial"/>
                          <a:ea typeface="Arial"/>
                          <a:cs typeface="Arial"/>
                        </a:rPr>
                        <a:t>Informar</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r>
              <a:tr h="742950">
                <a:tc>
                  <a:txBody>
                    <a:bodyPr/>
                    <a:lstStyle/>
                    <a:p>
                      <a:r>
                        <a:rPr sz="1350">
                          <a:solidFill>
                            <a:srgbClr val="173F2F"/>
                          </a:solidFill>
                          <a:latin typeface="Arial"/>
                          <a:ea typeface="Arial"/>
                          <a:cs typeface="Arial"/>
                        </a:rPr>
                        <a:t>F10 · Registro</a:t>
                      </a:r>
                    </a:p>
                    <a:p>
                      <a:r>
                        <a:rPr sz="1350">
                          <a:solidFill>
                            <a:srgbClr val="173F2F"/>
                          </a:solidFill>
                          <a:latin typeface="Arial"/>
                          <a:ea typeface="Arial"/>
                          <a:cs typeface="Arial"/>
                        </a:rPr>
                        <a:t>Guardar</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r>
            </a:tbl>
          </a:graphicData>
        </a:graphic>
      </p:graphicFrame>
      <p:pic>
        <p:nvPicPr>
          <p:cNvPr id="6" name="">
            <a:extLst xmlns:a="http://schemas.openxmlformats.org/drawingml/2006/main">
              <a:ext uri="{FF2B5EF4-FFF2-40B4-BE49-F238E27FC236}">
                <a16:creationId xmlns:a16="http://schemas.microsoft.com/office/drawing/2014/main" id="{686B4A23-9DB2-46CF-9732-03D14FDFD6AE}"/>
              </a:ext>
            </a:extLst>
          </p:cNvPr>
          <p:cNvPicPr>
            <a:picLocks xmlns:a="http://schemas.openxmlformats.org/drawingml/2006/main" noChangeAspect="1"/>
          </p:cNvPicPr>
          <p:nvPr/>
        </p:nvPicPr>
        <p:blipFill>
          <a:blip xmlns:r="http://schemas.openxmlformats.org/officeDocument/2006/relationships" xmlns:a="http://schemas.openxmlformats.org/drawingml/2006/main" r:embed="R3c599057c0ef4b15"/>
          <a:stretch xmlns:a="http://schemas.openxmlformats.org/drawingml/2006/main"/>
        </p:blipFill>
        <p:spPr>
          <a:xfrm xmlns:a="http://schemas.openxmlformats.org/drawingml/2006/main">
            <a:off x="3115198" y="2352675"/>
            <a:ext cx="246605" cy="628650"/>
          </a:xfrm>
          <a:prstGeom xmlns:a="http://schemas.openxmlformats.org/drawingml/2006/main" prst="rect">
            <a:avLst/>
          </a:prstGeom>
        </p:spPr>
      </p:pic>
      <p:sp>
        <p:nvSpPr>
          <p:cNvPr id="7" name="IA + revisión&#10;del usuario">
            <a:extLst xmlns:a="http://schemas.openxmlformats.org/drawingml/2006/main">
              <a:ext uri="{FF2B5EF4-FFF2-40B4-BE49-F238E27FC236}">
                <a16:creationId xmlns:a16="http://schemas.microsoft.com/office/drawing/2014/main" id="{68117549-1903-4F09-95A7-F50DF9769BC1}"/>
              </a:ext>
            </a:extLst>
          </p:cNvPr>
          <p:cNvSpPr>
            <a:spLocks xmlns:a="http://schemas.openxmlformats.org/drawingml/2006/main" noGrp="1"/>
          </p:cNvSpPr>
          <p:nvPr/>
        </p:nvSpPr>
        <p:spPr>
          <a:xfrm xmlns:a="http://schemas.openxmlformats.org/drawingml/2006/main">
            <a:off x="3676650" y="238125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IA + revisión</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del usuario</a:t>
            </a:r>
          </a:p>
        </p:txBody>
      </p:sp>
      <p:sp>
        <p:nvSpPr>
          <p:cNvPr id="8" name="">
            <a:extLst xmlns:a="http://schemas.openxmlformats.org/drawingml/2006/main">
              <a:ext uri="{FF2B5EF4-FFF2-40B4-BE49-F238E27FC236}">
                <a16:creationId xmlns:a16="http://schemas.microsoft.com/office/drawing/2014/main" id="{8766EB57-88A1-4080-A053-7335C75B65CF}"/>
              </a:ext>
            </a:extLst>
          </p:cNvPr>
          <p:cNvSpPr>
            <a:spLocks xmlns:a="http://schemas.openxmlformats.org/drawingml/2006/main" noGrp="1"/>
          </p:cNvSpPr>
          <p:nvPr/>
        </p:nvSpPr>
        <p:spPr>
          <a:xfrm xmlns:a="http://schemas.openxmlformats.org/drawingml/2006/main" rot="0">
            <a:off x="5624513" y="2667000"/>
            <a:ext cx="28575" cy="647700"/>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466EDBE-CB66-4B27-B455-555A437B1D68}"/>
              </a:ext>
            </a:extLst>
          </p:cNvPr>
          <p:cNvSpPr>
            <a:spLocks xmlns:a="http://schemas.openxmlformats.org/drawingml/2006/main" noGrp="1"/>
          </p:cNvSpPr>
          <p:nvPr/>
        </p:nvSpPr>
        <p:spPr>
          <a:xfrm xmlns:a="http://schemas.openxmlformats.org/drawingml/2006/main" rot="10800000">
            <a:off x="5581650" y="3295650"/>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pic>
        <p:nvPicPr>
          <p:cNvPr id="10" name="">
            <a:extLst xmlns:a="http://schemas.openxmlformats.org/drawingml/2006/main">
              <a:ext uri="{FF2B5EF4-FFF2-40B4-BE49-F238E27FC236}">
                <a16:creationId xmlns:a16="http://schemas.microsoft.com/office/drawing/2014/main" id="{0C4ADD58-36A6-4E38-8F43-AB7B54A9EE2A}"/>
              </a:ext>
            </a:extLst>
          </p:cNvPr>
          <p:cNvPicPr>
            <a:picLocks xmlns:a="http://schemas.openxmlformats.org/drawingml/2006/main" noChangeAspect="1"/>
          </p:cNvPicPr>
          <p:nvPr/>
        </p:nvPicPr>
        <p:blipFill>
          <a:blip xmlns:r="http://schemas.openxmlformats.org/officeDocument/2006/relationships" xmlns:a="http://schemas.openxmlformats.org/drawingml/2006/main" r:embed="R3fcd7e42636d4ecf"/>
          <a:stretch xmlns:a="http://schemas.openxmlformats.org/drawingml/2006/main"/>
        </p:blipFill>
        <p:spPr>
          <a:xfrm xmlns:a="http://schemas.openxmlformats.org/drawingml/2006/main">
            <a:off x="6048898" y="2352675"/>
            <a:ext cx="246605" cy="628650"/>
          </a:xfrm>
          <a:prstGeom xmlns:a="http://schemas.openxmlformats.org/drawingml/2006/main" prst="rect">
            <a:avLst/>
          </a:prstGeom>
        </p:spPr>
      </p:pic>
      <p:sp>
        <p:nvSpPr>
          <p:cNvPr id="11" name="Gemini + revisión&#10;del usuario">
            <a:extLst xmlns:a="http://schemas.openxmlformats.org/drawingml/2006/main">
              <a:ext uri="{FF2B5EF4-FFF2-40B4-BE49-F238E27FC236}">
                <a16:creationId xmlns:a16="http://schemas.microsoft.com/office/drawing/2014/main" id="{1D75F7B7-3BEB-455A-8AFA-D4937CBE339D}"/>
              </a:ext>
            </a:extLst>
          </p:cNvPr>
          <p:cNvSpPr>
            <a:spLocks xmlns:a="http://schemas.openxmlformats.org/drawingml/2006/main" noGrp="1"/>
          </p:cNvSpPr>
          <p:nvPr/>
        </p:nvSpPr>
        <p:spPr>
          <a:xfrm xmlns:a="http://schemas.openxmlformats.org/drawingml/2006/main">
            <a:off x="6610350" y="238125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Gemini + revisión</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del usuario</a:t>
            </a:r>
          </a:p>
        </p:txBody>
      </p:sp>
      <p:sp>
        <p:nvSpPr>
          <p:cNvPr id="12" name="">
            <a:extLst xmlns:a="http://schemas.openxmlformats.org/drawingml/2006/main">
              <a:ext uri="{FF2B5EF4-FFF2-40B4-BE49-F238E27FC236}">
                <a16:creationId xmlns:a16="http://schemas.microsoft.com/office/drawing/2014/main" id="{FA37C826-9DAB-4D26-A6A2-AC54096BBC6A}"/>
              </a:ext>
            </a:extLst>
          </p:cNvPr>
          <p:cNvSpPr>
            <a:spLocks xmlns:a="http://schemas.openxmlformats.org/drawingml/2006/main" noGrp="1"/>
          </p:cNvSpPr>
          <p:nvPr/>
        </p:nvSpPr>
        <p:spPr>
          <a:xfrm xmlns:a="http://schemas.openxmlformats.org/drawingml/2006/main" rot="0">
            <a:off x="8558213" y="2667000"/>
            <a:ext cx="28575" cy="647700"/>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2539613-742C-4DF9-97BD-58240E21419B}"/>
              </a:ext>
            </a:extLst>
          </p:cNvPr>
          <p:cNvSpPr>
            <a:spLocks xmlns:a="http://schemas.openxmlformats.org/drawingml/2006/main" noGrp="1"/>
          </p:cNvSpPr>
          <p:nvPr/>
        </p:nvSpPr>
        <p:spPr>
          <a:xfrm xmlns:a="http://schemas.openxmlformats.org/drawingml/2006/main" rot="10800000">
            <a:off x="8515350" y="3295650"/>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2743D4CC-7E7B-4F73-BE68-0C59EB90E764}"/>
              </a:ext>
            </a:extLst>
          </p:cNvPr>
          <p:cNvPicPr>
            <a:picLocks xmlns:a="http://schemas.openxmlformats.org/drawingml/2006/main" noChangeAspect="1"/>
          </p:cNvPicPr>
          <p:nvPr/>
        </p:nvPicPr>
        <p:blipFill>
          <a:blip xmlns:r="http://schemas.openxmlformats.org/officeDocument/2006/relationships" xmlns:a="http://schemas.openxmlformats.org/drawingml/2006/main" r:embed="R13c38349f0824972"/>
          <a:stretch xmlns:a="http://schemas.openxmlformats.org/drawingml/2006/main"/>
        </p:blipFill>
        <p:spPr>
          <a:xfrm xmlns:a="http://schemas.openxmlformats.org/drawingml/2006/main">
            <a:off x="8982598" y="2352675"/>
            <a:ext cx="246605" cy="628650"/>
          </a:xfrm>
          <a:prstGeom xmlns:a="http://schemas.openxmlformats.org/drawingml/2006/main" prst="rect">
            <a:avLst/>
          </a:prstGeom>
        </p:spPr>
      </p:pic>
      <p:sp>
        <p:nvSpPr>
          <p:cNvPr id="15" name="Gemini + revisión&#10;del usuario">
            <a:extLst xmlns:a="http://schemas.openxmlformats.org/drawingml/2006/main">
              <a:ext uri="{FF2B5EF4-FFF2-40B4-BE49-F238E27FC236}">
                <a16:creationId xmlns:a16="http://schemas.microsoft.com/office/drawing/2014/main" id="{CFF07317-DFFB-4678-8F72-D8425558A803}"/>
              </a:ext>
            </a:extLst>
          </p:cNvPr>
          <p:cNvSpPr>
            <a:spLocks xmlns:a="http://schemas.openxmlformats.org/drawingml/2006/main" noGrp="1"/>
          </p:cNvSpPr>
          <p:nvPr/>
        </p:nvSpPr>
        <p:spPr>
          <a:xfrm xmlns:a="http://schemas.openxmlformats.org/drawingml/2006/main">
            <a:off x="9544050" y="238125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Gemini + revisión</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del usuario</a:t>
            </a:r>
          </a:p>
        </p:txBody>
      </p:sp>
      <p:sp>
        <p:nvSpPr>
          <p:cNvPr id="16" name="">
            <a:extLst xmlns:a="http://schemas.openxmlformats.org/drawingml/2006/main">
              <a:ext uri="{FF2B5EF4-FFF2-40B4-BE49-F238E27FC236}">
                <a16:creationId xmlns:a16="http://schemas.microsoft.com/office/drawing/2014/main" id="{2D89BDB7-B872-4EE5-8CAA-A414CD30FEBF}"/>
              </a:ext>
            </a:extLst>
          </p:cNvPr>
          <p:cNvSpPr>
            <a:spLocks xmlns:a="http://schemas.openxmlformats.org/drawingml/2006/main" noGrp="1"/>
          </p:cNvSpPr>
          <p:nvPr/>
        </p:nvSpPr>
        <p:spPr>
          <a:xfrm xmlns:a="http://schemas.openxmlformats.org/drawingml/2006/main" rot="0">
            <a:off x="11491913" y="2667000"/>
            <a:ext cx="28575" cy="647700"/>
          </a:xfrm>
          <a:prstGeom xmlns:a="http://schemas.openxmlformats.org/drawingml/2006/main" prst="rect">
            <a:avLst/>
          </a:prstGeom>
          <a:solidFill xmlns:a="http://schemas.openxmlformats.org/drawingml/2006/main">
            <a:srgbClr val="173F2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5B0B5AE-D5A3-4564-ADAF-0CC66569CD36}"/>
              </a:ext>
            </a:extLst>
          </p:cNvPr>
          <p:cNvSpPr>
            <a:spLocks xmlns:a="http://schemas.openxmlformats.org/drawingml/2006/main" noGrp="1"/>
          </p:cNvSpPr>
          <p:nvPr/>
        </p:nvSpPr>
        <p:spPr>
          <a:xfrm xmlns:a="http://schemas.openxmlformats.org/drawingml/2006/main" rot="10800000">
            <a:off x="11449050" y="3295650"/>
            <a:ext cx="114300" cy="114300"/>
          </a:xfrm>
          <a:prstGeom xmlns:a="http://schemas.openxmlformats.org/drawingml/2006/main" prst="triangle">
            <a:avLst/>
          </a:prstGeom>
          <a:solidFill xmlns:a="http://schemas.openxmlformats.org/drawingml/2006/main">
            <a:srgbClr val="173F2F"/>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31B08890-A21C-4190-9CF9-F93A012A7CEF}"/>
              </a:ext>
            </a:extLst>
          </p:cNvPr>
          <p:cNvPicPr>
            <a:picLocks xmlns:a="http://schemas.openxmlformats.org/drawingml/2006/main" noChangeAspect="1"/>
          </p:cNvPicPr>
          <p:nvPr/>
        </p:nvPicPr>
        <p:blipFill>
          <a:blip xmlns:r="http://schemas.openxmlformats.org/officeDocument/2006/relationships" xmlns:a="http://schemas.openxmlformats.org/drawingml/2006/main" r:embed="Rdb0d3d60425c46f2"/>
          <a:stretch xmlns:a="http://schemas.openxmlformats.org/drawingml/2006/main"/>
        </p:blipFill>
        <p:spPr>
          <a:xfrm xmlns:a="http://schemas.openxmlformats.org/drawingml/2006/main">
            <a:off x="2933700" y="3186532"/>
            <a:ext cx="609600" cy="446837"/>
          </a:xfrm>
          <a:prstGeom xmlns:a="http://schemas.openxmlformats.org/drawingml/2006/main" prst="rect">
            <a:avLst/>
          </a:prstGeom>
        </p:spPr>
      </p:pic>
      <p:sp>
        <p:nvSpPr>
          <p:cNvPr id="19" name="TPCA INS&#10;10.ª ed., 2017">
            <a:extLst xmlns:a="http://schemas.openxmlformats.org/drawingml/2006/main">
              <a:ext uri="{FF2B5EF4-FFF2-40B4-BE49-F238E27FC236}">
                <a16:creationId xmlns:a16="http://schemas.microsoft.com/office/drawing/2014/main" id="{C9F98BD7-9A7C-4960-A7B0-6FC1EFBA2ED1}"/>
              </a:ext>
            </a:extLst>
          </p:cNvPr>
          <p:cNvSpPr>
            <a:spLocks xmlns:a="http://schemas.openxmlformats.org/drawingml/2006/main" noGrp="1"/>
          </p:cNvSpPr>
          <p:nvPr/>
        </p:nvSpPr>
        <p:spPr>
          <a:xfrm xmlns:a="http://schemas.openxmlformats.org/drawingml/2006/main">
            <a:off x="3676650" y="312420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TPCA INS</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10.ª ed., 2017</a:t>
            </a:r>
          </a:p>
        </p:txBody>
      </p:sp>
      <p:sp>
        <p:nvSpPr>
          <p:cNvPr id="20" name="">
            <a:extLst xmlns:a="http://schemas.openxmlformats.org/drawingml/2006/main">
              <a:ext uri="{FF2B5EF4-FFF2-40B4-BE49-F238E27FC236}">
                <a16:creationId xmlns:a16="http://schemas.microsoft.com/office/drawing/2014/main" id="{5FB6B8B2-9D1C-4ADC-B7C2-4194253C3B73}"/>
              </a:ext>
            </a:extLst>
          </p:cNvPr>
          <p:cNvSpPr>
            <a:spLocks xmlns:a="http://schemas.openxmlformats.org/drawingml/2006/main" noGrp="1"/>
          </p:cNvSpPr>
          <p:nvPr/>
        </p:nvSpPr>
        <p:spPr>
          <a:xfrm xmlns:a="http://schemas.openxmlformats.org/drawingml/2006/main" rot="0">
            <a:off x="5624513" y="3409950"/>
            <a:ext cx="28575" cy="647700"/>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C64826C-7B39-4E43-AEFB-5D95CB04F3B9}"/>
              </a:ext>
            </a:extLst>
          </p:cNvPr>
          <p:cNvSpPr>
            <a:spLocks xmlns:a="http://schemas.openxmlformats.org/drawingml/2006/main" noGrp="1"/>
          </p:cNvSpPr>
          <p:nvPr/>
        </p:nvSpPr>
        <p:spPr>
          <a:xfrm xmlns:a="http://schemas.openxmlformats.org/drawingml/2006/main" rot="10800000">
            <a:off x="5581650" y="4038600"/>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pic>
        <p:nvPicPr>
          <p:cNvPr id="22" name="">
            <a:extLst xmlns:a="http://schemas.openxmlformats.org/drawingml/2006/main">
              <a:ext uri="{FF2B5EF4-FFF2-40B4-BE49-F238E27FC236}">
                <a16:creationId xmlns:a16="http://schemas.microsoft.com/office/drawing/2014/main" id="{934050DE-0728-47DD-8FC1-D09CEE95D941}"/>
              </a:ext>
            </a:extLst>
          </p:cNvPr>
          <p:cNvPicPr>
            <a:picLocks xmlns:a="http://schemas.openxmlformats.org/drawingml/2006/main" noChangeAspect="1"/>
          </p:cNvPicPr>
          <p:nvPr/>
        </p:nvPicPr>
        <p:blipFill>
          <a:blip xmlns:r="http://schemas.openxmlformats.org/officeDocument/2006/relationships" xmlns:a="http://schemas.openxmlformats.org/drawingml/2006/main" r:embed="Rf6b1e8dda1cd4343"/>
          <a:stretch xmlns:a="http://schemas.openxmlformats.org/drawingml/2006/main"/>
        </p:blipFill>
        <p:spPr>
          <a:xfrm xmlns:a="http://schemas.openxmlformats.org/drawingml/2006/main">
            <a:off x="5867400" y="3186532"/>
            <a:ext cx="609600" cy="446837"/>
          </a:xfrm>
          <a:prstGeom xmlns:a="http://schemas.openxmlformats.org/drawingml/2006/main" prst="rect">
            <a:avLst/>
          </a:prstGeom>
        </p:spPr>
      </p:pic>
      <p:sp>
        <p:nvSpPr>
          <p:cNvPr id="23" name="TPCA INS&#10;10.ª ed., 2017">
            <a:extLst xmlns:a="http://schemas.openxmlformats.org/drawingml/2006/main">
              <a:ext uri="{FF2B5EF4-FFF2-40B4-BE49-F238E27FC236}">
                <a16:creationId xmlns:a16="http://schemas.microsoft.com/office/drawing/2014/main" id="{66602AE2-089B-4F06-9F79-AE24E7E75F09}"/>
              </a:ext>
            </a:extLst>
          </p:cNvPr>
          <p:cNvSpPr>
            <a:spLocks xmlns:a="http://schemas.openxmlformats.org/drawingml/2006/main" noGrp="1"/>
          </p:cNvSpPr>
          <p:nvPr/>
        </p:nvSpPr>
        <p:spPr>
          <a:xfrm xmlns:a="http://schemas.openxmlformats.org/drawingml/2006/main">
            <a:off x="6610350" y="312420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TPCA INS</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10.ª ed., 2017</a:t>
            </a:r>
          </a:p>
        </p:txBody>
      </p:sp>
      <p:sp>
        <p:nvSpPr>
          <p:cNvPr id="24" name="">
            <a:extLst xmlns:a="http://schemas.openxmlformats.org/drawingml/2006/main">
              <a:ext uri="{FF2B5EF4-FFF2-40B4-BE49-F238E27FC236}">
                <a16:creationId xmlns:a16="http://schemas.microsoft.com/office/drawing/2014/main" id="{0B2E0279-F524-4CE7-8060-DBD9374F4C8D}"/>
              </a:ext>
            </a:extLst>
          </p:cNvPr>
          <p:cNvSpPr>
            <a:spLocks xmlns:a="http://schemas.openxmlformats.org/drawingml/2006/main" noGrp="1"/>
          </p:cNvSpPr>
          <p:nvPr/>
        </p:nvSpPr>
        <p:spPr>
          <a:xfrm xmlns:a="http://schemas.openxmlformats.org/drawingml/2006/main" rot="0">
            <a:off x="8558213" y="3409950"/>
            <a:ext cx="28575" cy="647700"/>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C19C613-4B7D-498D-AFA7-F2095E7565D8}"/>
              </a:ext>
            </a:extLst>
          </p:cNvPr>
          <p:cNvSpPr>
            <a:spLocks xmlns:a="http://schemas.openxmlformats.org/drawingml/2006/main" noGrp="1"/>
          </p:cNvSpPr>
          <p:nvPr/>
        </p:nvSpPr>
        <p:spPr>
          <a:xfrm xmlns:a="http://schemas.openxmlformats.org/drawingml/2006/main" rot="10800000">
            <a:off x="8515350" y="4038600"/>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pic>
        <p:nvPicPr>
          <p:cNvPr id="26" name="">
            <a:extLst xmlns:a="http://schemas.openxmlformats.org/drawingml/2006/main">
              <a:ext uri="{FF2B5EF4-FFF2-40B4-BE49-F238E27FC236}">
                <a16:creationId xmlns:a16="http://schemas.microsoft.com/office/drawing/2014/main" id="{0C4DD05D-CE1B-4B7E-9DB9-DF3B16475A14}"/>
              </a:ext>
            </a:extLst>
          </p:cNvPr>
          <p:cNvPicPr>
            <a:picLocks xmlns:a="http://schemas.openxmlformats.org/drawingml/2006/main" noChangeAspect="1"/>
          </p:cNvPicPr>
          <p:nvPr/>
        </p:nvPicPr>
        <p:blipFill>
          <a:blip xmlns:r="http://schemas.openxmlformats.org/officeDocument/2006/relationships" xmlns:a="http://schemas.openxmlformats.org/drawingml/2006/main" r:embed="R36d3ca920d8a41cf"/>
          <a:stretch xmlns:a="http://schemas.openxmlformats.org/drawingml/2006/main"/>
        </p:blipFill>
        <p:spPr>
          <a:xfrm xmlns:a="http://schemas.openxmlformats.org/drawingml/2006/main">
            <a:off x="8801100" y="3186532"/>
            <a:ext cx="609600" cy="446837"/>
          </a:xfrm>
          <a:prstGeom xmlns:a="http://schemas.openxmlformats.org/drawingml/2006/main" prst="rect">
            <a:avLst/>
          </a:prstGeom>
        </p:spPr>
      </p:pic>
      <p:sp>
        <p:nvSpPr>
          <p:cNvPr id="27" name="TPCA INS&#10;10.ª ed., 2017">
            <a:extLst xmlns:a="http://schemas.openxmlformats.org/drawingml/2006/main">
              <a:ext uri="{FF2B5EF4-FFF2-40B4-BE49-F238E27FC236}">
                <a16:creationId xmlns:a16="http://schemas.microsoft.com/office/drawing/2014/main" id="{C34E8F0B-1989-428F-B381-4229E8B9A268}"/>
              </a:ext>
            </a:extLst>
          </p:cNvPr>
          <p:cNvSpPr>
            <a:spLocks xmlns:a="http://schemas.openxmlformats.org/drawingml/2006/main" noGrp="1"/>
          </p:cNvSpPr>
          <p:nvPr/>
        </p:nvSpPr>
        <p:spPr>
          <a:xfrm xmlns:a="http://schemas.openxmlformats.org/drawingml/2006/main">
            <a:off x="9544050" y="312420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TPCA INS</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10.ª ed., 2017</a:t>
            </a:r>
          </a:p>
        </p:txBody>
      </p:sp>
      <p:sp>
        <p:nvSpPr>
          <p:cNvPr id="28" name="">
            <a:extLst xmlns:a="http://schemas.openxmlformats.org/drawingml/2006/main">
              <a:ext uri="{FF2B5EF4-FFF2-40B4-BE49-F238E27FC236}">
                <a16:creationId xmlns:a16="http://schemas.microsoft.com/office/drawing/2014/main" id="{9C560D1C-541F-41B8-A972-9DE68ABC9975}"/>
              </a:ext>
            </a:extLst>
          </p:cNvPr>
          <p:cNvSpPr>
            <a:spLocks xmlns:a="http://schemas.openxmlformats.org/drawingml/2006/main" noGrp="1"/>
          </p:cNvSpPr>
          <p:nvPr/>
        </p:nvSpPr>
        <p:spPr>
          <a:xfrm xmlns:a="http://schemas.openxmlformats.org/drawingml/2006/main" rot="0">
            <a:off x="11491913" y="3409950"/>
            <a:ext cx="28575" cy="647700"/>
          </a:xfrm>
          <a:prstGeom xmlns:a="http://schemas.openxmlformats.org/drawingml/2006/main" prst="rect">
            <a:avLst/>
          </a:prstGeom>
          <a:solidFill xmlns:a="http://schemas.openxmlformats.org/drawingml/2006/main">
            <a:srgbClr val="173F2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6F599ADB-7F13-40EE-ADEC-3003985F86D9}"/>
              </a:ext>
            </a:extLst>
          </p:cNvPr>
          <p:cNvSpPr>
            <a:spLocks xmlns:a="http://schemas.openxmlformats.org/drawingml/2006/main" noGrp="1"/>
          </p:cNvSpPr>
          <p:nvPr/>
        </p:nvSpPr>
        <p:spPr>
          <a:xfrm xmlns:a="http://schemas.openxmlformats.org/drawingml/2006/main" rot="10800000">
            <a:off x="11449050" y="4038600"/>
            <a:ext cx="114300" cy="114300"/>
          </a:xfrm>
          <a:prstGeom xmlns:a="http://schemas.openxmlformats.org/drawingml/2006/main" prst="triangle">
            <a:avLst/>
          </a:prstGeom>
          <a:solidFill xmlns:a="http://schemas.openxmlformats.org/drawingml/2006/main">
            <a:srgbClr val="173F2F"/>
          </a:solidFill>
          <a:ln xmlns:a="http://schemas.openxmlformats.org/drawingml/2006/main" w="0">
            <a:noFill/>
          </a:ln>
        </p:spPr>
      </p:sp>
      <p:pic>
        <p:nvPicPr>
          <p:cNvPr id="30" name="">
            <a:extLst xmlns:a="http://schemas.openxmlformats.org/drawingml/2006/main">
              <a:ext uri="{FF2B5EF4-FFF2-40B4-BE49-F238E27FC236}">
                <a16:creationId xmlns:a16="http://schemas.microsoft.com/office/drawing/2014/main" id="{B2EEF15F-C9F1-4520-A57A-CA9D6EE50BCE}"/>
              </a:ext>
            </a:extLst>
          </p:cNvPr>
          <p:cNvPicPr>
            <a:picLocks xmlns:a="http://schemas.openxmlformats.org/drawingml/2006/main" noChangeAspect="1"/>
          </p:cNvPicPr>
          <p:nvPr/>
        </p:nvPicPr>
        <p:blipFill>
          <a:blip xmlns:r="http://schemas.openxmlformats.org/officeDocument/2006/relationships" xmlns:a="http://schemas.openxmlformats.org/drawingml/2006/main" r:embed="R769b6edcf7bb4328"/>
          <a:stretch xmlns:a="http://schemas.openxmlformats.org/drawingml/2006/main"/>
        </p:blipFill>
        <p:spPr>
          <a:xfrm xmlns:a="http://schemas.openxmlformats.org/drawingml/2006/main">
            <a:off x="3019098" y="3838575"/>
            <a:ext cx="438805" cy="628650"/>
          </a:xfrm>
          <a:prstGeom xmlns:a="http://schemas.openxmlformats.org/drawingml/2006/main" prst="rect">
            <a:avLst/>
          </a:prstGeom>
        </p:spPr>
      </p:pic>
      <p:sp>
        <p:nvSpPr>
          <p:cNvPr id="31" name="m × n / 100&#10;por alimento">
            <a:extLst xmlns:a="http://schemas.openxmlformats.org/drawingml/2006/main">
              <a:ext uri="{FF2B5EF4-FFF2-40B4-BE49-F238E27FC236}">
                <a16:creationId xmlns:a16="http://schemas.microsoft.com/office/drawing/2014/main" id="{FBA0A34D-959D-41EA-889D-A2B94B5ABA70}"/>
              </a:ext>
            </a:extLst>
          </p:cNvPr>
          <p:cNvSpPr>
            <a:spLocks xmlns:a="http://schemas.openxmlformats.org/drawingml/2006/main" noGrp="1"/>
          </p:cNvSpPr>
          <p:nvPr/>
        </p:nvSpPr>
        <p:spPr>
          <a:xfrm xmlns:a="http://schemas.openxmlformats.org/drawingml/2006/main">
            <a:off x="3676650" y="386715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m × n / 100</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por alimento</a:t>
            </a:r>
          </a:p>
        </p:txBody>
      </p:sp>
      <p:sp>
        <p:nvSpPr>
          <p:cNvPr id="32" name="">
            <a:extLst xmlns:a="http://schemas.openxmlformats.org/drawingml/2006/main">
              <a:ext uri="{FF2B5EF4-FFF2-40B4-BE49-F238E27FC236}">
                <a16:creationId xmlns:a16="http://schemas.microsoft.com/office/drawing/2014/main" id="{2DE1A29F-C02F-4CD9-A79F-557780A49E3D}"/>
              </a:ext>
            </a:extLst>
          </p:cNvPr>
          <p:cNvSpPr>
            <a:spLocks xmlns:a="http://schemas.openxmlformats.org/drawingml/2006/main" noGrp="1"/>
          </p:cNvSpPr>
          <p:nvPr/>
        </p:nvSpPr>
        <p:spPr>
          <a:xfrm xmlns:a="http://schemas.openxmlformats.org/drawingml/2006/main" rot="0">
            <a:off x="5624513" y="4152900"/>
            <a:ext cx="28575" cy="647700"/>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929F45D3-47DC-48FA-9D56-3102AB8B8D08}"/>
              </a:ext>
            </a:extLst>
          </p:cNvPr>
          <p:cNvSpPr>
            <a:spLocks xmlns:a="http://schemas.openxmlformats.org/drawingml/2006/main" noGrp="1"/>
          </p:cNvSpPr>
          <p:nvPr/>
        </p:nvSpPr>
        <p:spPr>
          <a:xfrm xmlns:a="http://schemas.openxmlformats.org/drawingml/2006/main" rot="10800000">
            <a:off x="5581650" y="4781550"/>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pic>
        <p:nvPicPr>
          <p:cNvPr id="34" name="">
            <a:extLst xmlns:a="http://schemas.openxmlformats.org/drawingml/2006/main">
              <a:ext uri="{FF2B5EF4-FFF2-40B4-BE49-F238E27FC236}">
                <a16:creationId xmlns:a16="http://schemas.microsoft.com/office/drawing/2014/main" id="{FDD5653F-D34B-4385-BFDD-BDDEB027D272}"/>
              </a:ext>
            </a:extLst>
          </p:cNvPr>
          <p:cNvPicPr>
            <a:picLocks xmlns:a="http://schemas.openxmlformats.org/drawingml/2006/main" noChangeAspect="1"/>
          </p:cNvPicPr>
          <p:nvPr/>
        </p:nvPicPr>
        <p:blipFill>
          <a:blip xmlns:r="http://schemas.openxmlformats.org/officeDocument/2006/relationships" xmlns:a="http://schemas.openxmlformats.org/drawingml/2006/main" r:embed="R7b18d7d786f9413d"/>
          <a:stretch xmlns:a="http://schemas.openxmlformats.org/drawingml/2006/main"/>
        </p:blipFill>
        <p:spPr>
          <a:xfrm xmlns:a="http://schemas.openxmlformats.org/drawingml/2006/main">
            <a:off x="5952798" y="3838575"/>
            <a:ext cx="438805" cy="628650"/>
          </a:xfrm>
          <a:prstGeom xmlns:a="http://schemas.openxmlformats.org/drawingml/2006/main" prst="rect">
            <a:avLst/>
          </a:prstGeom>
        </p:spPr>
      </p:pic>
      <p:sp>
        <p:nvSpPr>
          <p:cNvPr id="35" name="m × n / 100&#10;por alimento">
            <a:extLst xmlns:a="http://schemas.openxmlformats.org/drawingml/2006/main">
              <a:ext uri="{FF2B5EF4-FFF2-40B4-BE49-F238E27FC236}">
                <a16:creationId xmlns:a16="http://schemas.microsoft.com/office/drawing/2014/main" id="{35452E27-D3A2-4FA5-A5C0-9722E8ECEE4E}"/>
              </a:ext>
            </a:extLst>
          </p:cNvPr>
          <p:cNvSpPr>
            <a:spLocks xmlns:a="http://schemas.openxmlformats.org/drawingml/2006/main" noGrp="1"/>
          </p:cNvSpPr>
          <p:nvPr/>
        </p:nvSpPr>
        <p:spPr>
          <a:xfrm xmlns:a="http://schemas.openxmlformats.org/drawingml/2006/main">
            <a:off x="6610350" y="386715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m × n / 100</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por alimento</a:t>
            </a:r>
          </a:p>
        </p:txBody>
      </p:sp>
      <p:sp>
        <p:nvSpPr>
          <p:cNvPr id="36" name="">
            <a:extLst xmlns:a="http://schemas.openxmlformats.org/drawingml/2006/main">
              <a:ext uri="{FF2B5EF4-FFF2-40B4-BE49-F238E27FC236}">
                <a16:creationId xmlns:a16="http://schemas.microsoft.com/office/drawing/2014/main" id="{D2D4FD04-A47A-408A-A1D6-4FB99A62D553}"/>
              </a:ext>
            </a:extLst>
          </p:cNvPr>
          <p:cNvSpPr>
            <a:spLocks xmlns:a="http://schemas.openxmlformats.org/drawingml/2006/main" noGrp="1"/>
          </p:cNvSpPr>
          <p:nvPr/>
        </p:nvSpPr>
        <p:spPr>
          <a:xfrm xmlns:a="http://schemas.openxmlformats.org/drawingml/2006/main" rot="0">
            <a:off x="8558213" y="4152900"/>
            <a:ext cx="28575" cy="647700"/>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52F13CB9-29DF-4B5A-A3F4-0EFD734D0CA5}"/>
              </a:ext>
            </a:extLst>
          </p:cNvPr>
          <p:cNvSpPr>
            <a:spLocks xmlns:a="http://schemas.openxmlformats.org/drawingml/2006/main" noGrp="1"/>
          </p:cNvSpPr>
          <p:nvPr/>
        </p:nvSpPr>
        <p:spPr>
          <a:xfrm xmlns:a="http://schemas.openxmlformats.org/drawingml/2006/main" rot="10800000">
            <a:off x="8515350" y="4781550"/>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pic>
        <p:nvPicPr>
          <p:cNvPr id="38" name="">
            <a:extLst xmlns:a="http://schemas.openxmlformats.org/drawingml/2006/main">
              <a:ext uri="{FF2B5EF4-FFF2-40B4-BE49-F238E27FC236}">
                <a16:creationId xmlns:a16="http://schemas.microsoft.com/office/drawing/2014/main" id="{80893002-6046-4F2F-90FE-8B3C265D9AAF}"/>
              </a:ext>
            </a:extLst>
          </p:cNvPr>
          <p:cNvPicPr>
            <a:picLocks xmlns:a="http://schemas.openxmlformats.org/drawingml/2006/main" noChangeAspect="1"/>
          </p:cNvPicPr>
          <p:nvPr/>
        </p:nvPicPr>
        <p:blipFill>
          <a:blip xmlns:r="http://schemas.openxmlformats.org/officeDocument/2006/relationships" xmlns:a="http://schemas.openxmlformats.org/drawingml/2006/main" r:embed="R142c9137aa2946f8"/>
          <a:stretch xmlns:a="http://schemas.openxmlformats.org/drawingml/2006/main"/>
        </p:blipFill>
        <p:spPr>
          <a:xfrm xmlns:a="http://schemas.openxmlformats.org/drawingml/2006/main">
            <a:off x="8886498" y="3838575"/>
            <a:ext cx="438805" cy="628650"/>
          </a:xfrm>
          <a:prstGeom xmlns:a="http://schemas.openxmlformats.org/drawingml/2006/main" prst="rect">
            <a:avLst/>
          </a:prstGeom>
        </p:spPr>
      </p:pic>
      <p:sp>
        <p:nvSpPr>
          <p:cNvPr id="39" name="m × n / 100&#10;por alimento">
            <a:extLst xmlns:a="http://schemas.openxmlformats.org/drawingml/2006/main">
              <a:ext uri="{FF2B5EF4-FFF2-40B4-BE49-F238E27FC236}">
                <a16:creationId xmlns:a16="http://schemas.microsoft.com/office/drawing/2014/main" id="{C3E54D55-0FFD-4B0C-BF7C-63C902B78673}"/>
              </a:ext>
            </a:extLst>
          </p:cNvPr>
          <p:cNvSpPr>
            <a:spLocks xmlns:a="http://schemas.openxmlformats.org/drawingml/2006/main" noGrp="1"/>
          </p:cNvSpPr>
          <p:nvPr/>
        </p:nvSpPr>
        <p:spPr>
          <a:xfrm xmlns:a="http://schemas.openxmlformats.org/drawingml/2006/main">
            <a:off x="9544050" y="386715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m × n / 100</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por alimento</a:t>
            </a:r>
          </a:p>
        </p:txBody>
      </p:sp>
      <p:sp>
        <p:nvSpPr>
          <p:cNvPr id="40" name="">
            <a:extLst xmlns:a="http://schemas.openxmlformats.org/drawingml/2006/main">
              <a:ext uri="{FF2B5EF4-FFF2-40B4-BE49-F238E27FC236}">
                <a16:creationId xmlns:a16="http://schemas.microsoft.com/office/drawing/2014/main" id="{17115388-BA1B-4218-9389-D64B68546BC2}"/>
              </a:ext>
            </a:extLst>
          </p:cNvPr>
          <p:cNvSpPr>
            <a:spLocks xmlns:a="http://schemas.openxmlformats.org/drawingml/2006/main" noGrp="1"/>
          </p:cNvSpPr>
          <p:nvPr/>
        </p:nvSpPr>
        <p:spPr>
          <a:xfrm xmlns:a="http://schemas.openxmlformats.org/drawingml/2006/main" rot="0">
            <a:off x="11491913" y="4152900"/>
            <a:ext cx="28575" cy="647700"/>
          </a:xfrm>
          <a:prstGeom xmlns:a="http://schemas.openxmlformats.org/drawingml/2006/main" prst="rect">
            <a:avLst/>
          </a:prstGeom>
          <a:solidFill xmlns:a="http://schemas.openxmlformats.org/drawingml/2006/main">
            <a:srgbClr val="173F2F"/>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92339B36-0ED0-418F-A931-0AA428A498B6}"/>
              </a:ext>
            </a:extLst>
          </p:cNvPr>
          <p:cNvSpPr>
            <a:spLocks xmlns:a="http://schemas.openxmlformats.org/drawingml/2006/main" noGrp="1"/>
          </p:cNvSpPr>
          <p:nvPr/>
        </p:nvSpPr>
        <p:spPr>
          <a:xfrm xmlns:a="http://schemas.openxmlformats.org/drawingml/2006/main" rot="10800000">
            <a:off x="11449050" y="4781550"/>
            <a:ext cx="114300" cy="114300"/>
          </a:xfrm>
          <a:prstGeom xmlns:a="http://schemas.openxmlformats.org/drawingml/2006/main" prst="triangle">
            <a:avLst/>
          </a:prstGeom>
          <a:solidFill xmlns:a="http://schemas.openxmlformats.org/drawingml/2006/main">
            <a:srgbClr val="173F2F"/>
          </a:solidFill>
          <a:ln xmlns:a="http://schemas.openxmlformats.org/drawingml/2006/main" w="0">
            <a:noFill/>
          </a:ln>
        </p:spPr>
      </p:sp>
      <p:pic>
        <p:nvPicPr>
          <p:cNvPr id="42" name="">
            <a:extLst xmlns:a="http://schemas.openxmlformats.org/drawingml/2006/main">
              <a:ext uri="{FF2B5EF4-FFF2-40B4-BE49-F238E27FC236}">
                <a16:creationId xmlns:a16="http://schemas.microsoft.com/office/drawing/2014/main" id="{FCB09358-97D6-476A-988C-F9EB17C96BBB}"/>
              </a:ext>
            </a:extLst>
          </p:cNvPr>
          <p:cNvPicPr>
            <a:picLocks xmlns:a="http://schemas.openxmlformats.org/drawingml/2006/main" noChangeAspect="1"/>
          </p:cNvPicPr>
          <p:nvPr/>
        </p:nvPicPr>
        <p:blipFill>
          <a:blip xmlns:r="http://schemas.openxmlformats.org/officeDocument/2006/relationships" xmlns:a="http://schemas.openxmlformats.org/drawingml/2006/main" r:embed="R3dfe53ebafb44485"/>
          <a:stretch xmlns:a="http://schemas.openxmlformats.org/drawingml/2006/main"/>
        </p:blipFill>
        <p:spPr>
          <a:xfrm xmlns:a="http://schemas.openxmlformats.org/drawingml/2006/main">
            <a:off x="3019098" y="4581525"/>
            <a:ext cx="438805" cy="628650"/>
          </a:xfrm>
          <a:prstGeom xmlns:a="http://schemas.openxmlformats.org/drawingml/2006/main" prst="rect">
            <a:avLst/>
          </a:prstGeom>
        </p:spPr>
      </p:pic>
      <p:sp>
        <p:nvSpPr>
          <p:cNvPr id="43" name="Pantalla&#10;del celular">
            <a:extLst xmlns:a="http://schemas.openxmlformats.org/drawingml/2006/main">
              <a:ext uri="{FF2B5EF4-FFF2-40B4-BE49-F238E27FC236}">
                <a16:creationId xmlns:a16="http://schemas.microsoft.com/office/drawing/2014/main" id="{3B92A1AD-0998-410F-80DF-71D11E04E797}"/>
              </a:ext>
            </a:extLst>
          </p:cNvPr>
          <p:cNvSpPr>
            <a:spLocks xmlns:a="http://schemas.openxmlformats.org/drawingml/2006/main" noGrp="1"/>
          </p:cNvSpPr>
          <p:nvPr/>
        </p:nvSpPr>
        <p:spPr>
          <a:xfrm xmlns:a="http://schemas.openxmlformats.org/drawingml/2006/main">
            <a:off x="3676650" y="461010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Pantalla</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del celular</a:t>
            </a:r>
          </a:p>
        </p:txBody>
      </p:sp>
      <p:sp>
        <p:nvSpPr>
          <p:cNvPr id="44" name="">
            <a:extLst xmlns:a="http://schemas.openxmlformats.org/drawingml/2006/main">
              <a:ext uri="{FF2B5EF4-FFF2-40B4-BE49-F238E27FC236}">
                <a16:creationId xmlns:a16="http://schemas.microsoft.com/office/drawing/2014/main" id="{7D92D7E9-10DC-4215-95F5-443AFD713D62}"/>
              </a:ext>
            </a:extLst>
          </p:cNvPr>
          <p:cNvSpPr>
            <a:spLocks xmlns:a="http://schemas.openxmlformats.org/drawingml/2006/main" noGrp="1"/>
          </p:cNvSpPr>
          <p:nvPr/>
        </p:nvSpPr>
        <p:spPr>
          <a:xfrm xmlns:a="http://schemas.openxmlformats.org/drawingml/2006/main" rot="0">
            <a:off x="5624513" y="4895850"/>
            <a:ext cx="28575" cy="647700"/>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5D09C5BA-3AC6-4C72-91A4-0558CAA96DE8}"/>
              </a:ext>
            </a:extLst>
          </p:cNvPr>
          <p:cNvSpPr>
            <a:spLocks xmlns:a="http://schemas.openxmlformats.org/drawingml/2006/main" noGrp="1"/>
          </p:cNvSpPr>
          <p:nvPr/>
        </p:nvSpPr>
        <p:spPr>
          <a:xfrm xmlns:a="http://schemas.openxmlformats.org/drawingml/2006/main" rot="10800000">
            <a:off x="5581650" y="5524500"/>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pic>
        <p:nvPicPr>
          <p:cNvPr id="46" name="">
            <a:extLst xmlns:a="http://schemas.openxmlformats.org/drawingml/2006/main">
              <a:ext uri="{FF2B5EF4-FFF2-40B4-BE49-F238E27FC236}">
                <a16:creationId xmlns:a16="http://schemas.microsoft.com/office/drawing/2014/main" id="{021E5112-3B4D-4967-A4C0-2513BEEA74BE}"/>
              </a:ext>
            </a:extLst>
          </p:cNvPr>
          <p:cNvPicPr>
            <a:picLocks xmlns:a="http://schemas.openxmlformats.org/drawingml/2006/main" noChangeAspect="1"/>
          </p:cNvPicPr>
          <p:nvPr/>
        </p:nvPicPr>
        <p:blipFill>
          <a:blip xmlns:r="http://schemas.openxmlformats.org/officeDocument/2006/relationships" xmlns:a="http://schemas.openxmlformats.org/drawingml/2006/main" r:embed="R1fdff400b7df4677"/>
          <a:stretch xmlns:a="http://schemas.openxmlformats.org/drawingml/2006/main"/>
        </p:blipFill>
        <p:spPr>
          <a:xfrm xmlns:a="http://schemas.openxmlformats.org/drawingml/2006/main">
            <a:off x="5952798" y="4581525"/>
            <a:ext cx="438805" cy="628650"/>
          </a:xfrm>
          <a:prstGeom xmlns:a="http://schemas.openxmlformats.org/drawingml/2006/main" prst="rect">
            <a:avLst/>
          </a:prstGeom>
        </p:spPr>
      </p:pic>
      <p:sp>
        <p:nvSpPr>
          <p:cNvPr id="47" name="Pantalla&#10;del celular">
            <a:extLst xmlns:a="http://schemas.openxmlformats.org/drawingml/2006/main">
              <a:ext uri="{FF2B5EF4-FFF2-40B4-BE49-F238E27FC236}">
                <a16:creationId xmlns:a16="http://schemas.microsoft.com/office/drawing/2014/main" id="{BF3918FF-DA0E-4E27-B77D-CB07A7326669}"/>
              </a:ext>
            </a:extLst>
          </p:cNvPr>
          <p:cNvSpPr>
            <a:spLocks xmlns:a="http://schemas.openxmlformats.org/drawingml/2006/main" noGrp="1"/>
          </p:cNvSpPr>
          <p:nvPr/>
        </p:nvSpPr>
        <p:spPr>
          <a:xfrm xmlns:a="http://schemas.openxmlformats.org/drawingml/2006/main">
            <a:off x="6610350" y="461010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Pantalla</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del celular</a:t>
            </a:r>
          </a:p>
        </p:txBody>
      </p:sp>
      <p:sp>
        <p:nvSpPr>
          <p:cNvPr id="48" name="">
            <a:extLst xmlns:a="http://schemas.openxmlformats.org/drawingml/2006/main">
              <a:ext uri="{FF2B5EF4-FFF2-40B4-BE49-F238E27FC236}">
                <a16:creationId xmlns:a16="http://schemas.microsoft.com/office/drawing/2014/main" id="{F9D89B73-A0BA-4663-B38A-BA5C2727FAB3}"/>
              </a:ext>
            </a:extLst>
          </p:cNvPr>
          <p:cNvSpPr>
            <a:spLocks xmlns:a="http://schemas.openxmlformats.org/drawingml/2006/main" noGrp="1"/>
          </p:cNvSpPr>
          <p:nvPr/>
        </p:nvSpPr>
        <p:spPr>
          <a:xfrm xmlns:a="http://schemas.openxmlformats.org/drawingml/2006/main" rot="0">
            <a:off x="8558213" y="4895850"/>
            <a:ext cx="28575" cy="647700"/>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A67B4454-DB2C-42D7-9AAA-9898C40C5507}"/>
              </a:ext>
            </a:extLst>
          </p:cNvPr>
          <p:cNvSpPr>
            <a:spLocks xmlns:a="http://schemas.openxmlformats.org/drawingml/2006/main" noGrp="1"/>
          </p:cNvSpPr>
          <p:nvPr/>
        </p:nvSpPr>
        <p:spPr>
          <a:xfrm xmlns:a="http://schemas.openxmlformats.org/drawingml/2006/main" rot="10800000">
            <a:off x="8515350" y="5524500"/>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pic>
        <p:nvPicPr>
          <p:cNvPr id="50" name="">
            <a:extLst xmlns:a="http://schemas.openxmlformats.org/drawingml/2006/main">
              <a:ext uri="{FF2B5EF4-FFF2-40B4-BE49-F238E27FC236}">
                <a16:creationId xmlns:a16="http://schemas.microsoft.com/office/drawing/2014/main" id="{786D9F33-7727-4FAC-836D-C0CA72D33E53}"/>
              </a:ext>
            </a:extLst>
          </p:cNvPr>
          <p:cNvPicPr>
            <a:picLocks xmlns:a="http://schemas.openxmlformats.org/drawingml/2006/main" noChangeAspect="1"/>
          </p:cNvPicPr>
          <p:nvPr/>
        </p:nvPicPr>
        <p:blipFill>
          <a:blip xmlns:r="http://schemas.openxmlformats.org/officeDocument/2006/relationships" xmlns:a="http://schemas.openxmlformats.org/drawingml/2006/main" r:embed="Rd99dba4b8bc24161"/>
          <a:stretch xmlns:a="http://schemas.openxmlformats.org/drawingml/2006/main"/>
        </p:blipFill>
        <p:spPr>
          <a:xfrm xmlns:a="http://schemas.openxmlformats.org/drawingml/2006/main">
            <a:off x="8886498" y="4581525"/>
            <a:ext cx="438805" cy="628650"/>
          </a:xfrm>
          <a:prstGeom xmlns:a="http://schemas.openxmlformats.org/drawingml/2006/main" prst="rect">
            <a:avLst/>
          </a:prstGeom>
        </p:spPr>
      </p:pic>
      <p:sp>
        <p:nvSpPr>
          <p:cNvPr id="51" name="Pantalla&#10;del celular">
            <a:extLst xmlns:a="http://schemas.openxmlformats.org/drawingml/2006/main">
              <a:ext uri="{FF2B5EF4-FFF2-40B4-BE49-F238E27FC236}">
                <a16:creationId xmlns:a16="http://schemas.microsoft.com/office/drawing/2014/main" id="{5B37FF4D-F9D4-4877-B3CD-7C595A7B0C8A}"/>
              </a:ext>
            </a:extLst>
          </p:cNvPr>
          <p:cNvSpPr>
            <a:spLocks xmlns:a="http://schemas.openxmlformats.org/drawingml/2006/main" noGrp="1"/>
          </p:cNvSpPr>
          <p:nvPr/>
        </p:nvSpPr>
        <p:spPr>
          <a:xfrm xmlns:a="http://schemas.openxmlformats.org/drawingml/2006/main">
            <a:off x="9544050" y="461010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Pantalla</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del celular</a:t>
            </a:r>
          </a:p>
        </p:txBody>
      </p:sp>
      <p:sp>
        <p:nvSpPr>
          <p:cNvPr id="52" name="">
            <a:extLst xmlns:a="http://schemas.openxmlformats.org/drawingml/2006/main">
              <a:ext uri="{FF2B5EF4-FFF2-40B4-BE49-F238E27FC236}">
                <a16:creationId xmlns:a16="http://schemas.microsoft.com/office/drawing/2014/main" id="{3727246E-F3A3-4389-BD83-DDB4190D89FF}"/>
              </a:ext>
            </a:extLst>
          </p:cNvPr>
          <p:cNvSpPr>
            <a:spLocks xmlns:a="http://schemas.openxmlformats.org/drawingml/2006/main" noGrp="1"/>
          </p:cNvSpPr>
          <p:nvPr/>
        </p:nvSpPr>
        <p:spPr>
          <a:xfrm xmlns:a="http://schemas.openxmlformats.org/drawingml/2006/main" rot="0">
            <a:off x="11491913" y="4895850"/>
            <a:ext cx="28575" cy="647700"/>
          </a:xfrm>
          <a:prstGeom xmlns:a="http://schemas.openxmlformats.org/drawingml/2006/main" prst="rect">
            <a:avLst/>
          </a:prstGeom>
          <a:solidFill xmlns:a="http://schemas.openxmlformats.org/drawingml/2006/main">
            <a:srgbClr val="173F2F"/>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2E6FEB95-0146-44FA-94DB-3FE44BF01809}"/>
              </a:ext>
            </a:extLst>
          </p:cNvPr>
          <p:cNvSpPr>
            <a:spLocks xmlns:a="http://schemas.openxmlformats.org/drawingml/2006/main" noGrp="1"/>
          </p:cNvSpPr>
          <p:nvPr/>
        </p:nvSpPr>
        <p:spPr>
          <a:xfrm xmlns:a="http://schemas.openxmlformats.org/drawingml/2006/main" rot="10800000">
            <a:off x="11449050" y="5524500"/>
            <a:ext cx="114300" cy="114300"/>
          </a:xfrm>
          <a:prstGeom xmlns:a="http://schemas.openxmlformats.org/drawingml/2006/main" prst="triangle">
            <a:avLst/>
          </a:prstGeom>
          <a:solidFill xmlns:a="http://schemas.openxmlformats.org/drawingml/2006/main">
            <a:srgbClr val="173F2F"/>
          </a:solidFill>
          <a:ln xmlns:a="http://schemas.openxmlformats.org/drawingml/2006/main" w="0">
            <a:noFill/>
          </a:ln>
        </p:spPr>
      </p:sp>
      <p:pic>
        <p:nvPicPr>
          <p:cNvPr id="54" name="">
            <a:extLst xmlns:a="http://schemas.openxmlformats.org/drawingml/2006/main">
              <a:ext uri="{FF2B5EF4-FFF2-40B4-BE49-F238E27FC236}">
                <a16:creationId xmlns:a16="http://schemas.microsoft.com/office/drawing/2014/main" id="{0FCE643F-E6A9-42C9-BC74-319942683B0A}"/>
              </a:ext>
            </a:extLst>
          </p:cNvPr>
          <p:cNvPicPr>
            <a:picLocks xmlns:a="http://schemas.openxmlformats.org/drawingml/2006/main" noChangeAspect="1"/>
          </p:cNvPicPr>
          <p:nvPr/>
        </p:nvPicPr>
        <p:blipFill>
          <a:blip xmlns:r="http://schemas.openxmlformats.org/officeDocument/2006/relationships" xmlns:a="http://schemas.openxmlformats.org/drawingml/2006/main" r:embed="R0fb8bbea7f014a4f"/>
          <a:stretch xmlns:a="http://schemas.openxmlformats.org/drawingml/2006/main"/>
        </p:blipFill>
        <p:spPr>
          <a:xfrm xmlns:a="http://schemas.openxmlformats.org/drawingml/2006/main">
            <a:off x="3093479" y="5324475"/>
            <a:ext cx="290042" cy="628650"/>
          </a:xfrm>
          <a:prstGeom xmlns:a="http://schemas.openxmlformats.org/drawingml/2006/main" prst="rect">
            <a:avLst/>
          </a:prstGeom>
        </p:spPr>
      </p:pic>
      <p:sp>
        <p:nvSpPr>
          <p:cNvPr id="55" name="Historial local&#10;tras confirmar">
            <a:extLst xmlns:a="http://schemas.openxmlformats.org/drawingml/2006/main">
              <a:ext uri="{FF2B5EF4-FFF2-40B4-BE49-F238E27FC236}">
                <a16:creationId xmlns:a16="http://schemas.microsoft.com/office/drawing/2014/main" id="{6D98E6CB-C3FA-4512-A75C-43C986983F52}"/>
              </a:ext>
            </a:extLst>
          </p:cNvPr>
          <p:cNvSpPr>
            <a:spLocks xmlns:a="http://schemas.openxmlformats.org/drawingml/2006/main" noGrp="1"/>
          </p:cNvSpPr>
          <p:nvPr/>
        </p:nvSpPr>
        <p:spPr>
          <a:xfrm xmlns:a="http://schemas.openxmlformats.org/drawingml/2006/main">
            <a:off x="3676650" y="535305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Historial local</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tras confirmar</a:t>
            </a:r>
          </a:p>
        </p:txBody>
      </p:sp>
      <p:pic>
        <p:nvPicPr>
          <p:cNvPr id="56" name="">
            <a:extLst xmlns:a="http://schemas.openxmlformats.org/drawingml/2006/main">
              <a:ext uri="{FF2B5EF4-FFF2-40B4-BE49-F238E27FC236}">
                <a16:creationId xmlns:a16="http://schemas.microsoft.com/office/drawing/2014/main" id="{1A9B848F-6509-4905-891B-9D60D0DA8CC7}"/>
              </a:ext>
            </a:extLst>
          </p:cNvPr>
          <p:cNvPicPr>
            <a:picLocks xmlns:a="http://schemas.openxmlformats.org/drawingml/2006/main" noChangeAspect="1"/>
          </p:cNvPicPr>
          <p:nvPr/>
        </p:nvPicPr>
        <p:blipFill>
          <a:blip xmlns:r="http://schemas.openxmlformats.org/officeDocument/2006/relationships" xmlns:a="http://schemas.openxmlformats.org/drawingml/2006/main" r:embed="Rd168e6c624054613"/>
          <a:stretch xmlns:a="http://schemas.openxmlformats.org/drawingml/2006/main"/>
        </p:blipFill>
        <p:spPr>
          <a:xfrm xmlns:a="http://schemas.openxmlformats.org/drawingml/2006/main">
            <a:off x="6027179" y="5324475"/>
            <a:ext cx="290042" cy="628650"/>
          </a:xfrm>
          <a:prstGeom xmlns:a="http://schemas.openxmlformats.org/drawingml/2006/main" prst="rect">
            <a:avLst/>
          </a:prstGeom>
        </p:spPr>
      </p:pic>
      <p:sp>
        <p:nvSpPr>
          <p:cNvPr id="57" name="Historial local&#10;tras confirmar">
            <a:extLst xmlns:a="http://schemas.openxmlformats.org/drawingml/2006/main">
              <a:ext uri="{FF2B5EF4-FFF2-40B4-BE49-F238E27FC236}">
                <a16:creationId xmlns:a16="http://schemas.microsoft.com/office/drawing/2014/main" id="{A8251CC1-DDB3-4066-83E7-A535B89DEA3A}"/>
              </a:ext>
            </a:extLst>
          </p:cNvPr>
          <p:cNvSpPr>
            <a:spLocks xmlns:a="http://schemas.openxmlformats.org/drawingml/2006/main" noGrp="1"/>
          </p:cNvSpPr>
          <p:nvPr/>
        </p:nvSpPr>
        <p:spPr>
          <a:xfrm xmlns:a="http://schemas.openxmlformats.org/drawingml/2006/main">
            <a:off x="6610350" y="535305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Historial local</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tras confirmar</a:t>
            </a:r>
          </a:p>
        </p:txBody>
      </p:sp>
      <p:pic>
        <p:nvPicPr>
          <p:cNvPr id="58" name="">
            <a:extLst xmlns:a="http://schemas.openxmlformats.org/drawingml/2006/main">
              <a:ext uri="{FF2B5EF4-FFF2-40B4-BE49-F238E27FC236}">
                <a16:creationId xmlns:a16="http://schemas.microsoft.com/office/drawing/2014/main" id="{5914581E-A6B2-4208-AC0E-BFFB0BFD126F}"/>
              </a:ext>
            </a:extLst>
          </p:cNvPr>
          <p:cNvPicPr>
            <a:picLocks xmlns:a="http://schemas.openxmlformats.org/drawingml/2006/main" noChangeAspect="1"/>
          </p:cNvPicPr>
          <p:nvPr/>
        </p:nvPicPr>
        <p:blipFill>
          <a:blip xmlns:r="http://schemas.openxmlformats.org/officeDocument/2006/relationships" xmlns:a="http://schemas.openxmlformats.org/drawingml/2006/main" r:embed="R10d07a7ca8dd4241"/>
          <a:stretch xmlns:a="http://schemas.openxmlformats.org/drawingml/2006/main"/>
        </p:blipFill>
        <p:spPr>
          <a:xfrm xmlns:a="http://schemas.openxmlformats.org/drawingml/2006/main">
            <a:off x="8960879" y="5324475"/>
            <a:ext cx="290042" cy="628650"/>
          </a:xfrm>
          <a:prstGeom xmlns:a="http://schemas.openxmlformats.org/drawingml/2006/main" prst="rect">
            <a:avLst/>
          </a:prstGeom>
        </p:spPr>
      </p:pic>
      <p:sp>
        <p:nvSpPr>
          <p:cNvPr id="59" name="Historial local&#10;tras confirmar">
            <a:extLst xmlns:a="http://schemas.openxmlformats.org/drawingml/2006/main">
              <a:ext uri="{FF2B5EF4-FFF2-40B4-BE49-F238E27FC236}">
                <a16:creationId xmlns:a16="http://schemas.microsoft.com/office/drawing/2014/main" id="{D3D7FCA8-512C-424C-8415-B48A4B7DC752}"/>
              </a:ext>
            </a:extLst>
          </p:cNvPr>
          <p:cNvSpPr>
            <a:spLocks xmlns:a="http://schemas.openxmlformats.org/drawingml/2006/main" noGrp="1"/>
          </p:cNvSpPr>
          <p:nvPr/>
        </p:nvSpPr>
        <p:spPr>
          <a:xfrm xmlns:a="http://schemas.openxmlformats.org/drawingml/2006/main">
            <a:off x="9544050" y="535305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Historial local</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tras confirmar</a:t>
            </a:r>
          </a:p>
        </p:txBody>
      </p:sp>
      <p:sp>
        <p:nvSpPr>
          <p:cNvPr id="60" name="A: masa visual futura. B: ingreso manual. C: pesaj">
            <a:extLst xmlns:a="http://schemas.openxmlformats.org/drawingml/2006/main">
              <a:ext uri="{FF2B5EF4-FFF2-40B4-BE49-F238E27FC236}">
                <a16:creationId xmlns:a16="http://schemas.microsoft.com/office/drawing/2014/main" id="{E5CC85E5-1639-41B7-B98B-4D751B5BA276}"/>
              </a:ext>
            </a:extLst>
          </p:cNvPr>
          <p:cNvSpPr>
            <a:spLocks xmlns:a="http://schemas.openxmlformats.org/drawingml/2006/main" noGrp="1"/>
          </p:cNvSpPr>
          <p:nvPr/>
        </p:nvSpPr>
        <p:spPr>
          <a:xfrm xmlns:a="http://schemas.openxmlformats.org/drawingml/2006/main">
            <a:off x="571500" y="6124575"/>
            <a:ext cx="1104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AD6240"/>
                </a:solidFill>
                <a:latin typeface="Arial"/>
                <a:ea typeface="Arial"/>
                <a:cs typeface="Arial"/>
              </a:defRPr>
            </a:defPPr>
          </a:lstStyle>
          <a:p xmlns:a="http://schemas.openxmlformats.org/drawingml/2006/main">
            <a:pPr>
              <a:defRPr sz="1500" b="1">
                <a:solidFill>
                  <a:srgbClr val="AD6240"/>
                </a:solidFill>
                <a:latin typeface="Arial"/>
                <a:ea typeface="Arial"/>
                <a:cs typeface="Arial"/>
              </a:defRPr>
            </a:pPr>
            <a:r>
              <a:rPr sz="1500" b="1">
                <a:solidFill>
                  <a:srgbClr val="AD6240"/>
                </a:solidFill>
                <a:latin typeface="Arial"/>
                <a:ea typeface="Arial"/>
                <a:cs typeface="Arial"/>
              </a:rPr>
              <a:t>A: masa visual futura. B: ingreso manual. C: pesaje/captura y enlace físico propuestos.</a:t>
            </a:r>
          </a:p>
        </p:txBody>
      </p:sp>
    </p:spTree>
    <p:extLst>
      <p:ext uri="{BB962C8B-B14F-4D97-AF65-F5344CB8AC3E}">
        <p14:creationId xmlns:p14="http://schemas.microsoft.com/office/powerpoint/2010/main" val="1778967356"/>
      </p:ext>
    </p:extLst>
  </p:cSld>
</p:sld>
</file>

<file path=ppt/slides/slide16.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5" name="8. Boceto A: estimación visual">
            <a:extLst xmlns:a="http://schemas.openxmlformats.org/drawingml/2006/main">
              <a:ext uri="{FF2B5EF4-FFF2-40B4-BE49-F238E27FC236}">
                <a16:creationId xmlns:a16="http://schemas.microsoft.com/office/drawing/2014/main" id="{B37AC913-C8DD-4526-B484-9219C81C2BB0}"/>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8. Boceto A: estimación visual</a:t>
            </a:r>
          </a:p>
        </p:txBody>
      </p:sp>
      <p:sp>
        <p:nvSpPr>
          <p:cNvPr id="2" name="Alternativa conceptual: celular y fotografía, sin ">
            <a:extLst xmlns:a="http://schemas.openxmlformats.org/drawingml/2006/main">
              <a:ext uri="{FF2B5EF4-FFF2-40B4-BE49-F238E27FC236}">
                <a16:creationId xmlns:a16="http://schemas.microsoft.com/office/drawing/2014/main" id="{427F4DFF-AA4A-4F6B-857A-F0C4BB361E6B}"/>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Alternativa conceptual: celular y fotografía, sin pesaje directo.</a:t>
            </a:r>
          </a:p>
        </p:txBody>
      </p:sp>
      <p:sp>
        <p:nvSpPr>
          <p:cNvPr id="3" name="Fuentes [1], [2], [3], [16], [24]. Referencias al ">
            <a:extLst xmlns:a="http://schemas.openxmlformats.org/drawingml/2006/main">
              <a:ext uri="{FF2B5EF4-FFF2-40B4-BE49-F238E27FC236}">
                <a16:creationId xmlns:a16="http://schemas.microsoft.com/office/drawing/2014/main" id="{6C84F24B-26C7-445E-8E3B-086203DB611A}"/>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 [2], [3], [16], [24]. Referencias al final.</a:t>
            </a:r>
          </a:p>
        </p:txBody>
      </p:sp>
      <p:sp>
        <p:nvSpPr>
          <p:cNvPr id="4" name="16">
            <a:extLst xmlns:a="http://schemas.openxmlformats.org/drawingml/2006/main">
              <a:ext uri="{FF2B5EF4-FFF2-40B4-BE49-F238E27FC236}">
                <a16:creationId xmlns:a16="http://schemas.microsoft.com/office/drawing/2014/main" id="{15903835-AC73-4D07-9A9C-FC24F3B13A26}"/>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16</a:t>
            </a:r>
          </a:p>
        </p:txBody>
      </p:sp>
      <p:pic>
        <p:nvPicPr>
          <p:cNvPr id="5" name="">
            <a:extLst xmlns:a="http://schemas.openxmlformats.org/drawingml/2006/main">
              <a:ext uri="{FF2B5EF4-FFF2-40B4-BE49-F238E27FC236}">
                <a16:creationId xmlns:a16="http://schemas.microsoft.com/office/drawing/2014/main" id="{96BB646A-B36E-40CE-831A-23BF440FD972}"/>
              </a:ext>
            </a:extLst>
          </p:cNvPr>
          <p:cNvPicPr>
            <a:picLocks xmlns:a="http://schemas.openxmlformats.org/drawingml/2006/main" noChangeAspect="1"/>
          </p:cNvPicPr>
          <p:nvPr/>
        </p:nvPicPr>
        <p:blipFill>
          <a:blip xmlns:r="http://schemas.openxmlformats.org/officeDocument/2006/relationships" xmlns:a="http://schemas.openxmlformats.org/drawingml/2006/main" r:embed="Rd9a21830066b4586"/>
          <a:stretch xmlns:a="http://schemas.openxmlformats.org/drawingml/2006/main"/>
        </p:blipFill>
        <p:spPr>
          <a:xfrm xmlns:a="http://schemas.openxmlformats.org/drawingml/2006/main">
            <a:off x="2582862" y="1743075"/>
            <a:ext cx="2444750" cy="4191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7C37CD2-4E89-4541-8844-4BC1A98A5F52}"/>
              </a:ext>
            </a:extLst>
          </p:cNvPr>
          <p:cNvSpPr>
            <a:spLocks xmlns:a="http://schemas.openxmlformats.org/drawingml/2006/main" noGrp="1"/>
          </p:cNvSpPr>
          <p:nvPr/>
        </p:nvSpPr>
        <p:spPr>
          <a:xfrm xmlns:a="http://schemas.openxmlformats.org/drawingml/2006/main">
            <a:off x="3390900" y="265747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47B66617-B57A-4BDE-B4BF-7686BD5B6CCD}"/>
              </a:ext>
            </a:extLst>
          </p:cNvPr>
          <p:cNvSpPr>
            <a:spLocks xmlns:a="http://schemas.openxmlformats.org/drawingml/2006/main" noGrp="1"/>
          </p:cNvSpPr>
          <p:nvPr/>
        </p:nvSpPr>
        <p:spPr>
          <a:xfrm xmlns:a="http://schemas.openxmlformats.org/drawingml/2006/main">
            <a:off x="2781300" y="471487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8" name="1 · Adquisición">
            <a:extLst xmlns:a="http://schemas.openxmlformats.org/drawingml/2006/main">
              <a:ext uri="{FF2B5EF4-FFF2-40B4-BE49-F238E27FC236}">
                <a16:creationId xmlns:a16="http://schemas.microsoft.com/office/drawing/2014/main" id="{95F091EF-942A-4F41-8F53-D1AF88336758}"/>
              </a:ext>
            </a:extLst>
          </p:cNvPr>
          <p:cNvSpPr>
            <a:spLocks xmlns:a="http://schemas.openxmlformats.org/drawingml/2006/main" noGrp="1"/>
          </p:cNvSpPr>
          <p:nvPr/>
        </p:nvSpPr>
        <p:spPr>
          <a:xfrm xmlns:a="http://schemas.openxmlformats.org/drawingml/2006/main">
            <a:off x="7620000" y="1800225"/>
            <a:ext cx="3981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3F2F"/>
                </a:solidFill>
                <a:latin typeface="Arial"/>
                <a:ea typeface="Arial"/>
                <a:cs typeface="Arial"/>
              </a:defRPr>
            </a:defPPr>
          </a:lstStyle>
          <a:p xmlns:a="http://schemas.openxmlformats.org/drawingml/2006/main">
            <a:pPr>
              <a:defRPr sz="1800" b="1">
                <a:solidFill>
                  <a:srgbClr val="173F2F"/>
                </a:solidFill>
                <a:latin typeface="Arial"/>
                <a:ea typeface="Arial"/>
                <a:cs typeface="Arial"/>
              </a:defRPr>
            </a:pPr>
            <a:r>
              <a:rPr sz="1800" b="1">
                <a:solidFill>
                  <a:srgbClr val="173F2F"/>
                </a:solidFill>
                <a:latin typeface="Arial"/>
                <a:ea typeface="Arial"/>
                <a:cs typeface="Arial"/>
              </a:rPr>
              <a:t>1 · Adquisición</a:t>
            </a:r>
          </a:p>
        </p:txBody>
      </p:sp>
      <p:sp>
        <p:nvSpPr>
          <p:cNvPr id="9" name="Cámara del celular, foto o galería.&#10;Captura libre ">
            <a:extLst xmlns:a="http://schemas.openxmlformats.org/drawingml/2006/main">
              <a:ext uri="{FF2B5EF4-FFF2-40B4-BE49-F238E27FC236}">
                <a16:creationId xmlns:a16="http://schemas.microsoft.com/office/drawing/2014/main" id="{5841512F-9D12-4390-A160-4B971A36B2D7}"/>
              </a:ext>
            </a:extLst>
          </p:cNvPr>
          <p:cNvSpPr>
            <a:spLocks xmlns:a="http://schemas.openxmlformats.org/drawingml/2006/main" noGrp="1"/>
          </p:cNvSpPr>
          <p:nvPr/>
        </p:nvSpPr>
        <p:spPr>
          <a:xfrm xmlns:a="http://schemas.openxmlformats.org/drawingml/2006/main">
            <a:off x="7620000" y="2181225"/>
            <a:ext cx="3981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Cámara del celular, foto o galería.</a:t>
            </a:r>
          </a:p>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Captura libre y luz ambiental.</a:t>
            </a:r>
          </a:p>
        </p:txBody>
      </p:sp>
      <p:sp>
        <p:nvSpPr>
          <p:cNvPr id="10" name="2 · Cantidad">
            <a:extLst xmlns:a="http://schemas.openxmlformats.org/drawingml/2006/main">
              <a:ext uri="{FF2B5EF4-FFF2-40B4-BE49-F238E27FC236}">
                <a16:creationId xmlns:a16="http://schemas.microsoft.com/office/drawing/2014/main" id="{D6AACD63-5CFC-40E8-8A66-67D66561F39B}"/>
              </a:ext>
            </a:extLst>
          </p:cNvPr>
          <p:cNvSpPr>
            <a:spLocks xmlns:a="http://schemas.openxmlformats.org/drawingml/2006/main" noGrp="1"/>
          </p:cNvSpPr>
          <p:nvPr/>
        </p:nvSpPr>
        <p:spPr>
          <a:xfrm xmlns:a="http://schemas.openxmlformats.org/drawingml/2006/main">
            <a:off x="7620000" y="3171825"/>
            <a:ext cx="3981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3F2F"/>
                </a:solidFill>
                <a:latin typeface="Arial"/>
                <a:ea typeface="Arial"/>
                <a:cs typeface="Arial"/>
              </a:defRPr>
            </a:defPPr>
          </a:lstStyle>
          <a:p xmlns:a="http://schemas.openxmlformats.org/drawingml/2006/main">
            <a:pPr>
              <a:defRPr sz="1800" b="1">
                <a:solidFill>
                  <a:srgbClr val="173F2F"/>
                </a:solidFill>
                <a:latin typeface="Arial"/>
                <a:ea typeface="Arial"/>
                <a:cs typeface="Arial"/>
              </a:defRPr>
            </a:pPr>
            <a:r>
              <a:rPr sz="1800" b="1">
                <a:solidFill>
                  <a:srgbClr val="173F2F"/>
                </a:solidFill>
                <a:latin typeface="Arial"/>
                <a:ea typeface="Arial"/>
                <a:cs typeface="Arial"/>
              </a:rPr>
              <a:t>2 · Cantidad</a:t>
            </a:r>
          </a:p>
        </p:txBody>
      </p:sp>
      <p:sp>
        <p:nvSpPr>
          <p:cNvPr id="11" name="Masa total estimada por visión.&#10;Método y escala aú">
            <a:extLst xmlns:a="http://schemas.openxmlformats.org/drawingml/2006/main">
              <a:ext uri="{FF2B5EF4-FFF2-40B4-BE49-F238E27FC236}">
                <a16:creationId xmlns:a16="http://schemas.microsoft.com/office/drawing/2014/main" id="{6BC34C88-0FAE-4C58-8880-FE623D36823A}"/>
              </a:ext>
            </a:extLst>
          </p:cNvPr>
          <p:cNvSpPr>
            <a:spLocks xmlns:a="http://schemas.openxmlformats.org/drawingml/2006/main" noGrp="1"/>
          </p:cNvSpPr>
          <p:nvPr/>
        </p:nvSpPr>
        <p:spPr>
          <a:xfrm xmlns:a="http://schemas.openxmlformats.org/drawingml/2006/main">
            <a:off x="7620000" y="3552825"/>
            <a:ext cx="3981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Masa total estimada por visión.</a:t>
            </a:r>
          </a:p>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Método y escala aún por desarrollar.</a:t>
            </a:r>
          </a:p>
        </p:txBody>
      </p:sp>
      <p:sp>
        <p:nvSpPr>
          <p:cNvPr id="12" name="3 · Información">
            <a:extLst xmlns:a="http://schemas.openxmlformats.org/drawingml/2006/main">
              <a:ext uri="{FF2B5EF4-FFF2-40B4-BE49-F238E27FC236}">
                <a16:creationId xmlns:a16="http://schemas.microsoft.com/office/drawing/2014/main" id="{68FF826D-F6CA-449C-ABB9-E5550D1F7A3C}"/>
              </a:ext>
            </a:extLst>
          </p:cNvPr>
          <p:cNvSpPr>
            <a:spLocks xmlns:a="http://schemas.openxmlformats.org/drawingml/2006/main" noGrp="1"/>
          </p:cNvSpPr>
          <p:nvPr/>
        </p:nvSpPr>
        <p:spPr>
          <a:xfrm xmlns:a="http://schemas.openxmlformats.org/drawingml/2006/main">
            <a:off x="7620000" y="4543425"/>
            <a:ext cx="3981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3F2F"/>
                </a:solidFill>
                <a:latin typeface="Arial"/>
                <a:ea typeface="Arial"/>
                <a:cs typeface="Arial"/>
              </a:defRPr>
            </a:defPPr>
          </a:lstStyle>
          <a:p xmlns:a="http://schemas.openxmlformats.org/drawingml/2006/main">
            <a:pPr>
              <a:defRPr sz="1800" b="1">
                <a:solidFill>
                  <a:srgbClr val="173F2F"/>
                </a:solidFill>
                <a:latin typeface="Arial"/>
                <a:ea typeface="Arial"/>
                <a:cs typeface="Arial"/>
              </a:defRPr>
            </a:pPr>
            <a:r>
              <a:rPr sz="1800" b="1">
                <a:solidFill>
                  <a:srgbClr val="173F2F"/>
                </a:solidFill>
                <a:latin typeface="Arial"/>
                <a:ea typeface="Arial"/>
                <a:cs typeface="Arial"/>
              </a:rPr>
              <a:t>3 · Información</a:t>
            </a:r>
          </a:p>
        </p:txBody>
      </p:sp>
      <p:sp>
        <p:nvSpPr>
          <p:cNvPr id="13" name="IA, revisión del usuario y TPCA.&#10;m × valor por 100">
            <a:extLst xmlns:a="http://schemas.openxmlformats.org/drawingml/2006/main">
              <a:ext uri="{FF2B5EF4-FFF2-40B4-BE49-F238E27FC236}">
                <a16:creationId xmlns:a16="http://schemas.microsoft.com/office/drawing/2014/main" id="{3EE374CB-C394-4EA5-BBA2-06624F36EB81}"/>
              </a:ext>
            </a:extLst>
          </p:cNvPr>
          <p:cNvSpPr>
            <a:spLocks xmlns:a="http://schemas.openxmlformats.org/drawingml/2006/main" noGrp="1"/>
          </p:cNvSpPr>
          <p:nvPr/>
        </p:nvSpPr>
        <p:spPr>
          <a:xfrm xmlns:a="http://schemas.openxmlformats.org/drawingml/2006/main">
            <a:off x="7620000" y="4924425"/>
            <a:ext cx="3981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IA, revisión del usuario y TPCA.</a:t>
            </a:r>
          </a:p>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m × valor por 100 g / 100.</a:t>
            </a:r>
          </a:p>
        </p:txBody>
      </p:sp>
      <p:sp>
        <p:nvSpPr>
          <p:cNvPr id="14" name="Riesgo principal: la imagen no determina por sí so">
            <a:extLst xmlns:a="http://schemas.openxmlformats.org/drawingml/2006/main">
              <a:ext uri="{FF2B5EF4-FFF2-40B4-BE49-F238E27FC236}">
                <a16:creationId xmlns:a16="http://schemas.microsoft.com/office/drawing/2014/main" id="{FE20F522-9159-499D-B591-EC9418567347}"/>
              </a:ext>
            </a:extLst>
          </p:cNvPr>
          <p:cNvSpPr>
            <a:spLocks xmlns:a="http://schemas.openxmlformats.org/drawingml/2006/main" noGrp="1"/>
          </p:cNvSpPr>
          <p:nvPr/>
        </p:nvSpPr>
        <p:spPr>
          <a:xfrm xmlns:a="http://schemas.openxmlformats.org/drawingml/2006/main">
            <a:off x="571500" y="6096000"/>
            <a:ext cx="1104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AD6240"/>
                </a:solidFill>
                <a:latin typeface="Arial"/>
                <a:ea typeface="Arial"/>
                <a:cs typeface="Arial"/>
              </a:defRPr>
            </a:defPPr>
          </a:lstStyle>
          <a:p xmlns:a="http://schemas.openxmlformats.org/drawingml/2006/main">
            <a:pPr>
              <a:defRPr sz="1725" b="1">
                <a:solidFill>
                  <a:srgbClr val="AD6240"/>
                </a:solidFill>
                <a:latin typeface="Arial"/>
                <a:ea typeface="Arial"/>
                <a:cs typeface="Arial"/>
              </a:defRPr>
            </a:pPr>
            <a:r>
              <a:rPr sz="1725" b="1">
                <a:solidFill>
                  <a:srgbClr val="AD6240"/>
                </a:solidFill>
                <a:latin typeface="Arial"/>
                <a:ea typeface="Arial"/>
                <a:cs typeface="Arial"/>
              </a:rPr>
              <a:t>Riesgo principal: la imagen no determina por sí sola la masa ni la composición real.</a:t>
            </a:r>
          </a:p>
        </p:txBody>
      </p:sp>
    </p:spTree>
    <p:extLst>
      <p:ext uri="{BB962C8B-B14F-4D97-AF65-F5344CB8AC3E}">
        <p14:creationId xmlns:p14="http://schemas.microsoft.com/office/powerpoint/2010/main" val="1851059606"/>
      </p:ext>
    </p:extLst>
  </p:cSld>
</p:sld>
</file>

<file path=ppt/slides/slide17.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6" name="8. Boceto B: balanza externa y celular">
            <a:extLst xmlns:a="http://schemas.openxmlformats.org/drawingml/2006/main">
              <a:ext uri="{FF2B5EF4-FFF2-40B4-BE49-F238E27FC236}">
                <a16:creationId xmlns:a16="http://schemas.microsoft.com/office/drawing/2014/main" id="{6A3EEE4E-B521-4A5C-809E-B636E28F2125}"/>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8. Boceto B: balanza externa y celular</a:t>
            </a:r>
          </a:p>
        </p:txBody>
      </p:sp>
      <p:sp>
        <p:nvSpPr>
          <p:cNvPr id="2" name="Alternativa con masa medida e ingreso manual. El s">
            <a:extLst xmlns:a="http://schemas.openxmlformats.org/drawingml/2006/main">
              <a:ext uri="{FF2B5EF4-FFF2-40B4-BE49-F238E27FC236}">
                <a16:creationId xmlns:a16="http://schemas.microsoft.com/office/drawing/2014/main" id="{FC19307E-2309-4648-8104-9032BF7109A1}"/>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Alternativa con masa medida e ingreso manual. El soporte fija el encuadre.</a:t>
            </a:r>
          </a:p>
        </p:txBody>
      </p:sp>
      <p:sp>
        <p:nvSpPr>
          <p:cNvPr id="3" name="Fuentes [8], [13], [16], [24]. Referencias al fina">
            <a:extLst xmlns:a="http://schemas.openxmlformats.org/drawingml/2006/main">
              <a:ext uri="{FF2B5EF4-FFF2-40B4-BE49-F238E27FC236}">
                <a16:creationId xmlns:a16="http://schemas.microsoft.com/office/drawing/2014/main" id="{C5C6CD68-A593-4BEB-BAAC-68E3423A4BDE}"/>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[8], [13], [16], [24]. Referencias al final.</a:t>
            </a:r>
          </a:p>
        </p:txBody>
      </p:sp>
      <p:sp>
        <p:nvSpPr>
          <p:cNvPr id="4" name="17">
            <a:extLst xmlns:a="http://schemas.openxmlformats.org/drawingml/2006/main">
              <a:ext uri="{FF2B5EF4-FFF2-40B4-BE49-F238E27FC236}">
                <a16:creationId xmlns:a16="http://schemas.microsoft.com/office/drawing/2014/main" id="{2CD0EDA7-FD34-4225-8DDD-CBDE8E4FA5C8}"/>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17</a:t>
            </a:r>
          </a:p>
        </p:txBody>
      </p:sp>
      <p:pic>
        <p:nvPicPr>
          <p:cNvPr id="5" name="">
            <a:extLst xmlns:a="http://schemas.openxmlformats.org/drawingml/2006/main">
              <a:ext uri="{FF2B5EF4-FFF2-40B4-BE49-F238E27FC236}">
                <a16:creationId xmlns:a16="http://schemas.microsoft.com/office/drawing/2014/main" id="{BAA266AA-9E2F-43E8-BB60-B9E895410756}"/>
              </a:ext>
            </a:extLst>
          </p:cNvPr>
          <p:cNvPicPr>
            <a:picLocks xmlns:a="http://schemas.openxmlformats.org/drawingml/2006/main" noChangeAspect="1"/>
          </p:cNvPicPr>
          <p:nvPr/>
        </p:nvPicPr>
        <p:blipFill>
          <a:blip xmlns:r="http://schemas.openxmlformats.org/officeDocument/2006/relationships" xmlns:a="http://schemas.openxmlformats.org/drawingml/2006/main" r:embed="R1348fae0d7714425"/>
          <a:stretch xmlns:a="http://schemas.openxmlformats.org/drawingml/2006/main"/>
        </p:blipFill>
        <p:spPr>
          <a:xfrm xmlns:a="http://schemas.openxmlformats.org/drawingml/2006/main">
            <a:off x="2548429" y="1743075"/>
            <a:ext cx="2513616" cy="4191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FA5A28A-1E3F-4E3B-B933-6E47DAE86707}"/>
              </a:ext>
            </a:extLst>
          </p:cNvPr>
          <p:cNvSpPr>
            <a:spLocks xmlns:a="http://schemas.openxmlformats.org/drawingml/2006/main" noGrp="1"/>
          </p:cNvSpPr>
          <p:nvPr/>
        </p:nvSpPr>
        <p:spPr>
          <a:xfrm xmlns:a="http://schemas.openxmlformats.org/drawingml/2006/main">
            <a:off x="3724275" y="269557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69CA12A5-49DE-4D00-AF14-7F274688D8EB}"/>
              </a:ext>
            </a:extLst>
          </p:cNvPr>
          <p:cNvSpPr>
            <a:spLocks xmlns:a="http://schemas.openxmlformats.org/drawingml/2006/main" noGrp="1"/>
          </p:cNvSpPr>
          <p:nvPr/>
        </p:nvSpPr>
        <p:spPr>
          <a:xfrm xmlns:a="http://schemas.openxmlformats.org/drawingml/2006/main">
            <a:off x="3543300" y="482917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5286970B-565E-4330-9E5A-61213B502FA1}"/>
              </a:ext>
            </a:extLst>
          </p:cNvPr>
          <p:cNvSpPr>
            <a:spLocks xmlns:a="http://schemas.openxmlformats.org/drawingml/2006/main" noGrp="1"/>
          </p:cNvSpPr>
          <p:nvPr/>
        </p:nvSpPr>
        <p:spPr>
          <a:xfrm xmlns:a="http://schemas.openxmlformats.org/drawingml/2006/main">
            <a:off x="2600325" y="357187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9" name="1 · Foto del plato">
            <a:extLst xmlns:a="http://schemas.openxmlformats.org/drawingml/2006/main">
              <a:ext uri="{FF2B5EF4-FFF2-40B4-BE49-F238E27FC236}">
                <a16:creationId xmlns:a16="http://schemas.microsoft.com/office/drawing/2014/main" id="{6195D857-FB2F-4737-8829-3485EECAB91A}"/>
              </a:ext>
            </a:extLst>
          </p:cNvPr>
          <p:cNvSpPr>
            <a:spLocks xmlns:a="http://schemas.openxmlformats.org/drawingml/2006/main" noGrp="1"/>
          </p:cNvSpPr>
          <p:nvPr/>
        </p:nvSpPr>
        <p:spPr>
          <a:xfrm xmlns:a="http://schemas.openxmlformats.org/drawingml/2006/main">
            <a:off x="7620000" y="1800225"/>
            <a:ext cx="3981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3F2F"/>
                </a:solidFill>
                <a:latin typeface="Arial"/>
                <a:ea typeface="Arial"/>
                <a:cs typeface="Arial"/>
              </a:defRPr>
            </a:defPPr>
          </a:lstStyle>
          <a:p xmlns:a="http://schemas.openxmlformats.org/drawingml/2006/main">
            <a:pPr>
              <a:defRPr sz="1800" b="1">
                <a:solidFill>
                  <a:srgbClr val="173F2F"/>
                </a:solidFill>
                <a:latin typeface="Arial"/>
                <a:ea typeface="Arial"/>
                <a:cs typeface="Arial"/>
              </a:defRPr>
            </a:pPr>
            <a:r>
              <a:rPr sz="1800" b="1">
                <a:solidFill>
                  <a:srgbClr val="173F2F"/>
                </a:solidFill>
                <a:latin typeface="Arial"/>
                <a:ea typeface="Arial"/>
                <a:cs typeface="Arial"/>
              </a:rPr>
              <a:t>1 · Foto del plato</a:t>
            </a:r>
          </a:p>
        </p:txBody>
      </p:sp>
      <p:sp>
        <p:nvSpPr>
          <p:cNvPr id="10" name="Celular en soporte fijo.&#10;Iluminación del ambiente.">
            <a:extLst xmlns:a="http://schemas.openxmlformats.org/drawingml/2006/main">
              <a:ext uri="{FF2B5EF4-FFF2-40B4-BE49-F238E27FC236}">
                <a16:creationId xmlns:a16="http://schemas.microsoft.com/office/drawing/2014/main" id="{53F64655-178C-404D-B470-F86D646B2621}"/>
              </a:ext>
            </a:extLst>
          </p:cNvPr>
          <p:cNvSpPr>
            <a:spLocks xmlns:a="http://schemas.openxmlformats.org/drawingml/2006/main" noGrp="1"/>
          </p:cNvSpPr>
          <p:nvPr/>
        </p:nvSpPr>
        <p:spPr>
          <a:xfrm xmlns:a="http://schemas.openxmlformats.org/drawingml/2006/main">
            <a:off x="7620000" y="2181225"/>
            <a:ext cx="3981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Celular en soporte fijo.</a:t>
            </a:r>
          </a:p>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Iluminación del ambiente.</a:t>
            </a:r>
          </a:p>
        </p:txBody>
      </p:sp>
      <p:sp>
        <p:nvSpPr>
          <p:cNvPr id="11" name="2 · Pesaje con tara">
            <a:extLst xmlns:a="http://schemas.openxmlformats.org/drawingml/2006/main">
              <a:ext uri="{FF2B5EF4-FFF2-40B4-BE49-F238E27FC236}">
                <a16:creationId xmlns:a16="http://schemas.microsoft.com/office/drawing/2014/main" id="{CD1B8D31-D8A4-4249-8C2D-36A08F367AC6}"/>
              </a:ext>
            </a:extLst>
          </p:cNvPr>
          <p:cNvSpPr>
            <a:spLocks xmlns:a="http://schemas.openxmlformats.org/drawingml/2006/main" noGrp="1"/>
          </p:cNvSpPr>
          <p:nvPr/>
        </p:nvSpPr>
        <p:spPr>
          <a:xfrm xmlns:a="http://schemas.openxmlformats.org/drawingml/2006/main">
            <a:off x="7620000" y="3171825"/>
            <a:ext cx="3981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3F2F"/>
                </a:solidFill>
                <a:latin typeface="Arial"/>
                <a:ea typeface="Arial"/>
                <a:cs typeface="Arial"/>
              </a:defRPr>
            </a:defPPr>
          </a:lstStyle>
          <a:p xmlns:a="http://schemas.openxmlformats.org/drawingml/2006/main">
            <a:pPr>
              <a:defRPr sz="1800" b="1">
                <a:solidFill>
                  <a:srgbClr val="173F2F"/>
                </a:solidFill>
                <a:latin typeface="Arial"/>
                <a:ea typeface="Arial"/>
                <a:cs typeface="Arial"/>
              </a:defRPr>
            </a:pPr>
            <a:r>
              <a:rPr sz="1800" b="1">
                <a:solidFill>
                  <a:srgbClr val="173F2F"/>
                </a:solidFill>
                <a:latin typeface="Arial"/>
                <a:ea typeface="Arial"/>
                <a:cs typeface="Arial"/>
              </a:rPr>
              <a:t>2 · Pesaje con tara</a:t>
            </a:r>
          </a:p>
        </p:txBody>
      </p:sp>
      <p:sp>
        <p:nvSpPr>
          <p:cNvPr id="12" name="Balanza externa de 5 kg.&#10;Masa neta ingresada por e">
            <a:extLst xmlns:a="http://schemas.openxmlformats.org/drawingml/2006/main">
              <a:ext uri="{FF2B5EF4-FFF2-40B4-BE49-F238E27FC236}">
                <a16:creationId xmlns:a16="http://schemas.microsoft.com/office/drawing/2014/main" id="{6760999D-A804-42C5-81FE-E1B1E0A1CED3}"/>
              </a:ext>
            </a:extLst>
          </p:cNvPr>
          <p:cNvSpPr>
            <a:spLocks xmlns:a="http://schemas.openxmlformats.org/drawingml/2006/main" noGrp="1"/>
          </p:cNvSpPr>
          <p:nvPr/>
        </p:nvSpPr>
        <p:spPr>
          <a:xfrm xmlns:a="http://schemas.openxmlformats.org/drawingml/2006/main">
            <a:off x="7620000" y="3552825"/>
            <a:ext cx="3981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Balanza externa de 5 kg.</a:t>
            </a:r>
          </a:p>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Masa neta ingresada por el usuario.</a:t>
            </a:r>
          </a:p>
        </p:txBody>
      </p:sp>
      <p:sp>
        <p:nvSpPr>
          <p:cNvPr id="13" name="3 · Información">
            <a:extLst xmlns:a="http://schemas.openxmlformats.org/drawingml/2006/main">
              <a:ext uri="{FF2B5EF4-FFF2-40B4-BE49-F238E27FC236}">
                <a16:creationId xmlns:a16="http://schemas.microsoft.com/office/drawing/2014/main" id="{E34CAD27-3DF7-4C37-87DE-67D9EB86D26F}"/>
              </a:ext>
            </a:extLst>
          </p:cNvPr>
          <p:cNvSpPr>
            <a:spLocks xmlns:a="http://schemas.openxmlformats.org/drawingml/2006/main" noGrp="1"/>
          </p:cNvSpPr>
          <p:nvPr/>
        </p:nvSpPr>
        <p:spPr>
          <a:xfrm xmlns:a="http://schemas.openxmlformats.org/drawingml/2006/main">
            <a:off x="7620000" y="4543425"/>
            <a:ext cx="3981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3F2F"/>
                </a:solidFill>
                <a:latin typeface="Arial"/>
                <a:ea typeface="Arial"/>
                <a:cs typeface="Arial"/>
              </a:defRPr>
            </a:defPPr>
          </a:lstStyle>
          <a:p xmlns:a="http://schemas.openxmlformats.org/drawingml/2006/main">
            <a:pPr>
              <a:defRPr sz="1800" b="1">
                <a:solidFill>
                  <a:srgbClr val="173F2F"/>
                </a:solidFill>
                <a:latin typeface="Arial"/>
                <a:ea typeface="Arial"/>
                <a:cs typeface="Arial"/>
              </a:defRPr>
            </a:pPr>
            <a:r>
              <a:rPr sz="1800" b="1">
                <a:solidFill>
                  <a:srgbClr val="173F2F"/>
                </a:solidFill>
                <a:latin typeface="Arial"/>
                <a:ea typeface="Arial"/>
                <a:cs typeface="Arial"/>
              </a:rPr>
              <a:t>3 · Información</a:t>
            </a:r>
          </a:p>
        </p:txBody>
      </p:sp>
      <p:sp>
        <p:nvSpPr>
          <p:cNvPr id="14" name="Identidad y proporciones por IA.&#10;Revisión, TPCA y ">
            <a:extLst xmlns:a="http://schemas.openxmlformats.org/drawingml/2006/main">
              <a:ext uri="{FF2B5EF4-FFF2-40B4-BE49-F238E27FC236}">
                <a16:creationId xmlns:a16="http://schemas.microsoft.com/office/drawing/2014/main" id="{3B03B24D-16DE-4346-B2A0-4E596017176A}"/>
              </a:ext>
            </a:extLst>
          </p:cNvPr>
          <p:cNvSpPr>
            <a:spLocks xmlns:a="http://schemas.openxmlformats.org/drawingml/2006/main" noGrp="1"/>
          </p:cNvSpPr>
          <p:nvPr/>
        </p:nvSpPr>
        <p:spPr>
          <a:xfrm xmlns:a="http://schemas.openxmlformats.org/drawingml/2006/main">
            <a:off x="7620000" y="4924425"/>
            <a:ext cx="3981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Identidad y proporciones por IA.</a:t>
            </a:r>
          </a:p>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Revisión, TPCA y cálculo en la app.</a:t>
            </a:r>
          </a:p>
        </p:txBody>
      </p:sp>
      <p:sp>
        <p:nvSpPr>
          <p:cNvPr id="15" name="La balanza y la app son independientes. No hay tra">
            <a:extLst xmlns:a="http://schemas.openxmlformats.org/drawingml/2006/main">
              <a:ext uri="{FF2B5EF4-FFF2-40B4-BE49-F238E27FC236}">
                <a16:creationId xmlns:a16="http://schemas.microsoft.com/office/drawing/2014/main" id="{4DD044D1-D23A-46E1-BC12-95225CD0C792}"/>
              </a:ext>
            </a:extLst>
          </p:cNvPr>
          <p:cNvSpPr>
            <a:spLocks xmlns:a="http://schemas.openxmlformats.org/drawingml/2006/main" noGrp="1"/>
          </p:cNvSpPr>
          <p:nvPr/>
        </p:nvSpPr>
        <p:spPr>
          <a:xfrm xmlns:a="http://schemas.openxmlformats.org/drawingml/2006/main">
            <a:off x="571500" y="6096000"/>
            <a:ext cx="1104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AD6240"/>
                </a:solidFill>
                <a:latin typeface="Arial"/>
                <a:ea typeface="Arial"/>
                <a:cs typeface="Arial"/>
              </a:defRPr>
            </a:defPPr>
          </a:lstStyle>
          <a:p xmlns:a="http://schemas.openxmlformats.org/drawingml/2006/main">
            <a:pPr>
              <a:defRPr sz="1725" b="1">
                <a:solidFill>
                  <a:srgbClr val="AD6240"/>
                </a:solidFill>
                <a:latin typeface="Arial"/>
                <a:ea typeface="Arial"/>
                <a:cs typeface="Arial"/>
              </a:defRPr>
            </a:pPr>
            <a:r>
              <a:rPr sz="1725" b="1">
                <a:solidFill>
                  <a:srgbClr val="AD6240"/>
                </a:solidFill>
                <a:latin typeface="Arial"/>
                <a:ea typeface="Arial"/>
                <a:cs typeface="Arial"/>
              </a:rPr>
              <a:t>La balanza y la app son independientes. No hay transmisión automática de gramos.</a:t>
            </a:r>
          </a:p>
        </p:txBody>
      </p:sp>
    </p:spTree>
    <p:extLst>
      <p:ext uri="{BB962C8B-B14F-4D97-AF65-F5344CB8AC3E}">
        <p14:creationId xmlns:p14="http://schemas.microsoft.com/office/powerpoint/2010/main" val="1002536432"/>
      </p:ext>
    </p:extLst>
  </p:cSld>
</p:sld>
</file>

<file path=ppt/slides/slide18.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5" name="8. Boceto C: caja integrada">
            <a:extLst xmlns:a="http://schemas.openxmlformats.org/drawingml/2006/main">
              <a:ext uri="{FF2B5EF4-FFF2-40B4-BE49-F238E27FC236}">
                <a16:creationId xmlns:a16="http://schemas.microsoft.com/office/drawing/2014/main" id="{F8728F9E-8DE2-49C3-9FE9-F129ED9A8C42}"/>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8. Boceto C: caja integrada</a:t>
            </a:r>
          </a:p>
        </p:txBody>
      </p:sp>
      <p:sp>
        <p:nvSpPr>
          <p:cNvPr id="2" name="Diseño propuesto: 320 × 320 × 350 mm. Plataforma: ">
            <a:extLst xmlns:a="http://schemas.openxmlformats.org/drawingml/2006/main">
              <a:ext uri="{FF2B5EF4-FFF2-40B4-BE49-F238E27FC236}">
                <a16:creationId xmlns:a16="http://schemas.microsoft.com/office/drawing/2014/main" id="{959AE208-1229-40CC-A041-BF11386295FF}"/>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Diseño propuesto: 320 × 320 × 350 mm. Plataforma: 220 × 220 mm.</a:t>
            </a:r>
          </a:p>
        </p:txBody>
      </p:sp>
      <p:sp>
        <p:nvSpPr>
          <p:cNvPr id="3" name="Fuentes [17], [18], [19], [20], [21], [22], [23], ">
            <a:extLst xmlns:a="http://schemas.openxmlformats.org/drawingml/2006/main">
              <a:ext uri="{FF2B5EF4-FFF2-40B4-BE49-F238E27FC236}">
                <a16:creationId xmlns:a16="http://schemas.microsoft.com/office/drawing/2014/main" id="{E232BD7A-8E17-446F-AC81-7D274BC94492}"/>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[17], [18], [19], [20], [21], [22], [23], [24]. Referencias al final.</a:t>
            </a:r>
          </a:p>
        </p:txBody>
      </p:sp>
      <p:sp>
        <p:nvSpPr>
          <p:cNvPr id="4" name="18">
            <a:extLst xmlns:a="http://schemas.openxmlformats.org/drawingml/2006/main">
              <a:ext uri="{FF2B5EF4-FFF2-40B4-BE49-F238E27FC236}">
                <a16:creationId xmlns:a16="http://schemas.microsoft.com/office/drawing/2014/main" id="{D742DECE-49EC-4425-90FE-4E1AD579AE9C}"/>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18</a:t>
            </a:r>
          </a:p>
        </p:txBody>
      </p:sp>
      <p:pic>
        <p:nvPicPr>
          <p:cNvPr id="5" name="">
            <a:extLst xmlns:a="http://schemas.openxmlformats.org/drawingml/2006/main">
              <a:ext uri="{FF2B5EF4-FFF2-40B4-BE49-F238E27FC236}">
                <a16:creationId xmlns:a16="http://schemas.microsoft.com/office/drawing/2014/main" id="{932164C1-61BA-4994-AD47-CFE025C0376E}"/>
              </a:ext>
            </a:extLst>
          </p:cNvPr>
          <p:cNvPicPr>
            <a:picLocks xmlns:a="http://schemas.openxmlformats.org/drawingml/2006/main" noChangeAspect="1"/>
          </p:cNvPicPr>
          <p:nvPr/>
        </p:nvPicPr>
        <p:blipFill>
          <a:blip xmlns:r="http://schemas.openxmlformats.org/officeDocument/2006/relationships" xmlns:a="http://schemas.openxmlformats.org/drawingml/2006/main" r:embed="Rbf2fece2f5294fe5"/>
          <a:stretch xmlns:a="http://schemas.openxmlformats.org/drawingml/2006/main"/>
        </p:blipFill>
        <p:spPr>
          <a:xfrm xmlns:a="http://schemas.openxmlformats.org/drawingml/2006/main">
            <a:off x="1671509" y="1685925"/>
            <a:ext cx="4286507" cy="43529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479AAAB-FE52-4B2D-9237-AFA36220BFF3}"/>
              </a:ext>
            </a:extLst>
          </p:cNvPr>
          <p:cNvSpPr>
            <a:spLocks xmlns:a="http://schemas.openxmlformats.org/drawingml/2006/main" noGrp="1"/>
          </p:cNvSpPr>
          <p:nvPr/>
        </p:nvSpPr>
        <p:spPr>
          <a:xfrm xmlns:a="http://schemas.openxmlformats.org/drawingml/2006/main">
            <a:off x="3267075" y="2590800"/>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C7B11CF8-2003-4B8F-BFEB-ACF1DD7B33C4}"/>
              </a:ext>
            </a:extLst>
          </p:cNvPr>
          <p:cNvSpPr>
            <a:spLocks xmlns:a="http://schemas.openxmlformats.org/drawingml/2006/main" noGrp="1"/>
          </p:cNvSpPr>
          <p:nvPr/>
        </p:nvSpPr>
        <p:spPr>
          <a:xfrm xmlns:a="http://schemas.openxmlformats.org/drawingml/2006/main">
            <a:off x="2781300" y="280987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52D34CB8-625D-45B0-9C51-A23A8BD79A9C}"/>
              </a:ext>
            </a:extLst>
          </p:cNvPr>
          <p:cNvSpPr>
            <a:spLocks xmlns:a="http://schemas.openxmlformats.org/drawingml/2006/main" noGrp="1"/>
          </p:cNvSpPr>
          <p:nvPr/>
        </p:nvSpPr>
        <p:spPr>
          <a:xfrm xmlns:a="http://schemas.openxmlformats.org/drawingml/2006/main">
            <a:off x="3324225" y="429577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9" name="">
            <a:extLst xmlns:a="http://schemas.openxmlformats.org/drawingml/2006/main">
              <a:ext uri="{FF2B5EF4-FFF2-40B4-BE49-F238E27FC236}">
                <a16:creationId xmlns:a16="http://schemas.microsoft.com/office/drawing/2014/main" id="{61686878-0ED9-4667-B46F-B68C23DBFE9D}"/>
              </a:ext>
            </a:extLst>
          </p:cNvPr>
          <p:cNvSpPr>
            <a:spLocks xmlns:a="http://schemas.openxmlformats.org/drawingml/2006/main" noGrp="1"/>
          </p:cNvSpPr>
          <p:nvPr/>
        </p:nvSpPr>
        <p:spPr>
          <a:xfrm xmlns:a="http://schemas.openxmlformats.org/drawingml/2006/main">
            <a:off x="2085975" y="391477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10" name="">
            <a:extLst xmlns:a="http://schemas.openxmlformats.org/drawingml/2006/main">
              <a:ext uri="{FF2B5EF4-FFF2-40B4-BE49-F238E27FC236}">
                <a16:creationId xmlns:a16="http://schemas.microsoft.com/office/drawing/2014/main" id="{46304C85-DBBD-4CE8-ACB2-D8360EEF37E7}"/>
              </a:ext>
            </a:extLst>
          </p:cNvPr>
          <p:cNvSpPr>
            <a:spLocks xmlns:a="http://schemas.openxmlformats.org/drawingml/2006/main" noGrp="1"/>
          </p:cNvSpPr>
          <p:nvPr/>
        </p:nvSpPr>
        <p:spPr>
          <a:xfrm xmlns:a="http://schemas.openxmlformats.org/drawingml/2006/main">
            <a:off x="5848350" y="5448300"/>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11" name="">
            <a:extLst xmlns:a="http://schemas.openxmlformats.org/drawingml/2006/main">
              <a:ext uri="{FF2B5EF4-FFF2-40B4-BE49-F238E27FC236}">
                <a16:creationId xmlns:a16="http://schemas.microsoft.com/office/drawing/2014/main" id="{BA23C1E2-9650-4FCD-80DF-EAE823A8EFDB}"/>
              </a:ext>
            </a:extLst>
          </p:cNvPr>
          <p:cNvSpPr>
            <a:spLocks xmlns:a="http://schemas.openxmlformats.org/drawingml/2006/main" noGrp="1"/>
          </p:cNvSpPr>
          <p:nvPr/>
        </p:nvSpPr>
        <p:spPr>
          <a:xfrm xmlns:a="http://schemas.openxmlformats.org/drawingml/2006/main">
            <a:off x="6067425" y="3276600"/>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6</a:t>
            </a:r>
          </a:p>
        </p:txBody>
      </p:sp>
      <p:sp>
        <p:nvSpPr>
          <p:cNvPr id="12" name="">
            <a:extLst xmlns:a="http://schemas.openxmlformats.org/drawingml/2006/main">
              <a:ext uri="{FF2B5EF4-FFF2-40B4-BE49-F238E27FC236}">
                <a16:creationId xmlns:a16="http://schemas.microsoft.com/office/drawing/2014/main" id="{E0A13141-ABC4-4124-A5A3-5C32C4182A70}"/>
              </a:ext>
            </a:extLst>
          </p:cNvPr>
          <p:cNvSpPr>
            <a:spLocks xmlns:a="http://schemas.openxmlformats.org/drawingml/2006/main" noGrp="1"/>
          </p:cNvSpPr>
          <p:nvPr/>
        </p:nvSpPr>
        <p:spPr>
          <a:xfrm xmlns:a="http://schemas.openxmlformats.org/drawingml/2006/main">
            <a:off x="7543800" y="1790700"/>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13" name="ESP32-CAM + OV2640, 2 MP.&#10;Cámara superior a ≈ 270 ">
            <a:extLst xmlns:a="http://schemas.openxmlformats.org/drawingml/2006/main">
              <a:ext uri="{FF2B5EF4-FFF2-40B4-BE49-F238E27FC236}">
                <a16:creationId xmlns:a16="http://schemas.microsoft.com/office/drawing/2014/main" id="{B5562684-3CDB-4E03-AB0E-1038C392C4C4}"/>
              </a:ext>
            </a:extLst>
          </p:cNvPr>
          <p:cNvSpPr>
            <a:spLocks xmlns:a="http://schemas.openxmlformats.org/drawingml/2006/main" noGrp="1"/>
          </p:cNvSpPr>
          <p:nvPr/>
        </p:nvSpPr>
        <p:spPr>
          <a:xfrm xmlns:a="http://schemas.openxmlformats.org/drawingml/2006/main">
            <a:off x="7972425" y="1743075"/>
            <a:ext cx="36480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ESP32-CAM + OV2640, 2 MP.</a:t>
            </a:r>
          </a:p>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Cámara superior a ≈ 270 mm.</a:t>
            </a:r>
          </a:p>
        </p:txBody>
      </p:sp>
      <p:sp>
        <p:nvSpPr>
          <p:cNvPr id="14" name="">
            <a:extLst xmlns:a="http://schemas.openxmlformats.org/drawingml/2006/main">
              <a:ext uri="{FF2B5EF4-FFF2-40B4-BE49-F238E27FC236}">
                <a16:creationId xmlns:a16="http://schemas.microsoft.com/office/drawing/2014/main" id="{F977E1BB-7510-4EC0-B246-79D233AA9BDA}"/>
              </a:ext>
            </a:extLst>
          </p:cNvPr>
          <p:cNvSpPr>
            <a:spLocks xmlns:a="http://schemas.openxmlformats.org/drawingml/2006/main" noGrp="1"/>
          </p:cNvSpPr>
          <p:nvPr/>
        </p:nvSpPr>
        <p:spPr>
          <a:xfrm xmlns:a="http://schemas.openxmlformats.org/drawingml/2006/main">
            <a:off x="7543800" y="252412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5" name="12 LED de 6000 K; 100 Ω c/u.&#10;Captura con iluminaci">
            <a:extLst xmlns:a="http://schemas.openxmlformats.org/drawingml/2006/main">
              <a:ext uri="{FF2B5EF4-FFF2-40B4-BE49-F238E27FC236}">
                <a16:creationId xmlns:a16="http://schemas.microsoft.com/office/drawing/2014/main" id="{41E824CF-1FBD-403D-B75F-6499223138C0}"/>
              </a:ext>
            </a:extLst>
          </p:cNvPr>
          <p:cNvSpPr>
            <a:spLocks xmlns:a="http://schemas.openxmlformats.org/drawingml/2006/main" noGrp="1"/>
          </p:cNvSpPr>
          <p:nvPr/>
        </p:nvSpPr>
        <p:spPr>
          <a:xfrm xmlns:a="http://schemas.openxmlformats.org/drawingml/2006/main">
            <a:off x="7972425" y="2476500"/>
            <a:ext cx="36480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12 LED de 6000 K; 100 Ω c/u.</a:t>
            </a:r>
          </a:p>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Captura con iluminación controlada.</a:t>
            </a:r>
          </a:p>
        </p:txBody>
      </p:sp>
      <p:sp>
        <p:nvSpPr>
          <p:cNvPr id="16" name="">
            <a:extLst xmlns:a="http://schemas.openxmlformats.org/drawingml/2006/main">
              <a:ext uri="{FF2B5EF4-FFF2-40B4-BE49-F238E27FC236}">
                <a16:creationId xmlns:a16="http://schemas.microsoft.com/office/drawing/2014/main" id="{445C85DC-D83F-46FF-AFFB-0851D76E133B}"/>
              </a:ext>
            </a:extLst>
          </p:cNvPr>
          <p:cNvSpPr>
            <a:spLocks xmlns:a="http://schemas.openxmlformats.org/drawingml/2006/main" noGrp="1"/>
          </p:cNvSpPr>
          <p:nvPr/>
        </p:nvSpPr>
        <p:spPr>
          <a:xfrm xmlns:a="http://schemas.openxmlformats.org/drawingml/2006/main">
            <a:off x="7543800" y="3257550"/>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7" name="Celda 5 kg + HX711 a 3,3 V.&#10;Plataforma flotante, s">
            <a:extLst xmlns:a="http://schemas.openxmlformats.org/drawingml/2006/main">
              <a:ext uri="{FF2B5EF4-FFF2-40B4-BE49-F238E27FC236}">
                <a16:creationId xmlns:a16="http://schemas.microsoft.com/office/drawing/2014/main" id="{830E923D-D2EE-4A40-90E1-54B3122CA531}"/>
              </a:ext>
            </a:extLst>
          </p:cNvPr>
          <p:cNvSpPr>
            <a:spLocks xmlns:a="http://schemas.openxmlformats.org/drawingml/2006/main" noGrp="1"/>
          </p:cNvSpPr>
          <p:nvPr/>
        </p:nvSpPr>
        <p:spPr>
          <a:xfrm xmlns:a="http://schemas.openxmlformats.org/drawingml/2006/main">
            <a:off x="7972425" y="3209925"/>
            <a:ext cx="36480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Celda 5 kg + HX711 a 3,3 V.</a:t>
            </a:r>
          </a:p>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Plataforma flotante, sin roces.</a:t>
            </a:r>
          </a:p>
        </p:txBody>
      </p:sp>
      <p:sp>
        <p:nvSpPr>
          <p:cNvPr id="18" name="">
            <a:extLst xmlns:a="http://schemas.openxmlformats.org/drawingml/2006/main">
              <a:ext uri="{FF2B5EF4-FFF2-40B4-BE49-F238E27FC236}">
                <a16:creationId xmlns:a16="http://schemas.microsoft.com/office/drawing/2014/main" id="{3E49E242-B133-4631-A8B2-1823EF641FEC}"/>
              </a:ext>
            </a:extLst>
          </p:cNvPr>
          <p:cNvSpPr>
            <a:spLocks xmlns:a="http://schemas.openxmlformats.org/drawingml/2006/main" noGrp="1"/>
          </p:cNvSpPr>
          <p:nvPr/>
        </p:nvSpPr>
        <p:spPr>
          <a:xfrm xmlns:a="http://schemas.openxmlformats.org/drawingml/2006/main">
            <a:off x="7543800" y="399097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19" name="Puerta: microswitch KW11.&#10;MDF 3 mm y soportes PLA+">
            <a:extLst xmlns:a="http://schemas.openxmlformats.org/drawingml/2006/main">
              <a:ext uri="{FF2B5EF4-FFF2-40B4-BE49-F238E27FC236}">
                <a16:creationId xmlns:a16="http://schemas.microsoft.com/office/drawing/2014/main" id="{612E1436-1945-451A-B4F9-7B3C27AA3C50}"/>
              </a:ext>
            </a:extLst>
          </p:cNvPr>
          <p:cNvSpPr>
            <a:spLocks xmlns:a="http://schemas.openxmlformats.org/drawingml/2006/main" noGrp="1"/>
          </p:cNvSpPr>
          <p:nvPr/>
        </p:nvSpPr>
        <p:spPr>
          <a:xfrm xmlns:a="http://schemas.openxmlformats.org/drawingml/2006/main">
            <a:off x="7972425" y="3943350"/>
            <a:ext cx="36480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Puerta: microswitch KW11.</a:t>
            </a:r>
          </a:p>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MDF 3 mm y soportes PLA+.</a:t>
            </a:r>
          </a:p>
        </p:txBody>
      </p:sp>
      <p:sp>
        <p:nvSpPr>
          <p:cNvPr id="20" name="">
            <a:extLst xmlns:a="http://schemas.openxmlformats.org/drawingml/2006/main">
              <a:ext uri="{FF2B5EF4-FFF2-40B4-BE49-F238E27FC236}">
                <a16:creationId xmlns:a16="http://schemas.microsoft.com/office/drawing/2014/main" id="{7B4E8351-3DDC-4420-B21F-E209EF3DAB7F}"/>
              </a:ext>
            </a:extLst>
          </p:cNvPr>
          <p:cNvSpPr>
            <a:spLocks xmlns:a="http://schemas.openxmlformats.org/drawingml/2006/main" noGrp="1"/>
          </p:cNvSpPr>
          <p:nvPr/>
        </p:nvSpPr>
        <p:spPr>
          <a:xfrm xmlns:a="http://schemas.openxmlformats.org/drawingml/2006/main">
            <a:off x="7543800" y="4724400"/>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1" name="WODE 5 V / 2,4 A + fusible 1,5 A.&#10;5 V a placa/LED;">
            <a:extLst xmlns:a="http://schemas.openxmlformats.org/drawingml/2006/main">
              <a:ext uri="{FF2B5EF4-FFF2-40B4-BE49-F238E27FC236}">
                <a16:creationId xmlns:a16="http://schemas.microsoft.com/office/drawing/2014/main" id="{398796B0-BE37-4D01-9E4D-DA101D654BA8}"/>
              </a:ext>
            </a:extLst>
          </p:cNvPr>
          <p:cNvSpPr>
            <a:spLocks xmlns:a="http://schemas.openxmlformats.org/drawingml/2006/main" noGrp="1"/>
          </p:cNvSpPr>
          <p:nvPr/>
        </p:nvSpPr>
        <p:spPr>
          <a:xfrm xmlns:a="http://schemas.openxmlformats.org/drawingml/2006/main">
            <a:off x="7972425" y="4676775"/>
            <a:ext cx="36480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WODE 5 V / 2,4 A + fusible 1,5 A.</a:t>
            </a:r>
          </a:p>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5 V a placa/LED; 3,3 V a HX711.</a:t>
            </a:r>
          </a:p>
        </p:txBody>
      </p:sp>
      <p:sp>
        <p:nvSpPr>
          <p:cNvPr id="22" name="">
            <a:extLst xmlns:a="http://schemas.openxmlformats.org/drawingml/2006/main">
              <a:ext uri="{FF2B5EF4-FFF2-40B4-BE49-F238E27FC236}">
                <a16:creationId xmlns:a16="http://schemas.microsoft.com/office/drawing/2014/main" id="{5CA59BB8-7207-419A-89BE-9A0B2538DFB3}"/>
              </a:ext>
            </a:extLst>
          </p:cNvPr>
          <p:cNvSpPr>
            <a:spLocks xmlns:a="http://schemas.openxmlformats.org/drawingml/2006/main" noGrp="1"/>
          </p:cNvSpPr>
          <p:nvPr/>
        </p:nvSpPr>
        <p:spPr>
          <a:xfrm xmlns:a="http://schemas.openxmlformats.org/drawingml/2006/main">
            <a:off x="7543800" y="545782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6</a:t>
            </a:r>
          </a:p>
        </p:txBody>
      </p:sp>
      <p:sp>
        <p:nvSpPr>
          <p:cNvPr id="23" name="Wi-Fi 2,4 GHz / HTTP con app.&#10;Foto, masa, estado y">
            <a:extLst xmlns:a="http://schemas.openxmlformats.org/drawingml/2006/main">
              <a:ext uri="{FF2B5EF4-FFF2-40B4-BE49-F238E27FC236}">
                <a16:creationId xmlns:a16="http://schemas.microsoft.com/office/drawing/2014/main" id="{3B2B75D5-91F6-4A43-A626-D9F026C52C58}"/>
              </a:ext>
            </a:extLst>
          </p:cNvPr>
          <p:cNvSpPr>
            <a:spLocks xmlns:a="http://schemas.openxmlformats.org/drawingml/2006/main" noGrp="1"/>
          </p:cNvSpPr>
          <p:nvPr/>
        </p:nvSpPr>
        <p:spPr>
          <a:xfrm xmlns:a="http://schemas.openxmlformats.org/drawingml/2006/main">
            <a:off x="7972425" y="5410200"/>
            <a:ext cx="36480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Wi-Fi 2,4 GHz / HTTP con app.</a:t>
            </a:r>
          </a:p>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Foto, masa, estado y comandos.</a:t>
            </a:r>
          </a:p>
        </p:txBody>
      </p:sp>
      <p:sp>
        <p:nvSpPr>
          <p:cNvPr id="24" name="Construcción, consumo total y enlace físico pendie">
            <a:extLst xmlns:a="http://schemas.openxmlformats.org/drawingml/2006/main">
              <a:ext uri="{FF2B5EF4-FFF2-40B4-BE49-F238E27FC236}">
                <a16:creationId xmlns:a16="http://schemas.microsoft.com/office/drawing/2014/main" id="{DCCF011B-C8BE-4DB5-99F8-CCC6FC595AAB}"/>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Construcción, consumo total y enlace físico pendientes de comprobar.</a:t>
            </a:r>
          </a:p>
        </p:txBody>
      </p:sp>
    </p:spTree>
    <p:extLst>
      <p:ext uri="{BB962C8B-B14F-4D97-AF65-F5344CB8AC3E}">
        <p14:creationId xmlns:p14="http://schemas.microsoft.com/office/powerpoint/2010/main" val="2070113884"/>
      </p:ext>
    </p:extLst>
  </p:cSld>
</p:sld>
</file>

<file path=ppt/slides/slide19.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1" name="8. Pugh: evaluación técnica">
            <a:extLst xmlns:a="http://schemas.openxmlformats.org/drawingml/2006/main">
              <a:ext uri="{FF2B5EF4-FFF2-40B4-BE49-F238E27FC236}">
                <a16:creationId xmlns:a16="http://schemas.microsoft.com/office/drawing/2014/main" id="{E8225236-8385-413A-9C1F-41F340CAFEFF}"/>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8. Pugh: evaluación técnica</a:t>
            </a:r>
          </a:p>
        </p:txBody>
      </p:sp>
      <p:sp>
        <p:nvSpPr>
          <p:cNvPr id="2" name="Referencia A. +1 = ventaja; 0 = comparable; −1 = d">
            <a:extLst xmlns:a="http://schemas.openxmlformats.org/drawingml/2006/main">
              <a:ext uri="{FF2B5EF4-FFF2-40B4-BE49-F238E27FC236}">
                <a16:creationId xmlns:a16="http://schemas.microsoft.com/office/drawing/2014/main" id="{6E630016-1CBA-4927-A92C-489F8D331C4F}"/>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Referencia A. +1 = ventaja; 0 = comparable; −1 = desventaja. Valoración conceptual.</a:t>
            </a:r>
          </a:p>
        </p:txBody>
      </p:sp>
      <p:sp>
        <p:nvSpPr>
          <p:cNvPr id="3" name="Fuentes [1], [3], [5], [8], [12], [13], [24]. Refe">
            <a:extLst xmlns:a="http://schemas.openxmlformats.org/drawingml/2006/main">
              <a:ext uri="{FF2B5EF4-FFF2-40B4-BE49-F238E27FC236}">
                <a16:creationId xmlns:a16="http://schemas.microsoft.com/office/drawing/2014/main" id="{4C7BDA84-9AF0-4E43-A4A2-7A4DD530E434}"/>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 [3], [5], [8], [12], [13], [24]. Referencias al final.</a:t>
            </a:r>
          </a:p>
        </p:txBody>
      </p:sp>
      <p:sp>
        <p:nvSpPr>
          <p:cNvPr id="4" name="19">
            <a:extLst xmlns:a="http://schemas.openxmlformats.org/drawingml/2006/main">
              <a:ext uri="{FF2B5EF4-FFF2-40B4-BE49-F238E27FC236}">
                <a16:creationId xmlns:a16="http://schemas.microsoft.com/office/drawing/2014/main" id="{D4B5550B-35B8-4F79-8D54-13ED4644667F}"/>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19</a:t>
            </a:r>
          </a:p>
        </p:txBody>
      </p:sp>
      <p:pic>
        <p:nvPicPr>
          <p:cNvPr id="5" name="">
            <a:extLst xmlns:a="http://schemas.openxmlformats.org/drawingml/2006/main">
              <a:ext uri="{FF2B5EF4-FFF2-40B4-BE49-F238E27FC236}">
                <a16:creationId xmlns:a16="http://schemas.microsoft.com/office/drawing/2014/main" id="{D10CC11B-55F5-4E20-8642-190954DEBE3C}"/>
              </a:ext>
            </a:extLst>
          </p:cNvPr>
          <p:cNvPicPr>
            <a:picLocks xmlns:a="http://schemas.openxmlformats.org/drawingml/2006/main" noChangeAspect="1"/>
          </p:cNvPicPr>
          <p:nvPr/>
        </p:nvPicPr>
        <p:blipFill>
          <a:blip xmlns:r="http://schemas.openxmlformats.org/officeDocument/2006/relationships" xmlns:a="http://schemas.openxmlformats.org/drawingml/2006/main" r:embed="R86f660d468c44ca0"/>
          <a:stretch xmlns:a="http://schemas.openxmlformats.org/drawingml/2006/main"/>
        </p:blipFill>
        <p:spPr>
          <a:xfrm xmlns:a="http://schemas.openxmlformats.org/drawingml/2006/main">
            <a:off x="7935913" y="1666875"/>
            <a:ext cx="511175" cy="8763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546FB3F4-1C27-40DF-8417-0EA59EBDA65D}"/>
              </a:ext>
            </a:extLst>
          </p:cNvPr>
          <p:cNvPicPr>
            <a:picLocks xmlns:a="http://schemas.openxmlformats.org/drawingml/2006/main" noChangeAspect="1"/>
          </p:cNvPicPr>
          <p:nvPr/>
        </p:nvPicPr>
        <p:blipFill>
          <a:blip xmlns:r="http://schemas.openxmlformats.org/officeDocument/2006/relationships" xmlns:a="http://schemas.openxmlformats.org/drawingml/2006/main" r:embed="Rf1c637486ed54cfc"/>
          <a:stretch xmlns:a="http://schemas.openxmlformats.org/drawingml/2006/main"/>
        </p:blipFill>
        <p:spPr>
          <a:xfrm xmlns:a="http://schemas.openxmlformats.org/drawingml/2006/main">
            <a:off x="9262213" y="1666875"/>
            <a:ext cx="525574" cy="8763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01F42236-E82B-445A-BC54-D78D25D25388}"/>
              </a:ext>
            </a:extLst>
          </p:cNvPr>
          <p:cNvPicPr>
            <a:picLocks xmlns:a="http://schemas.openxmlformats.org/drawingml/2006/main" noChangeAspect="1"/>
          </p:cNvPicPr>
          <p:nvPr/>
        </p:nvPicPr>
        <p:blipFill>
          <a:blip xmlns:r="http://schemas.openxmlformats.org/officeDocument/2006/relationships" xmlns:a="http://schemas.openxmlformats.org/drawingml/2006/main" r:embed="R06fa2cce8aaf49fd"/>
          <a:stretch xmlns:a="http://schemas.openxmlformats.org/drawingml/2006/main"/>
        </p:blipFill>
        <p:spPr>
          <a:xfrm xmlns:a="http://schemas.openxmlformats.org/drawingml/2006/main">
            <a:off x="10427035" y="1666875"/>
            <a:ext cx="862929" cy="876300"/>
          </a:xfrm>
          <a:prstGeom xmlns:a="http://schemas.openxmlformats.org/drawingml/2006/main" prst="rect">
            <a:avLst/>
          </a:prstGeom>
        </p:spPr>
      </p:pic>
      <p:sp>
        <p:nvSpPr>
          <p:cNvPr id="8" name="Criterios vinculados a las exigencias">
            <a:extLst xmlns:a="http://schemas.openxmlformats.org/drawingml/2006/main">
              <a:ext uri="{FF2B5EF4-FFF2-40B4-BE49-F238E27FC236}">
                <a16:creationId xmlns:a16="http://schemas.microsoft.com/office/drawing/2014/main" id="{06050452-BD23-4693-AB50-409B2021F1A2}"/>
              </a:ext>
            </a:extLst>
          </p:cNvPr>
          <p:cNvSpPr>
            <a:spLocks xmlns:a="http://schemas.openxmlformats.org/drawingml/2006/main" noGrp="1"/>
          </p:cNvSpPr>
          <p:nvPr/>
        </p:nvSpPr>
        <p:spPr>
          <a:xfrm xmlns:a="http://schemas.openxmlformats.org/drawingml/2006/main">
            <a:off x="571500" y="194310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F2F"/>
                </a:solidFill>
                <a:latin typeface="Arial"/>
                <a:ea typeface="Arial"/>
                <a:cs typeface="Arial"/>
              </a:defRPr>
            </a:defPPr>
          </a:lstStyle>
          <a:p xmlns:a="http://schemas.openxmlformats.org/drawingml/2006/main">
            <a:pPr>
              <a:defRPr sz="2175" b="1">
                <a:solidFill>
                  <a:srgbClr val="173F2F"/>
                </a:solidFill>
                <a:latin typeface="Arial"/>
                <a:ea typeface="Arial"/>
                <a:cs typeface="Arial"/>
              </a:defRPr>
            </a:pPr>
            <a:r>
              <a:rPr sz="2175" b="1">
                <a:solidFill>
                  <a:srgbClr val="173F2F"/>
                </a:solidFill>
                <a:latin typeface="Arial"/>
                <a:ea typeface="Arial"/>
                <a:cs typeface="Arial"/>
              </a:rPr>
              <a:t>Criterios vinculados a las exigencias</a:t>
            </a:r>
          </a:p>
        </p:txBody>
      </p:sp>
      <p:graphicFrame>
        <p:nvGraphicFramePr>
          <p:cNvPr id="9" name="">
            <a:extLst xmlns:a="http://schemas.openxmlformats.org/drawingml/2006/main">
              <a:ext uri="{FF2B5EF4-FFF2-40B4-BE49-F238E27FC236}">
                <a16:creationId xmlns:a16="http://schemas.microsoft.com/office/drawing/2014/main" id="{5037C25B-D19F-4DD7-8E5D-2D7699DC4536}"/>
              </a:ext>
            </a:extLst>
          </p:cNvPr>
          <p:cNvGraphicFramePr/>
          <p:nvPr/>
        </p:nvGraphicFramePr>
        <p:xfrm>
          <a:off xmlns:a="http://schemas.openxmlformats.org/drawingml/2006/main" x="571500" y="2676525"/>
          <a:ext xmlns:a="http://schemas.openxmlformats.org/drawingml/2006/main" cx="11049000" cy="3076575"/>
        </p:xfrm>
        <a:graphic xmlns:a="http://schemas.openxmlformats.org/drawingml/2006/main">
          <a:graphicData uri="http://schemas.openxmlformats.org/drawingml/2006/table">
            <a:tbl>
              <a:tblPr/>
              <a:tblGrid>
                <a:gridCol w="6762750"/>
                <a:gridCol w="1000125"/>
                <a:gridCol w="1095375"/>
                <a:gridCol w="1095375"/>
                <a:gridCol w="1095375"/>
              </a:tblGrid>
              <a:tr h="371475">
                <a:tc>
                  <a:txBody>
                    <a:bodyPr/>
                    <a:lstStyle/>
                    <a:p>
                      <a:r>
                        <a:rPr sz="1725" b="1">
                          <a:solidFill>
                            <a:srgbClr val="FFFFFF"/>
                          </a:solidFill>
                          <a:latin typeface="Arial"/>
                          <a:ea typeface="Arial"/>
                          <a:cs typeface="Arial"/>
                        </a:rPr>
                        <a:t>Criterio</a:t>
                      </a:r>
                    </a:p>
                  </a:txBody>
                  <a:tcPr marL="95250" marR="95250" marT="19050" marB="19050" anchor="ctr">
                    <a:solidFill>
                      <a:srgbClr val="173F2F"/>
                    </a:solidFill>
                  </a:tcPr>
                </a:tc>
                <a:tc>
                  <a:txBody>
                    <a:bodyPr/>
                    <a:lstStyle/>
                    <a:p>
                      <a:r>
                        <a:rPr sz="1725" b="1">
                          <a:solidFill>
                            <a:srgbClr val="FFFFFF"/>
                          </a:solidFill>
                          <a:latin typeface="Arial"/>
                          <a:ea typeface="Arial"/>
                          <a:cs typeface="Arial"/>
                        </a:rPr>
                        <a:t>Peso</a:t>
                      </a:r>
                    </a:p>
                  </a:txBody>
                  <a:tcPr marL="95250" marR="95250" marT="19050" marB="19050" anchor="ctr">
                    <a:solidFill>
                      <a:srgbClr val="173F2F"/>
                    </a:solidFill>
                  </a:tcPr>
                </a:tc>
                <a:tc>
                  <a:txBody>
                    <a:bodyPr/>
                    <a:lstStyle/>
                    <a:p>
                      <a:r>
                        <a:rPr sz="1725" b="1">
                          <a:solidFill>
                            <a:srgbClr val="FFFFFF"/>
                          </a:solidFill>
                          <a:latin typeface="Arial"/>
                          <a:ea typeface="Arial"/>
                          <a:cs typeface="Arial"/>
                        </a:rPr>
                        <a:t>A</a:t>
                      </a:r>
                    </a:p>
                  </a:txBody>
                  <a:tcPr marL="95250" marR="95250" marT="19050" marB="19050" anchor="ctr">
                    <a:solidFill>
                      <a:srgbClr val="173F2F"/>
                    </a:solidFill>
                  </a:tcPr>
                </a:tc>
                <a:tc>
                  <a:txBody>
                    <a:bodyPr/>
                    <a:lstStyle/>
                    <a:p>
                      <a:r>
                        <a:rPr sz="1725" b="1">
                          <a:solidFill>
                            <a:srgbClr val="FFFFFF"/>
                          </a:solidFill>
                          <a:latin typeface="Arial"/>
                          <a:ea typeface="Arial"/>
                          <a:cs typeface="Arial"/>
                        </a:rPr>
                        <a:t>B</a:t>
                      </a:r>
                    </a:p>
                  </a:txBody>
                  <a:tcPr marL="95250" marR="95250" marT="19050" marB="19050" anchor="ctr">
                    <a:solidFill>
                      <a:srgbClr val="173F2F"/>
                    </a:solidFill>
                  </a:tcPr>
                </a:tc>
                <a:tc>
                  <a:txBody>
                    <a:bodyPr/>
                    <a:lstStyle/>
                    <a:p>
                      <a:r>
                        <a:rPr sz="1725" b="1">
                          <a:solidFill>
                            <a:srgbClr val="FFFFFF"/>
                          </a:solidFill>
                          <a:latin typeface="Arial"/>
                          <a:ea typeface="Arial"/>
                          <a:cs typeface="Arial"/>
                        </a:rPr>
                        <a:t>C</a:t>
                      </a:r>
                    </a:p>
                  </a:txBody>
                  <a:tcPr marL="95250" marR="95250" marT="19050" marB="19050" anchor="ctr">
                    <a:solidFill>
                      <a:srgbClr val="173F2F"/>
                    </a:solidFill>
                  </a:tcPr>
                </a:tc>
              </a:tr>
              <a:tr h="385763">
                <a:tc>
                  <a:txBody>
                    <a:bodyPr/>
                    <a:lstStyle/>
                    <a:p>
                      <a:r>
                        <a:rPr sz="1725">
                          <a:solidFill>
                            <a:srgbClr val="173F2F"/>
                          </a:solidFill>
                          <a:latin typeface="Arial"/>
                          <a:ea typeface="Arial"/>
                          <a:cs typeface="Arial"/>
                        </a:rPr>
                        <a:t>Masa total medida</a:t>
                      </a:r>
                    </a:p>
                  </a:txBody>
                  <a:tcPr marL="95250" marR="95250" marT="19050" marB="19050" anchor="ctr">
                    <a:solidFill>
                      <a:srgbClr val="FFFFFF"/>
                    </a:solidFill>
                  </a:tcPr>
                </a:tc>
                <a:tc>
                  <a:txBody>
                    <a:bodyPr/>
                    <a:lstStyle/>
                    <a:p>
                      <a:r>
                        <a:rPr sz="1725">
                          <a:solidFill>
                            <a:srgbClr val="173F2F"/>
                          </a:solidFill>
                          <a:latin typeface="Arial"/>
                          <a:ea typeface="Arial"/>
                          <a:cs typeface="Arial"/>
                        </a:rPr>
                        <a:t>3</a:t>
                      </a:r>
                    </a:p>
                  </a:txBody>
                  <a:tcPr marL="95250" marR="95250" marT="19050" marB="19050" anchor="ctr">
                    <a:solidFill>
                      <a:srgbClr val="FFFFFF"/>
                    </a:solidFill>
                  </a:tcPr>
                </a:tc>
                <a:tc>
                  <a:txBody>
                    <a:bodyPr/>
                    <a:lstStyle/>
                    <a:p>
                      <a:r>
                        <a:rPr sz="1725">
                          <a:solidFill>
                            <a:srgbClr val="173F2F"/>
                          </a:solidFill>
                          <a:latin typeface="Arial"/>
                          <a:ea typeface="Arial"/>
                          <a:cs typeface="Arial"/>
                        </a:rPr>
                        <a:t>0</a:t>
                      </a:r>
                    </a:p>
                  </a:txBody>
                  <a:tcPr marL="95250" marR="95250" marT="19050" marB="19050" anchor="ctr">
                    <a:solidFill>
                      <a:srgbClr val="FFFFFF"/>
                    </a:solidFill>
                  </a:tcPr>
                </a:tc>
                <a:tc>
                  <a:txBody>
                    <a:bodyPr/>
                    <a:lstStyle/>
                    <a:p>
                      <a:r>
                        <a:rPr sz="1725">
                          <a:solidFill>
                            <a:srgbClr val="173F2F"/>
                          </a:solidFill>
                          <a:latin typeface="Arial"/>
                          <a:ea typeface="Arial"/>
                          <a:cs typeface="Arial"/>
                        </a:rPr>
                        <a:t>+1</a:t>
                      </a:r>
                    </a:p>
                  </a:txBody>
                  <a:tcPr marL="95250" marR="95250" marT="19050" marB="19050" anchor="ctr">
                    <a:solidFill>
                      <a:srgbClr val="FFFFFF"/>
                    </a:solidFill>
                  </a:tcPr>
                </a:tc>
                <a:tc>
                  <a:txBody>
                    <a:bodyPr/>
                    <a:lstStyle/>
                    <a:p>
                      <a:r>
                        <a:rPr sz="1725">
                          <a:solidFill>
                            <a:srgbClr val="173F2F"/>
                          </a:solidFill>
                          <a:latin typeface="Arial"/>
                          <a:ea typeface="Arial"/>
                          <a:cs typeface="Arial"/>
                        </a:rPr>
                        <a:t>+1</a:t>
                      </a:r>
                    </a:p>
                  </a:txBody>
                  <a:tcPr marL="95250" marR="95250" marT="19050" marB="19050" anchor="ctr">
                    <a:solidFill>
                      <a:srgbClr val="FFFFFF"/>
                    </a:solidFill>
                  </a:tcPr>
                </a:tc>
              </a:tr>
              <a:tr h="385763">
                <a:tc>
                  <a:txBody>
                    <a:bodyPr/>
                    <a:lstStyle/>
                    <a:p>
                      <a:r>
                        <a:rPr sz="1725">
                          <a:solidFill>
                            <a:srgbClr val="173F2F"/>
                          </a:solidFill>
                          <a:latin typeface="Arial"/>
                          <a:ea typeface="Arial"/>
                          <a:cs typeface="Arial"/>
                        </a:rPr>
                        <a:t>Iluminación controlada</a:t>
                      </a:r>
                    </a:p>
                  </a:txBody>
                  <a:tcPr marL="95250" marR="95250" marT="19050" marB="19050" anchor="ctr">
                    <a:solidFill>
                      <a:srgbClr val="EFF2E8"/>
                    </a:solidFill>
                  </a:tcPr>
                </a:tc>
                <a:tc>
                  <a:txBody>
                    <a:bodyPr/>
                    <a:lstStyle/>
                    <a:p>
                      <a:r>
                        <a:rPr sz="1725">
                          <a:solidFill>
                            <a:srgbClr val="173F2F"/>
                          </a:solidFill>
                          <a:latin typeface="Arial"/>
                          <a:ea typeface="Arial"/>
                          <a:cs typeface="Arial"/>
                        </a:rPr>
                        <a:t>2</a:t>
                      </a:r>
                    </a:p>
                  </a:txBody>
                  <a:tcPr marL="95250" marR="95250" marT="19050" marB="19050" anchor="ctr">
                    <a:solidFill>
                      <a:srgbClr val="EFF2E8"/>
                    </a:solidFill>
                  </a:tcPr>
                </a:tc>
                <a:tc>
                  <a:txBody>
                    <a:bodyPr/>
                    <a:lstStyle/>
                    <a:p>
                      <a:r>
                        <a:rPr sz="1725">
                          <a:solidFill>
                            <a:srgbClr val="173F2F"/>
                          </a:solidFill>
                          <a:latin typeface="Arial"/>
                          <a:ea typeface="Arial"/>
                          <a:cs typeface="Arial"/>
                        </a:rPr>
                        <a:t>0</a:t>
                      </a:r>
                    </a:p>
                  </a:txBody>
                  <a:tcPr marL="95250" marR="95250" marT="19050" marB="19050" anchor="ctr">
                    <a:solidFill>
                      <a:srgbClr val="EFF2E8"/>
                    </a:solidFill>
                  </a:tcPr>
                </a:tc>
                <a:tc>
                  <a:txBody>
                    <a:bodyPr/>
                    <a:lstStyle/>
                    <a:p>
                      <a:r>
                        <a:rPr sz="1725">
                          <a:solidFill>
                            <a:srgbClr val="173F2F"/>
                          </a:solidFill>
                          <a:latin typeface="Arial"/>
                          <a:ea typeface="Arial"/>
                          <a:cs typeface="Arial"/>
                        </a:rPr>
                        <a:t>0</a:t>
                      </a:r>
                    </a:p>
                  </a:txBody>
                  <a:tcPr marL="95250" marR="95250" marT="19050" marB="19050" anchor="ctr">
                    <a:solidFill>
                      <a:srgbClr val="EFF2E8"/>
                    </a:solidFill>
                  </a:tcPr>
                </a:tc>
                <a:tc>
                  <a:txBody>
                    <a:bodyPr/>
                    <a:lstStyle/>
                    <a:p>
                      <a:r>
                        <a:rPr sz="1725">
                          <a:solidFill>
                            <a:srgbClr val="173F2F"/>
                          </a:solidFill>
                          <a:latin typeface="Arial"/>
                          <a:ea typeface="Arial"/>
                          <a:cs typeface="Arial"/>
                        </a:rPr>
                        <a:t>+1</a:t>
                      </a:r>
                    </a:p>
                  </a:txBody>
                  <a:tcPr marL="95250" marR="95250" marT="19050" marB="19050" anchor="ctr">
                    <a:solidFill>
                      <a:srgbClr val="EFF2E8"/>
                    </a:solidFill>
                  </a:tcPr>
                </a:tc>
              </a:tr>
              <a:tr h="385763">
                <a:tc>
                  <a:txBody>
                    <a:bodyPr/>
                    <a:lstStyle/>
                    <a:p>
                      <a:r>
                        <a:rPr sz="1725">
                          <a:solidFill>
                            <a:srgbClr val="173F2F"/>
                          </a:solidFill>
                          <a:latin typeface="Arial"/>
                          <a:ea typeface="Arial"/>
                          <a:cs typeface="Arial"/>
                        </a:rPr>
                        <a:t>Encuadre fijo</a:t>
                      </a:r>
                    </a:p>
                  </a:txBody>
                  <a:tcPr marL="95250" marR="95250" marT="19050" marB="19050" anchor="ctr">
                    <a:solidFill>
                      <a:srgbClr val="FFFFFF"/>
                    </a:solidFill>
                  </a:tcPr>
                </a:tc>
                <a:tc>
                  <a:txBody>
                    <a:bodyPr/>
                    <a:lstStyle/>
                    <a:p>
                      <a:r>
                        <a:rPr sz="1725">
                          <a:solidFill>
                            <a:srgbClr val="173F2F"/>
                          </a:solidFill>
                          <a:latin typeface="Arial"/>
                          <a:ea typeface="Arial"/>
                          <a:cs typeface="Arial"/>
                        </a:rPr>
                        <a:t>2</a:t>
                      </a:r>
                    </a:p>
                  </a:txBody>
                  <a:tcPr marL="95250" marR="95250" marT="19050" marB="19050" anchor="ctr">
                    <a:solidFill>
                      <a:srgbClr val="FFFFFF"/>
                    </a:solidFill>
                  </a:tcPr>
                </a:tc>
                <a:tc>
                  <a:txBody>
                    <a:bodyPr/>
                    <a:lstStyle/>
                    <a:p>
                      <a:r>
                        <a:rPr sz="1725">
                          <a:solidFill>
                            <a:srgbClr val="173F2F"/>
                          </a:solidFill>
                          <a:latin typeface="Arial"/>
                          <a:ea typeface="Arial"/>
                          <a:cs typeface="Arial"/>
                        </a:rPr>
                        <a:t>0</a:t>
                      </a:r>
                    </a:p>
                  </a:txBody>
                  <a:tcPr marL="95250" marR="95250" marT="19050" marB="19050" anchor="ctr">
                    <a:solidFill>
                      <a:srgbClr val="FFFFFF"/>
                    </a:solidFill>
                  </a:tcPr>
                </a:tc>
                <a:tc>
                  <a:txBody>
                    <a:bodyPr/>
                    <a:lstStyle/>
                    <a:p>
                      <a:r>
                        <a:rPr sz="1725">
                          <a:solidFill>
                            <a:srgbClr val="173F2F"/>
                          </a:solidFill>
                          <a:latin typeface="Arial"/>
                          <a:ea typeface="Arial"/>
                          <a:cs typeface="Arial"/>
                        </a:rPr>
                        <a:t>+1</a:t>
                      </a:r>
                    </a:p>
                  </a:txBody>
                  <a:tcPr marL="95250" marR="95250" marT="19050" marB="19050" anchor="ctr">
                    <a:solidFill>
                      <a:srgbClr val="FFFFFF"/>
                    </a:solidFill>
                  </a:tcPr>
                </a:tc>
                <a:tc>
                  <a:txBody>
                    <a:bodyPr/>
                    <a:lstStyle/>
                    <a:p>
                      <a:r>
                        <a:rPr sz="1725">
                          <a:solidFill>
                            <a:srgbClr val="173F2F"/>
                          </a:solidFill>
                          <a:latin typeface="Arial"/>
                          <a:ea typeface="Arial"/>
                          <a:cs typeface="Arial"/>
                        </a:rPr>
                        <a:t>+1</a:t>
                      </a:r>
                    </a:p>
                  </a:txBody>
                  <a:tcPr marL="95250" marR="95250" marT="19050" marB="19050" anchor="ctr">
                    <a:solidFill>
                      <a:srgbClr val="FFFFFF"/>
                    </a:solidFill>
                  </a:tcPr>
                </a:tc>
              </a:tr>
              <a:tr h="385763">
                <a:tc>
                  <a:txBody>
                    <a:bodyPr/>
                    <a:lstStyle/>
                    <a:p>
                      <a:r>
                        <a:rPr sz="1725">
                          <a:solidFill>
                            <a:srgbClr val="173F2F"/>
                          </a:solidFill>
                          <a:latin typeface="Arial"/>
                          <a:ea typeface="Arial"/>
                          <a:cs typeface="Arial"/>
                        </a:rPr>
                        <a:t>Ingreso automático de masa y foto</a:t>
                      </a:r>
                    </a:p>
                  </a:txBody>
                  <a:tcPr marL="95250" marR="95250" marT="19050" marB="19050" anchor="ctr">
                    <a:solidFill>
                      <a:srgbClr val="EFF2E8"/>
                    </a:solidFill>
                  </a:tcPr>
                </a:tc>
                <a:tc>
                  <a:txBody>
                    <a:bodyPr/>
                    <a:lstStyle/>
                    <a:p>
                      <a:r>
                        <a:rPr sz="1725">
                          <a:solidFill>
                            <a:srgbClr val="173F2F"/>
                          </a:solidFill>
                          <a:latin typeface="Arial"/>
                          <a:ea typeface="Arial"/>
                          <a:cs typeface="Arial"/>
                        </a:rPr>
                        <a:t>3</a:t>
                      </a:r>
                    </a:p>
                  </a:txBody>
                  <a:tcPr marL="95250" marR="95250" marT="19050" marB="19050" anchor="ctr">
                    <a:solidFill>
                      <a:srgbClr val="EFF2E8"/>
                    </a:solidFill>
                  </a:tcPr>
                </a:tc>
                <a:tc>
                  <a:txBody>
                    <a:bodyPr/>
                    <a:lstStyle/>
                    <a:p>
                      <a:r>
                        <a:rPr sz="1725">
                          <a:solidFill>
                            <a:srgbClr val="173F2F"/>
                          </a:solidFill>
                          <a:latin typeface="Arial"/>
                          <a:ea typeface="Arial"/>
                          <a:cs typeface="Arial"/>
                        </a:rPr>
                        <a:t>0</a:t>
                      </a:r>
                    </a:p>
                  </a:txBody>
                  <a:tcPr marL="95250" marR="95250" marT="19050" marB="19050" anchor="ctr">
                    <a:solidFill>
                      <a:srgbClr val="EFF2E8"/>
                    </a:solidFill>
                  </a:tcPr>
                </a:tc>
                <a:tc>
                  <a:txBody>
                    <a:bodyPr/>
                    <a:lstStyle/>
                    <a:p>
                      <a:r>
                        <a:rPr sz="1725">
                          <a:solidFill>
                            <a:srgbClr val="173F2F"/>
                          </a:solidFill>
                          <a:latin typeface="Arial"/>
                          <a:ea typeface="Arial"/>
                          <a:cs typeface="Arial"/>
                        </a:rPr>
                        <a:t>0</a:t>
                      </a:r>
                    </a:p>
                  </a:txBody>
                  <a:tcPr marL="95250" marR="95250" marT="19050" marB="19050" anchor="ctr">
                    <a:solidFill>
                      <a:srgbClr val="EFF2E8"/>
                    </a:solidFill>
                  </a:tcPr>
                </a:tc>
                <a:tc>
                  <a:txBody>
                    <a:bodyPr/>
                    <a:lstStyle/>
                    <a:p>
                      <a:r>
                        <a:rPr sz="1725">
                          <a:solidFill>
                            <a:srgbClr val="173F2F"/>
                          </a:solidFill>
                          <a:latin typeface="Arial"/>
                          <a:ea typeface="Arial"/>
                          <a:cs typeface="Arial"/>
                        </a:rPr>
                        <a:t>+1</a:t>
                      </a:r>
                    </a:p>
                  </a:txBody>
                  <a:tcPr marL="95250" marR="95250" marT="19050" marB="19050" anchor="ctr">
                    <a:solidFill>
                      <a:srgbClr val="EFF2E8"/>
                    </a:solidFill>
                  </a:tcPr>
                </a:tc>
              </a:tr>
              <a:tr h="385763">
                <a:tc>
                  <a:txBody>
                    <a:bodyPr/>
                    <a:lstStyle/>
                    <a:p>
                      <a:r>
                        <a:rPr sz="1725">
                          <a:solidFill>
                            <a:srgbClr val="173F2F"/>
                          </a:solidFill>
                          <a:latin typeface="Arial"/>
                          <a:ea typeface="Arial"/>
                          <a:cs typeface="Arial"/>
                        </a:rPr>
                        <a:t>Corrección y fuente trazable</a:t>
                      </a:r>
                    </a:p>
                  </a:txBody>
                  <a:tcPr marL="95250" marR="95250" marT="19050" marB="19050" anchor="ctr">
                    <a:solidFill>
                      <a:srgbClr val="FFFFFF"/>
                    </a:solidFill>
                  </a:tcPr>
                </a:tc>
                <a:tc>
                  <a:txBody>
                    <a:bodyPr/>
                    <a:lstStyle/>
                    <a:p>
                      <a:r>
                        <a:rPr sz="1725">
                          <a:solidFill>
                            <a:srgbClr val="173F2F"/>
                          </a:solidFill>
                          <a:latin typeface="Arial"/>
                          <a:ea typeface="Arial"/>
                          <a:cs typeface="Arial"/>
                        </a:rPr>
                        <a:t>2</a:t>
                      </a:r>
                    </a:p>
                  </a:txBody>
                  <a:tcPr marL="95250" marR="95250" marT="19050" marB="19050" anchor="ctr">
                    <a:solidFill>
                      <a:srgbClr val="FFFFFF"/>
                    </a:solidFill>
                  </a:tcPr>
                </a:tc>
                <a:tc>
                  <a:txBody>
                    <a:bodyPr/>
                    <a:lstStyle/>
                    <a:p>
                      <a:r>
                        <a:rPr sz="1725">
                          <a:solidFill>
                            <a:srgbClr val="173F2F"/>
                          </a:solidFill>
                          <a:latin typeface="Arial"/>
                          <a:ea typeface="Arial"/>
                          <a:cs typeface="Arial"/>
                        </a:rPr>
                        <a:t>0</a:t>
                      </a:r>
                    </a:p>
                  </a:txBody>
                  <a:tcPr marL="95250" marR="95250" marT="19050" marB="19050" anchor="ctr">
                    <a:solidFill>
                      <a:srgbClr val="FFFFFF"/>
                    </a:solidFill>
                  </a:tcPr>
                </a:tc>
                <a:tc>
                  <a:txBody>
                    <a:bodyPr/>
                    <a:lstStyle/>
                    <a:p>
                      <a:r>
                        <a:rPr sz="1725">
                          <a:solidFill>
                            <a:srgbClr val="173F2F"/>
                          </a:solidFill>
                          <a:latin typeface="Arial"/>
                          <a:ea typeface="Arial"/>
                          <a:cs typeface="Arial"/>
                        </a:rPr>
                        <a:t>0</a:t>
                      </a:r>
                    </a:p>
                  </a:txBody>
                  <a:tcPr marL="95250" marR="95250" marT="19050" marB="19050" anchor="ctr">
                    <a:solidFill>
                      <a:srgbClr val="FFFFFF"/>
                    </a:solidFill>
                  </a:tcPr>
                </a:tc>
                <a:tc>
                  <a:txBody>
                    <a:bodyPr/>
                    <a:lstStyle/>
                    <a:p>
                      <a:r>
                        <a:rPr sz="1725">
                          <a:solidFill>
                            <a:srgbClr val="173F2F"/>
                          </a:solidFill>
                          <a:latin typeface="Arial"/>
                          <a:ea typeface="Arial"/>
                          <a:cs typeface="Arial"/>
                        </a:rPr>
                        <a:t>0</a:t>
                      </a:r>
                    </a:p>
                  </a:txBody>
                  <a:tcPr marL="95250" marR="95250" marT="19050" marB="19050" anchor="ctr">
                    <a:solidFill>
                      <a:srgbClr val="FFFFFF"/>
                    </a:solidFill>
                  </a:tcPr>
                </a:tc>
              </a:tr>
              <a:tr h="385763">
                <a:tc>
                  <a:txBody>
                    <a:bodyPr/>
                    <a:lstStyle/>
                    <a:p>
                      <a:r>
                        <a:rPr sz="1725">
                          <a:solidFill>
                            <a:srgbClr val="173F2F"/>
                          </a:solidFill>
                          <a:latin typeface="Arial"/>
                          <a:ea typeface="Arial"/>
                          <a:cs typeface="Arial"/>
                        </a:rPr>
                        <a:t>Recipiente lavable</a:t>
                      </a:r>
                    </a:p>
                  </a:txBody>
                  <a:tcPr marL="95250" marR="95250" marT="19050" marB="19050" anchor="ctr">
                    <a:solidFill>
                      <a:srgbClr val="EFF2E8"/>
                    </a:solidFill>
                  </a:tcPr>
                </a:tc>
                <a:tc>
                  <a:txBody>
                    <a:bodyPr/>
                    <a:lstStyle/>
                    <a:p>
                      <a:r>
                        <a:rPr sz="1725">
                          <a:solidFill>
                            <a:srgbClr val="173F2F"/>
                          </a:solidFill>
                          <a:latin typeface="Arial"/>
                          <a:ea typeface="Arial"/>
                          <a:cs typeface="Arial"/>
                        </a:rPr>
                        <a:t>2</a:t>
                      </a:r>
                    </a:p>
                  </a:txBody>
                  <a:tcPr marL="95250" marR="95250" marT="19050" marB="19050" anchor="ctr">
                    <a:solidFill>
                      <a:srgbClr val="EFF2E8"/>
                    </a:solidFill>
                  </a:tcPr>
                </a:tc>
                <a:tc>
                  <a:txBody>
                    <a:bodyPr/>
                    <a:lstStyle/>
                    <a:p>
                      <a:r>
                        <a:rPr sz="1725">
                          <a:solidFill>
                            <a:srgbClr val="173F2F"/>
                          </a:solidFill>
                          <a:latin typeface="Arial"/>
                          <a:ea typeface="Arial"/>
                          <a:cs typeface="Arial"/>
                        </a:rPr>
                        <a:t>0</a:t>
                      </a:r>
                    </a:p>
                  </a:txBody>
                  <a:tcPr marL="95250" marR="95250" marT="19050" marB="19050" anchor="ctr">
                    <a:solidFill>
                      <a:srgbClr val="EFF2E8"/>
                    </a:solidFill>
                  </a:tcPr>
                </a:tc>
                <a:tc>
                  <a:txBody>
                    <a:bodyPr/>
                    <a:lstStyle/>
                    <a:p>
                      <a:r>
                        <a:rPr sz="1725">
                          <a:solidFill>
                            <a:srgbClr val="173F2F"/>
                          </a:solidFill>
                          <a:latin typeface="Arial"/>
                          <a:ea typeface="Arial"/>
                          <a:cs typeface="Arial"/>
                        </a:rPr>
                        <a:t>0</a:t>
                      </a:r>
                    </a:p>
                  </a:txBody>
                  <a:tcPr marL="95250" marR="95250" marT="19050" marB="19050" anchor="ctr">
                    <a:solidFill>
                      <a:srgbClr val="EFF2E8"/>
                    </a:solidFill>
                  </a:tcPr>
                </a:tc>
                <a:tc>
                  <a:txBody>
                    <a:bodyPr/>
                    <a:lstStyle/>
                    <a:p>
                      <a:r>
                        <a:rPr sz="1725">
                          <a:solidFill>
                            <a:srgbClr val="173F2F"/>
                          </a:solidFill>
                          <a:latin typeface="Arial"/>
                          <a:ea typeface="Arial"/>
                          <a:cs typeface="Arial"/>
                        </a:rPr>
                        <a:t>0</a:t>
                      </a:r>
                    </a:p>
                  </a:txBody>
                  <a:tcPr marL="95250" marR="95250" marT="19050" marB="19050" anchor="ctr">
                    <a:solidFill>
                      <a:srgbClr val="EFF2E8"/>
                    </a:solidFill>
                  </a:tcPr>
                </a:tc>
              </a:tr>
              <a:tr h="385763">
                <a:tc>
                  <a:txBody>
                    <a:bodyPr/>
                    <a:lstStyle/>
                    <a:p>
                      <a:r>
                        <a:rPr sz="1725">
                          <a:solidFill>
                            <a:srgbClr val="173F2F"/>
                          </a:solidFill>
                          <a:latin typeface="Arial"/>
                          <a:ea typeface="Arial"/>
                          <a:cs typeface="Arial"/>
                        </a:rPr>
                        <a:t>Subtotal Σ(peso × valoración)</a:t>
                      </a:r>
                    </a:p>
                  </a:txBody>
                  <a:tcPr marL="95250" marR="95250" marT="19050" marB="19050" anchor="ctr">
                    <a:solidFill>
                      <a:srgbClr val="FFFFFF"/>
                    </a:solidFill>
                  </a:tcPr>
                </a:tc>
                <a:tc>
                  <a:txBody>
                    <a:bodyPr/>
                    <a:lstStyle/>
                    <a:p>
                      <a:r>
                        <a:rPr sz="1725">
                          <a:solidFill>
                            <a:srgbClr val="173F2F"/>
                          </a:solidFill>
                          <a:latin typeface="Arial"/>
                          <a:ea typeface="Arial"/>
                          <a:cs typeface="Arial"/>
                        </a:rPr>
                        <a:t/>
                      </a:r>
                    </a:p>
                  </a:txBody>
                  <a:tcPr marL="95250" marR="95250" marT="19050" marB="19050" anchor="ctr">
                    <a:solidFill>
                      <a:srgbClr val="FFFFFF"/>
                    </a:solidFill>
                  </a:tcPr>
                </a:tc>
                <a:tc>
                  <a:txBody>
                    <a:bodyPr/>
                    <a:lstStyle/>
                    <a:p>
                      <a:r>
                        <a:rPr sz="1725">
                          <a:solidFill>
                            <a:srgbClr val="173F2F"/>
                          </a:solidFill>
                          <a:latin typeface="Arial"/>
                          <a:ea typeface="Arial"/>
                          <a:cs typeface="Arial"/>
                        </a:rPr>
                        <a:t>0</a:t>
                      </a:r>
                    </a:p>
                  </a:txBody>
                  <a:tcPr marL="95250" marR="95250" marT="19050" marB="19050" anchor="ctr">
                    <a:solidFill>
                      <a:srgbClr val="FFFFFF"/>
                    </a:solidFill>
                  </a:tcPr>
                </a:tc>
                <a:tc>
                  <a:txBody>
                    <a:bodyPr/>
                    <a:lstStyle/>
                    <a:p>
                      <a:r>
                        <a:rPr sz="1725">
                          <a:solidFill>
                            <a:srgbClr val="173F2F"/>
                          </a:solidFill>
                          <a:latin typeface="Arial"/>
                          <a:ea typeface="Arial"/>
                          <a:cs typeface="Arial"/>
                        </a:rPr>
                        <a:t>5</a:t>
                      </a:r>
                    </a:p>
                  </a:txBody>
                  <a:tcPr marL="95250" marR="95250" marT="19050" marB="19050" anchor="ctr">
                    <a:solidFill>
                      <a:srgbClr val="FFFFFF"/>
                    </a:solidFill>
                  </a:tcPr>
                </a:tc>
                <a:tc>
                  <a:txBody>
                    <a:bodyPr/>
                    <a:lstStyle/>
                    <a:p>
                      <a:r>
                        <a:rPr sz="1725">
                          <a:solidFill>
                            <a:srgbClr val="173F2F"/>
                          </a:solidFill>
                          <a:latin typeface="Arial"/>
                          <a:ea typeface="Arial"/>
                          <a:cs typeface="Arial"/>
                        </a:rPr>
                        <a:t>10</a:t>
                      </a:r>
                    </a:p>
                  </a:txBody>
                  <a:tcPr marL="95250" marR="95250" marT="19050" marB="19050" anchor="ctr">
                    <a:solidFill>
                      <a:srgbClr val="FFFFFF"/>
                    </a:solidFill>
                  </a:tcPr>
                </a:tc>
              </a:tr>
            </a:tbl>
          </a:graphicData>
        </a:graphic>
      </p:graphicFrame>
      <p:sp>
        <p:nvSpPr>
          <p:cNvPr id="10" name="Peso 3: masa y enlace. Peso 2: captura, trazabilid">
            <a:extLst xmlns:a="http://schemas.openxmlformats.org/drawingml/2006/main">
              <a:ext uri="{FF2B5EF4-FFF2-40B4-BE49-F238E27FC236}">
                <a16:creationId xmlns:a16="http://schemas.microsoft.com/office/drawing/2014/main" id="{4CC3F890-B9EA-44FA-BCD0-F4C31C17EE40}"/>
              </a:ext>
            </a:extLst>
          </p:cNvPr>
          <p:cNvSpPr>
            <a:spLocks xmlns:a="http://schemas.openxmlformats.org/drawingml/2006/main" noGrp="1"/>
          </p:cNvSpPr>
          <p:nvPr/>
        </p:nvSpPr>
        <p:spPr>
          <a:xfrm xmlns:a="http://schemas.openxmlformats.org/drawingml/2006/main">
            <a:off x="571500" y="5953125"/>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AD6240"/>
                </a:solidFill>
                <a:latin typeface="Arial"/>
                <a:ea typeface="Arial"/>
                <a:cs typeface="Arial"/>
              </a:defRPr>
            </a:defPPr>
          </a:lstStyle>
          <a:p xmlns:a="http://schemas.openxmlformats.org/drawingml/2006/main">
            <a:pPr>
              <a:defRPr sz="1725" b="1">
                <a:solidFill>
                  <a:srgbClr val="AD6240"/>
                </a:solidFill>
                <a:latin typeface="Arial"/>
                <a:ea typeface="Arial"/>
                <a:cs typeface="Arial"/>
              </a:defRPr>
            </a:pPr>
            <a:r>
              <a:rPr sz="1725" b="1">
                <a:solidFill>
                  <a:srgbClr val="AD6240"/>
                </a:solidFill>
                <a:latin typeface="Arial"/>
                <a:ea typeface="Arial"/>
                <a:cs typeface="Arial"/>
              </a:rPr>
              <a:t>Peso 3: masa y enlace. Peso 2: captura, trazabilidad y limpieza.</a:t>
            </a:r>
          </a:p>
        </p:txBody>
      </p:sp>
    </p:spTree>
    <p:extLst>
      <p:ext uri="{BB962C8B-B14F-4D97-AF65-F5344CB8AC3E}">
        <p14:creationId xmlns:p14="http://schemas.microsoft.com/office/powerpoint/2010/main" val="186187671"/>
      </p:ext>
    </p:extLst>
  </p:cSld>
</p:sld>
</file>

<file path=ppt/slides/slide20.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1" name="8. Pugh: evaluación económica">
            <a:extLst xmlns:a="http://schemas.openxmlformats.org/drawingml/2006/main">
              <a:ext uri="{FF2B5EF4-FFF2-40B4-BE49-F238E27FC236}">
                <a16:creationId xmlns:a16="http://schemas.microsoft.com/office/drawing/2014/main" id="{EFE679C8-5D26-4FAD-A6AF-BEF94E094C17}"/>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8. Pugh: evaluación económica</a:t>
            </a:r>
          </a:p>
        </p:txBody>
      </p:sp>
      <p:sp>
        <p:nvSpPr>
          <p:cNvPr id="2" name="Misma referencia A. Peso 1 para costo, transporte ">
            <a:extLst xmlns:a="http://schemas.openxmlformats.org/drawingml/2006/main">
              <a:ext uri="{FF2B5EF4-FFF2-40B4-BE49-F238E27FC236}">
                <a16:creationId xmlns:a16="http://schemas.microsoft.com/office/drawing/2014/main" id="{04B02A84-209C-4405-91DA-23958020413C}"/>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Misma referencia A. Peso 1 para costo, transporte y esfuerzo de fabricación.</a:t>
            </a:r>
          </a:p>
        </p:txBody>
      </p:sp>
      <p:sp>
        <p:nvSpPr>
          <p:cNvPr id="3" name="Fuentes [17], [18], [19], [20], [24]. Referencias ">
            <a:extLst xmlns:a="http://schemas.openxmlformats.org/drawingml/2006/main">
              <a:ext uri="{FF2B5EF4-FFF2-40B4-BE49-F238E27FC236}">
                <a16:creationId xmlns:a16="http://schemas.microsoft.com/office/drawing/2014/main" id="{57566367-A3FB-49B0-B6B8-67BBEC4A6971}"/>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[17], [18], [19], [20], [24]. Referencias al final.</a:t>
            </a:r>
          </a:p>
        </p:txBody>
      </p:sp>
      <p:sp>
        <p:nvSpPr>
          <p:cNvPr id="4" name="20">
            <a:extLst xmlns:a="http://schemas.openxmlformats.org/drawingml/2006/main">
              <a:ext uri="{FF2B5EF4-FFF2-40B4-BE49-F238E27FC236}">
                <a16:creationId xmlns:a16="http://schemas.microsoft.com/office/drawing/2014/main" id="{84071326-5AAF-40EB-8F8D-886C5CB2D2E7}"/>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20</a:t>
            </a:r>
          </a:p>
        </p:txBody>
      </p:sp>
      <p:graphicFrame>
        <p:nvGraphicFramePr>
          <p:cNvPr id="5" name="">
            <a:extLst xmlns:a="http://schemas.openxmlformats.org/drawingml/2006/main">
              <a:ext uri="{FF2B5EF4-FFF2-40B4-BE49-F238E27FC236}">
                <a16:creationId xmlns:a16="http://schemas.microsoft.com/office/drawing/2014/main" id="{BEF95CBB-AB48-4A14-A133-7729B6873184}"/>
              </a:ext>
            </a:extLst>
          </p:cNvPr>
          <p:cNvGraphicFramePr/>
          <p:nvPr/>
        </p:nvGraphicFramePr>
        <p:xfrm>
          <a:off xmlns:a="http://schemas.openxmlformats.org/drawingml/2006/main" x="571500" y="1762125"/>
          <a:ext xmlns:a="http://schemas.openxmlformats.org/drawingml/2006/main" cx="11049000" cy="2381250"/>
        </p:xfrm>
        <a:graphic xmlns:a="http://schemas.openxmlformats.org/drawingml/2006/main">
          <a:graphicData uri="http://schemas.openxmlformats.org/drawingml/2006/table">
            <a:tbl>
              <a:tblPr/>
              <a:tblGrid>
                <a:gridCol w="6762750"/>
                <a:gridCol w="1000125"/>
                <a:gridCol w="1095375"/>
                <a:gridCol w="1095375"/>
                <a:gridCol w="1095375"/>
              </a:tblGrid>
              <a:tr h="476250">
                <a:tc>
                  <a:txBody>
                    <a:bodyPr/>
                    <a:lstStyle/>
                    <a:p>
                      <a:r>
                        <a:rPr sz="1800" b="1">
                          <a:solidFill>
                            <a:srgbClr val="FFFFFF"/>
                          </a:solidFill>
                          <a:latin typeface="Arial"/>
                          <a:ea typeface="Arial"/>
                          <a:cs typeface="Arial"/>
                        </a:rPr>
                        <a:t>Criterio</a:t>
                      </a:r>
                    </a:p>
                  </a:txBody>
                  <a:tcPr marL="95250" marR="95250" marT="19050" marB="19050" anchor="ctr">
                    <a:solidFill>
                      <a:srgbClr val="173F2F"/>
                    </a:solidFill>
                  </a:tcPr>
                </a:tc>
                <a:tc>
                  <a:txBody>
                    <a:bodyPr/>
                    <a:lstStyle/>
                    <a:p>
                      <a:r>
                        <a:rPr sz="1800" b="1">
                          <a:solidFill>
                            <a:srgbClr val="FFFFFF"/>
                          </a:solidFill>
                          <a:latin typeface="Arial"/>
                          <a:ea typeface="Arial"/>
                          <a:cs typeface="Arial"/>
                        </a:rPr>
                        <a:t>Peso</a:t>
                      </a:r>
                    </a:p>
                  </a:txBody>
                  <a:tcPr marL="95250" marR="95250" marT="19050" marB="19050" anchor="ctr">
                    <a:solidFill>
                      <a:srgbClr val="173F2F"/>
                    </a:solidFill>
                  </a:tcPr>
                </a:tc>
                <a:tc>
                  <a:txBody>
                    <a:bodyPr/>
                    <a:lstStyle/>
                    <a:p>
                      <a:r>
                        <a:rPr sz="1800" b="1">
                          <a:solidFill>
                            <a:srgbClr val="FFFFFF"/>
                          </a:solidFill>
                          <a:latin typeface="Arial"/>
                          <a:ea typeface="Arial"/>
                          <a:cs typeface="Arial"/>
                        </a:rPr>
                        <a:t>A</a:t>
                      </a:r>
                    </a:p>
                  </a:txBody>
                  <a:tcPr marL="95250" marR="95250" marT="19050" marB="19050" anchor="ctr">
                    <a:solidFill>
                      <a:srgbClr val="173F2F"/>
                    </a:solidFill>
                  </a:tcPr>
                </a:tc>
                <a:tc>
                  <a:txBody>
                    <a:bodyPr/>
                    <a:lstStyle/>
                    <a:p>
                      <a:r>
                        <a:rPr sz="1800" b="1">
                          <a:solidFill>
                            <a:srgbClr val="FFFFFF"/>
                          </a:solidFill>
                          <a:latin typeface="Arial"/>
                          <a:ea typeface="Arial"/>
                          <a:cs typeface="Arial"/>
                        </a:rPr>
                        <a:t>B</a:t>
                      </a:r>
                    </a:p>
                  </a:txBody>
                  <a:tcPr marL="95250" marR="95250" marT="19050" marB="19050" anchor="ctr">
                    <a:solidFill>
                      <a:srgbClr val="173F2F"/>
                    </a:solidFill>
                  </a:tcPr>
                </a:tc>
                <a:tc>
                  <a:txBody>
                    <a:bodyPr/>
                    <a:lstStyle/>
                    <a:p>
                      <a:r>
                        <a:rPr sz="1800" b="1">
                          <a:solidFill>
                            <a:srgbClr val="FFFFFF"/>
                          </a:solidFill>
                          <a:latin typeface="Arial"/>
                          <a:ea typeface="Arial"/>
                          <a:cs typeface="Arial"/>
                        </a:rPr>
                        <a:t>C</a:t>
                      </a:r>
                    </a:p>
                  </a:txBody>
                  <a:tcPr marL="95250" marR="95250" marT="19050" marB="19050" anchor="ctr">
                    <a:solidFill>
                      <a:srgbClr val="173F2F"/>
                    </a:solidFill>
                  </a:tcPr>
                </a:tc>
              </a:tr>
              <a:tr h="476250">
                <a:tc>
                  <a:txBody>
                    <a:bodyPr/>
                    <a:lstStyle/>
                    <a:p>
                      <a:r>
                        <a:rPr sz="1800">
                          <a:solidFill>
                            <a:srgbClr val="173F2F"/>
                          </a:solidFill>
                          <a:latin typeface="Arial"/>
                          <a:ea typeface="Arial"/>
                          <a:cs typeface="Arial"/>
                        </a:rPr>
                        <a:t>Facilidad de transporte</a:t>
                      </a:r>
                    </a:p>
                  </a:txBody>
                  <a:tcPr marL="95250" marR="95250" marT="19050" marB="19050" anchor="ctr">
                    <a:solidFill>
                      <a:srgbClr val="FFFFFF"/>
                    </a:solidFill>
                  </a:tcPr>
                </a:tc>
                <a:tc>
                  <a:txBody>
                    <a:bodyPr/>
                    <a:lstStyle/>
                    <a:p>
                      <a:r>
                        <a:rPr sz="1800">
                          <a:solidFill>
                            <a:srgbClr val="173F2F"/>
                          </a:solidFill>
                          <a:latin typeface="Arial"/>
                          <a:ea typeface="Arial"/>
                          <a:cs typeface="Arial"/>
                        </a:rPr>
                        <a:t>1</a:t>
                      </a:r>
                    </a:p>
                  </a:txBody>
                  <a:tcPr marL="95250" marR="95250" marT="19050" marB="19050" anchor="ctr">
                    <a:solidFill>
                      <a:srgbClr val="FFFFFF"/>
                    </a:solidFill>
                  </a:tcPr>
                </a:tc>
                <a:tc>
                  <a:txBody>
                    <a:bodyPr/>
                    <a:lstStyle/>
                    <a:p>
                      <a:r>
                        <a:rPr sz="1800">
                          <a:solidFill>
                            <a:srgbClr val="173F2F"/>
                          </a:solidFill>
                          <a:latin typeface="Arial"/>
                          <a:ea typeface="Arial"/>
                          <a:cs typeface="Arial"/>
                        </a:rPr>
                        <a:t>0</a:t>
                      </a:r>
                    </a:p>
                  </a:txBody>
                  <a:tcPr marL="95250" marR="95250" marT="19050" marB="19050" anchor="ctr">
                    <a:solidFill>
                      <a:srgbClr val="FFFFFF"/>
                    </a:solidFill>
                  </a:tcPr>
                </a:tc>
                <a:tc>
                  <a:txBody>
                    <a:bodyPr/>
                    <a:lstStyle/>
                    <a:p>
                      <a:r>
                        <a:rPr sz="1800">
                          <a:solidFill>
                            <a:srgbClr val="173F2F"/>
                          </a:solidFill>
                          <a:latin typeface="Arial"/>
                          <a:ea typeface="Arial"/>
                          <a:cs typeface="Arial"/>
                        </a:rPr>
                        <a:t>−1</a:t>
                      </a:r>
                    </a:p>
                  </a:txBody>
                  <a:tcPr marL="95250" marR="95250" marT="19050" marB="19050" anchor="ctr">
                    <a:solidFill>
                      <a:srgbClr val="FFFFFF"/>
                    </a:solidFill>
                  </a:tcPr>
                </a:tc>
                <a:tc>
                  <a:txBody>
                    <a:bodyPr/>
                    <a:lstStyle/>
                    <a:p>
                      <a:r>
                        <a:rPr sz="1800">
                          <a:solidFill>
                            <a:srgbClr val="173F2F"/>
                          </a:solidFill>
                          <a:latin typeface="Arial"/>
                          <a:ea typeface="Arial"/>
                          <a:cs typeface="Arial"/>
                        </a:rPr>
                        <a:t>−1</a:t>
                      </a:r>
                    </a:p>
                  </a:txBody>
                  <a:tcPr marL="95250" marR="95250" marT="19050" marB="19050" anchor="ctr">
                    <a:solidFill>
                      <a:srgbClr val="FFFFFF"/>
                    </a:solidFill>
                  </a:tcPr>
                </a:tc>
              </a:tr>
              <a:tr h="476250">
                <a:tc>
                  <a:txBody>
                    <a:bodyPr/>
                    <a:lstStyle/>
                    <a:p>
                      <a:r>
                        <a:rPr sz="1800">
                          <a:solidFill>
                            <a:srgbClr val="173F2F"/>
                          </a:solidFill>
                          <a:latin typeface="Arial"/>
                          <a:ea typeface="Arial"/>
                          <a:cs typeface="Arial"/>
                        </a:rPr>
                        <a:t>Costo con recursos disponibles</a:t>
                      </a:r>
                    </a:p>
                  </a:txBody>
                  <a:tcPr marL="95250" marR="95250" marT="19050" marB="19050" anchor="ctr">
                    <a:solidFill>
                      <a:srgbClr val="EFF2E8"/>
                    </a:solidFill>
                  </a:tcPr>
                </a:tc>
                <a:tc>
                  <a:txBody>
                    <a:bodyPr/>
                    <a:lstStyle/>
                    <a:p>
                      <a:r>
                        <a:rPr sz="1800">
                          <a:solidFill>
                            <a:srgbClr val="173F2F"/>
                          </a:solidFill>
                          <a:latin typeface="Arial"/>
                          <a:ea typeface="Arial"/>
                          <a:cs typeface="Arial"/>
                        </a:rPr>
                        <a:t>1</a:t>
                      </a:r>
                    </a:p>
                  </a:txBody>
                  <a:tcPr marL="95250" marR="95250" marT="19050" marB="19050" anchor="ctr">
                    <a:solidFill>
                      <a:srgbClr val="EFF2E8"/>
                    </a:solidFill>
                  </a:tcPr>
                </a:tc>
                <a:tc>
                  <a:txBody>
                    <a:bodyPr/>
                    <a:lstStyle/>
                    <a:p>
                      <a:r>
                        <a:rPr sz="1800">
                          <a:solidFill>
                            <a:srgbClr val="173F2F"/>
                          </a:solidFill>
                          <a:latin typeface="Arial"/>
                          <a:ea typeface="Arial"/>
                          <a:cs typeface="Arial"/>
                        </a:rPr>
                        <a:t>0</a:t>
                      </a:r>
                    </a:p>
                  </a:txBody>
                  <a:tcPr marL="95250" marR="95250" marT="19050" marB="19050" anchor="ctr">
                    <a:solidFill>
                      <a:srgbClr val="EFF2E8"/>
                    </a:solidFill>
                  </a:tcPr>
                </a:tc>
                <a:tc>
                  <a:txBody>
                    <a:bodyPr/>
                    <a:lstStyle/>
                    <a:p>
                      <a:r>
                        <a:rPr sz="1800">
                          <a:solidFill>
                            <a:srgbClr val="173F2F"/>
                          </a:solidFill>
                          <a:latin typeface="Arial"/>
                          <a:ea typeface="Arial"/>
                          <a:cs typeface="Arial"/>
                        </a:rPr>
                        <a:t>0</a:t>
                      </a:r>
                    </a:p>
                  </a:txBody>
                  <a:tcPr marL="95250" marR="95250" marT="19050" marB="19050" anchor="ctr">
                    <a:solidFill>
                      <a:srgbClr val="EFF2E8"/>
                    </a:solidFill>
                  </a:tcPr>
                </a:tc>
                <a:tc>
                  <a:txBody>
                    <a:bodyPr/>
                    <a:lstStyle/>
                    <a:p>
                      <a:r>
                        <a:rPr sz="1800">
                          <a:solidFill>
                            <a:srgbClr val="173F2F"/>
                          </a:solidFill>
                          <a:latin typeface="Arial"/>
                          <a:ea typeface="Arial"/>
                          <a:cs typeface="Arial"/>
                        </a:rPr>
                        <a:t>−1</a:t>
                      </a:r>
                    </a:p>
                  </a:txBody>
                  <a:tcPr marL="95250" marR="95250" marT="19050" marB="19050" anchor="ctr">
                    <a:solidFill>
                      <a:srgbClr val="EFF2E8"/>
                    </a:solidFill>
                  </a:tcPr>
                </a:tc>
              </a:tr>
              <a:tr h="476250">
                <a:tc>
                  <a:txBody>
                    <a:bodyPr/>
                    <a:lstStyle/>
                    <a:p>
                      <a:r>
                        <a:rPr sz="1800">
                          <a:solidFill>
                            <a:srgbClr val="173F2F"/>
                          </a:solidFill>
                          <a:latin typeface="Arial"/>
                          <a:ea typeface="Arial"/>
                          <a:cs typeface="Arial"/>
                        </a:rPr>
                        <a:t>Esfuerzo de fabricación</a:t>
                      </a:r>
                    </a:p>
                  </a:txBody>
                  <a:tcPr marL="95250" marR="95250" marT="19050" marB="19050" anchor="ctr">
                    <a:solidFill>
                      <a:srgbClr val="FFFFFF"/>
                    </a:solidFill>
                  </a:tcPr>
                </a:tc>
                <a:tc>
                  <a:txBody>
                    <a:bodyPr/>
                    <a:lstStyle/>
                    <a:p>
                      <a:r>
                        <a:rPr sz="1800">
                          <a:solidFill>
                            <a:srgbClr val="173F2F"/>
                          </a:solidFill>
                          <a:latin typeface="Arial"/>
                          <a:ea typeface="Arial"/>
                          <a:cs typeface="Arial"/>
                        </a:rPr>
                        <a:t>1</a:t>
                      </a:r>
                    </a:p>
                  </a:txBody>
                  <a:tcPr marL="95250" marR="95250" marT="19050" marB="19050" anchor="ctr">
                    <a:solidFill>
                      <a:srgbClr val="FFFFFF"/>
                    </a:solidFill>
                  </a:tcPr>
                </a:tc>
                <a:tc>
                  <a:txBody>
                    <a:bodyPr/>
                    <a:lstStyle/>
                    <a:p>
                      <a:r>
                        <a:rPr sz="1800">
                          <a:solidFill>
                            <a:srgbClr val="173F2F"/>
                          </a:solidFill>
                          <a:latin typeface="Arial"/>
                          <a:ea typeface="Arial"/>
                          <a:cs typeface="Arial"/>
                        </a:rPr>
                        <a:t>0</a:t>
                      </a:r>
                    </a:p>
                  </a:txBody>
                  <a:tcPr marL="95250" marR="95250" marT="19050" marB="19050" anchor="ctr">
                    <a:solidFill>
                      <a:srgbClr val="FFFFFF"/>
                    </a:solidFill>
                  </a:tcPr>
                </a:tc>
                <a:tc>
                  <a:txBody>
                    <a:bodyPr/>
                    <a:lstStyle/>
                    <a:p>
                      <a:r>
                        <a:rPr sz="1800">
                          <a:solidFill>
                            <a:srgbClr val="173F2F"/>
                          </a:solidFill>
                          <a:latin typeface="Arial"/>
                          <a:ea typeface="Arial"/>
                          <a:cs typeface="Arial"/>
                        </a:rPr>
                        <a:t>0</a:t>
                      </a:r>
                    </a:p>
                  </a:txBody>
                  <a:tcPr marL="95250" marR="95250" marT="19050" marB="19050" anchor="ctr">
                    <a:solidFill>
                      <a:srgbClr val="FFFFFF"/>
                    </a:solidFill>
                  </a:tcPr>
                </a:tc>
                <a:tc>
                  <a:txBody>
                    <a:bodyPr/>
                    <a:lstStyle/>
                    <a:p>
                      <a:r>
                        <a:rPr sz="1800">
                          <a:solidFill>
                            <a:srgbClr val="173F2F"/>
                          </a:solidFill>
                          <a:latin typeface="Arial"/>
                          <a:ea typeface="Arial"/>
                          <a:cs typeface="Arial"/>
                        </a:rPr>
                        <a:t>−1</a:t>
                      </a:r>
                    </a:p>
                  </a:txBody>
                  <a:tcPr marL="95250" marR="95250" marT="19050" marB="19050" anchor="ctr">
                    <a:solidFill>
                      <a:srgbClr val="FFFFFF"/>
                    </a:solidFill>
                  </a:tcPr>
                </a:tc>
              </a:tr>
              <a:tr h="476250">
                <a:tc>
                  <a:txBody>
                    <a:bodyPr/>
                    <a:lstStyle/>
                    <a:p>
                      <a:r>
                        <a:rPr sz="1800">
                          <a:solidFill>
                            <a:srgbClr val="173F2F"/>
                          </a:solidFill>
                          <a:latin typeface="Arial"/>
                          <a:ea typeface="Arial"/>
                          <a:cs typeface="Arial"/>
                        </a:rPr>
                        <a:t>Subtotal económico</a:t>
                      </a:r>
                    </a:p>
                  </a:txBody>
                  <a:tcPr marL="95250" marR="95250" marT="19050" marB="19050" anchor="ctr">
                    <a:solidFill>
                      <a:srgbClr val="EFF2E8"/>
                    </a:solidFill>
                  </a:tcPr>
                </a:tc>
                <a:tc>
                  <a:txBody>
                    <a:bodyPr/>
                    <a:lstStyle/>
                    <a:p>
                      <a:r>
                        <a:rPr sz="1800">
                          <a:solidFill>
                            <a:srgbClr val="173F2F"/>
                          </a:solidFill>
                          <a:latin typeface="Arial"/>
                          <a:ea typeface="Arial"/>
                          <a:cs typeface="Arial"/>
                        </a:rPr>
                        <a:t/>
                      </a:r>
                    </a:p>
                  </a:txBody>
                  <a:tcPr marL="95250" marR="95250" marT="19050" marB="19050" anchor="ctr">
                    <a:solidFill>
                      <a:srgbClr val="EFF2E8"/>
                    </a:solidFill>
                  </a:tcPr>
                </a:tc>
                <a:tc>
                  <a:txBody>
                    <a:bodyPr/>
                    <a:lstStyle/>
                    <a:p>
                      <a:r>
                        <a:rPr sz="1800">
                          <a:solidFill>
                            <a:srgbClr val="173F2F"/>
                          </a:solidFill>
                          <a:latin typeface="Arial"/>
                          <a:ea typeface="Arial"/>
                          <a:cs typeface="Arial"/>
                        </a:rPr>
                        <a:t>0</a:t>
                      </a:r>
                    </a:p>
                  </a:txBody>
                  <a:tcPr marL="95250" marR="95250" marT="19050" marB="19050" anchor="ctr">
                    <a:solidFill>
                      <a:srgbClr val="EFF2E8"/>
                    </a:solidFill>
                  </a:tcPr>
                </a:tc>
                <a:tc>
                  <a:txBody>
                    <a:bodyPr/>
                    <a:lstStyle/>
                    <a:p>
                      <a:r>
                        <a:rPr sz="1800">
                          <a:solidFill>
                            <a:srgbClr val="173F2F"/>
                          </a:solidFill>
                          <a:latin typeface="Arial"/>
                          <a:ea typeface="Arial"/>
                          <a:cs typeface="Arial"/>
                        </a:rPr>
                        <a:t>−1</a:t>
                      </a:r>
                    </a:p>
                  </a:txBody>
                  <a:tcPr marL="95250" marR="95250" marT="19050" marB="19050" anchor="ctr">
                    <a:solidFill>
                      <a:srgbClr val="EFF2E8"/>
                    </a:solidFill>
                  </a:tcPr>
                </a:tc>
                <a:tc>
                  <a:txBody>
                    <a:bodyPr/>
                    <a:lstStyle/>
                    <a:p>
                      <a:r>
                        <a:rPr sz="1800">
                          <a:solidFill>
                            <a:srgbClr val="173F2F"/>
                          </a:solidFill>
                          <a:latin typeface="Arial"/>
                          <a:ea typeface="Arial"/>
                          <a:cs typeface="Arial"/>
                        </a:rPr>
                        <a:t>−3</a:t>
                      </a:r>
                    </a:p>
                  </a:txBody>
                  <a:tcPr marL="95250" marR="95250" marT="19050" marB="19050" anchor="ctr">
                    <a:solidFill>
                      <a:srgbClr val="EFF2E8"/>
                    </a:solidFill>
                  </a:tcPr>
                </a:tc>
              </a:tr>
            </a:tbl>
          </a:graphicData>
        </a:graphic>
      </p:graphicFrame>
      <p:sp>
        <p:nvSpPr>
          <p:cNvPr id="6" name="B · Recursos disponibles">
            <a:extLst xmlns:a="http://schemas.openxmlformats.org/drawingml/2006/main">
              <a:ext uri="{FF2B5EF4-FFF2-40B4-BE49-F238E27FC236}">
                <a16:creationId xmlns:a16="http://schemas.microsoft.com/office/drawing/2014/main" id="{F8E688EA-010E-46B9-BD1E-72C7E7146849}"/>
              </a:ext>
            </a:extLst>
          </p:cNvPr>
          <p:cNvSpPr>
            <a:spLocks xmlns:a="http://schemas.openxmlformats.org/drawingml/2006/main" noGrp="1"/>
          </p:cNvSpPr>
          <p:nvPr/>
        </p:nvSpPr>
        <p:spPr>
          <a:xfrm xmlns:a="http://schemas.openxmlformats.org/drawingml/2006/main">
            <a:off x="571500" y="4486275"/>
            <a:ext cx="538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3F2F"/>
                </a:solidFill>
                <a:latin typeface="Arial"/>
                <a:ea typeface="Arial"/>
                <a:cs typeface="Arial"/>
              </a:defRPr>
            </a:defPPr>
          </a:lstStyle>
          <a:p xmlns:a="http://schemas.openxmlformats.org/drawingml/2006/main">
            <a:pPr>
              <a:defRPr sz="1800" b="1">
                <a:solidFill>
                  <a:srgbClr val="173F2F"/>
                </a:solidFill>
                <a:latin typeface="Arial"/>
                <a:ea typeface="Arial"/>
                <a:cs typeface="Arial"/>
              </a:defRPr>
            </a:pPr>
            <a:r>
              <a:rPr sz="1800" b="1">
                <a:solidFill>
                  <a:srgbClr val="173F2F"/>
                </a:solidFill>
                <a:latin typeface="Arial"/>
                <a:ea typeface="Arial"/>
                <a:cs typeface="Arial"/>
              </a:rPr>
              <a:t>B · Recursos disponibles</a:t>
            </a:r>
          </a:p>
        </p:txBody>
      </p:sp>
      <p:sp>
        <p:nvSpPr>
          <p:cNvPr id="7" name="Se supone balanza, celular y soporte&#10;disponibles. ">
            <a:extLst xmlns:a="http://schemas.openxmlformats.org/drawingml/2006/main">
              <a:ext uri="{FF2B5EF4-FFF2-40B4-BE49-F238E27FC236}">
                <a16:creationId xmlns:a16="http://schemas.microsoft.com/office/drawing/2014/main" id="{E6C523D0-D886-4BCC-AFC6-0EB44371F5DD}"/>
              </a:ext>
            </a:extLst>
          </p:cNvPr>
          <p:cNvSpPr>
            <a:spLocks xmlns:a="http://schemas.openxmlformats.org/drawingml/2006/main" noGrp="1"/>
          </p:cNvSpPr>
          <p:nvPr/>
        </p:nvSpPr>
        <p:spPr>
          <a:xfrm xmlns:a="http://schemas.openxmlformats.org/drawingml/2006/main">
            <a:off x="571500" y="4867275"/>
            <a:ext cx="5381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77161"/>
                </a:solidFill>
                <a:latin typeface="Arial"/>
                <a:ea typeface="Arial"/>
                <a:cs typeface="Arial"/>
              </a:defRPr>
            </a:defPPr>
          </a:lstStyle>
          <a:p xmlns:a="http://schemas.openxmlformats.org/drawingml/2006/main">
            <a:pPr>
              <a:defRPr sz="1800" b="0">
                <a:solidFill>
                  <a:srgbClr val="577161"/>
                </a:solidFill>
                <a:latin typeface="Arial"/>
                <a:ea typeface="Arial"/>
                <a:cs typeface="Arial"/>
              </a:defRPr>
            </a:pPr>
            <a:r>
              <a:rPr sz="1800" b="0">
                <a:solidFill>
                  <a:srgbClr val="577161"/>
                </a:solidFill>
                <a:latin typeface="Arial"/>
                <a:ea typeface="Arial"/>
                <a:cs typeface="Arial"/>
              </a:rPr>
              <a:t>Se supone balanza, celular y soporte</a:t>
            </a:r>
          </a:p>
          <a:p xmlns:a="http://schemas.openxmlformats.org/drawingml/2006/main">
            <a:pPr>
              <a:defRPr sz="1800" b="0">
                <a:solidFill>
                  <a:srgbClr val="577161"/>
                </a:solidFill>
                <a:latin typeface="Arial"/>
                <a:ea typeface="Arial"/>
                <a:cs typeface="Arial"/>
              </a:defRPr>
            </a:pPr>
            <a:r>
              <a:rPr sz="1800" b="0">
                <a:solidFill>
                  <a:srgbClr val="577161"/>
                </a:solidFill>
                <a:latin typeface="Arial"/>
                <a:ea typeface="Arial"/>
                <a:cs typeface="Arial"/>
              </a:rPr>
              <a:t>disponibles. Añade volumen al transportar.</a:t>
            </a:r>
          </a:p>
        </p:txBody>
      </p:sp>
      <p:sp>
        <p:nvSpPr>
          <p:cNvPr id="8" name="C · Reserva de fabricación">
            <a:extLst xmlns:a="http://schemas.openxmlformats.org/drawingml/2006/main">
              <a:ext uri="{FF2B5EF4-FFF2-40B4-BE49-F238E27FC236}">
                <a16:creationId xmlns:a16="http://schemas.microsoft.com/office/drawing/2014/main" id="{C1E0D359-BF15-4D26-8059-A5EB06D06D4B}"/>
              </a:ext>
            </a:extLst>
          </p:cNvPr>
          <p:cNvSpPr>
            <a:spLocks xmlns:a="http://schemas.openxmlformats.org/drawingml/2006/main" noGrp="1"/>
          </p:cNvSpPr>
          <p:nvPr/>
        </p:nvSpPr>
        <p:spPr>
          <a:xfrm xmlns:a="http://schemas.openxmlformats.org/drawingml/2006/main">
            <a:off x="6248400" y="4486275"/>
            <a:ext cx="5372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3F2F"/>
                </a:solidFill>
                <a:latin typeface="Arial"/>
                <a:ea typeface="Arial"/>
                <a:cs typeface="Arial"/>
              </a:defRPr>
            </a:defPPr>
          </a:lstStyle>
          <a:p xmlns:a="http://schemas.openxmlformats.org/drawingml/2006/main">
            <a:pPr>
              <a:defRPr sz="1800" b="1">
                <a:solidFill>
                  <a:srgbClr val="173F2F"/>
                </a:solidFill>
                <a:latin typeface="Arial"/>
                <a:ea typeface="Arial"/>
                <a:cs typeface="Arial"/>
              </a:defRPr>
            </a:pPr>
            <a:r>
              <a:rPr sz="1800" b="1">
                <a:solidFill>
                  <a:srgbClr val="173F2F"/>
                </a:solidFill>
                <a:latin typeface="Arial"/>
                <a:ea typeface="Arial"/>
                <a:cs typeface="Arial"/>
              </a:rPr>
              <a:t>C · Reserva de fabricación</a:t>
            </a:r>
          </a:p>
        </p:txBody>
      </p:sp>
      <p:sp>
        <p:nvSpPr>
          <p:cNvPr id="9" name="Materiales y provisiones: S/ 404,43.&#10;Reserva S/ 41">
            <a:extLst xmlns:a="http://schemas.openxmlformats.org/drawingml/2006/main">
              <a:ext uri="{FF2B5EF4-FFF2-40B4-BE49-F238E27FC236}">
                <a16:creationId xmlns:a16="http://schemas.microsoft.com/office/drawing/2014/main" id="{67789014-B836-4D47-861E-8DDF2B250142}"/>
              </a:ext>
            </a:extLst>
          </p:cNvPr>
          <p:cNvSpPr>
            <a:spLocks xmlns:a="http://schemas.openxmlformats.org/drawingml/2006/main" noGrp="1"/>
          </p:cNvSpPr>
          <p:nvPr/>
        </p:nvSpPr>
        <p:spPr>
          <a:xfrm xmlns:a="http://schemas.openxmlformats.org/drawingml/2006/main">
            <a:off x="6248400" y="4867275"/>
            <a:ext cx="5372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77161"/>
                </a:solidFill>
                <a:latin typeface="Arial"/>
                <a:ea typeface="Arial"/>
                <a:cs typeface="Arial"/>
              </a:defRPr>
            </a:defPPr>
          </a:lstStyle>
          <a:p xmlns:a="http://schemas.openxmlformats.org/drawingml/2006/main">
            <a:pPr>
              <a:defRPr sz="1800" b="0">
                <a:solidFill>
                  <a:srgbClr val="577161"/>
                </a:solidFill>
                <a:latin typeface="Arial"/>
                <a:ea typeface="Arial"/>
                <a:cs typeface="Arial"/>
              </a:defRPr>
            </a:pPr>
            <a:r>
              <a:rPr sz="1800" b="0">
                <a:solidFill>
                  <a:srgbClr val="577161"/>
                </a:solidFill>
                <a:latin typeface="Arial"/>
                <a:ea typeface="Arial"/>
                <a:cs typeface="Arial"/>
              </a:rPr>
              <a:t>Materiales y provisiones: S/ 404,43.</a:t>
            </a:r>
          </a:p>
          <a:p xmlns:a="http://schemas.openxmlformats.org/drawingml/2006/main">
            <a:pPr>
              <a:defRPr sz="1800" b="0">
                <a:solidFill>
                  <a:srgbClr val="577161"/>
                </a:solidFill>
                <a:latin typeface="Arial"/>
                <a:ea typeface="Arial"/>
                <a:cs typeface="Arial"/>
              </a:defRPr>
            </a:pPr>
            <a:r>
              <a:rPr sz="1800" b="0">
                <a:solidFill>
                  <a:srgbClr val="577161"/>
                </a:solidFill>
                <a:latin typeface="Arial"/>
                <a:ea typeface="Arial"/>
                <a:cs typeface="Arial"/>
              </a:rPr>
              <a:t>Reserva S/ 410; límite deseable S/ 500.</a:t>
            </a:r>
          </a:p>
        </p:txBody>
      </p:sp>
      <p:sp>
        <p:nvSpPr>
          <p:cNvPr id="10" name="C añade cableado, estructura, calibración y firmwa">
            <a:extLst xmlns:a="http://schemas.openxmlformats.org/drawingml/2006/main">
              <a:ext uri="{FF2B5EF4-FFF2-40B4-BE49-F238E27FC236}">
                <a16:creationId xmlns:a16="http://schemas.microsoft.com/office/drawing/2014/main" id="{C1210626-6016-4AC8-8A3F-BABFAF3961ED}"/>
              </a:ext>
            </a:extLst>
          </p:cNvPr>
          <p:cNvSpPr>
            <a:spLocks xmlns:a="http://schemas.openxmlformats.org/drawingml/2006/main" noGrp="1"/>
          </p:cNvSpPr>
          <p:nvPr/>
        </p:nvSpPr>
        <p:spPr>
          <a:xfrm xmlns:a="http://schemas.openxmlformats.org/drawingml/2006/main">
            <a:off x="571500" y="60483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AD6240"/>
                </a:solidFill>
                <a:latin typeface="Arial"/>
                <a:ea typeface="Arial"/>
                <a:cs typeface="Arial"/>
              </a:defRPr>
            </a:defPPr>
          </a:lstStyle>
          <a:p xmlns:a="http://schemas.openxmlformats.org/drawingml/2006/main">
            <a:pPr>
              <a:defRPr sz="1725" b="1">
                <a:solidFill>
                  <a:srgbClr val="AD6240"/>
                </a:solidFill>
                <a:latin typeface="Arial"/>
                <a:ea typeface="Arial"/>
                <a:cs typeface="Arial"/>
              </a:defRPr>
            </a:pPr>
            <a:r>
              <a:rPr sz="1725" b="1">
                <a:solidFill>
                  <a:srgbClr val="AD6240"/>
                </a:solidFill>
                <a:latin typeface="Arial"/>
                <a:ea typeface="Arial"/>
                <a:cs typeface="Arial"/>
              </a:rPr>
              <a:t>C añade cableado, estructura, calibración y firmware; por eso recibe tres penalizaciones.</a:t>
            </a:r>
          </a:p>
        </p:txBody>
      </p:sp>
    </p:spTree>
    <p:extLst>
      <p:ext uri="{BB962C8B-B14F-4D97-AF65-F5344CB8AC3E}">
        <p14:creationId xmlns:p14="http://schemas.microsoft.com/office/powerpoint/2010/main" val="124163054"/>
      </p:ext>
    </p:extLst>
  </p:cSld>
</p:sld>
</file>

<file path=ppt/slides/slide21.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9" name="8. Pugh: resultado y elección del concepto">
            <a:extLst xmlns:a="http://schemas.openxmlformats.org/drawingml/2006/main">
              <a:ext uri="{FF2B5EF4-FFF2-40B4-BE49-F238E27FC236}">
                <a16:creationId xmlns:a16="http://schemas.microsoft.com/office/drawing/2014/main" id="{24E57A4A-DDEA-4E1A-A84D-6FCB5F91086A}"/>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8. Pugh: resultado y elección del concepto</a:t>
            </a:r>
          </a:p>
        </p:txBody>
      </p:sp>
      <p:sp>
        <p:nvSpPr>
          <p:cNvPr id="2" name="Puntaje total = Σ(peso × valoración). Prioridades ">
            <a:extLst xmlns:a="http://schemas.openxmlformats.org/drawingml/2006/main">
              <a:ext uri="{FF2B5EF4-FFF2-40B4-BE49-F238E27FC236}">
                <a16:creationId xmlns:a16="http://schemas.microsoft.com/office/drawing/2014/main" id="{1231C45A-0C09-483C-A4CC-AE481733B50B}"/>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Puntaje total = Σ(peso × valoración). Prioridades fijadas antes de sumar.</a:t>
            </a:r>
          </a:p>
        </p:txBody>
      </p:sp>
      <p:sp>
        <p:nvSpPr>
          <p:cNvPr id="3" name="Fuentes [24]. Referencias al final.">
            <a:extLst xmlns:a="http://schemas.openxmlformats.org/drawingml/2006/main">
              <a:ext uri="{FF2B5EF4-FFF2-40B4-BE49-F238E27FC236}">
                <a16:creationId xmlns:a16="http://schemas.microsoft.com/office/drawing/2014/main" id="{31DFDE73-041E-48CD-B0E1-E1642F1B638D}"/>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[24]. Referencias al final.</a:t>
            </a:r>
          </a:p>
        </p:txBody>
      </p:sp>
      <p:sp>
        <p:nvSpPr>
          <p:cNvPr id="4" name="21">
            <a:extLst xmlns:a="http://schemas.openxmlformats.org/drawingml/2006/main">
              <a:ext uri="{FF2B5EF4-FFF2-40B4-BE49-F238E27FC236}">
                <a16:creationId xmlns:a16="http://schemas.microsoft.com/office/drawing/2014/main" id="{AA420896-62FB-4CAB-804C-FA17F64EE8BD}"/>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21</a:t>
            </a:r>
          </a:p>
        </p:txBody>
      </p:sp>
      <p:graphicFrame>
        <p:nvGraphicFramePr>
          <p:cNvPr id="5" name="">
            <a:extLst xmlns:a="http://schemas.openxmlformats.org/drawingml/2006/main">
              <a:ext uri="{FF2B5EF4-FFF2-40B4-BE49-F238E27FC236}">
                <a16:creationId xmlns:a16="http://schemas.microsoft.com/office/drawing/2014/main" id="{F8AF2056-C7DA-4226-BABE-A6D61D74483D}"/>
              </a:ext>
            </a:extLst>
          </p:cNvPr>
          <p:cNvGraphicFramePr/>
          <p:nvPr/>
        </p:nvGraphicFramePr>
        <p:xfrm>
          <a:off xmlns:a="http://schemas.openxmlformats.org/drawingml/2006/main" x="571500" y="1743075"/>
          <a:ext xmlns:a="http://schemas.openxmlformats.org/drawingml/2006/main" cx="11049000" cy="2095500"/>
        </p:xfrm>
        <a:graphic xmlns:a="http://schemas.openxmlformats.org/drawingml/2006/main">
          <a:graphicData uri="http://schemas.openxmlformats.org/drawingml/2006/table">
            <a:tbl>
              <a:tblPr/>
              <a:tblGrid>
                <a:gridCol w="4095750"/>
                <a:gridCol w="2381250"/>
                <a:gridCol w="2524125"/>
                <a:gridCol w="2047875"/>
              </a:tblGrid>
              <a:tr h="523875">
                <a:tc>
                  <a:txBody>
                    <a:bodyPr/>
                    <a:lstStyle/>
                    <a:p>
                      <a:r>
                        <a:rPr sz="1875" b="1">
                          <a:solidFill>
                            <a:srgbClr val="FFFFFF"/>
                          </a:solidFill>
                          <a:latin typeface="Arial"/>
                          <a:ea typeface="Arial"/>
                          <a:cs typeface="Arial"/>
                        </a:rPr>
                        <a:t>Concepto</a:t>
                      </a:r>
                    </a:p>
                  </a:txBody>
                  <a:tcPr marL="95250" marR="95250" marT="19050" marB="19050" anchor="ctr">
                    <a:solidFill>
                      <a:srgbClr val="173F2F"/>
                    </a:solidFill>
                  </a:tcPr>
                </a:tc>
                <a:tc>
                  <a:txBody>
                    <a:bodyPr/>
                    <a:lstStyle/>
                    <a:p>
                      <a:r>
                        <a:rPr sz="1875" b="1">
                          <a:solidFill>
                            <a:srgbClr val="FFFFFF"/>
                          </a:solidFill>
                          <a:latin typeface="Arial"/>
                          <a:ea typeface="Arial"/>
                          <a:cs typeface="Arial"/>
                        </a:rPr>
                        <a:t>Subtotal técnico</a:t>
                      </a:r>
                    </a:p>
                  </a:txBody>
                  <a:tcPr marL="95250" marR="95250" marT="19050" marB="19050" anchor="ctr">
                    <a:solidFill>
                      <a:srgbClr val="173F2F"/>
                    </a:solidFill>
                  </a:tcPr>
                </a:tc>
                <a:tc>
                  <a:txBody>
                    <a:bodyPr/>
                    <a:lstStyle/>
                    <a:p>
                      <a:r>
                        <a:rPr sz="1875" b="1">
                          <a:solidFill>
                            <a:srgbClr val="FFFFFF"/>
                          </a:solidFill>
                          <a:latin typeface="Arial"/>
                          <a:ea typeface="Arial"/>
                          <a:cs typeface="Arial"/>
                        </a:rPr>
                        <a:t>Subtotal económico</a:t>
                      </a:r>
                    </a:p>
                  </a:txBody>
                  <a:tcPr marL="95250" marR="95250" marT="19050" marB="19050" anchor="ctr">
                    <a:solidFill>
                      <a:srgbClr val="173F2F"/>
                    </a:solidFill>
                  </a:tcPr>
                </a:tc>
                <a:tc>
                  <a:txBody>
                    <a:bodyPr/>
                    <a:lstStyle/>
                    <a:p>
                      <a:r>
                        <a:rPr sz="1875" b="1">
                          <a:solidFill>
                            <a:srgbClr val="FFFFFF"/>
                          </a:solidFill>
                          <a:latin typeface="Arial"/>
                          <a:ea typeface="Arial"/>
                          <a:cs typeface="Arial"/>
                        </a:rPr>
                        <a:t>Puntaje total</a:t>
                      </a:r>
                    </a:p>
                  </a:txBody>
                  <a:tcPr marL="95250" marR="95250" marT="19050" marB="19050" anchor="ctr">
                    <a:solidFill>
                      <a:srgbClr val="173F2F"/>
                    </a:solidFill>
                  </a:tcPr>
                </a:tc>
              </a:tr>
              <a:tr h="523875">
                <a:tc>
                  <a:txBody>
                    <a:bodyPr/>
                    <a:lstStyle/>
                    <a:p>
                      <a:r>
                        <a:rPr sz="1875">
                          <a:solidFill>
                            <a:srgbClr val="173F2F"/>
                          </a:solidFill>
                          <a:latin typeface="Arial"/>
                          <a:ea typeface="Arial"/>
                          <a:cs typeface="Arial"/>
                        </a:rPr>
                        <a:t>A · Visual</a:t>
                      </a:r>
                    </a:p>
                  </a:txBody>
                  <a:tcPr marL="95250" marR="95250" marT="19050" marB="19050" anchor="ctr">
                    <a:solidFill>
                      <a:srgbClr val="FFFFFF"/>
                    </a:solidFill>
                  </a:tcPr>
                </a:tc>
                <a:tc>
                  <a:txBody>
                    <a:bodyPr/>
                    <a:lstStyle/>
                    <a:p>
                      <a:r>
                        <a:rPr sz="1875">
                          <a:solidFill>
                            <a:srgbClr val="173F2F"/>
                          </a:solidFill>
                          <a:latin typeface="Arial"/>
                          <a:ea typeface="Arial"/>
                          <a:cs typeface="Arial"/>
                        </a:rPr>
                        <a:t>0</a:t>
                      </a:r>
                    </a:p>
                  </a:txBody>
                  <a:tcPr marL="95250" marR="95250" marT="19050" marB="19050" anchor="ctr">
                    <a:solidFill>
                      <a:srgbClr val="FFFFFF"/>
                    </a:solidFill>
                  </a:tcPr>
                </a:tc>
                <a:tc>
                  <a:txBody>
                    <a:bodyPr/>
                    <a:lstStyle/>
                    <a:p>
                      <a:r>
                        <a:rPr sz="1875">
                          <a:solidFill>
                            <a:srgbClr val="173F2F"/>
                          </a:solidFill>
                          <a:latin typeface="Arial"/>
                          <a:ea typeface="Arial"/>
                          <a:cs typeface="Arial"/>
                        </a:rPr>
                        <a:t>0</a:t>
                      </a:r>
                    </a:p>
                  </a:txBody>
                  <a:tcPr marL="95250" marR="95250" marT="19050" marB="19050" anchor="ctr">
                    <a:solidFill>
                      <a:srgbClr val="FFFFFF"/>
                    </a:solidFill>
                  </a:tcPr>
                </a:tc>
                <a:tc>
                  <a:txBody>
                    <a:bodyPr/>
                    <a:lstStyle/>
                    <a:p>
                      <a:r>
                        <a:rPr sz="1875">
                          <a:solidFill>
                            <a:srgbClr val="173F2F"/>
                          </a:solidFill>
                          <a:latin typeface="Arial"/>
                          <a:ea typeface="Arial"/>
                          <a:cs typeface="Arial"/>
                        </a:rPr>
                        <a:t>0</a:t>
                      </a:r>
                    </a:p>
                  </a:txBody>
                  <a:tcPr marL="95250" marR="95250" marT="19050" marB="19050" anchor="ctr">
                    <a:solidFill>
                      <a:srgbClr val="FFFFFF"/>
                    </a:solidFill>
                  </a:tcPr>
                </a:tc>
              </a:tr>
              <a:tr h="523875">
                <a:tc>
                  <a:txBody>
                    <a:bodyPr/>
                    <a:lstStyle/>
                    <a:p>
                      <a:r>
                        <a:rPr sz="1875">
                          <a:solidFill>
                            <a:srgbClr val="173F2F"/>
                          </a:solidFill>
                          <a:latin typeface="Arial"/>
                          <a:ea typeface="Arial"/>
                          <a:cs typeface="Arial"/>
                        </a:rPr>
                        <a:t>B · Balanza externa</a:t>
                      </a:r>
                    </a:p>
                  </a:txBody>
                  <a:tcPr marL="95250" marR="95250" marT="19050" marB="19050" anchor="ctr">
                    <a:solidFill>
                      <a:srgbClr val="EFF2E8"/>
                    </a:solidFill>
                  </a:tcPr>
                </a:tc>
                <a:tc>
                  <a:txBody>
                    <a:bodyPr/>
                    <a:lstStyle/>
                    <a:p>
                      <a:r>
                        <a:rPr sz="1875">
                          <a:solidFill>
                            <a:srgbClr val="173F2F"/>
                          </a:solidFill>
                          <a:latin typeface="Arial"/>
                          <a:ea typeface="Arial"/>
                          <a:cs typeface="Arial"/>
                        </a:rPr>
                        <a:t>5</a:t>
                      </a:r>
                    </a:p>
                  </a:txBody>
                  <a:tcPr marL="95250" marR="95250" marT="19050" marB="19050" anchor="ctr">
                    <a:solidFill>
                      <a:srgbClr val="EFF2E8"/>
                    </a:solidFill>
                  </a:tcPr>
                </a:tc>
                <a:tc>
                  <a:txBody>
                    <a:bodyPr/>
                    <a:lstStyle/>
                    <a:p>
                      <a:r>
                        <a:rPr sz="1875">
                          <a:solidFill>
                            <a:srgbClr val="173F2F"/>
                          </a:solidFill>
                          <a:latin typeface="Arial"/>
                          <a:ea typeface="Arial"/>
                          <a:cs typeface="Arial"/>
                        </a:rPr>
                        <a:t>−1</a:t>
                      </a:r>
                    </a:p>
                  </a:txBody>
                  <a:tcPr marL="95250" marR="95250" marT="19050" marB="19050" anchor="ctr">
                    <a:solidFill>
                      <a:srgbClr val="EFF2E8"/>
                    </a:solidFill>
                  </a:tcPr>
                </a:tc>
                <a:tc>
                  <a:txBody>
                    <a:bodyPr/>
                    <a:lstStyle/>
                    <a:p>
                      <a:r>
                        <a:rPr sz="1875">
                          <a:solidFill>
                            <a:srgbClr val="173F2F"/>
                          </a:solidFill>
                          <a:latin typeface="Arial"/>
                          <a:ea typeface="Arial"/>
                          <a:cs typeface="Arial"/>
                        </a:rPr>
                        <a:t>4</a:t>
                      </a:r>
                    </a:p>
                  </a:txBody>
                  <a:tcPr marL="95250" marR="95250" marT="19050" marB="19050" anchor="ctr">
                    <a:solidFill>
                      <a:srgbClr val="EFF2E8"/>
                    </a:solidFill>
                  </a:tcPr>
                </a:tc>
              </a:tr>
              <a:tr h="523875">
                <a:tc>
                  <a:txBody>
                    <a:bodyPr/>
                    <a:lstStyle/>
                    <a:p>
                      <a:r>
                        <a:rPr sz="1875">
                          <a:solidFill>
                            <a:srgbClr val="173F2F"/>
                          </a:solidFill>
                          <a:latin typeface="Arial"/>
                          <a:ea typeface="Arial"/>
                          <a:cs typeface="Arial"/>
                        </a:rPr>
                        <a:t>C · Caja integrada</a:t>
                      </a:r>
                    </a:p>
                  </a:txBody>
                  <a:tcPr marL="95250" marR="95250" marT="19050" marB="19050" anchor="ctr">
                    <a:solidFill>
                      <a:srgbClr val="FFFFFF"/>
                    </a:solidFill>
                  </a:tcPr>
                </a:tc>
                <a:tc>
                  <a:txBody>
                    <a:bodyPr/>
                    <a:lstStyle/>
                    <a:p>
                      <a:r>
                        <a:rPr sz="1875">
                          <a:solidFill>
                            <a:srgbClr val="173F2F"/>
                          </a:solidFill>
                          <a:latin typeface="Arial"/>
                          <a:ea typeface="Arial"/>
                          <a:cs typeface="Arial"/>
                        </a:rPr>
                        <a:t>10</a:t>
                      </a:r>
                    </a:p>
                  </a:txBody>
                  <a:tcPr marL="95250" marR="95250" marT="19050" marB="19050" anchor="ctr">
                    <a:solidFill>
                      <a:srgbClr val="FFFFFF"/>
                    </a:solidFill>
                  </a:tcPr>
                </a:tc>
                <a:tc>
                  <a:txBody>
                    <a:bodyPr/>
                    <a:lstStyle/>
                    <a:p>
                      <a:r>
                        <a:rPr sz="1875">
                          <a:solidFill>
                            <a:srgbClr val="173F2F"/>
                          </a:solidFill>
                          <a:latin typeface="Arial"/>
                          <a:ea typeface="Arial"/>
                          <a:cs typeface="Arial"/>
                        </a:rPr>
                        <a:t>−3</a:t>
                      </a:r>
                    </a:p>
                  </a:txBody>
                  <a:tcPr marL="95250" marR="95250" marT="19050" marB="19050" anchor="ctr">
                    <a:solidFill>
                      <a:srgbClr val="FFFFFF"/>
                    </a:solidFill>
                  </a:tcPr>
                </a:tc>
                <a:tc>
                  <a:txBody>
                    <a:bodyPr/>
                    <a:lstStyle/>
                    <a:p>
                      <a:r>
                        <a:rPr sz="1875">
                          <a:solidFill>
                            <a:srgbClr val="173F2F"/>
                          </a:solidFill>
                          <a:latin typeface="Arial"/>
                          <a:ea typeface="Arial"/>
                          <a:cs typeface="Arial"/>
                        </a:rPr>
                        <a:t>7</a:t>
                      </a:r>
                    </a:p>
                  </a:txBody>
                  <a:tcPr marL="95250" marR="95250" marT="19050" marB="19050" anchor="ctr">
                    <a:solidFill>
                      <a:srgbClr val="FFFFFF"/>
                    </a:solidFill>
                  </a:tcPr>
                </a:tc>
              </a:tr>
            </a:tbl>
          </a:graphicData>
        </a:graphic>
      </p:graphicFrame>
      <p:sp>
        <p:nvSpPr>
          <p:cNvPr id="6" name="C es el objetivo de diseño propuesto.">
            <a:extLst xmlns:a="http://schemas.openxmlformats.org/drawingml/2006/main">
              <a:ext uri="{FF2B5EF4-FFF2-40B4-BE49-F238E27FC236}">
                <a16:creationId xmlns:a16="http://schemas.microsoft.com/office/drawing/2014/main" id="{BC2F71D9-2F38-402F-870F-74286521E049}"/>
              </a:ext>
            </a:extLst>
          </p:cNvPr>
          <p:cNvSpPr>
            <a:spLocks xmlns:a="http://schemas.openxmlformats.org/drawingml/2006/main" noGrp="1"/>
          </p:cNvSpPr>
          <p:nvPr/>
        </p:nvSpPr>
        <p:spPr>
          <a:xfrm xmlns:a="http://schemas.openxmlformats.org/drawingml/2006/main">
            <a:off x="571500" y="42100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73F2F"/>
                </a:solidFill>
                <a:latin typeface="Arial"/>
                <a:ea typeface="Arial"/>
                <a:cs typeface="Arial"/>
              </a:defRPr>
            </a:defPPr>
          </a:lstStyle>
          <a:p xmlns:a="http://schemas.openxmlformats.org/drawingml/2006/main">
            <a:pPr>
              <a:defRPr sz="2625" b="1">
                <a:solidFill>
                  <a:srgbClr val="173F2F"/>
                </a:solidFill>
                <a:latin typeface="Arial"/>
                <a:ea typeface="Arial"/>
                <a:cs typeface="Arial"/>
              </a:defRPr>
            </a:pPr>
            <a:r>
              <a:rPr sz="2625" b="1">
                <a:solidFill>
                  <a:srgbClr val="173F2F"/>
                </a:solidFill>
                <a:latin typeface="Arial"/>
                <a:ea typeface="Arial"/>
                <a:cs typeface="Arial"/>
              </a:rPr>
              <a:t>C es el objetivo de diseño propuesto.</a:t>
            </a:r>
          </a:p>
        </p:txBody>
      </p:sp>
      <p:sp>
        <p:nvSpPr>
          <p:cNvPr id="7" name="Su ventaja: masa medida, captura controlada y enla">
            <a:extLst xmlns:a="http://schemas.openxmlformats.org/drawingml/2006/main">
              <a:ext uri="{FF2B5EF4-FFF2-40B4-BE49-F238E27FC236}">
                <a16:creationId xmlns:a16="http://schemas.microsoft.com/office/drawing/2014/main" id="{ABBE745E-F41C-4A2A-B1DA-9E611112BDB9}"/>
              </a:ext>
            </a:extLst>
          </p:cNvPr>
          <p:cNvSpPr>
            <a:spLocks xmlns:a="http://schemas.openxmlformats.org/drawingml/2006/main" noGrp="1"/>
          </p:cNvSpPr>
          <p:nvPr/>
        </p:nvSpPr>
        <p:spPr>
          <a:xfrm xmlns:a="http://schemas.openxmlformats.org/drawingml/2006/main">
            <a:off x="571500" y="4895850"/>
            <a:ext cx="11049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3F2F"/>
                </a:solidFill>
                <a:latin typeface="Arial"/>
                <a:ea typeface="Arial"/>
                <a:cs typeface="Arial"/>
              </a:defRPr>
            </a:defPPr>
          </a:lstStyle>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Su ventaja: masa medida, captura controlada y enlace automático con la app.</a:t>
            </a:r>
          </a:p>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Condiciones: calibrar, comprobar estabilidad y validar la transmisión.</a:t>
            </a:r>
          </a:p>
        </p:txBody>
      </p:sp>
      <p:sp>
        <p:nvSpPr>
          <p:cNvPr id="8" name="B permite continuar el parcial. La elección de C e">
            <a:extLst xmlns:a="http://schemas.openxmlformats.org/drawingml/2006/main">
              <a:ext uri="{FF2B5EF4-FFF2-40B4-BE49-F238E27FC236}">
                <a16:creationId xmlns:a16="http://schemas.microsoft.com/office/drawing/2014/main" id="{DE9A1579-1C20-44D2-9255-F5E627D7C01A}"/>
              </a:ext>
            </a:extLst>
          </p:cNvPr>
          <p:cNvSpPr>
            <a:spLocks xmlns:a="http://schemas.openxmlformats.org/drawingml/2006/main" noGrp="1"/>
          </p:cNvSpPr>
          <p:nvPr/>
        </p:nvSpPr>
        <p:spPr>
          <a:xfrm xmlns:a="http://schemas.openxmlformats.org/drawingml/2006/main">
            <a:off x="571500" y="601980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AD6240"/>
                </a:solidFill>
                <a:latin typeface="Arial"/>
                <a:ea typeface="Arial"/>
                <a:cs typeface="Arial"/>
              </a:defRPr>
            </a:defPPr>
          </a:lstStyle>
          <a:p xmlns:a="http://schemas.openxmlformats.org/drawingml/2006/main">
            <a:pPr>
              <a:defRPr sz="1725" b="1">
                <a:solidFill>
                  <a:srgbClr val="AD6240"/>
                </a:solidFill>
                <a:latin typeface="Arial"/>
                <a:ea typeface="Arial"/>
                <a:cs typeface="Arial"/>
              </a:defRPr>
            </a:pPr>
            <a:r>
              <a:rPr sz="1725" b="1">
                <a:solidFill>
                  <a:srgbClr val="AD6240"/>
                </a:solidFill>
                <a:latin typeface="Arial"/>
                <a:ea typeface="Arial"/>
                <a:cs typeface="Arial"/>
              </a:rPr>
              <a:t>B permite continuar el parcial. La elección de C es preliminar y requiere pruebas.</a:t>
            </a:r>
          </a:p>
        </p:txBody>
      </p:sp>
    </p:spTree>
    <p:extLst>
      <p:ext uri="{BB962C8B-B14F-4D97-AF65-F5344CB8AC3E}">
        <p14:creationId xmlns:p14="http://schemas.microsoft.com/office/powerpoint/2010/main" val="1379450811"/>
      </p:ext>
    </p:extLst>
  </p:cSld>
</p:sld>
</file>

<file path=ppt/slides/slide22.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9" name="9. Referencias bibliográficas (1/2)">
            <a:extLst xmlns:a="http://schemas.openxmlformats.org/drawingml/2006/main">
              <a:ext uri="{FF2B5EF4-FFF2-40B4-BE49-F238E27FC236}">
                <a16:creationId xmlns:a16="http://schemas.microsoft.com/office/drawing/2014/main" id="{58F44575-3D87-4670-BDE7-1A8C0258A384}"/>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9. Referencias bibliográficas (1/2)</a:t>
            </a:r>
          </a:p>
        </p:txBody>
      </p:sp>
      <p:sp>
        <p:nvSpPr>
          <p:cNvPr id="2" name="Vancouver. Los nombres de las fuentes enlazan al d">
            <a:extLst xmlns:a="http://schemas.openxmlformats.org/drawingml/2006/main">
              <a:ext uri="{FF2B5EF4-FFF2-40B4-BE49-F238E27FC236}">
                <a16:creationId xmlns:a16="http://schemas.microsoft.com/office/drawing/2014/main" id="{E562F796-0AA7-4666-95C8-05184E8C34EE}"/>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Vancouver. Los nombres de las fuentes enlazan al documento o sitio original.</a:t>
            </a:r>
          </a:p>
        </p:txBody>
      </p:sp>
      <p:sp>
        <p:nvSpPr>
          <p:cNvPr id="3" name="FoodScan · Equipo 10">
            <a:extLst xmlns:a="http://schemas.openxmlformats.org/drawingml/2006/main">
              <a:ext uri="{FF2B5EF4-FFF2-40B4-BE49-F238E27FC236}">
                <a16:creationId xmlns:a16="http://schemas.microsoft.com/office/drawing/2014/main" id="{AB653824-DD68-4564-AF5F-FD0BDE1B1F82}"/>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FoodScan · Equipo 10</a:t>
            </a:r>
          </a:p>
        </p:txBody>
      </p:sp>
      <p:sp>
        <p:nvSpPr>
          <p:cNvPr id="4" name="22">
            <a:extLst xmlns:a="http://schemas.openxmlformats.org/drawingml/2006/main">
              <a:ext uri="{FF2B5EF4-FFF2-40B4-BE49-F238E27FC236}">
                <a16:creationId xmlns:a16="http://schemas.microsoft.com/office/drawing/2014/main" id="{E83E9791-AC0C-451A-BAAC-788726832709}"/>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22</a:t>
            </a:r>
          </a:p>
        </p:txBody>
      </p:sp>
      <p:sp>
        <p:nvSpPr>
          <p:cNvPr id="5" name="1.">
            <a:extLst xmlns:a="http://schemas.openxmlformats.org/drawingml/2006/main">
              <a:ext uri="{FF2B5EF4-FFF2-40B4-BE49-F238E27FC236}">
                <a16:creationId xmlns:a16="http://schemas.microsoft.com/office/drawing/2014/main" id="{11FFA94C-A8A2-4451-A6ED-7B5A441C3DB5}"/>
              </a:ext>
            </a:extLst>
          </p:cNvPr>
          <p:cNvSpPr>
            <a:spLocks xmlns:a="http://schemas.openxmlformats.org/drawingml/2006/main" noGrp="1"/>
          </p:cNvSpPr>
          <p:nvPr/>
        </p:nvSpPr>
        <p:spPr>
          <a:xfrm xmlns:a="http://schemas.openxmlformats.org/drawingml/2006/main">
            <a:off x="571500" y="170497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a:t>
            </a:r>
          </a:p>
        </p:txBody>
      </p:sp>
      <p:sp>
        <p:nvSpPr>
          <p:cNvPr id="6" name="Fang S, Zhu F, Jiang C, Zhang S, Boushey CJ, Delp ">
            <a:extLst xmlns:a="http://schemas.openxmlformats.org/drawingml/2006/main">
              <a:ext uri="{FF2B5EF4-FFF2-40B4-BE49-F238E27FC236}">
                <a16:creationId xmlns:a16="http://schemas.microsoft.com/office/drawing/2014/main" id="{E6AB4DD8-C024-4BFF-A6B9-768AF247C198}"/>
              </a:ext>
            </a:extLst>
          </p:cNvPr>
          <p:cNvSpPr>
            <a:spLocks xmlns:a="http://schemas.openxmlformats.org/drawingml/2006/main" noGrp="1"/>
          </p:cNvSpPr>
          <p:nvPr/>
        </p:nvSpPr>
        <p:spPr>
          <a:xfrm xmlns:a="http://schemas.openxmlformats.org/drawingml/2006/main">
            <a:off x="981075" y="1704975"/>
            <a:ext cx="49815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626174c4f4d146dd"/>
              </a:rPr>
              <a:t>Fang S, Zhu F, Jiang C, Zhang S, Boushey CJ, Delp EJ. A comparison of food portion size estimation using geometric models and depth images. En: IEEE ICIP. 2016. p. 26-30. doi:10.1109/ICIP.2016.7532312.</a:t>
            </a:r>
          </a:p>
        </p:txBody>
      </p:sp>
      <p:sp>
        <p:nvSpPr>
          <p:cNvPr id="7" name="2.">
            <a:extLst xmlns:a="http://schemas.openxmlformats.org/drawingml/2006/main">
              <a:ext uri="{FF2B5EF4-FFF2-40B4-BE49-F238E27FC236}">
                <a16:creationId xmlns:a16="http://schemas.microsoft.com/office/drawing/2014/main" id="{8E3813FE-CE70-4A0F-9C23-D270BFCD7539}"/>
              </a:ext>
            </a:extLst>
          </p:cNvPr>
          <p:cNvSpPr>
            <a:spLocks xmlns:a="http://schemas.openxmlformats.org/drawingml/2006/main" noGrp="1"/>
          </p:cNvSpPr>
          <p:nvPr/>
        </p:nvSpPr>
        <p:spPr>
          <a:xfrm xmlns:a="http://schemas.openxmlformats.org/drawingml/2006/main">
            <a:off x="571500" y="245745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2.</a:t>
            </a:r>
          </a:p>
        </p:txBody>
      </p:sp>
      <p:sp>
        <p:nvSpPr>
          <p:cNvPr id="8" name="Konstantakopoulos FS, Georga EI, Fotiadis DI. A no">
            <a:extLst xmlns:a="http://schemas.openxmlformats.org/drawingml/2006/main">
              <a:ext uri="{FF2B5EF4-FFF2-40B4-BE49-F238E27FC236}">
                <a16:creationId xmlns:a16="http://schemas.microsoft.com/office/drawing/2014/main" id="{C9B23F7A-E5D6-498A-ADEE-E8A6F4AC2925}"/>
              </a:ext>
            </a:extLst>
          </p:cNvPr>
          <p:cNvSpPr>
            <a:spLocks xmlns:a="http://schemas.openxmlformats.org/drawingml/2006/main" noGrp="1"/>
          </p:cNvSpPr>
          <p:nvPr/>
        </p:nvSpPr>
        <p:spPr>
          <a:xfrm xmlns:a="http://schemas.openxmlformats.org/drawingml/2006/main">
            <a:off x="981075" y="2457450"/>
            <a:ext cx="49815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13ca6520001746d6"/>
              </a:rPr>
              <a:t>Konstantakopoulos FS, Georga EI, Fotiadis DI. A novel approach to estimate the weight of food items based on features extracted from an image using boosting algorithms. Sci Rep. 2023;13:21040. doi:10.1038/s41598-023-47885-0.</a:t>
            </a:r>
          </a:p>
        </p:txBody>
      </p:sp>
      <p:sp>
        <p:nvSpPr>
          <p:cNvPr id="9" name="3.">
            <a:extLst xmlns:a="http://schemas.openxmlformats.org/drawingml/2006/main">
              <a:ext uri="{FF2B5EF4-FFF2-40B4-BE49-F238E27FC236}">
                <a16:creationId xmlns:a16="http://schemas.microsoft.com/office/drawing/2014/main" id="{BC0772F9-15CC-474D-848B-02C96B9BEE21}"/>
              </a:ext>
            </a:extLst>
          </p:cNvPr>
          <p:cNvSpPr>
            <a:spLocks xmlns:a="http://schemas.openxmlformats.org/drawingml/2006/main" noGrp="1"/>
          </p:cNvSpPr>
          <p:nvPr/>
        </p:nvSpPr>
        <p:spPr>
          <a:xfrm xmlns:a="http://schemas.openxmlformats.org/drawingml/2006/main">
            <a:off x="571500" y="320992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3.</a:t>
            </a:r>
          </a:p>
        </p:txBody>
      </p:sp>
      <p:sp>
        <p:nvSpPr>
          <p:cNvPr id="10" name="Dalakleidi KV, Papadelli M, Kapolos I, Papadimitri">
            <a:extLst xmlns:a="http://schemas.openxmlformats.org/drawingml/2006/main">
              <a:ext uri="{FF2B5EF4-FFF2-40B4-BE49-F238E27FC236}">
                <a16:creationId xmlns:a16="http://schemas.microsoft.com/office/drawing/2014/main" id="{19C47B4B-EAFB-466A-B836-E95BC0F5F31E}"/>
              </a:ext>
            </a:extLst>
          </p:cNvPr>
          <p:cNvSpPr>
            <a:spLocks xmlns:a="http://schemas.openxmlformats.org/drawingml/2006/main" noGrp="1"/>
          </p:cNvSpPr>
          <p:nvPr/>
        </p:nvSpPr>
        <p:spPr>
          <a:xfrm xmlns:a="http://schemas.openxmlformats.org/drawingml/2006/main">
            <a:off x="981075" y="3209925"/>
            <a:ext cx="49815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2ceec95ea6b54167"/>
              </a:rPr>
              <a:t>Dalakleidi KV, Papadelli M, Kapolos I, Papadimitriou K. Applying image-based food-recognition systems on dietary assessment: a systematic review. Adv Nutr. 2022;13(6):2590-2619. doi:10.1093/advances/nmac078.</a:t>
            </a:r>
          </a:p>
        </p:txBody>
      </p:sp>
      <p:sp>
        <p:nvSpPr>
          <p:cNvPr id="11" name="4.">
            <a:extLst xmlns:a="http://schemas.openxmlformats.org/drawingml/2006/main">
              <a:ext uri="{FF2B5EF4-FFF2-40B4-BE49-F238E27FC236}">
                <a16:creationId xmlns:a16="http://schemas.microsoft.com/office/drawing/2014/main" id="{2EF01AAC-1533-4B6B-9A06-F94281BCBFE8}"/>
              </a:ext>
            </a:extLst>
          </p:cNvPr>
          <p:cNvSpPr>
            <a:spLocks xmlns:a="http://schemas.openxmlformats.org/drawingml/2006/main" noGrp="1"/>
          </p:cNvSpPr>
          <p:nvPr/>
        </p:nvSpPr>
        <p:spPr>
          <a:xfrm xmlns:a="http://schemas.openxmlformats.org/drawingml/2006/main">
            <a:off x="571500" y="396240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4.</a:t>
            </a:r>
          </a:p>
        </p:txBody>
      </p:sp>
      <p:sp>
        <p:nvSpPr>
          <p:cNvPr id="12" name="Wan J, inventora. Calculating instrument for nutri">
            <a:extLst xmlns:a="http://schemas.openxmlformats.org/drawingml/2006/main">
              <a:ext uri="{FF2B5EF4-FFF2-40B4-BE49-F238E27FC236}">
                <a16:creationId xmlns:a16="http://schemas.microsoft.com/office/drawing/2014/main" id="{248C39B9-8B9E-497E-A64C-52E3717D756B}"/>
              </a:ext>
            </a:extLst>
          </p:cNvPr>
          <p:cNvSpPr>
            <a:spLocks xmlns:a="http://schemas.openxmlformats.org/drawingml/2006/main" noGrp="1"/>
          </p:cNvSpPr>
          <p:nvPr/>
        </p:nvSpPr>
        <p:spPr>
          <a:xfrm xmlns:a="http://schemas.openxmlformats.org/drawingml/2006/main">
            <a:off x="981075" y="3962400"/>
            <a:ext cx="49815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rPr>
              <a:t>Wan J, inventora. Calculating instrument for nutrients such as calorie and protein. Solicitud de patente CN114360689A. 15 abr 2022. Disponible en: </a:t>
            </a:r>
            <a:r>
              <a:rPr sz="1313" b="0">
                <a:solidFill>
                  <a:srgbClr val="173F2F"/>
                </a:solidFill>
                <a:latin typeface="Arial"/>
                <a:ea typeface="Arial"/>
                <a:cs typeface="Arial"/>
                <a:hlinkClick xmlns:r="http://schemas.openxmlformats.org/officeDocument/2006/relationships" r:id="Rfa20aefc71e04404"/>
              </a:rPr>
              <a:t>Google Patents</a:t>
            </a:r>
            <a:r>
              <a:rPr sz="1313" b="0">
                <a:solidFill>
                  <a:srgbClr val="173F2F"/>
                </a:solidFill>
                <a:latin typeface="Arial"/>
                <a:ea typeface="Arial"/>
                <a:cs typeface="Arial"/>
              </a:rPr>
              <a:t>.</a:t>
            </a:r>
          </a:p>
        </p:txBody>
      </p:sp>
      <p:sp>
        <p:nvSpPr>
          <p:cNvPr id="13" name="5.">
            <a:extLst xmlns:a="http://schemas.openxmlformats.org/drawingml/2006/main">
              <a:ext uri="{FF2B5EF4-FFF2-40B4-BE49-F238E27FC236}">
                <a16:creationId xmlns:a16="http://schemas.microsoft.com/office/drawing/2014/main" id="{049D8465-5BAC-4896-95B8-A1FFC16E8C99}"/>
              </a:ext>
            </a:extLst>
          </p:cNvPr>
          <p:cNvSpPr>
            <a:spLocks xmlns:a="http://schemas.openxmlformats.org/drawingml/2006/main" noGrp="1"/>
          </p:cNvSpPr>
          <p:nvPr/>
        </p:nvSpPr>
        <p:spPr>
          <a:xfrm xmlns:a="http://schemas.openxmlformats.org/drawingml/2006/main">
            <a:off x="571500" y="471487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5.</a:t>
            </a:r>
          </a:p>
        </p:txBody>
      </p:sp>
      <p:sp>
        <p:nvSpPr>
          <p:cNvPr id="14" name="Tkach A, inventor. Methods, system and apparatus t">
            <a:extLst xmlns:a="http://schemas.openxmlformats.org/drawingml/2006/main">
              <a:ext uri="{FF2B5EF4-FFF2-40B4-BE49-F238E27FC236}">
                <a16:creationId xmlns:a16="http://schemas.microsoft.com/office/drawing/2014/main" id="{E0473AFC-9D0B-4A09-A6B2-C69056A8563F}"/>
              </a:ext>
            </a:extLst>
          </p:cNvPr>
          <p:cNvSpPr>
            <a:spLocks xmlns:a="http://schemas.openxmlformats.org/drawingml/2006/main" noGrp="1"/>
          </p:cNvSpPr>
          <p:nvPr/>
        </p:nvSpPr>
        <p:spPr>
          <a:xfrm xmlns:a="http://schemas.openxmlformats.org/drawingml/2006/main">
            <a:off x="981075" y="4714875"/>
            <a:ext cx="49815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rPr>
              <a:t>Tkach A, inventor. Methods, system and apparatus to improve motivation and control when taking meals and to automate the process of monitoring nutrition. Patente US10292511B2. 21 may 2019. Disponible en: </a:t>
            </a:r>
            <a:r>
              <a:rPr sz="1313" b="0">
                <a:solidFill>
                  <a:srgbClr val="173F2F"/>
                </a:solidFill>
                <a:latin typeface="Arial"/>
                <a:ea typeface="Arial"/>
                <a:cs typeface="Arial"/>
                <a:hlinkClick xmlns:r="http://schemas.openxmlformats.org/officeDocument/2006/relationships" r:id="R07ff20397500499b"/>
              </a:rPr>
              <a:t>Google Patents</a:t>
            </a:r>
            <a:r>
              <a:rPr sz="1313" b="0">
                <a:solidFill>
                  <a:srgbClr val="173F2F"/>
                </a:solidFill>
                <a:latin typeface="Arial"/>
                <a:ea typeface="Arial"/>
                <a:cs typeface="Arial"/>
              </a:rPr>
              <a:t>.</a:t>
            </a:r>
          </a:p>
        </p:txBody>
      </p:sp>
      <p:sp>
        <p:nvSpPr>
          <p:cNvPr id="15" name="6.">
            <a:extLst xmlns:a="http://schemas.openxmlformats.org/drawingml/2006/main">
              <a:ext uri="{FF2B5EF4-FFF2-40B4-BE49-F238E27FC236}">
                <a16:creationId xmlns:a16="http://schemas.microsoft.com/office/drawing/2014/main" id="{B30F323B-BFDA-47A4-AD84-47E7AA87E39C}"/>
              </a:ext>
            </a:extLst>
          </p:cNvPr>
          <p:cNvSpPr>
            <a:spLocks xmlns:a="http://schemas.openxmlformats.org/drawingml/2006/main" noGrp="1"/>
          </p:cNvSpPr>
          <p:nvPr/>
        </p:nvSpPr>
        <p:spPr>
          <a:xfrm xmlns:a="http://schemas.openxmlformats.org/drawingml/2006/main">
            <a:off x="571500" y="546735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6.</a:t>
            </a:r>
          </a:p>
        </p:txBody>
      </p:sp>
      <p:sp>
        <p:nvSpPr>
          <p:cNvPr id="16" name="Kourtesis G, inventor. Method and system for plann">
            <a:extLst xmlns:a="http://schemas.openxmlformats.org/drawingml/2006/main">
              <a:ext uri="{FF2B5EF4-FFF2-40B4-BE49-F238E27FC236}">
                <a16:creationId xmlns:a16="http://schemas.microsoft.com/office/drawing/2014/main" id="{A800D526-5D38-4B41-8300-8485DD08FF0D}"/>
              </a:ext>
            </a:extLst>
          </p:cNvPr>
          <p:cNvSpPr>
            <a:spLocks xmlns:a="http://schemas.openxmlformats.org/drawingml/2006/main" noGrp="1"/>
          </p:cNvSpPr>
          <p:nvPr/>
        </p:nvSpPr>
        <p:spPr>
          <a:xfrm xmlns:a="http://schemas.openxmlformats.org/drawingml/2006/main">
            <a:off x="981075" y="5467350"/>
            <a:ext cx="49815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rPr>
              <a:t>Kourtesis G, inventor. Method and system for planning and monitoring calorie consumption. Solicitud internacional WO2014008555A1. 16 ene 2014. Disponible en: </a:t>
            </a:r>
            <a:r>
              <a:rPr sz="1313" b="0">
                <a:solidFill>
                  <a:srgbClr val="173F2F"/>
                </a:solidFill>
                <a:latin typeface="Arial"/>
                <a:ea typeface="Arial"/>
                <a:cs typeface="Arial"/>
                <a:hlinkClick xmlns:r="http://schemas.openxmlformats.org/officeDocument/2006/relationships" r:id="R13ef77f85d874b8c"/>
              </a:rPr>
              <a:t>Google Patents</a:t>
            </a:r>
            <a:r>
              <a:rPr sz="1313" b="0">
                <a:solidFill>
                  <a:srgbClr val="173F2F"/>
                </a:solidFill>
                <a:latin typeface="Arial"/>
                <a:ea typeface="Arial"/>
                <a:cs typeface="Arial"/>
              </a:rPr>
              <a:t>.</a:t>
            </a:r>
          </a:p>
        </p:txBody>
      </p:sp>
      <p:sp>
        <p:nvSpPr>
          <p:cNvPr id="17" name="7.">
            <a:extLst xmlns:a="http://schemas.openxmlformats.org/drawingml/2006/main">
              <a:ext uri="{FF2B5EF4-FFF2-40B4-BE49-F238E27FC236}">
                <a16:creationId xmlns:a16="http://schemas.microsoft.com/office/drawing/2014/main" id="{98B15EC0-B70F-4D19-86C6-C2FEC13BF1FA}"/>
              </a:ext>
            </a:extLst>
          </p:cNvPr>
          <p:cNvSpPr>
            <a:spLocks xmlns:a="http://schemas.openxmlformats.org/drawingml/2006/main" noGrp="1"/>
          </p:cNvSpPr>
          <p:nvPr/>
        </p:nvSpPr>
        <p:spPr>
          <a:xfrm xmlns:a="http://schemas.openxmlformats.org/drawingml/2006/main">
            <a:off x="6229350" y="170497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7.</a:t>
            </a:r>
          </a:p>
        </p:txBody>
      </p:sp>
      <p:sp>
        <p:nvSpPr>
          <p:cNvPr id="18" name="Puri M, Zhu Z, Lubin J, Pschar T, Divakaran A, Saw">
            <a:extLst xmlns:a="http://schemas.openxmlformats.org/drawingml/2006/main">
              <a:ext uri="{FF2B5EF4-FFF2-40B4-BE49-F238E27FC236}">
                <a16:creationId xmlns:a16="http://schemas.microsoft.com/office/drawing/2014/main" id="{88AA3FCB-C18A-4148-9D9F-94767CB6EFC4}"/>
              </a:ext>
            </a:extLst>
          </p:cNvPr>
          <p:cNvSpPr>
            <a:spLocks xmlns:a="http://schemas.openxmlformats.org/drawingml/2006/main" noGrp="1"/>
          </p:cNvSpPr>
          <p:nvPr/>
        </p:nvSpPr>
        <p:spPr>
          <a:xfrm xmlns:a="http://schemas.openxmlformats.org/drawingml/2006/main">
            <a:off x="6638925" y="1704975"/>
            <a:ext cx="49815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rPr>
              <a:t>Puri M, Zhu Z, Lubin J, Pschar T, Divakaran A, Sawhney HS, inventores. Food recognition using visual analysis and speech recognition. Patente US8439683B2. SRI International Inc. 14 may 2013. Disponible en: </a:t>
            </a:r>
            <a:r>
              <a:rPr sz="1313" b="0">
                <a:solidFill>
                  <a:srgbClr val="173F2F"/>
                </a:solidFill>
                <a:latin typeface="Arial"/>
                <a:ea typeface="Arial"/>
                <a:cs typeface="Arial"/>
                <a:hlinkClick xmlns:r="http://schemas.openxmlformats.org/officeDocument/2006/relationships" r:id="R7a7bea8d944e4bf4"/>
              </a:rPr>
              <a:t>Google Patents</a:t>
            </a:r>
            <a:r>
              <a:rPr sz="1313" b="0">
                <a:solidFill>
                  <a:srgbClr val="173F2F"/>
                </a:solidFill>
                <a:latin typeface="Arial"/>
                <a:ea typeface="Arial"/>
                <a:cs typeface="Arial"/>
              </a:rPr>
              <a:t>.</a:t>
            </a:r>
          </a:p>
        </p:txBody>
      </p:sp>
      <p:sp>
        <p:nvSpPr>
          <p:cNvPr id="19" name="8.">
            <a:extLst xmlns:a="http://schemas.openxmlformats.org/drawingml/2006/main">
              <a:ext uri="{FF2B5EF4-FFF2-40B4-BE49-F238E27FC236}">
                <a16:creationId xmlns:a16="http://schemas.microsoft.com/office/drawing/2014/main" id="{10735143-CEEA-43EB-9F55-229A8A0CD4F2}"/>
              </a:ext>
            </a:extLst>
          </p:cNvPr>
          <p:cNvSpPr>
            <a:spLocks xmlns:a="http://schemas.openxmlformats.org/drawingml/2006/main" noGrp="1"/>
          </p:cNvSpPr>
          <p:nvPr/>
        </p:nvSpPr>
        <p:spPr>
          <a:xfrm xmlns:a="http://schemas.openxmlformats.org/drawingml/2006/main">
            <a:off x="6229350" y="245745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8.</a:t>
            </a:r>
          </a:p>
        </p:txBody>
      </p:sp>
      <p:sp>
        <p:nvSpPr>
          <p:cNvPr id="20" name="Sharma A, inventor. Connected food scale system an">
            <a:extLst xmlns:a="http://schemas.openxmlformats.org/drawingml/2006/main">
              <a:ext uri="{FF2B5EF4-FFF2-40B4-BE49-F238E27FC236}">
                <a16:creationId xmlns:a16="http://schemas.microsoft.com/office/drawing/2014/main" id="{45578E2F-011B-43C9-9116-922B2A74D418}"/>
              </a:ext>
            </a:extLst>
          </p:cNvPr>
          <p:cNvSpPr>
            <a:spLocks xmlns:a="http://schemas.openxmlformats.org/drawingml/2006/main" noGrp="1"/>
          </p:cNvSpPr>
          <p:nvPr/>
        </p:nvSpPr>
        <p:spPr>
          <a:xfrm xmlns:a="http://schemas.openxmlformats.org/drawingml/2006/main">
            <a:off x="6638925" y="2457450"/>
            <a:ext cx="49815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rPr>
              <a:t>Sharma A, inventor. Connected food scale system and method. Solicitud de patente US20140063180A1. BBY Solutions Inc. 6 mar 2014. Disponible en: </a:t>
            </a:r>
            <a:r>
              <a:rPr sz="1313" b="0">
                <a:solidFill>
                  <a:srgbClr val="173F2F"/>
                </a:solidFill>
                <a:latin typeface="Arial"/>
                <a:ea typeface="Arial"/>
                <a:cs typeface="Arial"/>
                <a:hlinkClick xmlns:r="http://schemas.openxmlformats.org/officeDocument/2006/relationships" r:id="Re152a858c9554591"/>
              </a:rPr>
              <a:t>Google Patents</a:t>
            </a:r>
            <a:r>
              <a:rPr sz="1313" b="0">
                <a:solidFill>
                  <a:srgbClr val="173F2F"/>
                </a:solidFill>
                <a:latin typeface="Arial"/>
                <a:ea typeface="Arial"/>
                <a:cs typeface="Arial"/>
              </a:rPr>
              <a:t>.</a:t>
            </a:r>
          </a:p>
        </p:txBody>
      </p:sp>
      <p:sp>
        <p:nvSpPr>
          <p:cNvPr id="21" name="9.">
            <a:extLst xmlns:a="http://schemas.openxmlformats.org/drawingml/2006/main">
              <a:ext uri="{FF2B5EF4-FFF2-40B4-BE49-F238E27FC236}">
                <a16:creationId xmlns:a16="http://schemas.microsoft.com/office/drawing/2014/main" id="{12723701-79EB-4AC8-A496-F5609C0FC5B1}"/>
              </a:ext>
            </a:extLst>
          </p:cNvPr>
          <p:cNvSpPr>
            <a:spLocks xmlns:a="http://schemas.openxmlformats.org/drawingml/2006/main" noGrp="1"/>
          </p:cNvSpPr>
          <p:nvPr/>
        </p:nvSpPr>
        <p:spPr>
          <a:xfrm xmlns:a="http://schemas.openxmlformats.org/drawingml/2006/main">
            <a:off x="6229350" y="320992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9.</a:t>
            </a:r>
          </a:p>
        </p:txBody>
      </p:sp>
      <p:sp>
        <p:nvSpPr>
          <p:cNvPr id="22" name="Gong WJ, inventora; Sichuan Feixun Information Tec">
            <a:extLst xmlns:a="http://schemas.openxmlformats.org/drawingml/2006/main">
              <a:ext uri="{FF2B5EF4-FFF2-40B4-BE49-F238E27FC236}">
                <a16:creationId xmlns:a16="http://schemas.microsoft.com/office/drawing/2014/main" id="{67C854ED-F906-4A44-A9C6-1FDDA1A69279}"/>
              </a:ext>
            </a:extLst>
          </p:cNvPr>
          <p:cNvSpPr>
            <a:spLocks xmlns:a="http://schemas.openxmlformats.org/drawingml/2006/main" noGrp="1"/>
          </p:cNvSpPr>
          <p:nvPr/>
        </p:nvSpPr>
        <p:spPr>
          <a:xfrm xmlns:a="http://schemas.openxmlformats.org/drawingml/2006/main">
            <a:off x="6638925" y="3209925"/>
            <a:ext cx="49815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rPr>
              <a:t>Gong WJ, inventora; Sichuan Feixun Information Technology Co Ltd, solicitante. Electronic scale and method for automatically recognizing food calories. China. Solicitud CN108871530A. 23 nov 2018. Disponible en: </a:t>
            </a:r>
            <a:r>
              <a:rPr sz="1313" b="0">
                <a:solidFill>
                  <a:srgbClr val="173F2F"/>
                </a:solidFill>
                <a:latin typeface="Arial"/>
                <a:ea typeface="Arial"/>
                <a:cs typeface="Arial"/>
                <a:hlinkClick xmlns:r="http://schemas.openxmlformats.org/officeDocument/2006/relationships" r:id="R92ec6b4e559b47cc"/>
              </a:rPr>
              <a:t>Google Patents</a:t>
            </a:r>
            <a:r>
              <a:rPr sz="1313" b="0">
                <a:solidFill>
                  <a:srgbClr val="173F2F"/>
                </a:solidFill>
                <a:latin typeface="Arial"/>
                <a:ea typeface="Arial"/>
                <a:cs typeface="Arial"/>
              </a:rPr>
              <a:t>.</a:t>
            </a:r>
          </a:p>
        </p:txBody>
      </p:sp>
      <p:sp>
        <p:nvSpPr>
          <p:cNvPr id="23" name="10.">
            <a:extLst xmlns:a="http://schemas.openxmlformats.org/drawingml/2006/main">
              <a:ext uri="{FF2B5EF4-FFF2-40B4-BE49-F238E27FC236}">
                <a16:creationId xmlns:a16="http://schemas.microsoft.com/office/drawing/2014/main" id="{AC65EB30-2443-4122-998B-9A1EE22E26D3}"/>
              </a:ext>
            </a:extLst>
          </p:cNvPr>
          <p:cNvSpPr>
            <a:spLocks xmlns:a="http://schemas.openxmlformats.org/drawingml/2006/main" noGrp="1"/>
          </p:cNvSpPr>
          <p:nvPr/>
        </p:nvSpPr>
        <p:spPr>
          <a:xfrm xmlns:a="http://schemas.openxmlformats.org/drawingml/2006/main">
            <a:off x="6229350" y="396240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10.</a:t>
            </a:r>
          </a:p>
        </p:txBody>
      </p:sp>
      <p:sp>
        <p:nvSpPr>
          <p:cNvPr id="24" name="Fang S. Single view reconstruction for food portio">
            <a:extLst xmlns:a="http://schemas.openxmlformats.org/drawingml/2006/main">
              <a:ext uri="{FF2B5EF4-FFF2-40B4-BE49-F238E27FC236}">
                <a16:creationId xmlns:a16="http://schemas.microsoft.com/office/drawing/2014/main" id="{2C532008-4B39-4157-BF7D-EEC3073225C6}"/>
              </a:ext>
            </a:extLst>
          </p:cNvPr>
          <p:cNvSpPr>
            <a:spLocks xmlns:a="http://schemas.openxmlformats.org/drawingml/2006/main" noGrp="1"/>
          </p:cNvSpPr>
          <p:nvPr/>
        </p:nvSpPr>
        <p:spPr>
          <a:xfrm xmlns:a="http://schemas.openxmlformats.org/drawingml/2006/main">
            <a:off x="6638925" y="3962400"/>
            <a:ext cx="49815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247207671d894bcd"/>
              </a:rPr>
              <a:t>Fang S. Single view reconstruction for food portion estimation [tesis doctoral]. West Lafayette: Purdue University; 2019. doi:10.25394/PGS.7767125.v1.</a:t>
            </a:r>
          </a:p>
        </p:txBody>
      </p:sp>
      <p:sp>
        <p:nvSpPr>
          <p:cNvPr id="25" name="11.">
            <a:extLst xmlns:a="http://schemas.openxmlformats.org/drawingml/2006/main">
              <a:ext uri="{FF2B5EF4-FFF2-40B4-BE49-F238E27FC236}">
                <a16:creationId xmlns:a16="http://schemas.microsoft.com/office/drawing/2014/main" id="{79B57D7C-AE82-496C-99BF-2136AE163850}"/>
              </a:ext>
            </a:extLst>
          </p:cNvPr>
          <p:cNvSpPr>
            <a:spLocks xmlns:a="http://schemas.openxmlformats.org/drawingml/2006/main" noGrp="1"/>
          </p:cNvSpPr>
          <p:nvPr/>
        </p:nvSpPr>
        <p:spPr>
          <a:xfrm xmlns:a="http://schemas.openxmlformats.org/drawingml/2006/main">
            <a:off x="6229350" y="471487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11.</a:t>
            </a:r>
          </a:p>
        </p:txBody>
      </p:sp>
      <p:sp>
        <p:nvSpPr>
          <p:cNvPr id="26" name="Romero De Chorié GE, Tineo Ramón ME, Benavides San">
            <a:extLst xmlns:a="http://schemas.openxmlformats.org/drawingml/2006/main">
              <a:ext uri="{FF2B5EF4-FFF2-40B4-BE49-F238E27FC236}">
                <a16:creationId xmlns:a16="http://schemas.microsoft.com/office/drawing/2014/main" id="{7C68216B-F131-4264-A8A7-33D85AEA4722}"/>
              </a:ext>
            </a:extLst>
          </p:cNvPr>
          <p:cNvSpPr>
            <a:spLocks xmlns:a="http://schemas.openxmlformats.org/drawingml/2006/main" noGrp="1"/>
          </p:cNvSpPr>
          <p:nvPr/>
        </p:nvSpPr>
        <p:spPr>
          <a:xfrm xmlns:a="http://schemas.openxmlformats.org/drawingml/2006/main">
            <a:off x="6638925" y="4714875"/>
            <a:ext cx="49815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rPr>
              <a:t>Romero De Chorié GE, Tineo Ramón ME, Benavides Santur JD, Guerrero Reyes FA, Rosas Arbildo G. Modelo ProLab: Checkifood, aplicación móvil que ayuda al régimen alimenticio con machine learning [tesis de maestría]. Lima: PUCP; 2024. Disponible en: </a:t>
            </a:r>
            <a:r>
              <a:rPr sz="1313" b="0">
                <a:solidFill>
                  <a:srgbClr val="173F2F"/>
                </a:solidFill>
                <a:latin typeface="Arial"/>
                <a:ea typeface="Arial"/>
                <a:cs typeface="Arial"/>
                <a:hlinkClick xmlns:r="http://schemas.openxmlformats.org/officeDocument/2006/relationships" r:id="R9886df1217a746c1"/>
              </a:rPr>
              <a:t>PUCP / handle</a:t>
            </a:r>
            <a:r>
              <a:rPr sz="1313" b="0">
                <a:solidFill>
                  <a:srgbClr val="173F2F"/>
                </a:solidFill>
                <a:latin typeface="Arial"/>
                <a:ea typeface="Arial"/>
                <a:cs typeface="Arial"/>
              </a:rPr>
              <a:t>.</a:t>
            </a:r>
          </a:p>
        </p:txBody>
      </p:sp>
      <p:sp>
        <p:nvSpPr>
          <p:cNvPr id="27" name="12.">
            <a:extLst xmlns:a="http://schemas.openxmlformats.org/drawingml/2006/main">
              <a:ext uri="{FF2B5EF4-FFF2-40B4-BE49-F238E27FC236}">
                <a16:creationId xmlns:a16="http://schemas.microsoft.com/office/drawing/2014/main" id="{0A3CA102-9A2A-4C84-AE0A-C8E75418B132}"/>
              </a:ext>
            </a:extLst>
          </p:cNvPr>
          <p:cNvSpPr>
            <a:spLocks xmlns:a="http://schemas.openxmlformats.org/drawingml/2006/main" noGrp="1"/>
          </p:cNvSpPr>
          <p:nvPr/>
        </p:nvSpPr>
        <p:spPr>
          <a:xfrm xmlns:a="http://schemas.openxmlformats.org/drawingml/2006/main">
            <a:off x="6229350" y="546735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12.</a:t>
            </a:r>
          </a:p>
        </p:txBody>
      </p:sp>
      <p:sp>
        <p:nvSpPr>
          <p:cNvPr id="28" name="López Aliaga Pantigoso SC. Evaluación del aporte n">
            <a:extLst xmlns:a="http://schemas.openxmlformats.org/drawingml/2006/main">
              <a:ext uri="{FF2B5EF4-FFF2-40B4-BE49-F238E27FC236}">
                <a16:creationId xmlns:a16="http://schemas.microsoft.com/office/drawing/2014/main" id="{2D72514E-1607-4432-B6C2-B9057AE8A042}"/>
              </a:ext>
            </a:extLst>
          </p:cNvPr>
          <p:cNvSpPr>
            <a:spLocks xmlns:a="http://schemas.openxmlformats.org/drawingml/2006/main" noGrp="1"/>
          </p:cNvSpPr>
          <p:nvPr/>
        </p:nvSpPr>
        <p:spPr>
          <a:xfrm xmlns:a="http://schemas.openxmlformats.org/drawingml/2006/main">
            <a:off x="6638925" y="5467350"/>
            <a:ext cx="49815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rPr>
              <a:t>López Aliaga Pantigoso SC. Evaluación del aporte nutricional del menú del servicio de alimentación para deportistas albergados del IPD y su relación con sus requerimientos nutricionales [tesis de licenciatura]. Lima: UPC; 2019. Disponible en: </a:t>
            </a:r>
            <a:r>
              <a:rPr sz="1313" b="0">
                <a:solidFill>
                  <a:srgbClr val="173F2F"/>
                </a:solidFill>
                <a:latin typeface="Arial"/>
                <a:ea typeface="Arial"/>
                <a:cs typeface="Arial"/>
                <a:hlinkClick xmlns:r="http://schemas.openxmlformats.org/officeDocument/2006/relationships" r:id="Rea3ace0a2e9e4f96"/>
              </a:rPr>
              <a:t>UPC / handle</a:t>
            </a:r>
            <a:r>
              <a:rPr sz="1313" b="0">
                <a:solidFill>
                  <a:srgbClr val="173F2F"/>
                </a:solidFill>
                <a:latin typeface="Arial"/>
                <a:ea typeface="Arial"/>
                <a:cs typeface="Arial"/>
              </a:rPr>
              <a:t>.</a:t>
            </a:r>
          </a:p>
        </p:txBody>
      </p:sp>
    </p:spTree>
    <p:extLst>
      <p:ext uri="{BB962C8B-B14F-4D97-AF65-F5344CB8AC3E}">
        <p14:creationId xmlns:p14="http://schemas.microsoft.com/office/powerpoint/2010/main" val="219423920"/>
      </p:ext>
    </p:extLst>
  </p:cSld>
</p:sld>
</file>

<file path=ppt/slides/slide23.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9" name="9. Referencias bibliográficas (2/2)">
            <a:extLst xmlns:a="http://schemas.openxmlformats.org/drawingml/2006/main">
              <a:ext uri="{FF2B5EF4-FFF2-40B4-BE49-F238E27FC236}">
                <a16:creationId xmlns:a16="http://schemas.microsoft.com/office/drawing/2014/main" id="{30130DFA-FBB8-4D1D-BDFE-7EF975747494}"/>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9. Referencias bibliográficas (2/2)</a:t>
            </a:r>
          </a:p>
        </p:txBody>
      </p:sp>
      <p:sp>
        <p:nvSpPr>
          <p:cNvPr id="2" name="Vancouver. Los nombres de las fuentes enlazan al d">
            <a:extLst xmlns:a="http://schemas.openxmlformats.org/drawingml/2006/main">
              <a:ext uri="{FF2B5EF4-FFF2-40B4-BE49-F238E27FC236}">
                <a16:creationId xmlns:a16="http://schemas.microsoft.com/office/drawing/2014/main" id="{A207CED6-B516-40AB-AB5D-EC55E22CC26D}"/>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Vancouver. Los nombres de las fuentes enlazan al documento o sitio original.</a:t>
            </a:r>
          </a:p>
        </p:txBody>
      </p:sp>
      <p:sp>
        <p:nvSpPr>
          <p:cNvPr id="3" name="FoodScan · Equipo 10">
            <a:extLst xmlns:a="http://schemas.openxmlformats.org/drawingml/2006/main">
              <a:ext uri="{FF2B5EF4-FFF2-40B4-BE49-F238E27FC236}">
                <a16:creationId xmlns:a16="http://schemas.microsoft.com/office/drawing/2014/main" id="{52088039-6F55-4F78-B01C-BD594D8C542F}"/>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FoodScan · Equipo 10</a:t>
            </a:r>
          </a:p>
        </p:txBody>
      </p:sp>
      <p:sp>
        <p:nvSpPr>
          <p:cNvPr id="4" name="23">
            <a:extLst xmlns:a="http://schemas.openxmlformats.org/drawingml/2006/main">
              <a:ext uri="{FF2B5EF4-FFF2-40B4-BE49-F238E27FC236}">
                <a16:creationId xmlns:a16="http://schemas.microsoft.com/office/drawing/2014/main" id="{F60E35CE-9FC8-4A22-B14D-A7768663E572}"/>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23</a:t>
            </a:r>
          </a:p>
        </p:txBody>
      </p:sp>
      <p:sp>
        <p:nvSpPr>
          <p:cNvPr id="5" name="13.">
            <a:extLst xmlns:a="http://schemas.openxmlformats.org/drawingml/2006/main">
              <a:ext uri="{FF2B5EF4-FFF2-40B4-BE49-F238E27FC236}">
                <a16:creationId xmlns:a16="http://schemas.microsoft.com/office/drawing/2014/main" id="{E3C35DB7-A730-42BD-BDB5-10BBD0A75E72}"/>
              </a:ext>
            </a:extLst>
          </p:cNvPr>
          <p:cNvSpPr>
            <a:spLocks xmlns:a="http://schemas.openxmlformats.org/drawingml/2006/main" noGrp="1"/>
          </p:cNvSpPr>
          <p:nvPr/>
        </p:nvSpPr>
        <p:spPr>
          <a:xfrm xmlns:a="http://schemas.openxmlformats.org/drawingml/2006/main">
            <a:off x="571500" y="170497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13.</a:t>
            </a:r>
          </a:p>
        </p:txBody>
      </p:sp>
      <p:sp>
        <p:nvSpPr>
          <p:cNvPr id="6" name="Etekcity. ESN00 Smart Nutrition Scale [Internet]. ">
            <a:extLst xmlns:a="http://schemas.openxmlformats.org/drawingml/2006/main">
              <a:ext uri="{FF2B5EF4-FFF2-40B4-BE49-F238E27FC236}">
                <a16:creationId xmlns:a16="http://schemas.microsoft.com/office/drawing/2014/main" id="{516455D5-06AE-4EBF-ABE6-AB052815273F}"/>
              </a:ext>
            </a:extLst>
          </p:cNvPr>
          <p:cNvSpPr>
            <a:spLocks xmlns:a="http://schemas.openxmlformats.org/drawingml/2006/main" noGrp="1"/>
          </p:cNvSpPr>
          <p:nvPr/>
        </p:nvSpPr>
        <p:spPr>
          <a:xfrm xmlns:a="http://schemas.openxmlformats.org/drawingml/2006/main">
            <a:off x="981075" y="1704975"/>
            <a:ext cx="49815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3a86450a0d5b45b6"/>
              </a:rPr>
              <a:t>Etekcity</a:t>
            </a:r>
            <a:r>
              <a:rPr sz="1313" b="0">
                <a:solidFill>
                  <a:srgbClr val="173F2F"/>
                </a:solidFill>
                <a:latin typeface="Arial"/>
                <a:ea typeface="Arial"/>
                <a:cs typeface="Arial"/>
              </a:rPr>
              <a:t>. ESN00 Smart Nutrition Scale [Internet]. [citado 7 oct 2026]. Disponible en: Etekcity.</a:t>
            </a:r>
          </a:p>
        </p:txBody>
      </p:sp>
      <p:sp>
        <p:nvSpPr>
          <p:cNvPr id="7" name="14.">
            <a:extLst xmlns:a="http://schemas.openxmlformats.org/drawingml/2006/main">
              <a:ext uri="{FF2B5EF4-FFF2-40B4-BE49-F238E27FC236}">
                <a16:creationId xmlns:a16="http://schemas.microsoft.com/office/drawing/2014/main" id="{EB3A86BC-7070-435F-937E-1A5954106821}"/>
              </a:ext>
            </a:extLst>
          </p:cNvPr>
          <p:cNvSpPr>
            <a:spLocks xmlns:a="http://schemas.openxmlformats.org/drawingml/2006/main" noGrp="1"/>
          </p:cNvSpPr>
          <p:nvPr/>
        </p:nvSpPr>
        <p:spPr>
          <a:xfrm xmlns:a="http://schemas.openxmlformats.org/drawingml/2006/main">
            <a:off x="571500" y="245745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14.</a:t>
            </a:r>
          </a:p>
        </p:txBody>
      </p:sp>
      <p:sp>
        <p:nvSpPr>
          <p:cNvPr id="8" name="Fitia. Contador de calorías y dietas con IA [Inter">
            <a:extLst xmlns:a="http://schemas.openxmlformats.org/drawingml/2006/main">
              <a:ext uri="{FF2B5EF4-FFF2-40B4-BE49-F238E27FC236}">
                <a16:creationId xmlns:a16="http://schemas.microsoft.com/office/drawing/2014/main" id="{23BB3C9F-BF42-4545-A3BE-5E4404854CA1}"/>
              </a:ext>
            </a:extLst>
          </p:cNvPr>
          <p:cNvSpPr>
            <a:spLocks xmlns:a="http://schemas.openxmlformats.org/drawingml/2006/main" noGrp="1"/>
          </p:cNvSpPr>
          <p:nvPr/>
        </p:nvSpPr>
        <p:spPr>
          <a:xfrm xmlns:a="http://schemas.openxmlformats.org/drawingml/2006/main">
            <a:off x="981075" y="2457450"/>
            <a:ext cx="49815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3b9faa4db005493b"/>
              </a:rPr>
              <a:t>Fitia</a:t>
            </a:r>
            <a:r>
              <a:rPr sz="1313" b="0">
                <a:solidFill>
                  <a:srgbClr val="173F2F"/>
                </a:solidFill>
                <a:latin typeface="Arial"/>
                <a:ea typeface="Arial"/>
                <a:cs typeface="Arial"/>
              </a:rPr>
              <a:t>. Contador de calorías y dietas con IA [Internet]. [citado 7 oct 2026]. Disponible en: Fitia.</a:t>
            </a:r>
          </a:p>
        </p:txBody>
      </p:sp>
      <p:sp>
        <p:nvSpPr>
          <p:cNvPr id="9" name="15.">
            <a:extLst xmlns:a="http://schemas.openxmlformats.org/drawingml/2006/main">
              <a:ext uri="{FF2B5EF4-FFF2-40B4-BE49-F238E27FC236}">
                <a16:creationId xmlns:a16="http://schemas.microsoft.com/office/drawing/2014/main" id="{F30D52C6-AADF-4183-B41A-062AB5C6BAF4}"/>
              </a:ext>
            </a:extLst>
          </p:cNvPr>
          <p:cNvSpPr>
            <a:spLocks xmlns:a="http://schemas.openxmlformats.org/drawingml/2006/main" noGrp="1"/>
          </p:cNvSpPr>
          <p:nvPr/>
        </p:nvSpPr>
        <p:spPr>
          <a:xfrm xmlns:a="http://schemas.openxmlformats.org/drawingml/2006/main">
            <a:off x="571500" y="320992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15.</a:t>
            </a:r>
          </a:p>
        </p:txBody>
      </p:sp>
      <p:sp>
        <p:nvSpPr>
          <p:cNvPr id="10" name="PerceptionLabs Inc. SnapCalorie: AI calorie tracki">
            <a:extLst xmlns:a="http://schemas.openxmlformats.org/drawingml/2006/main">
              <a:ext uri="{FF2B5EF4-FFF2-40B4-BE49-F238E27FC236}">
                <a16:creationId xmlns:a16="http://schemas.microsoft.com/office/drawing/2014/main" id="{87E300DC-562A-400E-855D-B348A73E4726}"/>
              </a:ext>
            </a:extLst>
          </p:cNvPr>
          <p:cNvSpPr>
            <a:spLocks xmlns:a="http://schemas.openxmlformats.org/drawingml/2006/main" noGrp="1"/>
          </p:cNvSpPr>
          <p:nvPr/>
        </p:nvSpPr>
        <p:spPr>
          <a:xfrm xmlns:a="http://schemas.openxmlformats.org/drawingml/2006/main">
            <a:off x="981075" y="3209925"/>
            <a:ext cx="49815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rPr>
              <a:t>PerceptionLabs Inc. </a:t>
            </a:r>
            <a:r>
              <a:rPr sz="1313" b="0">
                <a:solidFill>
                  <a:srgbClr val="173F2F"/>
                </a:solidFill>
                <a:latin typeface="Arial"/>
                <a:ea typeface="Arial"/>
                <a:cs typeface="Arial"/>
                <a:hlinkClick xmlns:r="http://schemas.openxmlformats.org/officeDocument/2006/relationships" r:id="Rd653bb2b22c941c2"/>
              </a:rPr>
              <a:t>SnapCalorie</a:t>
            </a:r>
            <a:r>
              <a:rPr sz="1313" b="0">
                <a:solidFill>
                  <a:srgbClr val="173F2F"/>
                </a:solidFill>
                <a:latin typeface="Arial"/>
                <a:ea typeface="Arial"/>
                <a:cs typeface="Arial"/>
              </a:rPr>
              <a:t>: AI calorie tracking made simple [Internet]. [citado 7 oct 2026]. Disponible en: SnapCalorie.</a:t>
            </a:r>
          </a:p>
        </p:txBody>
      </p:sp>
      <p:sp>
        <p:nvSpPr>
          <p:cNvPr id="11" name="16.">
            <a:extLst xmlns:a="http://schemas.openxmlformats.org/drawingml/2006/main">
              <a:ext uri="{FF2B5EF4-FFF2-40B4-BE49-F238E27FC236}">
                <a16:creationId xmlns:a16="http://schemas.microsoft.com/office/drawing/2014/main" id="{0671F75D-1806-45A5-81AE-7D6ADAA324B9}"/>
              </a:ext>
            </a:extLst>
          </p:cNvPr>
          <p:cNvSpPr>
            <a:spLocks xmlns:a="http://schemas.openxmlformats.org/drawingml/2006/main" noGrp="1"/>
          </p:cNvSpPr>
          <p:nvPr/>
        </p:nvSpPr>
        <p:spPr>
          <a:xfrm xmlns:a="http://schemas.openxmlformats.org/drawingml/2006/main">
            <a:off x="571500" y="396240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16.</a:t>
            </a:r>
          </a:p>
        </p:txBody>
      </p:sp>
      <p:sp>
        <p:nvSpPr>
          <p:cNvPr id="12" name="Reyes García M, Gómez-Sánchez Prieto I, Espinoza B">
            <a:extLst xmlns:a="http://schemas.openxmlformats.org/drawingml/2006/main">
              <a:ext uri="{FF2B5EF4-FFF2-40B4-BE49-F238E27FC236}">
                <a16:creationId xmlns:a16="http://schemas.microsoft.com/office/drawing/2014/main" id="{EF5E8E2F-E436-4CC7-BD85-72E6EFCE09A8}"/>
              </a:ext>
            </a:extLst>
          </p:cNvPr>
          <p:cNvSpPr>
            <a:spLocks xmlns:a="http://schemas.openxmlformats.org/drawingml/2006/main" noGrp="1"/>
          </p:cNvSpPr>
          <p:nvPr/>
        </p:nvSpPr>
        <p:spPr>
          <a:xfrm xmlns:a="http://schemas.openxmlformats.org/drawingml/2006/main">
            <a:off x="981075" y="3962400"/>
            <a:ext cx="49815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rPr>
              <a:t>Reyes García M, Gómez-Sánchez Prieto I, Espinoza Barrientos C. Tablas peruanas de composición de alimentos [Internet]. 10.ª ed. Lima: Instituto Nacional de Salud; 2017 [citado 7 oct 2026]. 142 p. Disponible en: </a:t>
            </a:r>
            <a:r>
              <a:rPr sz="1313" b="0">
                <a:solidFill>
                  <a:srgbClr val="173F2F"/>
                </a:solidFill>
                <a:latin typeface="Arial"/>
                <a:ea typeface="Arial"/>
                <a:cs typeface="Arial"/>
                <a:hlinkClick xmlns:r="http://schemas.openxmlformats.org/officeDocument/2006/relationships" r:id="Rc09e7c38470141e0"/>
              </a:rPr>
              <a:t>INS, repositorio</a:t>
            </a:r>
            <a:r>
              <a:rPr sz="1313" b="0">
                <a:solidFill>
                  <a:srgbClr val="173F2F"/>
                </a:solidFill>
                <a:latin typeface="Arial"/>
                <a:ea typeface="Arial"/>
                <a:cs typeface="Arial"/>
              </a:rPr>
              <a:t>.</a:t>
            </a:r>
          </a:p>
        </p:txBody>
      </p:sp>
      <p:sp>
        <p:nvSpPr>
          <p:cNvPr id="13" name="17.">
            <a:extLst xmlns:a="http://schemas.openxmlformats.org/drawingml/2006/main">
              <a:ext uri="{FF2B5EF4-FFF2-40B4-BE49-F238E27FC236}">
                <a16:creationId xmlns:a16="http://schemas.microsoft.com/office/drawing/2014/main" id="{0D39B53E-C437-43F3-9E3A-E953CC610E70}"/>
              </a:ext>
            </a:extLst>
          </p:cNvPr>
          <p:cNvSpPr>
            <a:spLocks xmlns:a="http://schemas.openxmlformats.org/drawingml/2006/main" noGrp="1"/>
          </p:cNvSpPr>
          <p:nvPr/>
        </p:nvSpPr>
        <p:spPr>
          <a:xfrm xmlns:a="http://schemas.openxmlformats.org/drawingml/2006/main">
            <a:off x="571500" y="471487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17.</a:t>
            </a:r>
          </a:p>
        </p:txBody>
      </p:sp>
      <p:sp>
        <p:nvSpPr>
          <p:cNvPr id="14" name="Stacktronics Perú. ESP32-CAM con cámara OV2640 2 M">
            <a:extLst xmlns:a="http://schemas.openxmlformats.org/drawingml/2006/main">
              <a:ext uri="{FF2B5EF4-FFF2-40B4-BE49-F238E27FC236}">
                <a16:creationId xmlns:a16="http://schemas.microsoft.com/office/drawing/2014/main" id="{66C89915-C963-4975-BCF6-3C25534BACC6}"/>
              </a:ext>
            </a:extLst>
          </p:cNvPr>
          <p:cNvSpPr>
            <a:spLocks xmlns:a="http://schemas.openxmlformats.org/drawingml/2006/main" noGrp="1"/>
          </p:cNvSpPr>
          <p:nvPr/>
        </p:nvSpPr>
        <p:spPr>
          <a:xfrm xmlns:a="http://schemas.openxmlformats.org/drawingml/2006/main">
            <a:off x="981075" y="4714875"/>
            <a:ext cx="49815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7fc63f0dd60e4009"/>
              </a:rPr>
              <a:t>Stacktronics</a:t>
            </a:r>
            <a:r>
              <a:rPr sz="1313" b="0">
                <a:solidFill>
                  <a:srgbClr val="173F2F"/>
                </a:solidFill>
                <a:latin typeface="Arial"/>
                <a:ea typeface="Arial"/>
                <a:cs typeface="Arial"/>
              </a:rPr>
              <a:t> Perú. ESP32-CAM con cámara OV2640 2 MP y base programadora [Internet]. [citado 7 oct 2026]. Disponible en: Stacktronics.</a:t>
            </a:r>
          </a:p>
        </p:txBody>
      </p:sp>
      <p:sp>
        <p:nvSpPr>
          <p:cNvPr id="15" name="18.">
            <a:extLst xmlns:a="http://schemas.openxmlformats.org/drawingml/2006/main">
              <a:ext uri="{FF2B5EF4-FFF2-40B4-BE49-F238E27FC236}">
                <a16:creationId xmlns:a16="http://schemas.microsoft.com/office/drawing/2014/main" id="{6860DC4A-818B-494B-8C3D-434D69FC76E7}"/>
              </a:ext>
            </a:extLst>
          </p:cNvPr>
          <p:cNvSpPr>
            <a:spLocks xmlns:a="http://schemas.openxmlformats.org/drawingml/2006/main" noGrp="1"/>
          </p:cNvSpPr>
          <p:nvPr/>
        </p:nvSpPr>
        <p:spPr>
          <a:xfrm xmlns:a="http://schemas.openxmlformats.org/drawingml/2006/main">
            <a:off x="571500" y="546735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18.</a:t>
            </a:r>
          </a:p>
        </p:txBody>
      </p:sp>
      <p:sp>
        <p:nvSpPr>
          <p:cNvPr id="16" name="Naylamp Mechatronics. Celda de carga 5 kg, SKU 000">
            <a:extLst xmlns:a="http://schemas.openxmlformats.org/drawingml/2006/main">
              <a:ext uri="{FF2B5EF4-FFF2-40B4-BE49-F238E27FC236}">
                <a16:creationId xmlns:a16="http://schemas.microsoft.com/office/drawing/2014/main" id="{3016C41D-5159-489B-A60E-7F3EBE443CF2}"/>
              </a:ext>
            </a:extLst>
          </p:cNvPr>
          <p:cNvSpPr>
            <a:spLocks xmlns:a="http://schemas.openxmlformats.org/drawingml/2006/main" noGrp="1"/>
          </p:cNvSpPr>
          <p:nvPr/>
        </p:nvSpPr>
        <p:spPr>
          <a:xfrm xmlns:a="http://schemas.openxmlformats.org/drawingml/2006/main">
            <a:off x="981075" y="5467350"/>
            <a:ext cx="49815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cbe80408371f40b4"/>
              </a:rPr>
              <a:t>Naylamp</a:t>
            </a:r>
            <a:r>
              <a:rPr sz="1313" b="0">
                <a:solidFill>
                  <a:srgbClr val="173F2F"/>
                </a:solidFill>
                <a:latin typeface="Arial"/>
                <a:ea typeface="Arial"/>
                <a:cs typeface="Arial"/>
              </a:rPr>
              <a:t> Mechatronics. Celda de carga 5 kg, SKU 000155 [Internet]. [citado 7 oct 2026]. Disponible en: Naylamp.</a:t>
            </a:r>
          </a:p>
        </p:txBody>
      </p:sp>
      <p:sp>
        <p:nvSpPr>
          <p:cNvPr id="17" name="19.">
            <a:extLst xmlns:a="http://schemas.openxmlformats.org/drawingml/2006/main">
              <a:ext uri="{FF2B5EF4-FFF2-40B4-BE49-F238E27FC236}">
                <a16:creationId xmlns:a16="http://schemas.microsoft.com/office/drawing/2014/main" id="{29227734-695B-42E2-A7E6-D3F75E119C21}"/>
              </a:ext>
            </a:extLst>
          </p:cNvPr>
          <p:cNvSpPr>
            <a:spLocks xmlns:a="http://schemas.openxmlformats.org/drawingml/2006/main" noGrp="1"/>
          </p:cNvSpPr>
          <p:nvPr/>
        </p:nvSpPr>
        <p:spPr>
          <a:xfrm xmlns:a="http://schemas.openxmlformats.org/drawingml/2006/main">
            <a:off x="6229350" y="170497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19.</a:t>
            </a:r>
          </a:p>
        </p:txBody>
      </p:sp>
      <p:sp>
        <p:nvSpPr>
          <p:cNvPr id="18" name="Naylamp Mechatronics. Módulo HX711 transmisor de c">
            <a:extLst xmlns:a="http://schemas.openxmlformats.org/drawingml/2006/main">
              <a:ext uri="{FF2B5EF4-FFF2-40B4-BE49-F238E27FC236}">
                <a16:creationId xmlns:a16="http://schemas.microsoft.com/office/drawing/2014/main" id="{2C9DFAF8-1BDA-44DE-A7B0-05F2E7372F58}"/>
              </a:ext>
            </a:extLst>
          </p:cNvPr>
          <p:cNvSpPr>
            <a:spLocks xmlns:a="http://schemas.openxmlformats.org/drawingml/2006/main" noGrp="1"/>
          </p:cNvSpPr>
          <p:nvPr/>
        </p:nvSpPr>
        <p:spPr>
          <a:xfrm xmlns:a="http://schemas.openxmlformats.org/drawingml/2006/main">
            <a:off x="6638925" y="1704975"/>
            <a:ext cx="49815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7b96e02e02064959"/>
              </a:rPr>
              <a:t>Naylamp</a:t>
            </a:r>
            <a:r>
              <a:rPr sz="1313" b="0">
                <a:solidFill>
                  <a:srgbClr val="173F2F"/>
                </a:solidFill>
                <a:latin typeface="Arial"/>
                <a:ea typeface="Arial"/>
                <a:cs typeface="Arial"/>
              </a:rPr>
              <a:t> Mechatronics. Módulo HX711 transmisor de celda de carga, SKU 000147 [Internet]. [citado 7 oct 2026]. Disponible en: Naylamp.</a:t>
            </a:r>
          </a:p>
        </p:txBody>
      </p:sp>
      <p:sp>
        <p:nvSpPr>
          <p:cNvPr id="19" name="20.">
            <a:extLst xmlns:a="http://schemas.openxmlformats.org/drawingml/2006/main">
              <a:ext uri="{FF2B5EF4-FFF2-40B4-BE49-F238E27FC236}">
                <a16:creationId xmlns:a16="http://schemas.microsoft.com/office/drawing/2014/main" id="{D54F6922-F3F6-4753-B48B-7D95543C3E2C}"/>
              </a:ext>
            </a:extLst>
          </p:cNvPr>
          <p:cNvSpPr>
            <a:spLocks xmlns:a="http://schemas.openxmlformats.org/drawingml/2006/main" noGrp="1"/>
          </p:cNvSpPr>
          <p:nvPr/>
        </p:nvSpPr>
        <p:spPr>
          <a:xfrm xmlns:a="http://schemas.openxmlformats.org/drawingml/2006/main">
            <a:off x="6229350" y="245745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20.</a:t>
            </a:r>
          </a:p>
        </p:txBody>
      </p:sp>
      <p:sp>
        <p:nvSpPr>
          <p:cNvPr id="20" name="Naylamp Mechatronics. Adaptador WODE WA-12-5, 5 V,">
            <a:extLst xmlns:a="http://schemas.openxmlformats.org/drawingml/2006/main">
              <a:ext uri="{FF2B5EF4-FFF2-40B4-BE49-F238E27FC236}">
                <a16:creationId xmlns:a16="http://schemas.microsoft.com/office/drawing/2014/main" id="{2741E063-7A88-4B86-B1D6-269234CE6B18}"/>
              </a:ext>
            </a:extLst>
          </p:cNvPr>
          <p:cNvSpPr>
            <a:spLocks xmlns:a="http://schemas.openxmlformats.org/drawingml/2006/main" noGrp="1"/>
          </p:cNvSpPr>
          <p:nvPr/>
        </p:nvSpPr>
        <p:spPr>
          <a:xfrm xmlns:a="http://schemas.openxmlformats.org/drawingml/2006/main">
            <a:off x="6638925" y="2457450"/>
            <a:ext cx="49815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00166f41b7ea4b9f"/>
              </a:rPr>
              <a:t>Naylamp</a:t>
            </a:r>
            <a:r>
              <a:rPr sz="1313" b="0">
                <a:solidFill>
                  <a:srgbClr val="173F2F"/>
                </a:solidFill>
                <a:latin typeface="Arial"/>
                <a:ea typeface="Arial"/>
                <a:cs typeface="Arial"/>
              </a:rPr>
              <a:t> Mechatronics. Adaptador WODE WA-12-5, 5 V, 2.4 A [Internet]. [citado 7 oct 2026]. Disponible en: Naylamp.</a:t>
            </a:r>
          </a:p>
        </p:txBody>
      </p:sp>
      <p:sp>
        <p:nvSpPr>
          <p:cNvPr id="21" name="21.">
            <a:extLst xmlns:a="http://schemas.openxmlformats.org/drawingml/2006/main">
              <a:ext uri="{FF2B5EF4-FFF2-40B4-BE49-F238E27FC236}">
                <a16:creationId xmlns:a16="http://schemas.microsoft.com/office/drawing/2014/main" id="{2FE156ED-5BDE-438E-B454-8294C4401679}"/>
              </a:ext>
            </a:extLst>
          </p:cNvPr>
          <p:cNvSpPr>
            <a:spLocks xmlns:a="http://schemas.openxmlformats.org/drawingml/2006/main" noGrp="1"/>
          </p:cNvSpPr>
          <p:nvPr/>
        </p:nvSpPr>
        <p:spPr>
          <a:xfrm xmlns:a="http://schemas.openxmlformats.org/drawingml/2006/main">
            <a:off x="6229350" y="320992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21.</a:t>
            </a:r>
          </a:p>
        </p:txBody>
      </p:sp>
      <p:sp>
        <p:nvSpPr>
          <p:cNvPr id="22" name="Nanoparuro. Microswitch KW11-3Z-3F con palanca y r">
            <a:extLst xmlns:a="http://schemas.openxmlformats.org/drawingml/2006/main">
              <a:ext uri="{FF2B5EF4-FFF2-40B4-BE49-F238E27FC236}">
                <a16:creationId xmlns:a16="http://schemas.microsoft.com/office/drawing/2014/main" id="{8EC15BA2-373E-4F73-81FE-D61B6CD76E7D}"/>
              </a:ext>
            </a:extLst>
          </p:cNvPr>
          <p:cNvSpPr>
            <a:spLocks xmlns:a="http://schemas.openxmlformats.org/drawingml/2006/main" noGrp="1"/>
          </p:cNvSpPr>
          <p:nvPr/>
        </p:nvSpPr>
        <p:spPr>
          <a:xfrm xmlns:a="http://schemas.openxmlformats.org/drawingml/2006/main">
            <a:off x="6638925" y="3209925"/>
            <a:ext cx="49815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c072ccc14b9e45a6"/>
              </a:rPr>
              <a:t>Nanoparuro</a:t>
            </a:r>
            <a:r>
              <a:rPr sz="1313" b="0">
                <a:solidFill>
                  <a:srgbClr val="173F2F"/>
                </a:solidFill>
                <a:latin typeface="Arial"/>
                <a:ea typeface="Arial"/>
                <a:cs typeface="Arial"/>
              </a:rPr>
              <a:t>. Microswitch KW11-3Z-3F con palanca y rueda [Internet]. [citado 7 oct 2026]. Disponible en: Nanoparuro.</a:t>
            </a:r>
          </a:p>
        </p:txBody>
      </p:sp>
      <p:sp>
        <p:nvSpPr>
          <p:cNvPr id="23" name="22.">
            <a:extLst xmlns:a="http://schemas.openxmlformats.org/drawingml/2006/main">
              <a:ext uri="{FF2B5EF4-FFF2-40B4-BE49-F238E27FC236}">
                <a16:creationId xmlns:a16="http://schemas.microsoft.com/office/drawing/2014/main" id="{787C583D-E535-4441-8E4E-B65130DA3B3B}"/>
              </a:ext>
            </a:extLst>
          </p:cNvPr>
          <p:cNvSpPr>
            <a:spLocks xmlns:a="http://schemas.openxmlformats.org/drawingml/2006/main" noGrp="1"/>
          </p:cNvSpPr>
          <p:nvPr/>
        </p:nvSpPr>
        <p:spPr>
          <a:xfrm xmlns:a="http://schemas.openxmlformats.org/drawingml/2006/main">
            <a:off x="6229350" y="396240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22.</a:t>
            </a:r>
          </a:p>
        </p:txBody>
      </p:sp>
      <p:sp>
        <p:nvSpPr>
          <p:cNvPr id="24" name="Nanoparuro. LED blanco straw hat de 5 mm, 6000 K, ">
            <a:extLst xmlns:a="http://schemas.openxmlformats.org/drawingml/2006/main">
              <a:ext uri="{FF2B5EF4-FFF2-40B4-BE49-F238E27FC236}">
                <a16:creationId xmlns:a16="http://schemas.microsoft.com/office/drawing/2014/main" id="{D10C73BE-94AA-4A0B-90D0-4355505A62B2}"/>
              </a:ext>
            </a:extLst>
          </p:cNvPr>
          <p:cNvSpPr>
            <a:spLocks xmlns:a="http://schemas.openxmlformats.org/drawingml/2006/main" noGrp="1"/>
          </p:cNvSpPr>
          <p:nvPr/>
        </p:nvSpPr>
        <p:spPr>
          <a:xfrm xmlns:a="http://schemas.openxmlformats.org/drawingml/2006/main">
            <a:off x="6638925" y="3962400"/>
            <a:ext cx="49815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5c331e6b3409483c"/>
              </a:rPr>
              <a:t>Nanoparuro</a:t>
            </a:r>
            <a:r>
              <a:rPr sz="1313" b="0">
                <a:solidFill>
                  <a:srgbClr val="173F2F"/>
                </a:solidFill>
                <a:latin typeface="Arial"/>
                <a:ea typeface="Arial"/>
                <a:cs typeface="Arial"/>
              </a:rPr>
              <a:t>. LED blanco straw hat de 5 mm, 6000 K, Vf 3.2-3.4 V [Internet]. [citado 7 oct 2026]. Disponible en: Nanoparuro.</a:t>
            </a:r>
          </a:p>
        </p:txBody>
      </p:sp>
      <p:sp>
        <p:nvSpPr>
          <p:cNvPr id="25" name="23.">
            <a:extLst xmlns:a="http://schemas.openxmlformats.org/drawingml/2006/main">
              <a:ext uri="{FF2B5EF4-FFF2-40B4-BE49-F238E27FC236}">
                <a16:creationId xmlns:a16="http://schemas.microsoft.com/office/drawing/2014/main" id="{52B0F76D-0F87-412E-9531-F9E4A50D4696}"/>
              </a:ext>
            </a:extLst>
          </p:cNvPr>
          <p:cNvSpPr>
            <a:spLocks xmlns:a="http://schemas.openxmlformats.org/drawingml/2006/main" noGrp="1"/>
          </p:cNvSpPr>
          <p:nvPr/>
        </p:nvSpPr>
        <p:spPr>
          <a:xfrm xmlns:a="http://schemas.openxmlformats.org/drawingml/2006/main">
            <a:off x="6229350" y="471487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23.</a:t>
            </a:r>
          </a:p>
        </p:txBody>
      </p:sp>
      <p:sp>
        <p:nvSpPr>
          <p:cNvPr id="26" name="Espressif Systems. ESP32 series datasheet [Interne">
            <a:extLst xmlns:a="http://schemas.openxmlformats.org/drawingml/2006/main">
              <a:ext uri="{FF2B5EF4-FFF2-40B4-BE49-F238E27FC236}">
                <a16:creationId xmlns:a16="http://schemas.microsoft.com/office/drawing/2014/main" id="{B77926EC-F1C0-47F7-B345-E8B2B3A69516}"/>
              </a:ext>
            </a:extLst>
          </p:cNvPr>
          <p:cNvSpPr>
            <a:spLocks xmlns:a="http://schemas.openxmlformats.org/drawingml/2006/main" noGrp="1"/>
          </p:cNvSpPr>
          <p:nvPr/>
        </p:nvSpPr>
        <p:spPr>
          <a:xfrm xmlns:a="http://schemas.openxmlformats.org/drawingml/2006/main">
            <a:off x="6638925" y="4714875"/>
            <a:ext cx="49815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b9605243bfd8416f"/>
              </a:rPr>
              <a:t>Espressif</a:t>
            </a:r>
            <a:r>
              <a:rPr sz="1313" b="0">
                <a:solidFill>
                  <a:srgbClr val="173F2F"/>
                </a:solidFill>
                <a:latin typeface="Arial"/>
                <a:ea typeface="Arial"/>
                <a:cs typeface="Arial"/>
              </a:rPr>
              <a:t> Systems. ESP32 series datasheet [Internet]. [citado 7 oct 2026]. Disponible en: Espressif.</a:t>
            </a:r>
          </a:p>
        </p:txBody>
      </p:sp>
      <p:sp>
        <p:nvSpPr>
          <p:cNvPr id="27" name="24.">
            <a:extLst xmlns:a="http://schemas.openxmlformats.org/drawingml/2006/main">
              <a:ext uri="{FF2B5EF4-FFF2-40B4-BE49-F238E27FC236}">
                <a16:creationId xmlns:a16="http://schemas.microsoft.com/office/drawing/2014/main" id="{0494342B-861E-43F0-9D58-C2ED7C636EEA}"/>
              </a:ext>
            </a:extLst>
          </p:cNvPr>
          <p:cNvSpPr>
            <a:spLocks xmlns:a="http://schemas.openxmlformats.org/drawingml/2006/main" noGrp="1"/>
          </p:cNvSpPr>
          <p:nvPr/>
        </p:nvSpPr>
        <p:spPr>
          <a:xfrm xmlns:a="http://schemas.openxmlformats.org/drawingml/2006/main">
            <a:off x="6229350" y="546735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24.</a:t>
            </a:r>
          </a:p>
        </p:txBody>
      </p:sp>
      <p:sp>
        <p:nvSpPr>
          <p:cNvPr id="28" name="Equipo 10. Lista de exigencias, informe del Taller">
            <a:extLst xmlns:a="http://schemas.openxmlformats.org/drawingml/2006/main">
              <a:ext uri="{FF2B5EF4-FFF2-40B4-BE49-F238E27FC236}">
                <a16:creationId xmlns:a16="http://schemas.microsoft.com/office/drawing/2014/main" id="{7D6EBE72-596F-4169-A5F1-939AF2549144}"/>
              </a:ext>
            </a:extLst>
          </p:cNvPr>
          <p:cNvSpPr>
            <a:spLocks xmlns:a="http://schemas.openxmlformats.org/drawingml/2006/main" noGrp="1"/>
          </p:cNvSpPr>
          <p:nvPr/>
        </p:nvSpPr>
        <p:spPr>
          <a:xfrm xmlns:a="http://schemas.openxmlformats.org/drawingml/2006/main">
            <a:off x="6638925" y="5467350"/>
            <a:ext cx="49815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rPr>
              <a:t>Equipo 10. Lista de exigencias, informe del Taller 7, componentes y documentación de FoodScan. Lima: Universidad Peruana Cayetano Heredia; 2026. Documentos internos.</a:t>
            </a:r>
          </a:p>
        </p:txBody>
      </p:sp>
    </p:spTree>
    <p:extLst>
      <p:ext uri="{BB962C8B-B14F-4D97-AF65-F5344CB8AC3E}">
        <p14:creationId xmlns:p14="http://schemas.microsoft.com/office/powerpoint/2010/main" val="6912660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2026-10-08T00:16:03.5530000Z</dcterms:created>
  <dcterms:modified xsi:type="dcterms:W3CDTF">2026-10-08T00:16:03.5530000Z</dcterms:modified>
</coreProperties>
</file>