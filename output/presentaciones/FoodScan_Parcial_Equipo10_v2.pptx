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b7a8bfd85924900" /><Relationship Type="http://schemas.openxmlformats.org/officeDocument/2006/relationships/extended-properties" Target="/docProps/app.xml" Id="Rc004e954a613491a" /><Relationship Type="http://schemas.openxmlformats.org/officeDocument/2006/relationships/officeDocument" Target="/ppt/presentation.xml" Id="R7363b192f3fd450f" /></Relationships>
</file>

<file path=ppt/presentation.xml><?xml version="1.0" encoding="utf-8"?>
<p:presentation xmlns:p="http://schemas.openxmlformats.org/presentationml/2006/main">
  <p:sldMasterIdLst>
    <p:sldMasterId xmlns:r="http://schemas.openxmlformats.org/officeDocument/2006/relationships" id="2147483648" r:id="R20746e8db7f946ef"/>
  </p:sldMasterIdLst>
  <p:notesMasterIdLst>
    <p:notesMasterId xmlns:r="http://schemas.openxmlformats.org/officeDocument/2006/relationships" r:id="R6237dbfa0d784bfc"/>
  </p:notesMasterIdLst>
  <p:sldIdLst>
    <p:sldId xmlns:r="http://schemas.openxmlformats.org/officeDocument/2006/relationships" id="256" r:id="Re96bbcf49f6c4cd7"/>
    <p:sldId xmlns:r="http://schemas.openxmlformats.org/officeDocument/2006/relationships" id="257" r:id="R609b250a475c4480"/>
    <p:sldId xmlns:r="http://schemas.openxmlformats.org/officeDocument/2006/relationships" id="258" r:id="Rcca91a5f7b5a4bfa"/>
    <p:sldId xmlns:r="http://schemas.openxmlformats.org/officeDocument/2006/relationships" id="259" r:id="R06a648a606d74f95"/>
    <p:sldId xmlns:r="http://schemas.openxmlformats.org/officeDocument/2006/relationships" id="260" r:id="R3aaff0181b3a47c8"/>
    <p:sldId xmlns:r="http://schemas.openxmlformats.org/officeDocument/2006/relationships" id="261" r:id="R1a5663a7ee3a444a"/>
    <p:sldId xmlns:r="http://schemas.openxmlformats.org/officeDocument/2006/relationships" id="262" r:id="R9c0a7906b6f043a4"/>
    <p:sldId xmlns:r="http://schemas.openxmlformats.org/officeDocument/2006/relationships" id="263" r:id="R291512086d314c4c"/>
    <p:sldId xmlns:r="http://schemas.openxmlformats.org/officeDocument/2006/relationships" id="264" r:id="R0c3bbfc03ee54cee"/>
    <p:sldId xmlns:r="http://schemas.openxmlformats.org/officeDocument/2006/relationships" id="265" r:id="Reac38619fdbe4d5a"/>
    <p:sldId xmlns:r="http://schemas.openxmlformats.org/officeDocument/2006/relationships" id="266" r:id="Rc7ad9074aea5443a"/>
    <p:sldId xmlns:r="http://schemas.openxmlformats.org/officeDocument/2006/relationships" id="267" r:id="R5479ee6d14aa4b45"/>
    <p:sldId xmlns:r="http://schemas.openxmlformats.org/officeDocument/2006/relationships" id="268" r:id="R5d5e5f23e2fa44ea"/>
    <p:sldId xmlns:r="http://schemas.openxmlformats.org/officeDocument/2006/relationships" id="269" r:id="R941f541575c647d3"/>
    <p:sldId xmlns:r="http://schemas.openxmlformats.org/officeDocument/2006/relationships" id="270" r:id="R7370ac09e0824fcd"/>
    <p:sldId xmlns:r="http://schemas.openxmlformats.org/officeDocument/2006/relationships" id="271" r:id="R47779c8a1d7e4426"/>
    <p:sldId xmlns:r="http://schemas.openxmlformats.org/officeDocument/2006/relationships" id="272" r:id="Rc4f59d0873d14dfc"/>
    <p:sldId xmlns:r="http://schemas.openxmlformats.org/officeDocument/2006/relationships" id="273" r:id="R768c714fffce47c1"/>
    <p:sldId xmlns:r="http://schemas.openxmlformats.org/officeDocument/2006/relationships" id="274" r:id="R4360c7bb664a4517"/>
    <p:sldId xmlns:r="http://schemas.openxmlformats.org/officeDocument/2006/relationships" id="275" r:id="Rc4b129e8f248437a"/>
    <p:sldId xmlns:r="http://schemas.openxmlformats.org/officeDocument/2006/relationships" id="276" r:id="R3b51a65ef9784c15"/>
    <p:sldId xmlns:r="http://schemas.openxmlformats.org/officeDocument/2006/relationships" id="277" r:id="R42642fcefc5143a9"/>
    <p:sldId xmlns:r="http://schemas.openxmlformats.org/officeDocument/2006/relationships" id="278" r:id="Rcaa24f44d3464328"/>
    <p:sldId xmlns:r="http://schemas.openxmlformats.org/officeDocument/2006/relationships" id="279" r:id="R5b032415bccb4243"/>
    <p:sldId xmlns:r="http://schemas.openxmlformats.org/officeDocument/2006/relationships" id="280" r:id="R19ff2bfd8678491c"/>
    <p:sldId xmlns:r="http://schemas.openxmlformats.org/officeDocument/2006/relationships" id="281" r:id="Rde0c3e7a03b04933"/>
    <p:sldId xmlns:r="http://schemas.openxmlformats.org/officeDocument/2006/relationships" id="282" r:id="Rfc7d81df823147c1"/>
    <p:sldId xmlns:r="http://schemas.openxmlformats.org/officeDocument/2006/relationships" id="283" r:id="R258c28d6c6bc43d1"/>
    <p:sldId xmlns:r="http://schemas.openxmlformats.org/officeDocument/2006/relationships" id="284" r:id="R040192ea95754ac0"/>
    <p:sldId xmlns:r="http://schemas.openxmlformats.org/officeDocument/2006/relationships" id="285" r:id="Ree948aa1034d4983"/>
    <p:sldId xmlns:r="http://schemas.openxmlformats.org/officeDocument/2006/relationships" id="286" r:id="Ra91ad7e240ee41f9"/>
    <p:sldId xmlns:r="http://schemas.openxmlformats.org/officeDocument/2006/relationships" id="287" r:id="R2e376120bf244436"/>
    <p:sldId xmlns:r="http://schemas.openxmlformats.org/officeDocument/2006/relationships" id="288" r:id="R600f7dacbf4345b9"/>
    <p:sldId xmlns:r="http://schemas.openxmlformats.org/officeDocument/2006/relationships" id="289" r:id="R1c442af2d1194b2e"/>
    <p:sldId xmlns:r="http://schemas.openxmlformats.org/officeDocument/2006/relationships" id="290" r:id="Re84f915254904d2a"/>
    <p:sldId xmlns:r="http://schemas.openxmlformats.org/officeDocument/2006/relationships" id="291" r:id="Rc7766a372119428b"/>
    <p:sldId xmlns:r="http://schemas.openxmlformats.org/officeDocument/2006/relationships" id="292" r:id="R48e4ae7b352e4fe7"/>
    <p:sldId xmlns:r="http://schemas.openxmlformats.org/officeDocument/2006/relationships" id="293" r:id="Rb229665652804c20"/>
    <p:sldId xmlns:r="http://schemas.openxmlformats.org/officeDocument/2006/relationships" id="294" r:id="Rc2618fe9d48d4da5"/>
    <p:sldId xmlns:r="http://schemas.openxmlformats.org/officeDocument/2006/relationships" id="295" r:id="R955a850321d64af7"/>
    <p:sldId xmlns:r="http://schemas.openxmlformats.org/officeDocument/2006/relationships" id="296" r:id="R2ec84dbe477244a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20f0577fdbb4845" /><Relationship Type="http://schemas.openxmlformats.org/officeDocument/2006/relationships/slideMaster" Target="/ppt/slideMasters/slideMaster1.xml" Id="R20746e8db7f946ef" /><Relationship Type="http://schemas.openxmlformats.org/officeDocument/2006/relationships/notesMaster" Target="/ppt/notesMasters/notesMaster1.xml" Id="R6237dbfa0d784bfc" /><Relationship Type="http://schemas.openxmlformats.org/officeDocument/2006/relationships/presProps" Target="/ppt/presProps.xml" Id="R424ecb79be234993" /><Relationship Type="http://schemas.openxmlformats.org/officeDocument/2006/relationships/tableStyles" Target="/ppt/tableStyles.xml" Id="R70c70625f6254fb4" /><Relationship Type="http://schemas.openxmlformats.org/officeDocument/2006/relationships/slide" Target="/ppt/slides/slide1.xml" Id="Re96bbcf49f6c4cd7" /><Relationship Type="http://schemas.openxmlformats.org/officeDocument/2006/relationships/slide" Target="/ppt/slides/slide2.xml" Id="R609b250a475c4480" /><Relationship Type="http://schemas.openxmlformats.org/officeDocument/2006/relationships/slide" Target="/ppt/slides/slide3.xml" Id="Rcca91a5f7b5a4bfa" /><Relationship Type="http://schemas.openxmlformats.org/officeDocument/2006/relationships/slide" Target="/ppt/slides/slide4.xml" Id="R06a648a606d74f95" /><Relationship Type="http://schemas.openxmlformats.org/officeDocument/2006/relationships/slide" Target="/ppt/slides/slide5.xml" Id="R3aaff0181b3a47c8" /><Relationship Type="http://schemas.openxmlformats.org/officeDocument/2006/relationships/slide" Target="/ppt/slides/slide6.xml" Id="R1a5663a7ee3a444a" /><Relationship Type="http://schemas.openxmlformats.org/officeDocument/2006/relationships/slide" Target="/ppt/slides/slide7.xml" Id="R9c0a7906b6f043a4" /><Relationship Type="http://schemas.openxmlformats.org/officeDocument/2006/relationships/slide" Target="/ppt/slides/slide8.xml" Id="R291512086d314c4c" /><Relationship Type="http://schemas.openxmlformats.org/officeDocument/2006/relationships/slide" Target="/ppt/slides/slide9.xml" Id="R0c3bbfc03ee54cee" /><Relationship Type="http://schemas.openxmlformats.org/officeDocument/2006/relationships/slide" Target="/ppt/slides/slide10.xml" Id="Reac38619fdbe4d5a" /><Relationship Type="http://schemas.openxmlformats.org/officeDocument/2006/relationships/slide" Target="/ppt/slides/slide11.xml" Id="Rc7ad9074aea5443a" /><Relationship Type="http://schemas.openxmlformats.org/officeDocument/2006/relationships/slide" Target="/ppt/slides/slide12.xml" Id="R5479ee6d14aa4b45" /><Relationship Type="http://schemas.openxmlformats.org/officeDocument/2006/relationships/slide" Target="/ppt/slides/slide13.xml" Id="R5d5e5f23e2fa44ea" /><Relationship Type="http://schemas.openxmlformats.org/officeDocument/2006/relationships/slide" Target="/ppt/slides/slide14.xml" Id="R941f541575c647d3" /><Relationship Type="http://schemas.openxmlformats.org/officeDocument/2006/relationships/slide" Target="/ppt/slides/slide15.xml" Id="R7370ac09e0824fcd" /><Relationship Type="http://schemas.openxmlformats.org/officeDocument/2006/relationships/slide" Target="/ppt/slides/slide16.xml" Id="R47779c8a1d7e4426" /><Relationship Type="http://schemas.openxmlformats.org/officeDocument/2006/relationships/slide" Target="/ppt/slides/slide17.xml" Id="Rc4f59d0873d14dfc" /><Relationship Type="http://schemas.openxmlformats.org/officeDocument/2006/relationships/slide" Target="/ppt/slides/slide18.xml" Id="R768c714fffce47c1" /><Relationship Type="http://schemas.openxmlformats.org/officeDocument/2006/relationships/slide" Target="/ppt/slides/slide19.xml" Id="R4360c7bb664a4517" /><Relationship Type="http://schemas.openxmlformats.org/officeDocument/2006/relationships/slide" Target="/ppt/slides/slide20.xml" Id="Rc4b129e8f248437a" /><Relationship Type="http://schemas.openxmlformats.org/officeDocument/2006/relationships/slide" Target="/ppt/slides/slide21.xml" Id="R3b51a65ef9784c15" /><Relationship Type="http://schemas.openxmlformats.org/officeDocument/2006/relationships/slide" Target="/ppt/slides/slide22.xml" Id="R42642fcefc5143a9" /><Relationship Type="http://schemas.openxmlformats.org/officeDocument/2006/relationships/slide" Target="/ppt/slides/slide23.xml" Id="Rcaa24f44d3464328" /><Relationship Type="http://schemas.openxmlformats.org/officeDocument/2006/relationships/slide" Target="/ppt/slides/slide24.xml" Id="R5b032415bccb4243" /><Relationship Type="http://schemas.openxmlformats.org/officeDocument/2006/relationships/slide" Target="/ppt/slides/slide25.xml" Id="R19ff2bfd8678491c" /><Relationship Type="http://schemas.openxmlformats.org/officeDocument/2006/relationships/slide" Target="/ppt/slides/slide26.xml" Id="Rde0c3e7a03b04933" /><Relationship Type="http://schemas.openxmlformats.org/officeDocument/2006/relationships/slide" Target="/ppt/slides/slide27.xml" Id="Rfc7d81df823147c1" /><Relationship Type="http://schemas.openxmlformats.org/officeDocument/2006/relationships/slide" Target="/ppt/slides/slide28.xml" Id="R258c28d6c6bc43d1" /><Relationship Type="http://schemas.openxmlformats.org/officeDocument/2006/relationships/slide" Target="/ppt/slides/slide29.xml" Id="R040192ea95754ac0" /><Relationship Type="http://schemas.openxmlformats.org/officeDocument/2006/relationships/slide" Target="/ppt/slides/slide30.xml" Id="Ree948aa1034d4983" /><Relationship Type="http://schemas.openxmlformats.org/officeDocument/2006/relationships/slide" Target="/ppt/slides/slide31.xml" Id="Ra91ad7e240ee41f9" /><Relationship Type="http://schemas.openxmlformats.org/officeDocument/2006/relationships/slide" Target="/ppt/slides/slide32.xml" Id="R2e376120bf244436" /><Relationship Type="http://schemas.openxmlformats.org/officeDocument/2006/relationships/slide" Target="/ppt/slides/slide33.xml" Id="R600f7dacbf4345b9" /><Relationship Type="http://schemas.openxmlformats.org/officeDocument/2006/relationships/slide" Target="/ppt/slides/slide34.xml" Id="R1c442af2d1194b2e" /><Relationship Type="http://schemas.openxmlformats.org/officeDocument/2006/relationships/slide" Target="/ppt/slides/slide35.xml" Id="Re84f915254904d2a" /><Relationship Type="http://schemas.openxmlformats.org/officeDocument/2006/relationships/slide" Target="/ppt/slides/slide36.xml" Id="Rc7766a372119428b" /><Relationship Type="http://schemas.openxmlformats.org/officeDocument/2006/relationships/slide" Target="/ppt/slides/slide37.xml" Id="R48e4ae7b352e4fe7" /><Relationship Type="http://schemas.openxmlformats.org/officeDocument/2006/relationships/slide" Target="/ppt/slides/slide38.xml" Id="Rb229665652804c20" /><Relationship Type="http://schemas.openxmlformats.org/officeDocument/2006/relationships/slide" Target="/ppt/slides/slide39.xml" Id="Rc2618fe9d48d4da5" /><Relationship Type="http://schemas.openxmlformats.org/officeDocument/2006/relationships/slide" Target="/ppt/slides/slide40.xml" Id="R955a850321d64af7" /><Relationship Type="http://schemas.openxmlformats.org/officeDocument/2006/relationships/slide" Target="/ppt/slides/slide41.xml" Id="R2ec84dbe477244a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100231d1c4a4df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abcbe4da2e44d65" /><Relationship Type="http://schemas.openxmlformats.org/officeDocument/2006/relationships/notesMaster" Target="/ppt/notesMasters/notesMaster1.xml" Id="R756ae38bc1594368" /></Relationships>
</file>

<file path=ppt/notesSlides/_rels/notesSlide2.xml.rels>&#65279;<?xml version="1.0" encoding="utf-8"?><Relationships xmlns="http://schemas.openxmlformats.org/package/2006/relationships"><Relationship Type="http://schemas.openxmlformats.org/officeDocument/2006/relationships/slide" Target="/ppt/slides/slide2.xml" Id="R3bbe64f35d764680" /><Relationship Type="http://schemas.openxmlformats.org/officeDocument/2006/relationships/notesMaster" Target="/ppt/notesMasters/notesMaster1.xml" Id="Rdde7c4ae0e884bd1" /></Relationships>
</file>

<file path=ppt/notesSlides/_rels/notesSlide3.xml.rels>&#65279;<?xml version="1.0" encoding="utf-8"?><Relationships xmlns="http://schemas.openxmlformats.org/package/2006/relationships"><Relationship Type="http://schemas.openxmlformats.org/officeDocument/2006/relationships/slide" Target="/ppt/slides/slide3.xml" Id="Rdcd2c30e2ca947bd" /><Relationship Type="http://schemas.openxmlformats.org/officeDocument/2006/relationships/notesMaster" Target="/ppt/notesMasters/notesMaster1.xml" Id="Ra4680cf3a1d246a8" /></Relationships>
</file>

<file path=ppt/notesSlides/_rels/notesSlide4.xml.rels>&#65279;<?xml version="1.0" encoding="utf-8"?><Relationships xmlns="http://schemas.openxmlformats.org/package/2006/relationships"><Relationship Type="http://schemas.openxmlformats.org/officeDocument/2006/relationships/slide" Target="/ppt/slides/slide4.xml" Id="R44c450da9d0048ad" /><Relationship Type="http://schemas.openxmlformats.org/officeDocument/2006/relationships/notesMaster" Target="/ppt/notesMasters/notesMaster1.xml" Id="R7460f9cfd3f44ac1" /></Relationships>
</file>

<file path=ppt/notesSlides/_rels/notesSlide5.xml.rels>&#65279;<?xml version="1.0" encoding="utf-8"?><Relationships xmlns="http://schemas.openxmlformats.org/package/2006/relationships"><Relationship Type="http://schemas.openxmlformats.org/officeDocument/2006/relationships/slide" Target="/ppt/slides/slide5.xml" Id="R6dcf7694a73c4af1" /><Relationship Type="http://schemas.openxmlformats.org/officeDocument/2006/relationships/notesMaster" Target="/ppt/notesMasters/notesMaster1.xml" Id="R85c106cd58f34c39" /></Relationships>
</file>

<file path=ppt/notesSlides/_rels/notesSlide6.xml.rels>&#65279;<?xml version="1.0" encoding="utf-8"?><Relationships xmlns="http://schemas.openxmlformats.org/package/2006/relationships"><Relationship Type="http://schemas.openxmlformats.org/officeDocument/2006/relationships/slide" Target="/ppt/slides/slide6.xml" Id="R609c581c9ea44512" /><Relationship Type="http://schemas.openxmlformats.org/officeDocument/2006/relationships/notesMaster" Target="/ppt/notesMasters/notesMaster1.xml" Id="R3817379a4981417b" /></Relationships>
</file>

<file path=ppt/notesSlides/_rels/notesSlide7.xml.rels>&#65279;<?xml version="1.0" encoding="utf-8"?><Relationships xmlns="http://schemas.openxmlformats.org/package/2006/relationships"><Relationship Type="http://schemas.openxmlformats.org/officeDocument/2006/relationships/slide" Target="/ppt/slides/slide7.xml" Id="Rc7cb26682f084b8d" /><Relationship Type="http://schemas.openxmlformats.org/officeDocument/2006/relationships/notesMaster" Target="/ppt/notesMasters/notesMaster1.xml" Id="R32c69d5935e54861" /></Relationships>
</file>

<file path=ppt/notesSlides/_rels/notesSlide8.xml.rels>&#65279;<?xml version="1.0" encoding="utf-8"?><Relationships xmlns="http://schemas.openxmlformats.org/package/2006/relationships"><Relationship Type="http://schemas.openxmlformats.org/officeDocument/2006/relationships/slide" Target="/ppt/slides/slide8.xml" Id="Rf438af549cb7474f" /><Relationship Type="http://schemas.openxmlformats.org/officeDocument/2006/relationships/notesMaster" Target="/ppt/notesMasters/notesMaster1.xml" Id="R25a58106d560418c" /></Relationships>
</file>

<file path=ppt/notesSlides/_rels/notesSlide9.xml.rels>&#65279;<?xml version="1.0" encoding="utf-8"?><Relationships xmlns="http://schemas.openxmlformats.org/package/2006/relationships"><Relationship Type="http://schemas.openxmlformats.org/officeDocument/2006/relationships/slide" Target="/ppt/slides/slide9.xml" Id="Rd58604fc7bce457b" /><Relationship Type="http://schemas.openxmlformats.org/officeDocument/2006/relationships/notesMaster" Target="/ppt/notesMasters/notesMaster1.xml" Id="Refda0c76a3714c3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0e77a45c12f43ed" /><Relationship Type="http://schemas.openxmlformats.org/officeDocument/2006/relationships/notesMaster" Target="/ppt/notesMasters/notesMaster1.xml" Id="R5ec96e126d6f450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abed041009144d3" /><Relationship Type="http://schemas.openxmlformats.org/officeDocument/2006/relationships/notesMaster" Target="/ppt/notesMasters/notesMaster1.xml" Id="Rb148d1d392ea49a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f73ad8e280040dc" /><Relationship Type="http://schemas.openxmlformats.org/officeDocument/2006/relationships/notesMaster" Target="/ppt/notesMasters/notesMaster1.xml" Id="Rbe74ddcf2915466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53b0b86ee4640f8" /><Relationship Type="http://schemas.openxmlformats.org/officeDocument/2006/relationships/notesMaster" Target="/ppt/notesMasters/notesMaster1.xml" Id="R30e15e4fc465456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308c9e1ea40478f" /><Relationship Type="http://schemas.openxmlformats.org/officeDocument/2006/relationships/notesMaster" Target="/ppt/notesMasters/notesMaster1.xml" Id="R54982946283544e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72d81dbddd144b7" /><Relationship Type="http://schemas.openxmlformats.org/officeDocument/2006/relationships/notesMaster" Target="/ppt/notesMasters/notesMaster1.xml" Id="R7d1cfe9d9b16437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fd501c10e364bc5" /><Relationship Type="http://schemas.openxmlformats.org/officeDocument/2006/relationships/notesMaster" Target="/ppt/notesMasters/notesMaster1.xml" Id="R60c37946c504408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655f61f13dc4504" /><Relationship Type="http://schemas.openxmlformats.org/officeDocument/2006/relationships/notesMaster" Target="/ppt/notesMasters/notesMaster1.xml" Id="R15637feeb6b04d9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b800b3a330d476c" /><Relationship Type="http://schemas.openxmlformats.org/officeDocument/2006/relationships/notesMaster" Target="/ppt/notesMasters/notesMaster1.xml" Id="Re00c0c6355fc44c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1a5c1d2bc0d484d" /><Relationship Type="http://schemas.openxmlformats.org/officeDocument/2006/relationships/notesMaster" Target="/ppt/notesMasters/notesMaster1.xml" Id="Re01d61cf5e1e430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a93efbce8874589" /><Relationship Type="http://schemas.openxmlformats.org/officeDocument/2006/relationships/notesMaster" Target="/ppt/notesMasters/notesMaster1.xml" Id="Read7b1135a644ac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1ae4dcde7544a3b" /><Relationship Type="http://schemas.openxmlformats.org/officeDocument/2006/relationships/notesMaster" Target="/ppt/notesMasters/notesMaster1.xml" Id="R4b108f1c31304e3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67ad9b06b364270" /><Relationship Type="http://schemas.openxmlformats.org/officeDocument/2006/relationships/notesMaster" Target="/ppt/notesMasters/notesMaster1.xml" Id="R512d19ccfbc3404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c4d625fe903419b" /><Relationship Type="http://schemas.openxmlformats.org/officeDocument/2006/relationships/notesMaster" Target="/ppt/notesMasters/notesMaster1.xml" Id="Ra4506674e0f94f8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8f33e107e4d4a08" /><Relationship Type="http://schemas.openxmlformats.org/officeDocument/2006/relationships/notesMaster" Target="/ppt/notesMasters/notesMaster1.xml" Id="R387a041a28e94a3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8cf205f3a6f4ae4" /><Relationship Type="http://schemas.openxmlformats.org/officeDocument/2006/relationships/notesMaster" Target="/ppt/notesMasters/notesMaster1.xml" Id="R621dbd856b70426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ca0e0b9713e456e" /><Relationship Type="http://schemas.openxmlformats.org/officeDocument/2006/relationships/notesMaster" Target="/ppt/notesMasters/notesMaster1.xml" Id="Rfb87ad86a1b84a7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a6bf3669dcd4ead" /><Relationship Type="http://schemas.openxmlformats.org/officeDocument/2006/relationships/notesMaster" Target="/ppt/notesMasters/notesMaster1.xml" Id="Racbca658b97647a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526b3ceba45449b" /><Relationship Type="http://schemas.openxmlformats.org/officeDocument/2006/relationships/notesMaster" Target="/ppt/notesMasters/notesMaster1.xml" Id="Rfc9ed6581e5a447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b985237de724701" /><Relationship Type="http://schemas.openxmlformats.org/officeDocument/2006/relationships/notesMaster" Target="/ppt/notesMasters/notesMaster1.xml" Id="R6cea9e85160643a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9050def4c7544a5" /><Relationship Type="http://schemas.openxmlformats.org/officeDocument/2006/relationships/notesMaster" Target="/ppt/notesMasters/notesMaster1.xml" Id="Rd2d3192a27554b1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d845ce192d545bb" /><Relationship Type="http://schemas.openxmlformats.org/officeDocument/2006/relationships/notesMaster" Target="/ppt/notesMasters/notesMaster1.xml" Id="R6362f677dc574d0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7cee77439ac44dd" /><Relationship Type="http://schemas.openxmlformats.org/officeDocument/2006/relationships/notesMaster" Target="/ppt/notesMasters/notesMaster1.xml" Id="Rf5295e720c2f428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897fa94409c14589" /><Relationship Type="http://schemas.openxmlformats.org/officeDocument/2006/relationships/notesMaster" Target="/ppt/notesMasters/notesMaster1.xml" Id="R17876b6344c34f4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b3bbd447d804533" /><Relationship Type="http://schemas.openxmlformats.org/officeDocument/2006/relationships/notesMaster" Target="/ppt/notesMasters/notesMaster1.xml" Id="R39e48656efb14277"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3b971cad4ec4840" /><Relationship Type="http://schemas.openxmlformats.org/officeDocument/2006/relationships/notesMaster" Target="/ppt/notesMasters/notesMaster1.xml" Id="R24c9df09d82b4ec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12a5d2d62ec4212" /><Relationship Type="http://schemas.openxmlformats.org/officeDocument/2006/relationships/notesMaster" Target="/ppt/notesMasters/notesMaster1.xml" Id="Rda68634f1cc74f6e"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04fe66f66e94375" /><Relationship Type="http://schemas.openxmlformats.org/officeDocument/2006/relationships/notesMaster" Target="/ppt/notesMasters/notesMaster1.xml" Id="R056425e8beb04e98"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abd43e08b8f846b5" /><Relationship Type="http://schemas.openxmlformats.org/officeDocument/2006/relationships/notesMaster" Target="/ppt/notesMasters/notesMaster1.xml" Id="R7894de255d3e4b37"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86f57a2874eb4a24" /><Relationship Type="http://schemas.openxmlformats.org/officeDocument/2006/relationships/notesMaster" Target="/ppt/notesMasters/notesMaster1.xml" Id="R537a412bbb124451"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4f9d5e6d60464b11" /><Relationship Type="http://schemas.openxmlformats.org/officeDocument/2006/relationships/notesMaster" Target="/ppt/notesMasters/notesMaster1.xml" Id="R42510ab731f5406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68d975acf954447b" /><Relationship Type="http://schemas.openxmlformats.org/officeDocument/2006/relationships/notesMaster" Target="/ppt/notesMasters/notesMaster1.xml" Id="Raacf2e7ea8b1464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15 s.</a:t>
            </a:r>
          </a:p>
          <a:p xmlns:a="http://schemas.openxmlformats.org/drawingml/2006/main">
            <a:r>
              <a:t>Persona 1. Apertura del pitch: sistema de información nutricional de porciones.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30 s.</a:t>
            </a:r>
          </a:p>
          <a:p xmlns:a="http://schemas.openxmlformats.org/drawingml/2006/main">
            <a:r>
              <a:t>Persona 1. Las referencias por 100 g exigen identificar el alimento y conocer la cantidad real. La app es el avance implementado. La construcción e integración de la caja están pendientes. No se afirma exactitud validada.</a:t>
            </a:r>
          </a:p>
          <a:p xmlns:a="http://schemas.openxmlformats.org/drawingml/2006/main">
            <a:r>
              <a:t/>
            </a:r>
          </a:p>
          <a:p xmlns:a="http://schemas.openxmlformats.org/drawingml/2006/main">
            <a:r>
              <a:t>[1] Fang S, Zhu F, Jiang C, Zhang S, Boushey CJ, Delp EJ. A comparison of food portion size estimation using geometric models and depth images. En: IEEE ICIP. 2016. p. 26-30. doi:10.1109/ICIP.2016.7532312.</a:t>
            </a:r>
          </a:p>
          <a:p xmlns:a="http://schemas.openxmlformats.org/drawingml/2006/main">
            <a:r>
              <a:t>Disponible en: https://pmc.ncbi.nlm.nih.gov/articles/PMC6226035/</a:t>
            </a:r>
          </a:p>
          <a:p xmlns:a="http://schemas.openxmlformats.org/drawingml/2006/main">
            <a:r>
              <a:t/>
            </a:r>
          </a:p>
          <a:p xmlns:a="http://schemas.openxmlformats.org/drawingml/2006/main">
            <a:r>
              <a:t>[2] Konstantakopoulos FS, Georga EI, Fotiadis DI. A novel approach to estimate the weight of food items based on features extracted from an image using boosting algorithms. Sci Rep. 2023;13:21040. doi:10.1038/s41598-023-47885-0.</a:t>
            </a:r>
          </a:p>
          <a:p xmlns:a="http://schemas.openxmlformats.org/drawingml/2006/main">
            <a:r>
              <a:t>Disponible en: https://www.nature.com/articles/s41598-023-47885-0</a:t>
            </a:r>
          </a:p>
          <a:p xmlns:a="http://schemas.openxmlformats.org/drawingml/2006/main">
            <a:r>
              <a:t/>
            </a:r>
          </a:p>
          <a:p xmlns:a="http://schemas.openxmlformats.org/drawingml/2006/main">
            <a:r>
              <a:t>[3] Dalakleidi KV, Papadelli M, Kapolos I, Papadimitriou K. Applying image-based food-recognition systems on dietary assessment: a systematic review. Adv Nutr. 2022;13(6):2590-2619. doi:10.1093/advances/nmac078.</a:t>
            </a:r>
          </a:p>
          <a:p xmlns:a="http://schemas.openxmlformats.org/drawingml/2006/main">
            <a:r>
              <a:t>Disponible en: https://pmc.ncbi.nlm.nih.gov/articles/PMC9776640/</a:t>
            </a:r>
          </a:p>
          <a:p xmlns:a="http://schemas.openxmlformats.org/drawingml/2006/main">
            <a:r>
              <a:t/>
            </a:r>
          </a:p>
          <a:p xmlns:a="http://schemas.openxmlformats.org/drawingml/2006/main">
            <a:r>
              <a:t>[16] Reyes García M, Gómez-Sánchez Prieto I, Espinoza Barrientos C. Tablas peruanas de composición de alimentos. 10.ª ed. Lima: Instituto Nacional de Salud; 2017. Impresión 2018. Archivo proporcionado al equipo: Tablas-peruanas.pdf.</a:t>
            </a:r>
          </a:p>
          <a:p xmlns:a="http://schemas.openxmlformats.org/drawingml/2006/main">
            <a:r>
              <a:t>Disponible en: https://repositorio.ins.gob.pe/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45 s.</a:t>
            </a:r>
          </a:p>
          <a:p xmlns:a="http://schemas.openxmlformats.org/drawingml/2006/main">
            <a:r>
              <a:t>Persona 1. Aporte a la metodología VDI: F3 Capturar · F5 Determinar cantidad.</a:t>
            </a:r>
          </a:p>
          <a:p xmlns:a="http://schemas.openxmlformats.org/drawingml/2006/main">
            <a:r>
              <a:t>Geometría conocida frente a mapas de profundidad y vóxeles.</a:t>
            </a:r>
          </a:p>
          <a:p xmlns:a="http://schemas.openxmlformats.org/drawingml/2006/main">
            <a:r>
              <a:t>La captura, la forma y la escala condicionan la cantidad.</a:t>
            </a:r>
          </a:p>
          <a:p xmlns:a="http://schemas.openxmlformats.org/drawingml/2006/main">
            <a:r>
              <a:t>Limitación: Réplicas y máscaras conocidas. El vaso llegó a 2,34 veces el volumen real.</a:t>
            </a:r>
          </a:p>
          <a:p xmlns:a="http://schemas.openxmlformats.org/drawingml/2006/main">
            <a:r>
              <a:t>Figura original del antecedente, conservada desde el repositorio del equipo.</a:t>
            </a:r>
          </a:p>
          <a:p xmlns:a="http://schemas.openxmlformats.org/drawingml/2006/main">
            <a:r>
              <a:t/>
            </a:r>
          </a:p>
          <a:p xmlns:a="http://schemas.openxmlformats.org/drawingml/2006/main">
            <a:r>
              <a:t>[1] Fang S, Zhu F, Jiang C, Zhang S, Boushey CJ, Delp EJ. A comparison of food portion size estimation using geometric models and depth images. En: IEEE ICIP. 2016. p. 26-30. doi:10.1109/ICIP.2016.7532312.</a:t>
            </a:r>
          </a:p>
          <a:p xmlns:a="http://schemas.openxmlformats.org/drawingml/2006/main">
            <a:r>
              <a:t>Disponible en: https://pmc.ncbi.nlm.nih.gov/articles/PMC6226035/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45 s.</a:t>
            </a:r>
          </a:p>
          <a:p xmlns:a="http://schemas.openxmlformats.org/drawingml/2006/main">
            <a:r>
              <a:t>Persona 1. Aporte a la metodología VDI: F3 Capturar · F5 Cantidad · Control de calidad.</a:t>
            </a:r>
          </a:p>
          <a:p xmlns:a="http://schemas.openxmlformats.org/drawingml/2006/main">
            <a:r>
              <a:t>23 052 imágenes de 226 platos mediterráneos. MAPE: 3,73 %.</a:t>
            </a:r>
          </a:p>
          <a:p xmlns:a="http://schemas.openxmlformats.org/drawingml/2006/main">
            <a:r>
              <a:t>Segmentación, identidad y referencia de tamaño permiten estimar gramos.</a:t>
            </a:r>
          </a:p>
          <a:p xmlns:a="http://schemas.openxmlformats.org/drawingml/2006/main">
            <a:r>
              <a:t>Limitación: El desempeño publicado corresponde a ese conjunto. FoodScan necesita su propia validación.</a:t>
            </a:r>
          </a:p>
          <a:p xmlns:a="http://schemas.openxmlformats.org/drawingml/2006/main">
            <a:r>
              <a:t>Figura original del antecedente, conservada desde el repositorio del equipo.</a:t>
            </a:r>
          </a:p>
          <a:p xmlns:a="http://schemas.openxmlformats.org/drawingml/2006/main">
            <a:r>
              <a:t/>
            </a:r>
          </a:p>
          <a:p xmlns:a="http://schemas.openxmlformats.org/drawingml/2006/main">
            <a:r>
              <a:t>[2] Konstantakopoulos FS, Georga EI, Fotiadis DI. A novel approach to estimate the weight of food items based on features extracted from an image using boosting algorithms. Sci Rep. 2023;13:21040. doi:10.1038/s41598-023-47885-0.</a:t>
            </a:r>
          </a:p>
          <a:p xmlns:a="http://schemas.openxmlformats.org/drawingml/2006/main">
            <a:r>
              <a:t>Disponible en: https://www.nature.com/articles/s41598-023-47885-0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40 s.</a:t>
            </a:r>
          </a:p>
          <a:p xmlns:a="http://schemas.openxmlformats.org/drawingml/2006/main">
            <a:r>
              <a:t>Persona 2. Aporte a la metodología VDI: F3 · F5 · F6 · F7 · F8.</a:t>
            </a:r>
          </a:p>
          <a:p xmlns:a="http://schemas.openxmlformats.org/drawingml/2006/main">
            <a:r>
              <a:t>45 utilizaron aprendizaje profundo. La cadena incluye segmentar, clasificar, estimar y consultar.</a:t>
            </a:r>
          </a:p>
          <a:p xmlns:a="http://schemas.openxmlformats.org/drawingml/2006/main">
            <a:r>
              <a:t>Separar identidad, cantidad, referencia y cálculo evita ocultar errores.</a:t>
            </a:r>
          </a:p>
          <a:p xmlns:a="http://schemas.openxmlformats.org/drawingml/2006/main">
            <a:r>
              <a:t>Limitación: Una clasificación correcta no garantiza una porción correcta.</a:t>
            </a:r>
          </a:p>
          <a:p xmlns:a="http://schemas.openxmlformats.org/drawingml/2006/main">
            <a:r>
              <a:t>Figura original del antecedente, conservada desde el repositorio del equipo.</a:t>
            </a:r>
          </a:p>
          <a:p xmlns:a="http://schemas.openxmlformats.org/drawingml/2006/main">
            <a:r>
              <a:t/>
            </a:r>
          </a:p>
          <a:p xmlns:a="http://schemas.openxmlformats.org/drawingml/2006/main">
            <a:r>
              <a:t>[3] Dalakleidi KV, Papadelli M, Kapolos I, Papadimitriou K. Applying image-based food-recognition systems on dietary assessment: a systematic review. Adv Nutr. 2022;13(6):2590-2619. doi:10.1093/advances/nmac078.</a:t>
            </a:r>
          </a:p>
          <a:p xmlns:a="http://schemas.openxmlformats.org/drawingml/2006/main">
            <a:r>
              <a:t>Disponible en: https://pmc.ncbi.nlm.nih.gov/articles/PMC9776640/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40 s.</a:t>
            </a:r>
          </a:p>
          <a:p xmlns:a="http://schemas.openxmlformats.org/drawingml/2006/main">
            <a:r>
              <a:t>Persona 2. Aporte a la metodología VDI: F3 · F5 · F6 · F7 · F8.</a:t>
            </a:r>
          </a:p>
          <a:p xmlns:a="http://schemas.openxmlformats.org/drawingml/2006/main">
            <a:r>
              <a:t>Permite fotografía o nombre del alimento. Combina la masa con una referencia.</a:t>
            </a:r>
          </a:p>
          <a:p xmlns:a="http://schemas.openxmlformats.org/drawingml/2006/main">
            <a:r>
              <a:t>Integrar medición, reconocimiento, consulta y cálculo en un flujo.</a:t>
            </a:r>
          </a:p>
          <a:p xmlns:a="http://schemas.openxmlformats.org/drawingml/2006/main">
            <a:r>
              <a:t>Limitación: Sin capacidad, error de pesaje ni exactitud de reconocimiento declarados.</a:t>
            </a:r>
          </a:p>
          <a:p xmlns:a="http://schemas.openxmlformats.org/drawingml/2006/main">
            <a:r>
              <a:t>Figura original del antecedente, conservada desde el repositorio del equipo.</a:t>
            </a:r>
          </a:p>
          <a:p xmlns:a="http://schemas.openxmlformats.org/drawingml/2006/main">
            <a:r>
              <a:t/>
            </a:r>
          </a:p>
          <a:p xmlns:a="http://schemas.openxmlformats.org/drawingml/2006/main">
            <a:r>
              <a:t>[4] Wan J, inventora. Calculating instrument for nutrients such as calorie and protein. Solicitud de patente CN114360689A. 15 abr 2022.</a:t>
            </a:r>
          </a:p>
          <a:p xmlns:a="http://schemas.openxmlformats.org/drawingml/2006/main">
            <a:r>
              <a:t>Disponible en: https://patents.google.com/patent/CN114360689A/en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40 s.</a:t>
            </a:r>
          </a:p>
          <a:p xmlns:a="http://schemas.openxmlformats.org/drawingml/2006/main">
            <a:r>
              <a:t>Persona 2. Aporte a la metodología VDI: F2 Conectar · F4 Transmitir · F5 Cantidad.</a:t>
            </a:r>
          </a:p>
          <a:p xmlns:a="http://schemas.openxmlformats.org/drawingml/2006/main">
            <a:r>
              <a:t>Tara del recipiente, masa inicial y lecturas sucesivas durante la comida.</a:t>
            </a:r>
          </a:p>
          <a:p xmlns:a="http://schemas.openxmlformats.org/drawingml/2006/main">
            <a:r>
              <a:t>Vincular la medición física y el registro digital. Distinguir consumo efectivo.</a:t>
            </a:r>
          </a:p>
          <a:p xmlns:a="http://schemas.openxmlformats.org/drawingml/2006/main">
            <a:r>
              <a:t>Limitación: No declara capacidad ni precisión metrológica. Nuestro avance registra la porción servida.</a:t>
            </a:r>
          </a:p>
          <a:p xmlns:a="http://schemas.openxmlformats.org/drawingml/2006/main">
            <a:r>
              <a:t>Figura original del antecedente, conservada desde el repositorio del equipo.</a:t>
            </a:r>
          </a:p>
          <a:p xmlns:a="http://schemas.openxmlformats.org/drawingml/2006/main">
            <a:r>
              <a:t/>
            </a:r>
          </a:p>
          <a:p xmlns:a="http://schemas.openxmlformats.org/drawingml/2006/main">
            <a:r>
              <a:t>[5] Tkach A, inventor. Methods, system and apparatus to improve motivation and control when taking meals and to automate the process of monitoring nutrition. Patente US10292511B2. 21 may 2019.</a:t>
            </a:r>
          </a:p>
          <a:p xmlns:a="http://schemas.openxmlformats.org/drawingml/2006/main">
            <a:r>
              <a:t>Disponible en: https://patents.google.com/patent/US10292511B2/en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35 s.</a:t>
            </a:r>
          </a:p>
          <a:p xmlns:a="http://schemas.openxmlformats.org/drawingml/2006/main">
            <a:r>
              <a:t>Persona 3. Aporte a la metodología VDI: F8 Calcular · Error de cálculo objetivo ≤ 1 %.</a:t>
            </a:r>
          </a:p>
          <a:p xmlns:a="http://schemas.openxmlformats.org/drawingml/2006/main">
            <a:r>
              <a:t>Relaciona densidad energética, cantidad de alimento e historial.</a:t>
            </a:r>
          </a:p>
          <a:p xmlns:a="http://schemas.openxmlformats.org/drawingml/2006/main">
            <a:r>
              <a:t>Calcular cada nutriente según la masa de la porción confirmada.</a:t>
            </a:r>
          </a:p>
          <a:p xmlns:a="http://schemas.openxmlformats.org/drawingml/2006/main">
            <a:r>
              <a:t>Limitación: La planificación y las recomendaciones personalizadas exceden el alcance actual.</a:t>
            </a:r>
          </a:p>
          <a:p xmlns:a="http://schemas.openxmlformats.org/drawingml/2006/main">
            <a:r>
              <a:t>Figura original del antecedente, conservada desde el repositorio del equipo.</a:t>
            </a:r>
          </a:p>
          <a:p xmlns:a="http://schemas.openxmlformats.org/drawingml/2006/main">
            <a:r>
              <a:t/>
            </a:r>
          </a:p>
          <a:p xmlns:a="http://schemas.openxmlformats.org/drawingml/2006/main">
            <a:r>
              <a:t>[6] Kourtesis G, inventor. Method and system for planning and monitoring calorie consumption. Solicitud internacional WO2014008555A1. 16 ene 2014.</a:t>
            </a:r>
          </a:p>
          <a:p xmlns:a="http://schemas.openxmlformats.org/drawingml/2006/main">
            <a:r>
              <a:t>Disponible en: https://patents.google.com/patent/WO2014008555A1/en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20 s.</a:t>
            </a:r>
          </a:p>
          <a:p xmlns:a="http://schemas.openxmlformats.org/drawingml/2006/main">
            <a:r>
              <a:t>Persona 3. Aporte a la metodología VDI: F3 Capturar · F6 Identificar y corregir.</a:t>
            </a:r>
          </a:p>
          <a:p xmlns:a="http://schemas.openxmlformats.org/drawingml/2006/main">
            <a:r>
              <a:t>La realización preferida usa al menos tres imágenes de la escena.</a:t>
            </a:r>
          </a:p>
          <a:p xmlns:a="http://schemas.openxmlformats.org/drawingml/2006/main">
            <a:r>
              <a:t>Permitir que el usuario aclare alimentos y preparación.</a:t>
            </a:r>
          </a:p>
          <a:p xmlns:a="http://schemas.openxmlformats.org/drawingml/2006/main">
            <a:r>
              <a:t>Limitación: Más capturas aumentan el esfuerzo. FoodScan usa una foto y corrección posterior.</a:t>
            </a:r>
          </a:p>
          <a:p xmlns:a="http://schemas.openxmlformats.org/drawingml/2006/main">
            <a:r>
              <a:t>Figura original del antecedente, conservada desde el repositorio del equipo.</a:t>
            </a:r>
          </a:p>
          <a:p xmlns:a="http://schemas.openxmlformats.org/drawingml/2006/main">
            <a:r>
              <a:t/>
            </a:r>
          </a:p>
          <a:p xmlns:a="http://schemas.openxmlformats.org/drawingml/2006/main">
            <a:r>
              <a:t>[7] Puri M, Zhu Z, Lubin J, Pschar T, Divakaran A, Sawhney HS, inventores. Food recognition using visual analysis and speech recognition. Patente US8439683B2. SRI International Inc. 14 may 2013.</a:t>
            </a:r>
          </a:p>
          <a:p xmlns:a="http://schemas.openxmlformats.org/drawingml/2006/main">
            <a:r>
              <a:t>Disponible en: https://patents.google.com/patent/US8439683B2/en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20 s.</a:t>
            </a:r>
          </a:p>
          <a:p xmlns:a="http://schemas.openxmlformats.org/drawingml/2006/main">
            <a:r>
              <a:t>Persona 3. Aporte a la metodología VDI: F2 Conectar · F4 Transmitir · F10 Guardar.</a:t>
            </a:r>
          </a:p>
          <a:p xmlns:a="http://schemas.openxmlformats.org/drawingml/2006/main">
            <a:r>
              <a:t>Sensor de carga, conversión digital y conexión física, Wi-Fi o Bluetooth.</a:t>
            </a:r>
          </a:p>
          <a:p xmlns:a="http://schemas.openxmlformats.org/drawingml/2006/main">
            <a:r>
              <a:t>Transmitir gramos con un estado y asociarlos a una captura.</a:t>
            </a:r>
          </a:p>
          <a:p xmlns:a="http://schemas.openxmlformats.org/drawingml/2006/main">
            <a:r>
              <a:t>Limitación: La publicación no indica capacidad ni precisión de la balanza.</a:t>
            </a:r>
          </a:p>
          <a:p xmlns:a="http://schemas.openxmlformats.org/drawingml/2006/main">
            <a:r>
              <a:t>Figura original del antecedente, conservada desde el repositorio del equipo.</a:t>
            </a:r>
          </a:p>
          <a:p xmlns:a="http://schemas.openxmlformats.org/drawingml/2006/main">
            <a:r>
              <a:t/>
            </a:r>
          </a:p>
          <a:p xmlns:a="http://schemas.openxmlformats.org/drawingml/2006/main">
            <a:r>
              <a:t>[8] Sharma A, inventor. Connected food scale system and method. Solicitud de patente US20140063180A1. BBY Solutions Inc. 6 mar 2014.</a:t>
            </a:r>
          </a:p>
          <a:p xmlns:a="http://schemas.openxmlformats.org/drawingml/2006/main">
            <a:r>
              <a:t>Disponible en: https://patents.google.com/patent/US20140063180A1/en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20 s.</a:t>
            </a:r>
          </a:p>
          <a:p xmlns:a="http://schemas.openxmlformats.org/drawingml/2006/main">
            <a:r>
              <a:t>Persona 3. Aporte a la metodología VDI: F5 Cantidad · F7 Referencia · F8 Cálculo.</a:t>
            </a:r>
          </a:p>
          <a:p xmlns:a="http://schemas.openxmlformats.org/drawingml/2006/main">
            <a:r>
              <a:t>Integra identificación, pesaje, base de datos, análisis y visualización.</a:t>
            </a:r>
          </a:p>
          <a:p xmlns:a="http://schemas.openxmlformats.org/drawingml/2006/main">
            <a:r>
              <a:t>El dato de masa y el alimento seleccionado determinan el escalamiento.</a:t>
            </a:r>
          </a:p>
          <a:p xmlns:a="http://schemas.openxmlformats.org/drawingml/2006/main">
            <a:r>
              <a:t>Limitación: Sin métricas de reconocimiento ni error de pesaje publicados.</a:t>
            </a:r>
          </a:p>
          <a:p xmlns:a="http://schemas.openxmlformats.org/drawingml/2006/main">
            <a:r>
              <a:t>Figura original del antecedente, conservada desde el repositorio del equipo.</a:t>
            </a:r>
          </a:p>
          <a:p xmlns:a="http://schemas.openxmlformats.org/drawingml/2006/main">
            <a:r>
              <a:t/>
            </a:r>
          </a:p>
          <a:p xmlns:a="http://schemas.openxmlformats.org/drawingml/2006/main">
            <a:r>
              <a:t>[9] Gong WJ, inventora. Electronic scale and method for automatically recognizing food calories. Solicitud de patente CN108871530A. Sichuan Feixun Information Technology Co. Ltd. 23 nov 2018.</a:t>
            </a:r>
          </a:p>
          <a:p xmlns:a="http://schemas.openxmlformats.org/drawingml/2006/main">
            <a:r>
              <a:t>Disponible en: https://patents.google.com/patent/CN108871530A/en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35 s.</a:t>
            </a:r>
          </a:p>
          <a:p xmlns:a="http://schemas.openxmlformats.org/drawingml/2006/main">
            <a:r>
              <a:t>Persona 3. Aporte a la metodología VDI: F5 Cantidad · F8 Cálculo · Validación local.</a:t>
            </a:r>
          </a:p>
          <a:p xmlns:a="http://schemas.openxmlformats.org/drawingml/2006/main">
            <a:r>
              <a:t>Fang estudia modelos geométricos, profundidad, coocurrencia y redes generativas.</a:t>
            </a:r>
          </a:p>
          <a:p xmlns:a="http://schemas.openxmlformats.org/drawingml/2006/main">
            <a:r>
              <a:t>Comprender la relación entre imagen, volumen, masa y energía.</a:t>
            </a:r>
          </a:p>
          <a:p xmlns:a="http://schemas.openxmlformats.org/drawingml/2006/main">
            <a:r>
              <a:t>Limitación: La cifra supone segmentación e identificación correctas. No describe todo el sistema.</a:t>
            </a:r>
          </a:p>
          <a:p xmlns:a="http://schemas.openxmlformats.org/drawingml/2006/main">
            <a:r>
              <a:t>Figura original del antecedente, conservada desde el repositorio del equipo.</a:t>
            </a:r>
          </a:p>
          <a:p xmlns:a="http://schemas.openxmlformats.org/drawingml/2006/main">
            <a:r>
              <a:t/>
            </a:r>
          </a:p>
          <a:p xmlns:a="http://schemas.openxmlformats.org/drawingml/2006/main">
            <a:r>
              <a:t>[10] Fang S. Single view reconstruction for food portion estimation [tesis doctoral]. West Lafayette: Purdue University; 2019. doi:10.25394/PGS.7767125.v1.</a:t>
            </a:r>
          </a:p>
          <a:p xmlns:a="http://schemas.openxmlformats.org/drawingml/2006/main">
            <a:r>
              <a:t>Disponible en: https://hammer.purdue.edu/articles/thesis/SINGLE_VIEW_RECONSTRUCTION_FOR_FOOD_PORTION_ESTIMATION/7767125/1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35 s.</a:t>
            </a:r>
          </a:p>
          <a:p xmlns:a="http://schemas.openxmlformats.org/drawingml/2006/main">
            <a:r>
              <a:t>Persona 4. Aporte a la metodología VDI: F3 Capturar · F6 Corregir · Ergonomía.</a:t>
            </a:r>
          </a:p>
          <a:p xmlns:a="http://schemas.openxmlformats.org/drawingml/2006/main">
            <a:r>
              <a:t>Fotografías y machine learning para simplificar el registro alimentario.</a:t>
            </a:r>
          </a:p>
          <a:p xmlns:a="http://schemas.openxmlformats.org/drawingml/2006/main">
            <a:r>
              <a:t>Adaptar la interacción y el catálogo al usuario local.</a:t>
            </a:r>
          </a:p>
          <a:p xmlns:a="http://schemas.openxmlformats.org/drawingml/2006/main">
            <a:r>
              <a:t>Limitación: La ficha pública no informa precisión en gramos ni exactitud nutricional.</a:t>
            </a:r>
          </a:p>
          <a:p xmlns:a="http://schemas.openxmlformats.org/drawingml/2006/main">
            <a:r>
              <a:t>Figura original del antecedente, conservada desde el repositorio del equipo.</a:t>
            </a:r>
          </a:p>
          <a:p xmlns:a="http://schemas.openxmlformats.org/drawingml/2006/main">
            <a:r>
              <a:t/>
            </a:r>
          </a:p>
          <a:p xmlns:a="http://schemas.openxmlformats.org/drawingml/2006/main">
            <a:r>
              <a:t>[11] Romero De Chorié GE, Tineo Ramón ME, Benavides Santur JD, Guerrero Reyes FA, Rosas Arbildo G. Modelo ProLab: Checkifood, aplicación móvil que ayuda al régimen alimenticio con machine learning [tesis de maestría]. Lima: PUCP; 2024.</a:t>
            </a:r>
          </a:p>
          <a:p xmlns:a="http://schemas.openxmlformats.org/drawingml/2006/main">
            <a:r>
              <a:t>Disponible en: https://hdl.handle.net/20.500.12404/28095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35 s.</a:t>
            </a:r>
          </a:p>
          <a:p xmlns:a="http://schemas.openxmlformats.org/drawingml/2006/main">
            <a:r>
              <a:t>Persona 4. Aporte a la metodología VDI: F5 Cantidad · Exigencia de control de calidad.</a:t>
            </a:r>
          </a:p>
          <a:p xmlns:a="http://schemas.openxmlformats.org/drawingml/2006/main">
            <a:r>
              <a:t>Desayuno, almuerzo, cena y fraccionamientos. Peso servido y consumido.</a:t>
            </a:r>
          </a:p>
          <a:p xmlns:a="http://schemas.openxmlformats.org/drawingml/2006/main">
            <a:r>
              <a:t>Usar cantidades de referencia para evaluar masa y resultados nutricionales.</a:t>
            </a:r>
          </a:p>
          <a:p xmlns:a="http://schemas.openxmlformats.org/drawingml/2006/main">
            <a:r>
              <a:t>Limitación: La muestra de la tesis no reemplaza las 30 porciones que debe validar FoodScan.</a:t>
            </a:r>
          </a:p>
          <a:p xmlns:a="http://schemas.openxmlformats.org/drawingml/2006/main">
            <a:r>
              <a:t>Figura original del antecedente, conservada desde el repositorio del equipo.</a:t>
            </a:r>
          </a:p>
          <a:p xmlns:a="http://schemas.openxmlformats.org/drawingml/2006/main">
            <a:r>
              <a:t/>
            </a:r>
          </a:p>
          <a:p xmlns:a="http://schemas.openxmlformats.org/drawingml/2006/main">
            <a:r>
              <a:t>[12] López Aliaga Pantigoso SC. Evaluación del aporte nutricional del menú del servicio de alimentación para deportistas albergados del IPD y su relación con sus requerimientos nutricionales [tesis de licenciatura]. Lima: UPC; 2019.</a:t>
            </a:r>
          </a:p>
          <a:p xmlns:a="http://schemas.openxmlformats.org/drawingml/2006/main">
            <a:r>
              <a:t>Disponible en: https://hdl.handle.net/10757/625118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45 s.</a:t>
            </a:r>
          </a:p>
          <a:p xmlns:a="http://schemas.openxmlformats.org/drawingml/2006/main">
            <a:r>
              <a:t>Persona 4. Aporte a la metodología VDI: F5 Cantidad · F6 Identidad · F7 Referencia.</a:t>
            </a:r>
          </a:p>
          <a:p xmlns:a="http://schemas.openxmlformats.org/drawingml/2006/main">
            <a:r>
              <a:t>VeSync, hasta 19 nutrientes y aproximadamente un millón de registros.</a:t>
            </a:r>
          </a:p>
          <a:p xmlns:a="http://schemas.openxmlformats.org/drawingml/2006/main">
            <a:r>
              <a:t>Tara, pesaje directo y consulta nutricional en una experiencia integrada.</a:t>
            </a:r>
          </a:p>
          <a:p xmlns:a="http://schemas.openxmlformats.org/drawingml/2006/main">
            <a:r>
              <a:t>Limitación: El usuario debe seleccionar correctamente el alimento. 1 g de incremento no implica ±1 g de exactitud.</a:t>
            </a:r>
          </a:p>
          <a:p xmlns:a="http://schemas.openxmlformats.org/drawingml/2006/main">
            <a:r>
              <a:t>Figura original del antecedente, conservada desde el repositorio del equipo.</a:t>
            </a:r>
          </a:p>
          <a:p xmlns:a="http://schemas.openxmlformats.org/drawingml/2006/main">
            <a:r>
              <a:t/>
            </a:r>
          </a:p>
          <a:p xmlns:a="http://schemas.openxmlformats.org/drawingml/2006/main">
            <a:r>
              <a:t>[13] Etekcity. ESN00 Smart Nutrition Scale [Internet]. [citado 7 oct 2026].</a:t>
            </a:r>
          </a:p>
          <a:p xmlns:a="http://schemas.openxmlformats.org/drawingml/2006/main">
            <a:r>
              <a:t>Disponible en: https://etekcity.com/products/smart-nutrition-scale-esn00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40 s.</a:t>
            </a:r>
          </a:p>
          <a:p xmlns:a="http://schemas.openxmlformats.org/drawingml/2006/main">
            <a:r>
              <a:t>Persona 4. Aporte a la metodología VDI: F3 Capturar · F6 Corregir · F9 Informar.</a:t>
            </a:r>
          </a:p>
          <a:p xmlns:a="http://schemas.openxmlformats.org/drawingml/2006/main">
            <a:r>
              <a:t>Registra comidas y muestra calorías, macronutrientes y avance diario.</a:t>
            </a:r>
          </a:p>
          <a:p xmlns:a="http://schemas.openxmlformats.org/drawingml/2006/main">
            <a:r>
              <a:t>Ofrecer entradas alternativas y permitir ajustar la porción.</a:t>
            </a:r>
          </a:p>
          <a:p xmlns:a="http://schemas.openxmlformats.org/drawingml/2006/main">
            <a:r>
              <a:t>Limitación: La fuente revisada no publica una precisión en gramos para la estimación fotográfica.</a:t>
            </a:r>
          </a:p>
          <a:p xmlns:a="http://schemas.openxmlformats.org/drawingml/2006/main">
            <a:r>
              <a:t>Figura original del antecedente, conservada desde el repositorio del equipo.</a:t>
            </a:r>
          </a:p>
          <a:p xmlns:a="http://schemas.openxmlformats.org/drawingml/2006/main">
            <a:r>
              <a:t/>
            </a:r>
          </a:p>
          <a:p xmlns:a="http://schemas.openxmlformats.org/drawingml/2006/main">
            <a:r>
              <a:t>[14] Fitia. Contador de calorías y dietas con IA [Internet]. [citado 7 oct 2026].</a:t>
            </a:r>
          </a:p>
          <a:p xmlns:a="http://schemas.openxmlformats.org/drawingml/2006/main">
            <a:r>
              <a:t>Disponible en: https://fitia.app/es/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35 s.</a:t>
            </a:r>
          </a:p>
          <a:p xmlns:a="http://schemas.openxmlformats.org/drawingml/2006/main">
            <a:r>
              <a:t>Persona 5. Aporte a la metodología VDI: F6 Revisar · F9 Informar · F10 Guardar.</a:t>
            </a:r>
          </a:p>
          <a:p xmlns:a="http://schemas.openxmlformats.org/drawingml/2006/main">
            <a:r>
              <a:t>Presenta kcal y macros. Incluye voz, tendencias y planificación.</a:t>
            </a:r>
          </a:p>
          <a:p xmlns:a="http://schemas.openxmlformats.org/drawingml/2006/main">
            <a:r>
              <a:t>Reducir el esfuerzo y conservar una revisión antes de guardar.</a:t>
            </a:r>
          </a:p>
          <a:p xmlns:a="http://schemas.openxmlformats.org/drawingml/2006/main">
            <a:r>
              <a:t>Limitación: “5 veces más rápido” y “doble precisión” son declaraciones comerciales sin métricas comparables en esa página.</a:t>
            </a:r>
          </a:p>
          <a:p xmlns:a="http://schemas.openxmlformats.org/drawingml/2006/main">
            <a:r>
              <a:t>Figura original del antecedente, conservada desde el repositorio del equipo.</a:t>
            </a:r>
          </a:p>
          <a:p xmlns:a="http://schemas.openxmlformats.org/drawingml/2006/main">
            <a:r>
              <a:t/>
            </a:r>
          </a:p>
          <a:p xmlns:a="http://schemas.openxmlformats.org/drawingml/2006/main">
            <a:r>
              <a:t>[15] PerceptionLabs Inc. SnapCalorie: AI calorie tracking made simple [Internet]. [citado 7 oct 2026].</a:t>
            </a:r>
          </a:p>
          <a:p xmlns:a="http://schemas.openxmlformats.org/drawingml/2006/main">
            <a:r>
              <a:t>Disponible en: https://www.snapcalorie.com/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5 s.</a:t>
            </a:r>
          </a:p>
          <a:p xmlns:a="http://schemas.openxmlformats.org/drawingml/2006/main">
            <a:r>
              <a:t>Persona 5. Tabla de apoyo visual; no leer fila por fila. La investigación fundamenta funciones y metas verificables.</a:t>
            </a:r>
          </a:p>
          <a:p xmlns:a="http://schemas.openxmlformats.org/drawingml/2006/main">
            <a:r>
              <a:t/>
            </a:r>
          </a:p>
          <a:p xmlns:a="http://schemas.openxmlformats.org/drawingml/2006/main">
            <a:r>
              <a:t>[1] Fang S, Zhu F, Jiang C, Zhang S, Boushey CJ, Delp EJ. A comparison of food portion size estimation using geometric models and depth images. En: IEEE ICIP. 2016. p. 26-30. doi:10.1109/ICIP.2016.7532312.</a:t>
            </a:r>
          </a:p>
          <a:p xmlns:a="http://schemas.openxmlformats.org/drawingml/2006/main">
            <a:r>
              <a:t>Disponible en: https://pmc.ncbi.nlm.nih.gov/articles/PMC6226035/</a:t>
            </a:r>
          </a:p>
          <a:p xmlns:a="http://schemas.openxmlformats.org/drawingml/2006/main">
            <a:r>
              <a:t/>
            </a:r>
          </a:p>
          <a:p xmlns:a="http://schemas.openxmlformats.org/drawingml/2006/main">
            <a:r>
              <a:t>[2] Konstantakopoulos FS, Georga EI, Fotiadis DI. A novel approach to estimate the weight of food items based on features extracted from an image using boosting algorithms. Sci Rep. 2023;13:21040. doi:10.1038/s41598-023-47885-0.</a:t>
            </a:r>
          </a:p>
          <a:p xmlns:a="http://schemas.openxmlformats.org/drawingml/2006/main">
            <a:r>
              <a:t>Disponible en: https://www.nature.com/articles/s41598-023-47885-0</a:t>
            </a:r>
          </a:p>
          <a:p xmlns:a="http://schemas.openxmlformats.org/drawingml/2006/main">
            <a:r>
              <a:t/>
            </a:r>
          </a:p>
          <a:p xmlns:a="http://schemas.openxmlformats.org/drawingml/2006/main">
            <a:r>
              <a:t>[3] Dalakleidi KV, Papadelli M, Kapolos I, Papadimitriou K. Applying image-based food-recognition systems on dietary assessment: a systematic review. Adv Nutr. 2022;13(6):2590-2619. doi:10.1093/advances/nmac078.</a:t>
            </a:r>
          </a:p>
          <a:p xmlns:a="http://schemas.openxmlformats.org/drawingml/2006/main">
            <a:r>
              <a:t>Disponible en: https://pmc.ncbi.nlm.nih.gov/articles/PMC9776640/</a:t>
            </a:r>
          </a:p>
          <a:p xmlns:a="http://schemas.openxmlformats.org/drawingml/2006/main">
            <a:r>
              <a:t/>
            </a:r>
          </a:p>
          <a:p xmlns:a="http://schemas.openxmlformats.org/drawingml/2006/main">
            <a:r>
              <a:t>[4] Wan J, inventora. Calculating instrument for nutrients such as calorie and protein. Solicitud de patente CN114360689A. 15 abr 2022.</a:t>
            </a:r>
          </a:p>
          <a:p xmlns:a="http://schemas.openxmlformats.org/drawingml/2006/main">
            <a:r>
              <a:t>Disponible en: https://patents.google.com/patent/CN114360689A/en</a:t>
            </a:r>
          </a:p>
          <a:p xmlns:a="http://schemas.openxmlformats.org/drawingml/2006/main">
            <a:r>
              <a:t/>
            </a:r>
          </a:p>
          <a:p xmlns:a="http://schemas.openxmlformats.org/drawingml/2006/main">
            <a:r>
              <a:t>[5] Tkach A, inventor. Methods, system and apparatus to improve motivation and control when taking meals and to automate the process of monitoring nutrition. Patente US10292511B2. 21 may 2019.</a:t>
            </a:r>
          </a:p>
          <a:p xmlns:a="http://schemas.openxmlformats.org/drawingml/2006/main">
            <a:r>
              <a:t>Disponible en: https://patents.google.com/patent/US10292511B2/en</a:t>
            </a:r>
          </a:p>
          <a:p xmlns:a="http://schemas.openxmlformats.org/drawingml/2006/main">
            <a:r>
              <a:t/>
            </a:r>
          </a:p>
          <a:p xmlns:a="http://schemas.openxmlformats.org/drawingml/2006/main">
            <a:r>
              <a:t>[6] Kourtesis G, inventor. Method and system for planning and monitoring calorie consumption. Solicitud internacional WO2014008555A1. 16 ene 2014.</a:t>
            </a:r>
          </a:p>
          <a:p xmlns:a="http://schemas.openxmlformats.org/drawingml/2006/main">
            <a:r>
              <a:t>Disponible en: https://patents.google.com/patent/WO2014008555A1/en</a:t>
            </a:r>
          </a:p>
          <a:p xmlns:a="http://schemas.openxmlformats.org/drawingml/2006/main">
            <a:r>
              <a:t/>
            </a:r>
          </a:p>
          <a:p xmlns:a="http://schemas.openxmlformats.org/drawingml/2006/main">
            <a:r>
              <a:t>[10] Fang S. Single view reconstruction for food portion estimation [tesis doctoral]. West Lafayette: Purdue University; 2019. doi:10.25394/PGS.7767125.v1.</a:t>
            </a:r>
          </a:p>
          <a:p xmlns:a="http://schemas.openxmlformats.org/drawingml/2006/main">
            <a:r>
              <a:t>Disponible en: https://hammer.purdue.edu/articles/thesis/SINGLE_VIEW_RECONSTRUCTION_FOR_FOOD_PORTION_ESTIMATION/7767125/1</a:t>
            </a:r>
          </a:p>
          <a:p xmlns:a="http://schemas.openxmlformats.org/drawingml/2006/main">
            <a:r>
              <a:t/>
            </a:r>
          </a:p>
          <a:p xmlns:a="http://schemas.openxmlformats.org/drawingml/2006/main">
            <a:r>
              <a:t>[11] Romero De Chorié GE, Tineo Ramón ME, Benavides Santur JD, Guerrero Reyes FA, Rosas Arbildo G. Modelo ProLab: Checkifood, aplicación móvil que ayuda al régimen alimenticio con machine learning [tesis de maestría]. Lima: PUCP; 2024.</a:t>
            </a:r>
          </a:p>
          <a:p xmlns:a="http://schemas.openxmlformats.org/drawingml/2006/main">
            <a:r>
              <a:t>Disponible en: https://hdl.handle.net/20.500.12404/28095</a:t>
            </a:r>
          </a:p>
          <a:p xmlns:a="http://schemas.openxmlformats.org/drawingml/2006/main">
            <a:r>
              <a:t/>
            </a:r>
          </a:p>
          <a:p xmlns:a="http://schemas.openxmlformats.org/drawingml/2006/main">
            <a:r>
              <a:t>[12] López Aliaga Pantigoso SC. Evaluación del aporte nutricional del menú del servicio de alimentación para deportistas albergados del IPD y su relación con sus requerimientos nutricionales [tesis de licenciatura]. Lima: UPC; 2019.</a:t>
            </a:r>
          </a:p>
          <a:p xmlns:a="http://schemas.openxmlformats.org/drawingml/2006/main">
            <a:r>
              <a:t>Disponible en: https://hdl.handle.net/10757/625118</a:t>
            </a:r>
          </a:p>
          <a:p xmlns:a="http://schemas.openxmlformats.org/drawingml/2006/main">
            <a:r>
              <a:t/>
            </a:r>
          </a:p>
          <a:p xmlns:a="http://schemas.openxmlformats.org/drawingml/2006/main">
            <a:r>
              <a:t>[13] Etekcity. ESN00 Smart Nutrition Scale [Internet]. [citado 7 oct 2026].</a:t>
            </a:r>
          </a:p>
          <a:p xmlns:a="http://schemas.openxmlformats.org/drawingml/2006/main">
            <a:r>
              <a:t>Disponible en: https://etekcity.com/products/smart-nutrition-scale-esn00</a:t>
            </a:r>
          </a:p>
          <a:p xmlns:a="http://schemas.openxmlformats.org/drawingml/2006/main">
            <a:r>
              <a:t/>
            </a:r>
          </a:p>
          <a:p xmlns:a="http://schemas.openxmlformats.org/drawingml/2006/main">
            <a:r>
              <a:t>[14] Fitia. Contador de calorías y dietas con IA [Internet]. [citado 7 oct 2026].</a:t>
            </a:r>
          </a:p>
          <a:p xmlns:a="http://schemas.openxmlformats.org/drawingml/2006/main">
            <a:r>
              <a:t>Disponible en: https://fitia.app/es/</a:t>
            </a:r>
          </a:p>
          <a:p xmlns:a="http://schemas.openxmlformats.org/drawingml/2006/main">
            <a:r>
              <a:t/>
            </a:r>
          </a:p>
          <a:p xmlns:a="http://schemas.openxmlformats.org/drawingml/2006/main">
            <a:r>
              <a:t>[15] PerceptionLabs Inc. SnapCalorie: AI calorie tracking made simple [Internet]. [citado 7 oct 2026].</a:t>
            </a:r>
          </a:p>
          <a:p xmlns:a="http://schemas.openxmlformats.org/drawingml/2006/main">
            <a:r>
              <a:t>Disponible en: https://www.snapcalorie.com/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30 s.</a:t>
            </a:r>
          </a:p>
          <a:p xmlns:a="http://schemas.openxmlformats.org/drawingml/2006/main">
            <a:r>
              <a:t>LE13 y LE20 son objetivos de validación, no resultados experimentales. LE25 proviene de la lista corregida del Taller 7. La app admite actualmente 10-3000 g; el alcance original de LE21 es 3-5000 g y debe armonizarse.</a:t>
            </a:r>
          </a:p>
          <a:p xmlns:a="http://schemas.openxmlformats.org/drawingml/2006/main">
            <a:r>
              <a:t/>
            </a:r>
          </a:p>
          <a:p xmlns:a="http://schemas.openxmlformats.org/drawingml/2006/main">
            <a:r>
              <a:t>[24] Equipo 10. Lista de exigencias, informe del Taller 7, componentes y documentación del aplicativo FoodScan. Fundamentos de Diseño, UPCH. Documentos internos. 2026.</a:t>
            </a:r>
          </a:p>
          <a:p xmlns:a="http://schemas.openxmlformats.org/drawingml/2006/main">
            <a:r>
              <a:t>Disponible en: https://github.com/Mao-dot/Fdd_Equipo_10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20 s.</a:t>
            </a:r>
          </a:p>
          <a:p xmlns:a="http://schemas.openxmlformats.org/drawingml/2006/main">
            <a:r>
              <a:t>El alimento permanece físicamente igual. La electricidad permite la adquisición y el procesamiento y termina en consumo y calor disipado. Las kcal representan energía nutricional calculada, no energía eléctrica. La caja es el sistema objetivo y la app constituye el avance.</a:t>
            </a:r>
          </a:p>
          <a:p xmlns:a="http://schemas.openxmlformats.org/drawingml/2006/main">
            <a:r>
              <a:t/>
            </a:r>
          </a:p>
          <a:p xmlns:a="http://schemas.openxmlformats.org/drawingml/2006/main">
            <a:r>
              <a:t>[24] Equipo 10. Lista de exigencias, informe del Taller 7, componentes y documentación del aplicativo FoodScan. Fundamentos de Diseño, UPCH. Documentos internos. 2026.</a:t>
            </a:r>
          </a:p>
          <a:p xmlns:a="http://schemas.openxmlformats.org/drawingml/2006/main">
            <a:r>
              <a:t>Disponible en: https://github.com/Mao-dot/Fdd_Equipo_10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20 s.</a:t>
            </a:r>
          </a:p>
          <a:p xmlns:a="http://schemas.openxmlformats.org/drawingml/2006/main">
            <a:r>
              <a:t>Secuencia actual: abrir Escanear mi plato, tomar foto o elegir imagen, tarar/pesar externamente e ingresar peso neto. Pulsar Analizar mi plato. La preparación opcional ayuda a identificar referencias. Nunca se solicita pesar cada ingrediente por separado. La ilustración de la balanza es conceptual y no identifica el modelo usado en el parcial.</a:t>
            </a:r>
          </a:p>
          <a:p xmlns:a="http://schemas.openxmlformats.org/drawingml/2006/main">
            <a:r>
              <a:t/>
            </a:r>
          </a:p>
          <a:p xmlns:a="http://schemas.openxmlformats.org/drawingml/2006/main">
            <a:r>
              <a:t>[24] Equipo 10. Lista de exigencias, informe del Taller 7, componentes y documentación del aplicativo FoodScan. Fundamentos de Diseño, UPCH. Documentos internos. 2026.</a:t>
            </a:r>
          </a:p>
          <a:p xmlns:a="http://schemas.openxmlformats.org/drawingml/2006/main">
            <a:r>
              <a:t>Disponible en: https://github.com/Mao-dot/Fdd_Equipo_10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20 s.</a:t>
            </a:r>
          </a:p>
          <a:p xmlns:a="http://schemas.openxmlformats.org/drawingml/2006/main">
            <a:r>
              <a:t>La respuesta de Gemini aporta identidades y proporciones, no nutrientes. La app normaliza a la masa total, consulta TPCA y calcula. El usuario cambia referencias, añade o quita alimentos y mueve porciones; la app redistribuye conservando el total. Guardar mi plato registra localmente y aparece en Mi día e Historial. Capturas reales del modo Ejemplo, usadas para explicar la interfaz, no como ensayo de reconocimiento. La meta de tiempo/acciones sigue pendiente de medición.</a:t>
            </a:r>
          </a:p>
          <a:p xmlns:a="http://schemas.openxmlformats.org/drawingml/2006/main">
            <a:r>
              <a:t/>
            </a:r>
          </a:p>
          <a:p xmlns:a="http://schemas.openxmlformats.org/drawingml/2006/main">
            <a:r>
              <a:t>[24] Equipo 10. Lista de exigencias, informe del Taller 7, componentes y documentación del aplicativo FoodScan. Fundamentos de Diseño, UPCH. Documentos internos. 2026.</a:t>
            </a:r>
          </a:p>
          <a:p xmlns:a="http://schemas.openxmlformats.org/drawingml/2006/main">
            <a:r>
              <a:t>Disponible en: https://github.com/Mao-dot/Fdd_Equipo_10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20 s.</a:t>
            </a:r>
          </a:p>
          <a:p xmlns:a="http://schemas.openxmlformats.org/drawingml/2006/main">
            <a:r>
              <a:t>F1-F4 habilitan el sistema y adquieren/transmiten entradas. F5 determina cantidad. F6 confirma identidad y reparto. F7 entrega una referencia con fuente y edición. F8 escala valores. F9 informa. F10 guarda tras confirmar. F11 sostiene y facilita limpieza. En el avance B, el usuario incorpora manualmente el peso de la balanza externa.</a:t>
            </a:r>
          </a:p>
          <a:p xmlns:a="http://schemas.openxmlformats.org/drawingml/2006/main">
            <a:r>
              <a:t/>
            </a:r>
          </a:p>
          <a:p xmlns:a="http://schemas.openxmlformats.org/drawingml/2006/main">
            <a:r>
              <a:t>[24] Equipo 10. Lista de exigencias, informe del Taller 7, componentes y documentación del aplicativo FoodScan. Fundamentos de Diseño, UPCH. Documentos internos. 2026.</a:t>
            </a:r>
          </a:p>
          <a:p xmlns:a="http://schemas.openxmlformats.org/drawingml/2006/main">
            <a:r>
              <a:t>Disponible en: https://github.com/Mao-dot/Fdd_Equipo_10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20 s.</a:t>
            </a:r>
          </a:p>
          <a:p xmlns:a="http://schemas.openxmlformats.org/drawingml/2006/main">
            <a:r>
              <a:t>Propuesta de matriz morfológica elaborada para este parcial. No representa una matriz preexistente del Taller 3. Cada columna es un camino compatible. A: app con estimación visual total. B: foto y peso externo ingresado, avance actual. C: caja con cámara, celda y comunicación integradas, diseño objetivo. Ruta C: enlace físico y adaptación a la app pendientes. El reconocimiento actual usa Internet.</a:t>
            </a:r>
          </a:p>
          <a:p xmlns:a="http://schemas.openxmlformats.org/drawingml/2006/main">
            <a:r>
              <a:t>Para F6-F10 se conserva la arquitectura implementada de Gemini, TPCA 2017 e historial local. No se utiliza la propuesta anterior SigLIP/SQLite.</a:t>
            </a:r>
          </a:p>
          <a:p xmlns:a="http://schemas.openxmlformats.org/drawingml/2006/main">
            <a:r>
              <a:t/>
            </a:r>
          </a:p>
          <a:p xmlns:a="http://schemas.openxmlformats.org/drawingml/2006/main">
            <a:r>
              <a:t>[16] Reyes García M, Gómez-Sánchez Prieto I, Espinoza Barrientos C. Tablas peruanas de composición de alimentos. 10.ª ed. Lima: Instituto Nacional de Salud; 2017. Impresión 2018. Archivo proporcionado al equipo: Tablas-peruanas.pdf.</a:t>
            </a:r>
          </a:p>
          <a:p xmlns:a="http://schemas.openxmlformats.org/drawingml/2006/main">
            <a:r>
              <a:t>Disponible en: https://repositorio.ins.gob.pe/</a:t>
            </a:r>
          </a:p>
          <a:p xmlns:a="http://schemas.openxmlformats.org/drawingml/2006/main">
            <a:r>
              <a:t/>
            </a:r>
          </a:p>
          <a:p xmlns:a="http://schemas.openxmlformats.org/drawingml/2006/main">
            <a:r>
              <a:t>[17] Stacktronics Perú. ESP32-CAM con cámara OV2640</a:t>
            </a:r>
          </a:p>
          <a:p xmlns:a="http://schemas.openxmlformats.org/drawingml/2006/main">
            <a:r>
              <a:t>2 MP y base programadora [Internet]. [citado 7 oct 2026].</a:t>
            </a:r>
          </a:p>
          <a:p xmlns:a="http://schemas.openxmlformats.org/drawingml/2006/main">
            <a:r>
              <a:t>Disponible en: https://stacktronics.com/producto/esp32-cam-modulo-wifi-bluetooth-con-camara-ov2640-2mp-y-base-programadora/</a:t>
            </a:r>
          </a:p>
          <a:p xmlns:a="http://schemas.openxmlformats.org/drawingml/2006/main">
            <a:r>
              <a:t/>
            </a:r>
          </a:p>
          <a:p xmlns:a="http://schemas.openxmlformats.org/drawingml/2006/main">
            <a:r>
              <a:t>[18] Naylamp Mechatronics. Celda de carga 5 kg, SKU 000155 [Internet]. [citado 7 oct 2026].</a:t>
            </a:r>
          </a:p>
          <a:p xmlns:a="http://schemas.openxmlformats.org/drawingml/2006/main">
            <a:r>
              <a:t>Disponible en: https://naylampmechatronics.com/sensores/155-celda-de-carga-5kg.html</a:t>
            </a:r>
          </a:p>
          <a:p xmlns:a="http://schemas.openxmlformats.org/drawingml/2006/main">
            <a:r>
              <a:t/>
            </a:r>
          </a:p>
          <a:p xmlns:a="http://schemas.openxmlformats.org/drawingml/2006/main">
            <a:r>
              <a:t>[19] Naylamp Mechatronics. Módulo HX711 transmisor de celda de carga, SKU 000147 [Internet]. [citado 7 oct 2026].</a:t>
            </a:r>
          </a:p>
          <a:p xmlns:a="http://schemas.openxmlformats.org/drawingml/2006/main">
            <a:r>
              <a:t>Disponible en: https://naylampmechatronics.com/fuerza-peso/147-modulo-hx711-transmisor-de-celda-de-carga.html</a:t>
            </a:r>
          </a:p>
          <a:p xmlns:a="http://schemas.openxmlformats.org/drawingml/2006/main">
            <a:r>
              <a:t/>
            </a:r>
          </a:p>
          <a:p xmlns:a="http://schemas.openxmlformats.org/drawingml/2006/main">
            <a:r>
              <a:t>[20] Naylamp Mechatronics. Adaptador WODE WA-12-5, 5 V, 2.4 A [Internet]. [citado 7 oct 2026].</a:t>
            </a:r>
          </a:p>
          <a:p xmlns:a="http://schemas.openxmlformats.org/drawingml/2006/main">
            <a:r>
              <a:t>Disponible en: https://naylampmechatronics.com/fuentes-1a-2a/1461-fuente-de-alimentacion-acdc-12w-5v-2a-wode-adaptador.html</a:t>
            </a:r>
          </a:p>
          <a:p xmlns:a="http://schemas.openxmlformats.org/drawingml/2006/main">
            <a:r>
              <a:t/>
            </a:r>
          </a:p>
          <a:p xmlns:a="http://schemas.openxmlformats.org/drawingml/2006/main">
            <a:r>
              <a:t>[24] Equipo 10. Lista de exigencias, informe del Taller 7, componentes y documentación del aplicativo FoodScan. Fundamentos de Diseño, UPCH. Documentos internos. 2026.</a:t>
            </a:r>
          </a:p>
          <a:p xmlns:a="http://schemas.openxmlformats.org/drawingml/2006/main">
            <a:r>
              <a:t>Disponible en: https://github.com/Mao-dot/Fdd_Equipo_10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20 s.</a:t>
            </a:r>
          </a:p>
          <a:p xmlns:a="http://schemas.openxmlformats.org/drawingml/2006/main">
            <a:r>
              <a:t>Propuesta de matriz morfológica elaborada para este parcial. No representa una matriz preexistente del Taller 3. Cada columna es un camino compatible. A: app con estimación visual total. B: foto y peso externo ingresado, avance actual. C: caja con cámara, celda y comunicación integradas, diseño objetivo. A es una alternativa conceptual pendiente. B funciona con peso ingresado. C recibirá el peso del hardware.</a:t>
            </a:r>
          </a:p>
          <a:p xmlns:a="http://schemas.openxmlformats.org/drawingml/2006/main">
            <a:r>
              <a:t>Para F6-F10 se conserva la arquitectura implementada de Gemini, TPCA 2017 e historial local. No se utiliza la propuesta anterior SigLIP/SQLite.</a:t>
            </a:r>
          </a:p>
          <a:p xmlns:a="http://schemas.openxmlformats.org/drawingml/2006/main">
            <a:r>
              <a:t/>
            </a:r>
          </a:p>
          <a:p xmlns:a="http://schemas.openxmlformats.org/drawingml/2006/main">
            <a:r>
              <a:t>[16] Reyes García M, Gómez-Sánchez Prieto I, Espinoza Barrientos C. Tablas peruanas de composición de alimentos. 10.ª ed. Lima: Instituto Nacional de Salud; 2017. Impresión 2018. Archivo proporcionado al equipo: Tablas-peruanas.pdf.</a:t>
            </a:r>
          </a:p>
          <a:p xmlns:a="http://schemas.openxmlformats.org/drawingml/2006/main">
            <a:r>
              <a:t>Disponible en: https://repositorio.ins.gob.pe/</a:t>
            </a:r>
          </a:p>
          <a:p xmlns:a="http://schemas.openxmlformats.org/drawingml/2006/main">
            <a:r>
              <a:t/>
            </a:r>
          </a:p>
          <a:p xmlns:a="http://schemas.openxmlformats.org/drawingml/2006/main">
            <a:r>
              <a:t>[17] Stacktronics Perú. ESP32-CAM con cámara OV2640</a:t>
            </a:r>
          </a:p>
          <a:p xmlns:a="http://schemas.openxmlformats.org/drawingml/2006/main">
            <a:r>
              <a:t>2 MP y base programadora [Internet]. [citado 7 oct 2026].</a:t>
            </a:r>
          </a:p>
          <a:p xmlns:a="http://schemas.openxmlformats.org/drawingml/2006/main">
            <a:r>
              <a:t>Disponible en: https://stacktronics.com/producto/esp32-cam-modulo-wifi-bluetooth-con-camara-ov2640-2mp-y-base-programadora/</a:t>
            </a:r>
          </a:p>
          <a:p xmlns:a="http://schemas.openxmlformats.org/drawingml/2006/main">
            <a:r>
              <a:t/>
            </a:r>
          </a:p>
          <a:p xmlns:a="http://schemas.openxmlformats.org/drawingml/2006/main">
            <a:r>
              <a:t>[18] Naylamp Mechatronics. Celda de carga 5 kg, SKU 000155 [Internet]. [citado 7 oct 2026].</a:t>
            </a:r>
          </a:p>
          <a:p xmlns:a="http://schemas.openxmlformats.org/drawingml/2006/main">
            <a:r>
              <a:t>Disponible en: https://naylampmechatronics.com/sensores/155-celda-de-carga-5kg.html</a:t>
            </a:r>
          </a:p>
          <a:p xmlns:a="http://schemas.openxmlformats.org/drawingml/2006/main">
            <a:r>
              <a:t/>
            </a:r>
          </a:p>
          <a:p xmlns:a="http://schemas.openxmlformats.org/drawingml/2006/main">
            <a:r>
              <a:t>[19] Naylamp Mechatronics. Módulo HX711 transmisor de celda de carga, SKU 000147 [Internet]. [citado 7 oct 2026].</a:t>
            </a:r>
          </a:p>
          <a:p xmlns:a="http://schemas.openxmlformats.org/drawingml/2006/main">
            <a:r>
              <a:t>Disponible en: https://naylampmechatronics.com/fuerza-peso/147-modulo-hx711-transmisor-de-celda-de-carga.html</a:t>
            </a:r>
          </a:p>
          <a:p xmlns:a="http://schemas.openxmlformats.org/drawingml/2006/main">
            <a:r>
              <a:t/>
            </a:r>
          </a:p>
          <a:p xmlns:a="http://schemas.openxmlformats.org/drawingml/2006/main">
            <a:r>
              <a:t>[20] Naylamp Mechatronics. Adaptador WODE WA-12-5, 5 V, 2.4 A [Internet]. [citado 7 oct 2026].</a:t>
            </a:r>
          </a:p>
          <a:p xmlns:a="http://schemas.openxmlformats.org/drawingml/2006/main">
            <a:r>
              <a:t>Disponible en: https://naylampmechatronics.com/fuentes-1a-2a/1461-fuente-de-alimentacion-acdc-12w-5v-2a-wode-adaptador.html</a:t>
            </a:r>
          </a:p>
          <a:p xmlns:a="http://schemas.openxmlformats.org/drawingml/2006/main">
            <a:r>
              <a:t/>
            </a:r>
          </a:p>
          <a:p xmlns:a="http://schemas.openxmlformats.org/drawingml/2006/main">
            <a:r>
              <a:t>[24] Equipo 10. Lista de exigencias, informe del Taller 7, componentes y documentación del aplicativo FoodScan. Fundamentos de Diseño, UPCH. Documentos internos. 2026.</a:t>
            </a:r>
          </a:p>
          <a:p xmlns:a="http://schemas.openxmlformats.org/drawingml/2006/main">
            <a:r>
              <a:t>Disponible en: https://github.com/Mao-dot/Fdd_Equipo_10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15 s.</a:t>
            </a:r>
          </a:p>
          <a:p xmlns:a="http://schemas.openxmlformats.org/drawingml/2006/main">
            <a:r>
              <a:t>Propuesta de matriz morfológica elaborada para este parcial. No representa una matriz preexistente del Taller 3. Cada columna es un camino compatible. A: app con estimación visual total. B: foto y peso externo ingresado, avance actual. C: caja con cámara, celda y comunicación integradas, diseño objetivo. A: visual. B: avance actual. C: caja integrada seleccionada como objetivo de diseño.</a:t>
            </a:r>
          </a:p>
          <a:p xmlns:a="http://schemas.openxmlformats.org/drawingml/2006/main">
            <a:r>
              <a:t>Para F6-F10 se conserva la arquitectura implementada de Gemini, TPCA 2017 e historial local. No se utiliza la propuesta anterior SigLIP/SQLite.</a:t>
            </a:r>
          </a:p>
          <a:p xmlns:a="http://schemas.openxmlformats.org/drawingml/2006/main">
            <a:r>
              <a:t/>
            </a:r>
          </a:p>
          <a:p xmlns:a="http://schemas.openxmlformats.org/drawingml/2006/main">
            <a:r>
              <a:t>[16] Reyes García M, Gómez-Sánchez Prieto I, Espinoza Barrientos C. Tablas peruanas de composición de alimentos. 10.ª ed. Lima: Instituto Nacional de Salud; 2017. Impresión 2018. Archivo proporcionado al equipo: Tablas-peruanas.pdf.</a:t>
            </a:r>
          </a:p>
          <a:p xmlns:a="http://schemas.openxmlformats.org/drawingml/2006/main">
            <a:r>
              <a:t>Disponible en: https://repositorio.ins.gob.pe/</a:t>
            </a:r>
          </a:p>
          <a:p xmlns:a="http://schemas.openxmlformats.org/drawingml/2006/main">
            <a:r>
              <a:t/>
            </a:r>
          </a:p>
          <a:p xmlns:a="http://schemas.openxmlformats.org/drawingml/2006/main">
            <a:r>
              <a:t>[17] Stacktronics Perú. ESP32-CAM con cámara OV2640</a:t>
            </a:r>
          </a:p>
          <a:p xmlns:a="http://schemas.openxmlformats.org/drawingml/2006/main">
            <a:r>
              <a:t>2 MP y base programadora [Internet]. [citado 7 oct 2026].</a:t>
            </a:r>
          </a:p>
          <a:p xmlns:a="http://schemas.openxmlformats.org/drawingml/2006/main">
            <a:r>
              <a:t>Disponible en: https://stacktronics.com/producto/esp32-cam-modulo-wifi-bluetooth-con-camara-ov2640-2mp-y-base-programadora/</a:t>
            </a:r>
          </a:p>
          <a:p xmlns:a="http://schemas.openxmlformats.org/drawingml/2006/main">
            <a:r>
              <a:t/>
            </a:r>
          </a:p>
          <a:p xmlns:a="http://schemas.openxmlformats.org/drawingml/2006/main">
            <a:r>
              <a:t>[18] Naylamp Mechatronics. Celda de carga 5 kg, SKU 000155 [Internet]. [citado 7 oct 2026].</a:t>
            </a:r>
          </a:p>
          <a:p xmlns:a="http://schemas.openxmlformats.org/drawingml/2006/main">
            <a:r>
              <a:t>Disponible en: https://naylampmechatronics.com/sensores/155-celda-de-carga-5kg.html</a:t>
            </a:r>
          </a:p>
          <a:p xmlns:a="http://schemas.openxmlformats.org/drawingml/2006/main">
            <a:r>
              <a:t/>
            </a:r>
          </a:p>
          <a:p xmlns:a="http://schemas.openxmlformats.org/drawingml/2006/main">
            <a:r>
              <a:t>[19] Naylamp Mechatronics. Módulo HX711 transmisor de celda de carga, SKU 000147 [Internet]. [citado 7 oct 2026].</a:t>
            </a:r>
          </a:p>
          <a:p xmlns:a="http://schemas.openxmlformats.org/drawingml/2006/main">
            <a:r>
              <a:t>Disponible en: https://naylampmechatronics.com/fuerza-peso/147-modulo-hx711-transmisor-de-celda-de-carga.html</a:t>
            </a:r>
          </a:p>
          <a:p xmlns:a="http://schemas.openxmlformats.org/drawingml/2006/main">
            <a:r>
              <a:t/>
            </a:r>
          </a:p>
          <a:p xmlns:a="http://schemas.openxmlformats.org/drawingml/2006/main">
            <a:r>
              <a:t>[20] Naylamp Mechatronics. Adaptador WODE WA-12-5, 5 V, 2.4 A [Internet]. [citado 7 oct 2026].</a:t>
            </a:r>
          </a:p>
          <a:p xmlns:a="http://schemas.openxmlformats.org/drawingml/2006/main">
            <a:r>
              <a:t>Disponible en: https://naylampmechatronics.com/fuentes-1a-2a/1461-fuente-de-alimentacion-acdc-12w-5v-2a-wode-adaptador.html</a:t>
            </a:r>
          </a:p>
          <a:p xmlns:a="http://schemas.openxmlformats.org/drawingml/2006/main">
            <a:r>
              <a:t/>
            </a:r>
          </a:p>
          <a:p xmlns:a="http://schemas.openxmlformats.org/drawingml/2006/main">
            <a:r>
              <a:t>[24] Equipo 10. Lista de exigencias, informe del Taller 7, componentes y documentación del aplicativo FoodScan. Fundamentos de Diseño, UPCH. Documentos internos. 2026.</a:t>
            </a:r>
          </a:p>
          <a:p xmlns:a="http://schemas.openxmlformats.org/drawingml/2006/main">
            <a:r>
              <a:t>Disponible en: https://github.com/Mao-dot/Fdd_Equipo_10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20 s.</a:t>
            </a:r>
          </a:p>
          <a:p xmlns:a="http://schemas.openxmlformats.org/drawingml/2006/main">
            <a:r>
              <a:t>Bocetos conceptuales generados con la herramienta integrada de imágenes. No son fotografías de un prototipo construido. Detalles exactos de montaje y conexiones en las diapositivas de componentes y anexo. A usa únicamente visión y debe desarrollarse/validarse. B es la app implementada con balanza externa. C mantiene cámara superior, iluminación, celda de barra de 5 kg, HX711, detector de puerta, fuente externa y pantalla del celular. En la celda real, un extremo se fija a la base y el otro a la plataforma.</a:t>
            </a:r>
          </a:p>
          <a:p xmlns:a="http://schemas.openxmlformats.org/drawingml/2006/main">
            <a:r>
              <a:t/>
            </a:r>
          </a:p>
          <a:p xmlns:a="http://schemas.openxmlformats.org/drawingml/2006/main">
            <a:r>
              <a:t>[24] Equipo 10. Lista de exigencias, informe del Taller 7, componentes y documentación del aplicativo FoodScan. Fundamentos de Diseño, UPCH. Documentos internos. 2026.</a:t>
            </a:r>
          </a:p>
          <a:p xmlns:a="http://schemas.openxmlformats.org/drawingml/2006/main">
            <a:r>
              <a:t>Disponible en: https://github.com/Mao-dot/Fdd_Equipo_10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25 s.</a:t>
            </a:r>
          </a:p>
          <a:p xmlns:a="http://schemas.openxmlformats.org/drawingml/2006/main">
            <a:r>
              <a:t>Evaluación preliminar de arquitectura, sin pesos. Son juicios de diseño y no resultados de ensayos. A es la referencia y por definición obtiene cero. B obtiene una ventaja por medición directa de la masa y una desventaja por transportar una balanza adicional, neto 0. C obtiene cuatro ventajas (masa, iluminación, encuadre e ingreso automático) y tres desventajas (transporte, costo y fabricación), neto +1. Se selecciona C como objetivo por integración y control de captura. B se conserva como etapa viable del parcial. La resolución y exactitud de la celda deben comprobarse al construir.</a:t>
            </a:r>
          </a:p>
          <a:p xmlns:a="http://schemas.openxmlformats.org/drawingml/2006/main">
            <a:r>
              <a:t>Masa total medida directamente: B +, C +. B: balanza externa. C: celda calibrada prevista.</a:t>
            </a:r>
          </a:p>
          <a:p xmlns:a="http://schemas.openxmlformats.org/drawingml/2006/main">
            <a:r>
              <a:t>Iluminación controlada: B 0, C +. C: 12 LED blancos en una caja cerrada.</a:t>
            </a:r>
          </a:p>
          <a:p xmlns:a="http://schemas.openxmlformats.org/drawingml/2006/main">
            <a:r>
              <a:t>Encuadre fijo de la cámara: B 0, C +. C: cámara superior con soporte definido.</a:t>
            </a:r>
          </a:p>
          <a:p xmlns:a="http://schemas.openxmlformats.org/drawingml/2006/main">
            <a:r>
              <a:t>Ingreso automático de masa y foto: B 0, C +. C: enlace Wi-Fi propuesto. B: ingreso manual.</a:t>
            </a:r>
          </a:p>
          <a:p xmlns:a="http://schemas.openxmlformats.org/drawingml/2006/main">
            <a:r>
              <a:t>Corrección y datos trazables: B 0, C 0. Los tres conceptos usan la misma app y TPCA.</a:t>
            </a:r>
          </a:p>
          <a:p xmlns:a="http://schemas.openxmlformats.org/drawingml/2006/main">
            <a:r>
              <a:t>Recipiente lavable: B 0, C 0. Los tres conservan un recipiente lavable.</a:t>
            </a:r>
          </a:p>
          <a:p xmlns:a="http://schemas.openxmlformats.org/drawingml/2006/main">
            <a:r>
              <a:t>Facilidad de transporte: B −, C −. B añade balanza. C añade una caja.</a:t>
            </a:r>
          </a:p>
          <a:p xmlns:a="http://schemas.openxmlformats.org/drawingml/2006/main">
            <a:r>
              <a:t>Costo con recursos disponibles: B 0, C −. B aprovecha la balanza del parcial. C: reserva S/ 410.</a:t>
            </a:r>
          </a:p>
          <a:p xmlns:a="http://schemas.openxmlformats.org/drawingml/2006/main">
            <a:r>
              <a:t>Esfuerzo de fabricación: B 0, C −. C requiere montar y calibrar electrónica y estructura.</a:t>
            </a:r>
          </a:p>
          <a:p xmlns:a="http://schemas.openxmlformats.org/drawingml/2006/main">
            <a:r>
              <a:t/>
            </a:r>
          </a:p>
          <a:p xmlns:a="http://schemas.openxmlformats.org/drawingml/2006/main">
            <a:r>
              <a:t>[24] Equipo 10. Lista de exigencias, informe del Taller 7, componentes y documentación del aplicativo FoodScan. Fundamentos de Diseño, UPCH. Documentos internos. 2026.</a:t>
            </a:r>
          </a:p>
          <a:p xmlns:a="http://schemas.openxmlformats.org/drawingml/2006/main">
            <a:r>
              <a:t>Disponible en: https://github.com/Mao-dot/Fdd_Equipo_10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20 s.</a:t>
            </a:r>
          </a:p>
          <a:p xmlns:a="http://schemas.openxmlformats.org/drawingml/2006/main">
            <a:r>
              <a:t>ESP32-CAM AI-Thinker con OV2640 y base MB para programación. Celda de barra 5 kg y HX711. Microswitch de puerta KW11-3Z-3F. Iluminación: 12 LED blancos 6000 K con una resistencia de 100 ohm por LED. Fuente WODE WA-12-5 5 V 2.4 A. Pantalla y controles en celular, interruptor KCD1-102 en caja. Carcasa MDF blanco 3 mm y uniones PLA+. Presupuesto previo S/ 410, no gasto real.</a:t>
            </a:r>
          </a:p>
          <a:p xmlns:a="http://schemas.openxmlformats.org/drawingml/2006/main">
            <a:r>
              <a:t/>
            </a:r>
          </a:p>
          <a:p xmlns:a="http://schemas.openxmlformats.org/drawingml/2006/main">
            <a:r>
              <a:t>[17] Stacktronics Perú. ESP32-CAM con cámara OV2640</a:t>
            </a:r>
          </a:p>
          <a:p xmlns:a="http://schemas.openxmlformats.org/drawingml/2006/main">
            <a:r>
              <a:t>2 MP y base programadora [Internet]. [citado 7 oct 2026].</a:t>
            </a:r>
          </a:p>
          <a:p xmlns:a="http://schemas.openxmlformats.org/drawingml/2006/main">
            <a:r>
              <a:t>Disponible en: https://stacktronics.com/producto/esp32-cam-modulo-wifi-bluetooth-con-camara-ov2640-2mp-y-base-programadora/</a:t>
            </a:r>
          </a:p>
          <a:p xmlns:a="http://schemas.openxmlformats.org/drawingml/2006/main">
            <a:r>
              <a:t/>
            </a:r>
          </a:p>
          <a:p xmlns:a="http://schemas.openxmlformats.org/drawingml/2006/main">
            <a:r>
              <a:t>[18] Naylamp Mechatronics. Celda de carga 5 kg, SKU 000155 [Internet]. [citado 7 oct 2026].</a:t>
            </a:r>
          </a:p>
          <a:p xmlns:a="http://schemas.openxmlformats.org/drawingml/2006/main">
            <a:r>
              <a:t>Disponible en: https://naylampmechatronics.com/sensores/155-celda-de-carga-5kg.html</a:t>
            </a:r>
          </a:p>
          <a:p xmlns:a="http://schemas.openxmlformats.org/drawingml/2006/main">
            <a:r>
              <a:t/>
            </a:r>
          </a:p>
          <a:p xmlns:a="http://schemas.openxmlformats.org/drawingml/2006/main">
            <a:r>
              <a:t>[19] Naylamp Mechatronics. Módulo HX711 transmisor de celda de carga, SKU 000147 [Internet]. [citado 7 oct 2026].</a:t>
            </a:r>
          </a:p>
          <a:p xmlns:a="http://schemas.openxmlformats.org/drawingml/2006/main">
            <a:r>
              <a:t>Disponible en: https://naylampmechatronics.com/fuerza-peso/147-modulo-hx711-transmisor-de-celda-de-carga.html</a:t>
            </a:r>
          </a:p>
          <a:p xmlns:a="http://schemas.openxmlformats.org/drawingml/2006/main">
            <a:r>
              <a:t/>
            </a:r>
          </a:p>
          <a:p xmlns:a="http://schemas.openxmlformats.org/drawingml/2006/main">
            <a:r>
              <a:t>[20] Naylamp Mechatronics. Adaptador WODE WA-12-5, 5 V, 2.4 A [Internet]. [citado 7 oct 2026].</a:t>
            </a:r>
          </a:p>
          <a:p xmlns:a="http://schemas.openxmlformats.org/drawingml/2006/main">
            <a:r>
              <a:t>Disponible en: https://naylampmechatronics.com/fuentes-1a-2a/1461-fuente-de-alimentacion-acdc-12w-5v-2a-wode-adaptador.html</a:t>
            </a:r>
          </a:p>
          <a:p xmlns:a="http://schemas.openxmlformats.org/drawingml/2006/main">
            <a:r>
              <a:t/>
            </a:r>
          </a:p>
          <a:p xmlns:a="http://schemas.openxmlformats.org/drawingml/2006/main">
            <a:r>
              <a:t>[21] Nanoparuro. Microswitch KW11-3Z-3F con palanca y rueda [Internet]. [citado 7 oct 2026].</a:t>
            </a:r>
          </a:p>
          <a:p xmlns:a="http://schemas.openxmlformats.org/drawingml/2006/main">
            <a:r>
              <a:t>Disponible en: https://nanoparuro.com/shop/kw11-3z-3f-microswitch-20x6-5x13-5spdt-de-palanca-con-rueda-5a-250vac-1109</a:t>
            </a:r>
          </a:p>
          <a:p xmlns:a="http://schemas.openxmlformats.org/drawingml/2006/main">
            <a:r>
              <a:t/>
            </a:r>
          </a:p>
          <a:p xmlns:a="http://schemas.openxmlformats.org/drawingml/2006/main">
            <a:r>
              <a:t>[24] Equipo 10. Lista de exigencias, informe del Taller 7, componentes y documentación del aplicativo FoodScan. Fundamentos de Diseño, UPCH. Documentos internos. 2026.</a:t>
            </a:r>
          </a:p>
          <a:p xmlns:a="http://schemas.openxmlformats.org/drawingml/2006/main">
            <a:r>
              <a:t>Disponible en: https://github.com/Mao-dot/Fdd_Equipo_10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20 s.</a:t>
            </a:r>
          </a:p>
          <a:p xmlns:a="http://schemas.openxmlformats.org/drawingml/2006/main">
            <a:r>
              <a:t>Cadena prevista: adaptador externo 5 V 2.4 A, jack, fusible 1.5 A e interruptor general. Placa y luces reciben 5 V. La salida 3.3 V de la ESP32-CAM alimenta el HX711 y la señal del detector de puerta. Cada LED blanco lleva una resistencia de 100 ohm. Con Vf 3.2-3.4 V, I=(5-Vf)/100=16-18 mA por LED; 12 ramas suman aproximadamente 0.19-0.22 A. Son estimaciones del circuito, no consumos medidos. 12 W es capacidad máxima nominal de la fuente, no consumo del prototipo. En el parcial: batería del celular y alimentación indicada en etiqueta de la balanza externa.</a:t>
            </a:r>
          </a:p>
          <a:p xmlns:a="http://schemas.openxmlformats.org/drawingml/2006/main">
            <a:r>
              <a:t/>
            </a:r>
          </a:p>
          <a:p xmlns:a="http://schemas.openxmlformats.org/drawingml/2006/main">
            <a:r>
              <a:t>[17] Stacktronics Perú. ESP32-CAM con cámara OV2640</a:t>
            </a:r>
          </a:p>
          <a:p xmlns:a="http://schemas.openxmlformats.org/drawingml/2006/main">
            <a:r>
              <a:t>2 MP y base programadora [Internet]. [citado 7 oct 2026].</a:t>
            </a:r>
          </a:p>
          <a:p xmlns:a="http://schemas.openxmlformats.org/drawingml/2006/main">
            <a:r>
              <a:t>Disponible en: https://stacktronics.com/producto/esp32-cam-modulo-wifi-bluetooth-con-camara-ov2640-2mp-y-base-programadora/</a:t>
            </a:r>
          </a:p>
          <a:p xmlns:a="http://schemas.openxmlformats.org/drawingml/2006/main">
            <a:r>
              <a:t/>
            </a:r>
          </a:p>
          <a:p xmlns:a="http://schemas.openxmlformats.org/drawingml/2006/main">
            <a:r>
              <a:t>[19] Naylamp Mechatronics. Módulo HX711 transmisor de celda de carga, SKU 000147 [Internet]. [citado 7 oct 2026].</a:t>
            </a:r>
          </a:p>
          <a:p xmlns:a="http://schemas.openxmlformats.org/drawingml/2006/main">
            <a:r>
              <a:t>Disponible en: https://naylampmechatronics.com/fuerza-peso/147-modulo-hx711-transmisor-de-celda-de-carga.html</a:t>
            </a:r>
          </a:p>
          <a:p xmlns:a="http://schemas.openxmlformats.org/drawingml/2006/main">
            <a:r>
              <a:t/>
            </a:r>
          </a:p>
          <a:p xmlns:a="http://schemas.openxmlformats.org/drawingml/2006/main">
            <a:r>
              <a:t>[20] Naylamp Mechatronics. Adaptador WODE WA-12-5, 5 V, 2.4 A [Internet]. [citado 7 oct 2026].</a:t>
            </a:r>
          </a:p>
          <a:p xmlns:a="http://schemas.openxmlformats.org/drawingml/2006/main">
            <a:r>
              <a:t>Disponible en: https://naylampmechatronics.com/fuentes-1a-2a/1461-fuente-de-alimentacion-acdc-12w-5v-2a-wode-adaptador.html</a:t>
            </a:r>
          </a:p>
          <a:p xmlns:a="http://schemas.openxmlformats.org/drawingml/2006/main">
            <a:r>
              <a:t/>
            </a:r>
          </a:p>
          <a:p xmlns:a="http://schemas.openxmlformats.org/drawingml/2006/main">
            <a:r>
              <a:t>[22] Nanoparuro. LED blanco straw hat de 5 mm, 6000 K, Vf 3.2-3.4 V [Internet]. [citado 7 oct 2026].</a:t>
            </a:r>
          </a:p>
          <a:p xmlns:a="http://schemas.openxmlformats.org/drawingml/2006/main">
            <a:r>
              <a:t>Disponible en: https://nanoparuro.com/shop/lb-sh-5mm-wc-led-blanco-straw-5mm-3-2-3-4v-6000k-blanco-frio-1881</a:t>
            </a:r>
          </a:p>
          <a:p xmlns:a="http://schemas.openxmlformats.org/drawingml/2006/main">
            <a:r>
              <a:t/>
            </a:r>
          </a:p>
          <a:p xmlns:a="http://schemas.openxmlformats.org/drawingml/2006/main">
            <a:r>
              <a:t>[24] Equipo 10. Lista de exigencias, informe del Taller 7, componentes y documentación del aplicativo FoodScan. Fundamentos de Diseño, UPCH. Documentos internos. 2026.</a:t>
            </a:r>
          </a:p>
          <a:p xmlns:a="http://schemas.openxmlformats.org/drawingml/2006/main">
            <a:r>
              <a:t>Disponible en: https://github.com/Mao-dot/Fdd_Equipo_10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15 s.</a:t>
            </a:r>
          </a:p>
          <a:p xmlns:a="http://schemas.openxmlformats.org/drawingml/2006/main">
            <a:r>
              <a:t>App actual Next.js/React/TypeScript. Foto más peso total a /api/analyze. Gemini configurado como gemini-3.8-flash, mediante Interactions, solo identificación/proporciones; no se entrenó ni ajustó. El catálogo aporta nombres e identificadores. Se normalizan fracciones y se conserva la masa. Nutrientes: g x valor por 100 g / 100 y suma. Fuente única INS TPCA 10.ª ed. 2017, impresión 2018, 924 entradas con código y página. Valores ausentes null se muestran como guion largo. Ejemplo matemático de 420 g distribuido 60/30/10 no es un experimento. Arroz A 2: 115 kcal por 100 g; 252 g dan 289.8 kcal.</a:t>
            </a:r>
          </a:p>
          <a:p xmlns:a="http://schemas.openxmlformats.org/drawingml/2006/main">
            <a:r>
              <a:t/>
            </a:r>
          </a:p>
          <a:p xmlns:a="http://schemas.openxmlformats.org/drawingml/2006/main">
            <a:r>
              <a:t>[16] Reyes García M, Gómez-Sánchez Prieto I, Espinoza Barrientos C. Tablas peruanas de composición de alimentos. 10.ª ed. Lima: Instituto Nacional de Salud; 2017. Impresión 2018. Archivo proporcionado al equipo: Tablas-peruanas.pdf.</a:t>
            </a:r>
          </a:p>
          <a:p xmlns:a="http://schemas.openxmlformats.org/drawingml/2006/main">
            <a:r>
              <a:t>Disponible en: https://repositorio.ins.gob.pe/</a:t>
            </a:r>
          </a:p>
          <a:p xmlns:a="http://schemas.openxmlformats.org/drawingml/2006/main">
            <a:r>
              <a:t/>
            </a:r>
          </a:p>
          <a:p xmlns:a="http://schemas.openxmlformats.org/drawingml/2006/main">
            <a:r>
              <a:t>[24] Equipo 10. Lista de exigencias, informe del Taller 7, componentes y documentación del aplicativo FoodScan. Fundamentos de Diseño, UPCH. Documentos internos. 2026.</a:t>
            </a:r>
          </a:p>
          <a:p xmlns:a="http://schemas.openxmlformats.org/drawingml/2006/main">
            <a:r>
              <a:t>Disponible en: https://github.com/Mao-dot/Fdd_Equipo_10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20 s.</a:t>
            </a:r>
          </a:p>
          <a:p xmlns:a="http://schemas.openxmlformats.org/drawingml/2006/main">
            <a:r>
              <a:t>La documentación local reporta compilación y ocho pruebas automatizadas. No prueban precisión con platos reales. Se ha implementado cámara/galería, peso único, integración Gemini, catálogo peruano, cálculo, ajustes e historial local. Para el parcial se usa balanza normal de 5 kg y se ingresa la masa manualmente. Pendientes: cámara y PWA en teléfono concreto, fotos reales con masas conocidas, validar identificación/reparto, ensamblar y conectar hardware. No hay medición de calorías por sensor. Rango app actual 10-3000 g. Presupuesto S/410 de construcción sin hardware construido.</a:t>
            </a:r>
          </a:p>
          <a:p xmlns:a="http://schemas.openxmlformats.org/drawingml/2006/main">
            <a:r>
              <a:t/>
            </a:r>
          </a:p>
          <a:p xmlns:a="http://schemas.openxmlformats.org/drawingml/2006/main">
            <a:r>
              <a:t>[24] Equipo 10. Lista de exigencias, informe del Taller 7, componentes y documentación del aplicativo FoodScan. Fundamentos de Diseño, UPCH. Documentos internos. 2026.</a:t>
            </a:r>
          </a:p>
          <a:p xmlns:a="http://schemas.openxmlformats.org/drawingml/2006/main">
            <a:r>
              <a:t>Disponible en: https://github.com/Mao-dot/Fdd_Equipo_10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5 s.</a:t>
            </a:r>
          </a:p>
          <a:p xmlns:a="http://schemas.openxmlformats.org/drawingml/2006/main">
            <a:r>
              <a:t>Cierre: registrar una porción real con peso total, identidad corregible y cálculo trazable. La IA propone; el usuario revisa. Cada decisión se conecta con una función, una exigencia y una futura validación. La app constituye el avance y la integración física es la siguiente etapa.</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Lista original conservada como evidencia. No se declara cumplimiento universal. Conciliación pendiente: LE02 dimensión objetivo menor/equal 30 cm frente a caja propuesta 32 x 32 x 35 cm. LE06 plantea USB 5 V o autonomía &gt;=4h; se propone adaptador externo de 5 V sin autonomía medida. LE15 sincronización pendiente (historial actual local). LE21 3-5000 g frente a rango actual app 10-3000 g y rango metrológico objetivo 50-1000 g. LE23 sin suscripción obligatoria no implica ausencia de costo de API, cuya operación debe revisarse. LE25 no implementada con hardware. La lista detallada se revisará en el documento posterior.</a:t>
            </a:r>
          </a:p>
          <a:p xmlns:a="http://schemas.openxmlformats.org/drawingml/2006/main">
            <a:r>
              <a:t/>
            </a:r>
          </a:p>
          <a:p xmlns:a="http://schemas.openxmlformats.org/drawingml/2006/main">
            <a:r>
              <a:t>[24] Equipo 10. Lista de exigencias, informe del Taller 7, componentes y documentación del aplicativo FoodScan. Fundamentos de Diseño, UPCH. Documentos internos. 2026.</a:t>
            </a:r>
          </a:p>
          <a:p xmlns:a="http://schemas.openxmlformats.org/drawingml/2006/main">
            <a:r>
              <a:t>Disponible en: https://github.com/Mao-dot/Fdd_Equipo_10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Lista original conservada como evidencia. No se declara cumplimiento universal. Conciliación pendiente: LE02 dimensión objetivo menor/equal 30 cm frente a caja propuesta 32 x 32 x 35 cm. LE06 plantea USB 5 V o autonomía &gt;=4h; se propone adaptador externo de 5 V sin autonomía medida. LE15 sincronización pendiente (historial actual local). LE21 3-5000 g frente a rango actual app 10-3000 g y rango metrológico objetivo 50-1000 g. LE23 sin suscripción obligatoria no implica ausencia de costo de API, cuya operación debe revisarse. LE25 no implementada con hardware. La lista detallada se revisará en el documento posterior.</a:t>
            </a:r>
          </a:p>
          <a:p xmlns:a="http://schemas.openxmlformats.org/drawingml/2006/main">
            <a:r>
              <a:t/>
            </a:r>
          </a:p>
          <a:p xmlns:a="http://schemas.openxmlformats.org/drawingml/2006/main">
            <a:r>
              <a:t>[24] Equipo 10. Lista de exigencias, informe del Taller 7, componentes y documentación del aplicativo FoodScan. Fundamentos de Diseño, UPCH. Documentos internos. 2026.</a:t>
            </a:r>
          </a:p>
          <a:p xmlns:a="http://schemas.openxmlformats.org/drawingml/2006/main">
            <a:r>
              <a:t>Disponible en: https://github.com/Mao-dot/Fdd_Equipo_10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peso produce deformación elástica en la celda, las galgas cambian la resistencia y desequilibran el puente Wheatstone. HX711 amplifica y convierte a digital. ESP32 calibra a gramos y resta tara. Un extremo de celda se fija a la base y otro sostiene plataforma; la zona deformable queda libre sin roces. Hay que medir capacidad útil, estabilidad, repetibilidad, error y deriva. Capacidad nominal 5kg no define límite validado del conjunto. 24bits no implica precisión de 1g. No se conocen modelo/resolución exacta de la balanza normal del parcial: verificar etiqueta.</a:t>
            </a:r>
          </a:p>
          <a:p xmlns:a="http://schemas.openxmlformats.org/drawingml/2006/main">
            <a:r>
              <a:t/>
            </a:r>
          </a:p>
          <a:p xmlns:a="http://schemas.openxmlformats.org/drawingml/2006/main">
            <a:r>
              <a:t>[18] Naylamp Mechatronics. Celda de carga 5 kg, SKU 000155 [Internet]. [citado 7 oct 2026].</a:t>
            </a:r>
          </a:p>
          <a:p xmlns:a="http://schemas.openxmlformats.org/drawingml/2006/main">
            <a:r>
              <a:t>Disponible en: https://naylampmechatronics.com/sensores/155-celda-de-carga-5kg.html</a:t>
            </a:r>
          </a:p>
          <a:p xmlns:a="http://schemas.openxmlformats.org/drawingml/2006/main">
            <a:r>
              <a:t/>
            </a:r>
          </a:p>
          <a:p xmlns:a="http://schemas.openxmlformats.org/drawingml/2006/main">
            <a:r>
              <a:t>[19] Naylamp Mechatronics. Módulo HX711 transmisor de celda de carga, SKU 000147 [Internet]. [citado 7 oct 2026].</a:t>
            </a:r>
          </a:p>
          <a:p xmlns:a="http://schemas.openxmlformats.org/drawingml/2006/main">
            <a:r>
              <a:t>Disponible en: https://naylampmechatronics.com/fuerza-peso/147-modulo-hx711-transmisor-de-celda-de-carga.html</a:t>
            </a:r>
          </a:p>
          <a:p xmlns:a="http://schemas.openxmlformats.org/drawingml/2006/main">
            <a:r>
              <a:t/>
            </a:r>
          </a:p>
          <a:p xmlns:a="http://schemas.openxmlformats.org/drawingml/2006/main">
            <a:r>
              <a:t>[24] Equipo 10. Lista de exigencias, informe del Taller 7, componentes y documentación del aplicativo FoodScan. Fundamentos de Diseño, UPCH. Documentos internos. 2026.</a:t>
            </a:r>
          </a:p>
          <a:p xmlns:a="http://schemas.openxmlformats.org/drawingml/2006/main">
            <a:r>
              <a:t>Disponible en: https://github.com/Mao-dot/Fdd_Equipo_10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conexiones son propuestas, no cableado probado. HX711 alimentado a 3.3V para lógica compatible. GPIO13/14 usados por HX711, GPIO15 por puerta, por ello no usar microSD. GPIO15 es pin de configuración de arranque: comprobar encendido con puerta abierta y cerrada. Programación USB y fuente externa por separado. Iluminación permanente con interruptor general, sin GPIO ni relé. La integración HTTP y el firmware deben implementarse y verificarse.</a:t>
            </a:r>
          </a:p>
          <a:p xmlns:a="http://schemas.openxmlformats.org/drawingml/2006/main">
            <a:r>
              <a:t/>
            </a:r>
          </a:p>
          <a:p xmlns:a="http://schemas.openxmlformats.org/drawingml/2006/main">
            <a:r>
              <a:t>[17] Stacktronics Perú. ESP32-CAM con cámara OV2640</a:t>
            </a:r>
          </a:p>
          <a:p xmlns:a="http://schemas.openxmlformats.org/drawingml/2006/main">
            <a:r>
              <a:t>2 MP y base programadora [Internet]. [citado 7 oct 2026].</a:t>
            </a:r>
          </a:p>
          <a:p xmlns:a="http://schemas.openxmlformats.org/drawingml/2006/main">
            <a:r>
              <a:t>Disponible en: https://stacktronics.com/producto/esp32-cam-modulo-wifi-bluetooth-con-camara-ov2640-2mp-y-base-programadora/</a:t>
            </a:r>
          </a:p>
          <a:p xmlns:a="http://schemas.openxmlformats.org/drawingml/2006/main">
            <a:r>
              <a:t/>
            </a:r>
          </a:p>
          <a:p xmlns:a="http://schemas.openxmlformats.org/drawingml/2006/main">
            <a:r>
              <a:t>[19] Naylamp Mechatronics. Módulo HX711 transmisor de celda de carga, SKU 000147 [Internet]. [citado 7 oct 2026].</a:t>
            </a:r>
          </a:p>
          <a:p xmlns:a="http://schemas.openxmlformats.org/drawingml/2006/main">
            <a:r>
              <a:t>Disponible en: https://naylampmechatronics.com/fuerza-peso/147-modulo-hx711-transmisor-de-celda-de-carga.html</a:t>
            </a:r>
          </a:p>
          <a:p xmlns:a="http://schemas.openxmlformats.org/drawingml/2006/main">
            <a:r>
              <a:t/>
            </a:r>
          </a:p>
          <a:p xmlns:a="http://schemas.openxmlformats.org/drawingml/2006/main">
            <a:r>
              <a:t>[20] Naylamp Mechatronics. Adaptador WODE WA-12-5, 5 V, 2.4 A [Internet]. [citado 7 oct 2026].</a:t>
            </a:r>
          </a:p>
          <a:p xmlns:a="http://schemas.openxmlformats.org/drawingml/2006/main">
            <a:r>
              <a:t>Disponible en: https://naylampmechatronics.com/fuentes-1a-2a/1461-fuente-de-alimentacion-acdc-12w-5v-2a-wode-adaptador.html</a:t>
            </a:r>
          </a:p>
          <a:p xmlns:a="http://schemas.openxmlformats.org/drawingml/2006/main">
            <a:r>
              <a:t/>
            </a:r>
          </a:p>
          <a:p xmlns:a="http://schemas.openxmlformats.org/drawingml/2006/main">
            <a:r>
              <a:t>[21] Nanoparuro. Microswitch KW11-3Z-3F con palanca y rueda [Internet]. [citado 7 oct 2026].</a:t>
            </a:r>
          </a:p>
          <a:p xmlns:a="http://schemas.openxmlformats.org/drawingml/2006/main">
            <a:r>
              <a:t>Disponible en: https://nanoparuro.com/shop/kw11-3z-3f-microswitch-20x6-5x13-5spdt-de-palanca-con-rueda-5a-250vac-1109</a:t>
            </a:r>
          </a:p>
          <a:p xmlns:a="http://schemas.openxmlformats.org/drawingml/2006/main">
            <a:r>
              <a:t/>
            </a:r>
          </a:p>
          <a:p xmlns:a="http://schemas.openxmlformats.org/drawingml/2006/main">
            <a:r>
              <a:t>[22] Nanoparuro. LED blanco straw hat de 5 mm, 6000 K, Vf 3.2-3.4 V [Internet]. [citado 7 oct 2026].</a:t>
            </a:r>
          </a:p>
          <a:p xmlns:a="http://schemas.openxmlformats.org/drawingml/2006/main">
            <a:r>
              <a:t>Disponible en: https://nanoparuro.com/shop/lb-sh-5mm-wc-led-blanco-straw-5mm-3-2-3-4v-6000k-blanco-frio-1881</a:t>
            </a:r>
          </a:p>
          <a:p xmlns:a="http://schemas.openxmlformats.org/drawingml/2006/main">
            <a:r>
              <a:t/>
            </a:r>
          </a:p>
          <a:p xmlns:a="http://schemas.openxmlformats.org/drawingml/2006/main">
            <a:r>
              <a:t>[23] Espressif Systems. ESP32 series datasheet [Internet]. [citado 7 oct 2026].</a:t>
            </a:r>
          </a:p>
          <a:p xmlns:a="http://schemas.openxmlformats.org/drawingml/2006/main">
            <a:r>
              <a:t>Disponible en: https://www.espressif.com/sites/default/files/documentation/esp32_datasheet_en.pdf</a:t>
            </a:r>
          </a:p>
          <a:p xmlns:a="http://schemas.openxmlformats.org/drawingml/2006/main">
            <a:r>
              <a:t/>
            </a:r>
          </a:p>
          <a:p xmlns:a="http://schemas.openxmlformats.org/drawingml/2006/main">
            <a:r>
              <a:t>[24] Equipo 10. Lista de exigencias, informe del Taller 7, componentes y documentación del aplicativo FoodScan. Fundamentos de Diseño, UPCH. Documentos internos. 2026.</a:t>
            </a:r>
          </a:p>
          <a:p xmlns:a="http://schemas.openxmlformats.org/drawingml/2006/main">
            <a:r>
              <a:t>Disponible en: https://github.com/Mao-dot/Fdd_Equipo_10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Bibliografía de los antecedentes y los componentes. Los sitios comerciales se consultaron el 7 de octubre de 2026. Las cifras científicas describen sus estudios, no rendimiento medido de FoodScan.</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Bibliografía de los antecedentes y los componentes. Los sitios comerciales se consultaron el 7 de octubre de 2026. Las cifras científicas describen sus estudios, no rendimiento medido de FoodScan.</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Bibliografía de los antecedentes y los componentes. Los sitios comerciales se consultaron el 7 de octubre de 2026. Las cifras científicas describen sus estudios, no rendimiento medido de FoodScan.</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Bibliografía de los antecedentes y los componentes. Los sitios comerciales se consultaron el 7 de octubre de 2026. Las cifras científicas describen sus estudios, no rendimiento medido de FoodScan.</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6389fb942364f1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d6765e62ed94c9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dd77b0fd35e49b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ed099d8edec4d9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6d6e1a03d82465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49f30f31bfc417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D214ACB-113B-4D3A-BCCD-4B40574E9B7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39D3FF7-C1B1-43CF-950B-9EDF3A33CFD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12C1198-3652-42C6-8F86-1C82AB74BA8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CBB665F-629A-4B04-824B-1AB801C5EB5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44C8E56-9605-49D6-A229-58127B17763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2E176F8-5197-49CE-8BE2-82197C7A522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A4CAAE5-002B-45D5-B4FC-E9E65287E42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E98848B-E863-4E5D-8341-6D0541C0C85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EAAB301-AB01-47A0-A3CB-051EEBFC7E7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62046E-0131-44EB-9EC6-3AA22302DEB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891ac004878431b" /><Relationship Type="http://schemas.openxmlformats.org/officeDocument/2006/relationships/slideLayout" Target="/ppt/slideLayouts/slideLayout1.xml" Id="R5b66a022ba774120" /><Relationship Type="http://schemas.openxmlformats.org/officeDocument/2006/relationships/slideLayout" Target="/ppt/slideLayouts/slideLayout2.xml" Id="R4ffe50f0c5804224" /><Relationship Type="http://schemas.openxmlformats.org/officeDocument/2006/relationships/slideLayout" Target="/ppt/slideLayouts/slideLayout3.xml" Id="R5d625a87d14842cd" /><Relationship Type="http://schemas.openxmlformats.org/officeDocument/2006/relationships/slideLayout" Target="/ppt/slideLayouts/slideLayout4.xml" Id="R5ee084c2027148f0" /><Relationship Type="http://schemas.openxmlformats.org/officeDocument/2006/relationships/slideLayout" Target="/ppt/slideLayouts/slideLayout5.xml" Id="Re45d890940694043" /><Relationship Type="http://schemas.openxmlformats.org/officeDocument/2006/relationships/slideLayout" Target="/ppt/slideLayouts/slideLayout6.xml" Id="Re7fbcfcde3d44a8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b66a022ba774120"/>
    <p:sldLayoutId xmlns:r="http://schemas.openxmlformats.org/officeDocument/2006/relationships" id="2147483650" r:id="R4ffe50f0c5804224"/>
    <p:sldLayoutId xmlns:r="http://schemas.openxmlformats.org/officeDocument/2006/relationships" id="2147483651" r:id="R5d625a87d14842cd"/>
    <p:sldLayoutId xmlns:r="http://schemas.openxmlformats.org/officeDocument/2006/relationships" id="2147483652" r:id="R5ee084c2027148f0"/>
    <p:sldLayoutId xmlns:r="http://schemas.openxmlformats.org/officeDocument/2006/relationships" id="2147483653" r:id="Re45d890940694043"/>
    <p:sldLayoutId xmlns:r="http://schemas.openxmlformats.org/officeDocument/2006/relationships" id="2147483654" r:id="Re7fbcfcde3d44a8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a404b219836477e" /><Relationship Type="http://schemas.openxmlformats.org/officeDocument/2006/relationships/image" Target="/ppt/media/image.png" Id="R355b2bcdadb74de8" /><Relationship Type="http://schemas.openxmlformats.org/officeDocument/2006/relationships/notesSlide" Target="/ppt/notesSlides/notesSlide1.xml" Id="R3a831bac10f54fc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4653dc3de8b4dbd" /><Relationship Type="http://schemas.openxmlformats.org/officeDocument/2006/relationships/image" Target="/ppt/media/image2.png" Id="R6df87a05d32f48cc" /><Relationship Type="http://schemas.openxmlformats.org/officeDocument/2006/relationships/notesSlide" Target="/ppt/notesSlides/notesSlide2.xml" Id="R479f847f8eb4443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46b730e856249d9" /><Relationship Type="http://schemas.openxmlformats.org/officeDocument/2006/relationships/image" Target="/ppt/media/image.jpeg" Id="R96ae369c191341ac" /><Relationship Type="http://schemas.openxmlformats.org/officeDocument/2006/relationships/notesSlide" Target="/ppt/notesSlides/notesSlide3.xml" Id="R2b161b0e388341b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ffeed3776b045ee" /><Relationship Type="http://schemas.openxmlformats.org/officeDocument/2006/relationships/image" Target="/ppt/media/image3.png" Id="R8660cbb469e9414c" /><Relationship Type="http://schemas.openxmlformats.org/officeDocument/2006/relationships/notesSlide" Target="/ppt/notesSlides/notesSlide4.xml" Id="Rd426ac6a8268420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5fd9c3dd09b4378" /><Relationship Type="http://schemas.openxmlformats.org/officeDocument/2006/relationships/image" Target="/ppt/media/image2.jpeg" Id="R6a43c9c498744466" /><Relationship Type="http://schemas.openxmlformats.org/officeDocument/2006/relationships/notesSlide" Target="/ppt/notesSlides/notesSlide5.xml" Id="Rba1afa21a14f470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7fdf92940b74019" /><Relationship Type="http://schemas.openxmlformats.org/officeDocument/2006/relationships/image" Target="/ppt/media/image4.png" Id="R18a665caaf0544da" /><Relationship Type="http://schemas.openxmlformats.org/officeDocument/2006/relationships/notesSlide" Target="/ppt/notesSlides/notesSlide6.xml" Id="Rd24e1cffdb814b8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2281d3df2e44ac5" /><Relationship Type="http://schemas.openxmlformats.org/officeDocument/2006/relationships/image" Target="/ppt/media/image5.png" Id="Rf1f6f2a885f94227" /><Relationship Type="http://schemas.openxmlformats.org/officeDocument/2006/relationships/notesSlide" Target="/ppt/notesSlides/notesSlide7.xml" Id="Rf6af3c9d43f9449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ccda970d18f463f" /><Relationship Type="http://schemas.openxmlformats.org/officeDocument/2006/relationships/image" Target="/ppt/media/image6.png" Id="R56e66da1f9a1406f" /><Relationship Type="http://schemas.openxmlformats.org/officeDocument/2006/relationships/notesSlide" Target="/ppt/notesSlides/notesSlide8.xml" Id="R4e3eef37fdad482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647d548361a46af" /><Relationship Type="http://schemas.openxmlformats.org/officeDocument/2006/relationships/image" Target="/ppt/media/image7.png" Id="R95a359deb22e4e61" /><Relationship Type="http://schemas.openxmlformats.org/officeDocument/2006/relationships/notesSlide" Target="/ppt/notesSlides/notesSlide9.xml" Id="R984f9eeb38cb487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b4ad4a4ecf54f4b" /><Relationship Type="http://schemas.openxmlformats.org/officeDocument/2006/relationships/image" Target="/ppt/media/image8.png" Id="Rea601e2810b14f2e" /><Relationship Type="http://schemas.openxmlformats.org/officeDocument/2006/relationships/notesSlide" Target="/ppt/notesSlides/notesSlide10.xml" Id="R2d126cd31850407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2366d42880447da" /><Relationship Type="http://schemas.openxmlformats.org/officeDocument/2006/relationships/image" Target="/ppt/media/image9.png" Id="R883f9cfde0a64e9b" /><Relationship Type="http://schemas.openxmlformats.org/officeDocument/2006/relationships/notesSlide" Target="/ppt/notesSlides/notesSlide11.xml" Id="R05dc009c8f0b4a5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f2b25969afa409d" /><Relationship Type="http://schemas.openxmlformats.org/officeDocument/2006/relationships/image" Target="/ppt/media/image10.png" Id="R0aa207676a5c4722" /><Relationship Type="http://schemas.openxmlformats.org/officeDocument/2006/relationships/notesSlide" Target="/ppt/notesSlides/notesSlide12.xml" Id="R408b741a74d64cc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76faea1c2204958" /><Relationship Type="http://schemas.openxmlformats.org/officeDocument/2006/relationships/image" Target="/ppt/media/image3.jpeg" Id="R72817c7698c848fd" /><Relationship Type="http://schemas.openxmlformats.org/officeDocument/2006/relationships/notesSlide" Target="/ppt/notesSlides/notesSlide13.xml" Id="R7d646a761bd4497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9a31ec0e02d4ec0" /><Relationship Type="http://schemas.openxmlformats.org/officeDocument/2006/relationships/image" Target="/ppt/media/image11.png" Id="R2f913c3f1a6242b1" /><Relationship Type="http://schemas.openxmlformats.org/officeDocument/2006/relationships/notesSlide" Target="/ppt/notesSlides/notesSlide14.xml" Id="R41050659703c4ad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a1570f4a97e4782" /><Relationship Type="http://schemas.openxmlformats.org/officeDocument/2006/relationships/image" Target="/ppt/media/image12.png" Id="R4820a6af8983449c" /><Relationship Type="http://schemas.openxmlformats.org/officeDocument/2006/relationships/notesSlide" Target="/ppt/notesSlides/notesSlide15.xml" Id="R74795d65ab144ca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576693621824542" /><Relationship Type="http://schemas.openxmlformats.org/officeDocument/2006/relationships/image" Target="/ppt/media/image4.jpeg" Id="R1b4337d42a1d4646" /><Relationship Type="http://schemas.openxmlformats.org/officeDocument/2006/relationships/notesSlide" Target="/ppt/notesSlides/notesSlide16.xml" Id="Rf22d816d73b842b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de876318e484d53" /><Relationship Type="http://schemas.openxmlformats.org/officeDocument/2006/relationships/image" Target="/ppt/media/image13.png" Id="R3e0b677ee80a438d" /><Relationship Type="http://schemas.openxmlformats.org/officeDocument/2006/relationships/notesSlide" Target="/ppt/notesSlides/notesSlide17.xml" Id="R5955897c747345f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0c8124fced2402c" /><Relationship Type="http://schemas.openxmlformats.org/officeDocument/2006/relationships/notesSlide" Target="/ppt/notesSlides/notesSlide18.xml" Id="R561907069b4d45e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3e7b86818c4a4283" /><Relationship Type="http://schemas.openxmlformats.org/officeDocument/2006/relationships/notesSlide" Target="/ppt/notesSlides/notesSlide19.xml" Id="R3fbd4f7fb66f471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6fc68202e7d469b" /><Relationship Type="http://schemas.openxmlformats.org/officeDocument/2006/relationships/notesSlide" Target="/ppt/notesSlides/notesSlide20.xml" Id="R0441143eb88a400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b220bea2c214aba" /><Relationship Type="http://schemas.openxmlformats.org/officeDocument/2006/relationships/image" Target="/ppt/media/image14.png" Id="Rb172ad8071094c95" /><Relationship Type="http://schemas.openxmlformats.org/officeDocument/2006/relationships/image" Target="/ppt/media/image15.png" Id="R71e2421bc87a4be7" /><Relationship Type="http://schemas.openxmlformats.org/officeDocument/2006/relationships/image" Target="/ppt/media/image16.png" Id="R0d0f3acbb5f8465b" /><Relationship Type="http://schemas.openxmlformats.org/officeDocument/2006/relationships/notesSlide" Target="/ppt/notesSlides/notesSlide21.xml" Id="R429da8f30a23491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831b3abfac84f8c" /><Relationship Type="http://schemas.openxmlformats.org/officeDocument/2006/relationships/image" Target="/ppt/media/image17.png" Id="Re35658c8d058486c" /><Relationship Type="http://schemas.openxmlformats.org/officeDocument/2006/relationships/image" Target="/ppt/media/image18.png" Id="Rd14e5586ca914aeb" /><Relationship Type="http://schemas.openxmlformats.org/officeDocument/2006/relationships/image" Target="/ppt/media/image19.png" Id="Rb19676274c12435c" /><Relationship Type="http://schemas.openxmlformats.org/officeDocument/2006/relationships/notesSlide" Target="/ppt/notesSlides/notesSlide22.xml" Id="R83f2642497ee4b0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b337917ba3364074" /><Relationship Type="http://schemas.openxmlformats.org/officeDocument/2006/relationships/notesSlide" Target="/ppt/notesSlides/notesSlide23.xml" Id="Re6a5747119104c2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fbf634ab1203483e" /><Relationship Type="http://schemas.openxmlformats.org/officeDocument/2006/relationships/image" Target="/ppt/media/image20.png" Id="R34beb2b186034e83" /><Relationship Type="http://schemas.openxmlformats.org/officeDocument/2006/relationships/image" Target="/ppt/media/image21.png" Id="Rc8f72511d83e44d5" /><Relationship Type="http://schemas.openxmlformats.org/officeDocument/2006/relationships/image" Target="/ppt/media/image5.jpeg" Id="Rf59762d095854328" /><Relationship Type="http://schemas.openxmlformats.org/officeDocument/2006/relationships/image" Target="/ppt/media/image22.png" Id="R6e2c31b2cd504ece" /><Relationship Type="http://schemas.openxmlformats.org/officeDocument/2006/relationships/image" Target="/ppt/media/image23.png" Id="R9510855de03a4be5" /><Relationship Type="http://schemas.openxmlformats.org/officeDocument/2006/relationships/image" Target="/ppt/media/image6.jpeg" Id="Rdbd9876e903d4490" /><Relationship Type="http://schemas.openxmlformats.org/officeDocument/2006/relationships/image" Target="/ppt/media/image24.png" Id="R8cd415005ccf432c" /><Relationship Type="http://schemas.openxmlformats.org/officeDocument/2006/relationships/image" Target="/ppt/media/image25.png" Id="R252158787ac8478b" /><Relationship Type="http://schemas.openxmlformats.org/officeDocument/2006/relationships/image" Target="/ppt/media/image7.jpeg" Id="R1e5860836eb24f2b" /><Relationship Type="http://schemas.openxmlformats.org/officeDocument/2006/relationships/image" Target="/ppt/media/image26.png" Id="R30fcb56a3c0d48c5" /><Relationship Type="http://schemas.openxmlformats.org/officeDocument/2006/relationships/image" Target="/ppt/media/image27.png" Id="Rb55e498a655441e4" /><Relationship Type="http://schemas.openxmlformats.org/officeDocument/2006/relationships/image" Target="/ppt/media/image8.jpeg" Id="R67b32ca56fd34282" /><Relationship Type="http://schemas.openxmlformats.org/officeDocument/2006/relationships/notesSlide" Target="/ppt/notesSlides/notesSlide24.xml" Id="R8c2a108243ea494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04981de87614426c" /><Relationship Type="http://schemas.openxmlformats.org/officeDocument/2006/relationships/image" Target="/ppt/media/image28.png" Id="Ra2ac5a9765854b68" /><Relationship Type="http://schemas.openxmlformats.org/officeDocument/2006/relationships/image" Target="/ppt/media/image29.png" Id="R9642c7d727874909" /><Relationship Type="http://schemas.openxmlformats.org/officeDocument/2006/relationships/image" Target="/ppt/media/image30.png" Id="R51b0dc56167a4182" /><Relationship Type="http://schemas.openxmlformats.org/officeDocument/2006/relationships/image" Target="/ppt/media/image31.png" Id="Rdc22462d23c04024" /><Relationship Type="http://schemas.openxmlformats.org/officeDocument/2006/relationships/image" Target="/ppt/media/image32.png" Id="R4e02df73fca84161" /><Relationship Type="http://schemas.openxmlformats.org/officeDocument/2006/relationships/image" Target="/ppt/media/image33.png" Id="R86cdd7b4ef904343" /><Relationship Type="http://schemas.openxmlformats.org/officeDocument/2006/relationships/image" Target="/ppt/media/image34.png" Id="Re222ec797d354997" /><Relationship Type="http://schemas.openxmlformats.org/officeDocument/2006/relationships/image" Target="/ppt/media/image35.png" Id="Raeb01f7821424756" /><Relationship Type="http://schemas.openxmlformats.org/officeDocument/2006/relationships/image" Target="/ppt/media/image36.png" Id="R27c266cff57a48cf" /><Relationship Type="http://schemas.openxmlformats.org/officeDocument/2006/relationships/image" Target="/ppt/media/image37.png" Id="Rfe5942936d3f4a04" /><Relationship Type="http://schemas.openxmlformats.org/officeDocument/2006/relationships/image" Target="/ppt/media/image38.png" Id="R35da3f3160c44bd4" /><Relationship Type="http://schemas.openxmlformats.org/officeDocument/2006/relationships/image" Target="/ppt/media/image39.png" Id="R7e877d581ea24928" /><Relationship Type="http://schemas.openxmlformats.org/officeDocument/2006/relationships/notesSlide" Target="/ppt/notesSlides/notesSlide25.xml" Id="R131de525dfaf415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215ca1116d0c48a0" /><Relationship Type="http://schemas.openxmlformats.org/officeDocument/2006/relationships/image" Target="/ppt/media/image40.png" Id="Rb48f3795f586402b" /><Relationship Type="http://schemas.openxmlformats.org/officeDocument/2006/relationships/image" Target="/ppt/media/image41.png" Id="R747a1df13a6d4cf5" /><Relationship Type="http://schemas.openxmlformats.org/officeDocument/2006/relationships/image" Target="/ppt/media/image42.png" Id="R11b981d9dd094c3d" /><Relationship Type="http://schemas.openxmlformats.org/officeDocument/2006/relationships/image" Target="/ppt/media/image43.png" Id="Rff64d1e1dabf40d6" /><Relationship Type="http://schemas.openxmlformats.org/officeDocument/2006/relationships/image" Target="/ppt/media/image44.png" Id="Radd69e3cca55456e" /><Relationship Type="http://schemas.openxmlformats.org/officeDocument/2006/relationships/image" Target="/ppt/media/image45.png" Id="Rdd3ffa3aec154691" /><Relationship Type="http://schemas.openxmlformats.org/officeDocument/2006/relationships/image" Target="/ppt/media/image46.png" Id="R95268c1ee0f54127" /><Relationship Type="http://schemas.openxmlformats.org/officeDocument/2006/relationships/image" Target="/ppt/media/image47.png" Id="R900d160d8b924c66" /><Relationship Type="http://schemas.openxmlformats.org/officeDocument/2006/relationships/image" Target="/ppt/media/image48.png" Id="Rac55304e16c944c4" /><Relationship Type="http://schemas.openxmlformats.org/officeDocument/2006/relationships/notesSlide" Target="/ppt/notesSlides/notesSlide26.xml" Id="Rf841ebe347f14a2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2aee641592274674" /><Relationship Type="http://schemas.openxmlformats.org/officeDocument/2006/relationships/image" Target="/ppt/media/image49.png" Id="R9e4063f9970a4f3f" /><Relationship Type="http://schemas.openxmlformats.org/officeDocument/2006/relationships/notesSlide" Target="/ppt/notesSlides/notesSlide27.xml" Id="R34065a313b4247f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dc99d59118004275" /><Relationship Type="http://schemas.openxmlformats.org/officeDocument/2006/relationships/image" Target="/ppt/media/image50.png" Id="R2fe147ed351c4145" /><Relationship Type="http://schemas.openxmlformats.org/officeDocument/2006/relationships/image" Target="/ppt/media/image51.png" Id="R03825c2db2954a25" /><Relationship Type="http://schemas.openxmlformats.org/officeDocument/2006/relationships/image" Target="/ppt/media/image52.png" Id="R15ef8dbbd45c4097" /><Relationship Type="http://schemas.openxmlformats.org/officeDocument/2006/relationships/notesSlide" Target="/ppt/notesSlides/notesSlide28.xml" Id="R40e928d5b1e940b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2da3dd246de84206" /><Relationship Type="http://schemas.openxmlformats.org/officeDocument/2006/relationships/image" Target="/ppt/media/image9.jpeg" Id="Re4aab61afb494663" /><Relationship Type="http://schemas.openxmlformats.org/officeDocument/2006/relationships/image" Target="/ppt/media/image53.png" Id="R8e49607cdfaa4907" /><Relationship Type="http://schemas.openxmlformats.org/officeDocument/2006/relationships/image" Target="/ppt/media/image54.png" Id="R56b430e7f11f4dfa" /><Relationship Type="http://schemas.openxmlformats.org/officeDocument/2006/relationships/image" Target="/ppt/media/image55.png" Id="Rf5564980beed4a1e" /><Relationship Type="http://schemas.openxmlformats.org/officeDocument/2006/relationships/image" Target="/ppt/media/image10.jpeg" Id="R2ee250ac930643e3" /><Relationship Type="http://schemas.openxmlformats.org/officeDocument/2006/relationships/image" Target="/ppt/media/image56.png" Id="R017bc247e8df40d1" /><Relationship Type="http://schemas.openxmlformats.org/officeDocument/2006/relationships/notesSlide" Target="/ppt/notesSlides/notesSlide29.xml" Id="Rb553e30962a84f2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d7bcfde80fc8409b" /><Relationship Type="http://schemas.openxmlformats.org/officeDocument/2006/relationships/image" Target="/ppt/media/image11.jpeg" Id="Rcedf6ecb4c77431a" /><Relationship Type="http://schemas.openxmlformats.org/officeDocument/2006/relationships/notesSlide" Target="/ppt/notesSlides/notesSlide30.xml" Id="Rd7a6c7cdd25545a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06e5ac87c49a4db5" /><Relationship Type="http://schemas.openxmlformats.org/officeDocument/2006/relationships/notesSlide" Target="/ppt/notesSlides/notesSlide31.xml" Id="R9202ae29863a401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b1ee8e6692974ac0" /><Relationship Type="http://schemas.openxmlformats.org/officeDocument/2006/relationships/notesSlide" Target="/ppt/notesSlides/notesSlide32.xml" Id="R19c795e22d8d4a27"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51184a9fea804443" /><Relationship Type="http://schemas.openxmlformats.org/officeDocument/2006/relationships/image" Target="/ppt/media/image57.png" Id="R5ba0d83683ce44c1" /><Relationship Type="http://schemas.openxmlformats.org/officeDocument/2006/relationships/notesSlide" Target="/ppt/notesSlides/notesSlide33.xml" Id="R900253ed01aa4ff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6095433d6c5e48fa" /><Relationship Type="http://schemas.openxmlformats.org/officeDocument/2006/relationships/notesSlide" Target="/ppt/notesSlides/notesSlide34.xml" Id="R8e47cd7aaf8a4e6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40bc24ae724a4cca" /><Relationship Type="http://schemas.openxmlformats.org/officeDocument/2006/relationships/notesSlide" Target="/ppt/notesSlides/notesSlide35.xml" Id="R1feafb8c1671481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7cf0db89d6884f95" /><Relationship Type="http://schemas.openxmlformats.org/officeDocument/2006/relationships/image" Target="/ppt/media/image58.png" Id="Rcd6e5047ff9b4ab5" /><Relationship Type="http://schemas.openxmlformats.org/officeDocument/2006/relationships/image" Target="/ppt/media/image59.png" Id="Rb6e518ec03774842" /><Relationship Type="http://schemas.openxmlformats.org/officeDocument/2006/relationships/image" Target="/ppt/media/image12.jpeg" Id="R62ee8e48de6e449d" /><Relationship Type="http://schemas.openxmlformats.org/officeDocument/2006/relationships/notesSlide" Target="/ppt/notesSlides/notesSlide36.xml" Id="R253aaaf87c2d404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294bd7ce0263453f" /><Relationship Type="http://schemas.openxmlformats.org/officeDocument/2006/relationships/notesSlide" Target="/ppt/notesSlides/notesSlide37.xml" Id="R1c862e626caa4dfd"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5124586196bd4d63" /><Relationship Type="http://schemas.openxmlformats.org/officeDocument/2006/relationships/notesSlide" Target="/ppt/notesSlides/notesSlide38.xml" Id="R0aca6fc268134d25"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be60642e76eb4e9a" /><Relationship Type="http://schemas.openxmlformats.org/officeDocument/2006/relationships/notesSlide" Target="/ppt/notesSlides/notesSlide39.xml" Id="Rd76460f77f0941dc"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6f0498be72264363" /><Relationship Type="http://schemas.openxmlformats.org/officeDocument/2006/relationships/notesSlide" Target="/ppt/notesSlides/notesSlide40.xml" Id="R82b258d400d54032"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dc7aaa3359084840" /><Relationship Type="http://schemas.openxmlformats.org/officeDocument/2006/relationships/notesSlide" Target="/ppt/notesSlides/notesSlide41.xml" Id="Re44dea84b185461a" /></Relationships>
</file>

<file path=ppt/slides/slide1.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9" name="FoodScan">
            <a:extLst xmlns:a="http://schemas.openxmlformats.org/drawingml/2006/main">
              <a:ext uri="{FF2B5EF4-FFF2-40B4-BE49-F238E27FC236}">
                <a16:creationId xmlns:a16="http://schemas.microsoft.com/office/drawing/2014/main" id="{868EC045-8945-4916-9500-21CC52A468E8}"/>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FoodScan</a:t>
            </a:r>
          </a:p>
        </p:txBody>
      </p:sp>
      <p:sp>
        <p:nvSpPr>
          <p:cNvPr id="2" name="FoodScan · Equipo 10">
            <a:extLst xmlns:a="http://schemas.openxmlformats.org/drawingml/2006/main">
              <a:ext uri="{FF2B5EF4-FFF2-40B4-BE49-F238E27FC236}">
                <a16:creationId xmlns:a16="http://schemas.microsoft.com/office/drawing/2014/main" id="{9852854E-5C79-4AF8-AF1D-620EF8564DAF}"/>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FoodScan · Equipo 10</a:t>
            </a:r>
          </a:p>
        </p:txBody>
      </p:sp>
      <p:sp>
        <p:nvSpPr>
          <p:cNvPr id="3" name="01">
            <a:extLst xmlns:a="http://schemas.openxmlformats.org/drawingml/2006/main">
              <a:ext uri="{FF2B5EF4-FFF2-40B4-BE49-F238E27FC236}">
                <a16:creationId xmlns:a16="http://schemas.microsoft.com/office/drawing/2014/main" id="{DCF20230-B2FC-4680-B183-6B4FE305B3EC}"/>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01</a:t>
            </a:r>
          </a:p>
        </p:txBody>
      </p:sp>
      <p:sp>
        <p:nvSpPr>
          <p:cNvPr id="4" name="Información nutricional&#10;de tu porción">
            <a:extLst xmlns:a="http://schemas.openxmlformats.org/drawingml/2006/main">
              <a:ext uri="{FF2B5EF4-FFF2-40B4-BE49-F238E27FC236}">
                <a16:creationId xmlns:a16="http://schemas.microsoft.com/office/drawing/2014/main" id="{3DEB4708-49E2-4DFD-AFC1-9D5D282B0408}"/>
              </a:ext>
            </a:extLst>
          </p:cNvPr>
          <p:cNvSpPr>
            <a:spLocks xmlns:a="http://schemas.openxmlformats.org/drawingml/2006/main" noGrp="1"/>
          </p:cNvSpPr>
          <p:nvPr/>
        </p:nvSpPr>
        <p:spPr>
          <a:xfrm xmlns:a="http://schemas.openxmlformats.org/drawingml/2006/main">
            <a:off x="571500" y="1666875"/>
            <a:ext cx="7143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200" b="1">
                <a:solidFill>
                  <a:srgbClr val="173F2F"/>
                </a:solidFill>
                <a:latin typeface="Arial"/>
                <a:ea typeface="Arial"/>
                <a:cs typeface="Arial"/>
              </a:defRPr>
            </a:defPPr>
          </a:lstStyle>
          <a:p xmlns:a="http://schemas.openxmlformats.org/drawingml/2006/main">
            <a:pPr>
              <a:defRPr sz="4200" b="1">
                <a:solidFill>
                  <a:srgbClr val="173F2F"/>
                </a:solidFill>
                <a:latin typeface="Arial"/>
                <a:ea typeface="Arial"/>
                <a:cs typeface="Arial"/>
              </a:defRPr>
            </a:pPr>
            <a:r>
              <a:rPr sz="4200" b="1">
                <a:solidFill>
                  <a:srgbClr val="173F2F"/>
                </a:solidFill>
                <a:latin typeface="Arial"/>
                <a:ea typeface="Arial"/>
                <a:cs typeface="Arial"/>
              </a:rPr>
              <a:t>Información nutricional</a:t>
            </a:r>
          </a:p>
          <a:p xmlns:a="http://schemas.openxmlformats.org/drawingml/2006/main">
            <a:pPr>
              <a:defRPr sz="4200" b="1">
                <a:solidFill>
                  <a:srgbClr val="173F2F"/>
                </a:solidFill>
                <a:latin typeface="Arial"/>
                <a:ea typeface="Arial"/>
                <a:cs typeface="Arial"/>
              </a:defRPr>
            </a:pPr>
            <a:r>
              <a:rPr sz="4200" b="1">
                <a:solidFill>
                  <a:srgbClr val="173F2F"/>
                </a:solidFill>
                <a:latin typeface="Arial"/>
                <a:ea typeface="Arial"/>
                <a:cs typeface="Arial"/>
              </a:rPr>
              <a:t>de tu porción</a:t>
            </a:r>
          </a:p>
        </p:txBody>
      </p:sp>
      <p:sp>
        <p:nvSpPr>
          <p:cNvPr id="5" name="Una foto y el peso neto total del plato">
            <a:extLst xmlns:a="http://schemas.openxmlformats.org/drawingml/2006/main">
              <a:ext uri="{FF2B5EF4-FFF2-40B4-BE49-F238E27FC236}">
                <a16:creationId xmlns:a16="http://schemas.microsoft.com/office/drawing/2014/main" id="{DBE25581-FBEA-4376-B64D-B04F0D7EEB95}"/>
              </a:ext>
            </a:extLst>
          </p:cNvPr>
          <p:cNvSpPr>
            <a:spLocks xmlns:a="http://schemas.openxmlformats.org/drawingml/2006/main" noGrp="1"/>
          </p:cNvSpPr>
          <p:nvPr/>
        </p:nvSpPr>
        <p:spPr>
          <a:xfrm xmlns:a="http://schemas.openxmlformats.org/drawingml/2006/main">
            <a:off x="600075" y="3505200"/>
            <a:ext cx="6524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577161"/>
                </a:solidFill>
                <a:latin typeface="Arial"/>
                <a:ea typeface="Arial"/>
                <a:cs typeface="Arial"/>
              </a:defRPr>
            </a:defPPr>
          </a:lstStyle>
          <a:p xmlns:a="http://schemas.openxmlformats.org/drawingml/2006/main">
            <a:pPr>
              <a:defRPr sz="2325" b="0">
                <a:solidFill>
                  <a:srgbClr val="577161"/>
                </a:solidFill>
                <a:latin typeface="Arial"/>
                <a:ea typeface="Arial"/>
                <a:cs typeface="Arial"/>
              </a:defRPr>
            </a:pPr>
            <a:r>
              <a:rPr sz="2325" b="0">
                <a:solidFill>
                  <a:srgbClr val="577161"/>
                </a:solidFill>
                <a:latin typeface="Arial"/>
                <a:ea typeface="Arial"/>
                <a:cs typeface="Arial"/>
              </a:rPr>
              <a:t>Una foto y el peso neto total del plato</a:t>
            </a:r>
          </a:p>
        </p:txBody>
      </p:sp>
      <p:sp>
        <p:nvSpPr>
          <p:cNvPr id="6" name="Equipo 10&#10;Fundamentos de Diseño · UPCH&#10;Examen parcial ·">
            <a:extLst xmlns:a="http://schemas.openxmlformats.org/drawingml/2006/main">
              <a:ext uri="{FF2B5EF4-FFF2-40B4-BE49-F238E27FC236}">
                <a16:creationId xmlns:a16="http://schemas.microsoft.com/office/drawing/2014/main" id="{37E0917E-D9C1-4B5D-AFAD-D3CEB088D13B}"/>
              </a:ext>
            </a:extLst>
          </p:cNvPr>
          <p:cNvSpPr>
            <a:spLocks xmlns:a="http://schemas.openxmlformats.org/drawingml/2006/main" noGrp="1"/>
          </p:cNvSpPr>
          <p:nvPr/>
        </p:nvSpPr>
        <p:spPr>
          <a:xfrm xmlns:a="http://schemas.openxmlformats.org/drawingml/2006/main">
            <a:off x="600075" y="5048250"/>
            <a:ext cx="666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73F2F"/>
                </a:solidFill>
                <a:latin typeface="Arial"/>
                <a:ea typeface="Arial"/>
                <a:cs typeface="Arial"/>
              </a:defRPr>
            </a:defPPr>
          </a:lstStyle>
          <a:p xmlns:a="http://schemas.openxmlformats.org/drawingml/2006/main">
            <a:pPr>
              <a:defRPr sz="1800" b="0">
                <a:solidFill>
                  <a:srgbClr val="173F2F"/>
                </a:solidFill>
                <a:latin typeface="Arial"/>
                <a:ea typeface="Arial"/>
                <a:cs typeface="Arial"/>
              </a:defRPr>
            </a:pPr>
            <a:r>
              <a:rPr sz="1800" b="0">
                <a:solidFill>
                  <a:srgbClr val="173F2F"/>
                </a:solidFill>
                <a:latin typeface="Arial"/>
                <a:ea typeface="Arial"/>
                <a:cs typeface="Arial"/>
              </a:rPr>
              <a:t>Equipo 10</a:t>
            </a:r>
          </a:p>
          <a:p xmlns:a="http://schemas.openxmlformats.org/drawingml/2006/main">
            <a:pPr>
              <a:defRPr sz="1800" b="0">
                <a:solidFill>
                  <a:srgbClr val="173F2F"/>
                </a:solidFill>
                <a:latin typeface="Arial"/>
                <a:ea typeface="Arial"/>
                <a:cs typeface="Arial"/>
              </a:defRPr>
            </a:pPr>
            <a:r>
              <a:rPr sz="1800" b="0">
                <a:solidFill>
                  <a:srgbClr val="173F2F"/>
                </a:solidFill>
                <a:latin typeface="Arial"/>
                <a:ea typeface="Arial"/>
                <a:cs typeface="Arial"/>
              </a:rPr>
              <a:t>Fundamentos de Diseño · UPCH</a:t>
            </a:r>
          </a:p>
          <a:p xmlns:a="http://schemas.openxmlformats.org/drawingml/2006/main">
            <a:pPr>
              <a:defRPr sz="1800" b="0">
                <a:solidFill>
                  <a:srgbClr val="173F2F"/>
                </a:solidFill>
                <a:latin typeface="Arial"/>
                <a:ea typeface="Arial"/>
                <a:cs typeface="Arial"/>
              </a:defRPr>
            </a:pPr>
            <a:r>
              <a:rPr sz="1800" b="0">
                <a:solidFill>
                  <a:srgbClr val="173F2F"/>
                </a:solidFill>
                <a:latin typeface="Arial"/>
                <a:ea typeface="Arial"/>
                <a:cs typeface="Arial"/>
              </a:rPr>
              <a:t>Examen parcial · 2026-2</a:t>
            </a:r>
          </a:p>
        </p:txBody>
      </p:sp>
      <p:pic>
        <p:nvPicPr>
          <p:cNvPr id="7" name="">
            <a:extLst xmlns:a="http://schemas.openxmlformats.org/drawingml/2006/main">
              <a:ext uri="{FF2B5EF4-FFF2-40B4-BE49-F238E27FC236}">
                <a16:creationId xmlns:a16="http://schemas.microsoft.com/office/drawing/2014/main" id="{EC986654-901D-4493-A263-6404D1368DA4}"/>
              </a:ext>
            </a:extLst>
          </p:cNvPr>
          <p:cNvPicPr>
            <a:picLocks xmlns:a="http://schemas.openxmlformats.org/drawingml/2006/main" noChangeAspect="1"/>
          </p:cNvPicPr>
          <p:nvPr/>
        </p:nvPicPr>
        <p:blipFill>
          <a:blip xmlns:r="http://schemas.openxmlformats.org/officeDocument/2006/relationships" xmlns:a="http://schemas.openxmlformats.org/drawingml/2006/main" r:embed="R355b2bcdadb74de8"/>
          <a:stretch xmlns:a="http://schemas.openxmlformats.org/drawingml/2006/main"/>
        </p:blipFill>
        <p:spPr>
          <a:xfrm xmlns:a="http://schemas.openxmlformats.org/drawingml/2006/main">
            <a:off x="8105775" y="1272673"/>
            <a:ext cx="3143250" cy="4503153"/>
          </a:xfrm>
          <a:prstGeom xmlns:a="http://schemas.openxmlformats.org/drawingml/2006/main" prst="rect">
            <a:avLst/>
          </a:prstGeom>
        </p:spPr>
      </p:pic>
      <p:sp>
        <p:nvSpPr>
          <p:cNvPr id="8" name="Captura de la app · modo Ejemplo">
            <a:extLst xmlns:a="http://schemas.openxmlformats.org/drawingml/2006/main">
              <a:ext uri="{FF2B5EF4-FFF2-40B4-BE49-F238E27FC236}">
                <a16:creationId xmlns:a16="http://schemas.microsoft.com/office/drawing/2014/main" id="{D2D8C62A-1163-44B1-9CC7-7B7FB553BE95}"/>
              </a:ext>
            </a:extLst>
          </p:cNvPr>
          <p:cNvSpPr>
            <a:spLocks xmlns:a="http://schemas.openxmlformats.org/drawingml/2006/main" noGrp="1"/>
          </p:cNvSpPr>
          <p:nvPr/>
        </p:nvSpPr>
        <p:spPr>
          <a:xfrm xmlns:a="http://schemas.openxmlformats.org/drawingml/2006/main">
            <a:off x="7962900" y="5924550"/>
            <a:ext cx="3476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77161"/>
                </a:solidFill>
                <a:latin typeface="Arial"/>
                <a:ea typeface="Arial"/>
                <a:cs typeface="Arial"/>
              </a:defRPr>
            </a:defPPr>
          </a:lstStyle>
          <a:p xmlns:a="http://schemas.openxmlformats.org/drawingml/2006/main">
            <a:pPr>
              <a:defRPr sz="1275" b="0">
                <a:solidFill>
                  <a:srgbClr val="577161"/>
                </a:solidFill>
                <a:latin typeface="Arial"/>
                <a:ea typeface="Arial"/>
                <a:cs typeface="Arial"/>
              </a:defRPr>
            </a:pPr>
            <a:r>
              <a:rPr sz="1275" b="0">
                <a:solidFill>
                  <a:srgbClr val="577161"/>
                </a:solidFill>
                <a:latin typeface="Arial"/>
                <a:ea typeface="Arial"/>
                <a:cs typeface="Arial"/>
              </a:rPr>
              <a:t>Captura de la app · modo Ejemplo</a:t>
            </a:r>
          </a:p>
        </p:txBody>
      </p:sp>
    </p:spTree>
    <p:extLst>
      <p:ext uri="{BB962C8B-B14F-4D97-AF65-F5344CB8AC3E}">
        <p14:creationId xmlns:p14="http://schemas.microsoft.com/office/powerpoint/2010/main" val="2112536440"/>
      </p:ext>
    </p:extLst>
  </p:cSld>
</p:sld>
</file>

<file path=ppt/slides/slide2.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9" name="El problema: relacionar la porción y los nutrientes">
            <a:extLst xmlns:a="http://schemas.openxmlformats.org/drawingml/2006/main">
              <a:ext uri="{FF2B5EF4-FFF2-40B4-BE49-F238E27FC236}">
                <a16:creationId xmlns:a16="http://schemas.microsoft.com/office/drawing/2014/main" id="{35463C19-0C26-4FAC-A93C-B214653F92A4}"/>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El problema: relacionar la porción y los nutrientes</a:t>
            </a:r>
          </a:p>
        </p:txBody>
      </p:sp>
      <p:sp>
        <p:nvSpPr>
          <p:cNvPr id="2" name="Público inicial: personas físicamente activas que regis">
            <a:extLst xmlns:a="http://schemas.openxmlformats.org/drawingml/2006/main">
              <a:ext uri="{FF2B5EF4-FFF2-40B4-BE49-F238E27FC236}">
                <a16:creationId xmlns:a16="http://schemas.microsoft.com/office/drawing/2014/main" id="{1CBAD276-528E-4155-81D4-B7D565094006}"/>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Público inicial: personas físicamente activas que registran su alimentación</a:t>
            </a:r>
          </a:p>
        </p:txBody>
      </p:sp>
      <p:sp>
        <p:nvSpPr>
          <p:cNvPr id="3" name="Fuentes [1], [2], [3], [16] · Referencias al final">
            <a:extLst xmlns:a="http://schemas.openxmlformats.org/drawingml/2006/main">
              <a:ext uri="{FF2B5EF4-FFF2-40B4-BE49-F238E27FC236}">
                <a16:creationId xmlns:a16="http://schemas.microsoft.com/office/drawing/2014/main" id="{E1D0B263-E653-4B46-B4FF-C25926F3CD54}"/>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[1], [2], [3], [16] · Referencias al final</a:t>
            </a:r>
          </a:p>
        </p:txBody>
      </p:sp>
      <p:sp>
        <p:nvSpPr>
          <p:cNvPr id="4" name="02">
            <a:extLst xmlns:a="http://schemas.openxmlformats.org/drawingml/2006/main">
              <a:ext uri="{FF2B5EF4-FFF2-40B4-BE49-F238E27FC236}">
                <a16:creationId xmlns:a16="http://schemas.microsoft.com/office/drawing/2014/main" id="{623181E1-B1EE-4FF9-A872-82C74D10DA1C}"/>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02</a:t>
            </a:r>
          </a:p>
        </p:txBody>
      </p:sp>
      <p:sp>
        <p:nvSpPr>
          <p:cNvPr id="5" name="La tabla da valores por 100 g.&#10;El usuario come una porc">
            <a:extLst xmlns:a="http://schemas.openxmlformats.org/drawingml/2006/main">
              <a:ext uri="{FF2B5EF4-FFF2-40B4-BE49-F238E27FC236}">
                <a16:creationId xmlns:a16="http://schemas.microsoft.com/office/drawing/2014/main" id="{9E381CC1-DDBF-419E-A10E-02EE2B9B5015}"/>
              </a:ext>
            </a:extLst>
          </p:cNvPr>
          <p:cNvSpPr>
            <a:spLocks xmlns:a="http://schemas.openxmlformats.org/drawingml/2006/main" noGrp="1"/>
          </p:cNvSpPr>
          <p:nvPr/>
        </p:nvSpPr>
        <p:spPr>
          <a:xfrm xmlns:a="http://schemas.openxmlformats.org/drawingml/2006/main">
            <a:off x="571500" y="1743075"/>
            <a:ext cx="676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73F2F"/>
                </a:solidFill>
                <a:latin typeface="Arial"/>
                <a:ea typeface="Arial"/>
                <a:cs typeface="Arial"/>
              </a:defRPr>
            </a:defPPr>
          </a:lstStyle>
          <a:p xmlns:a="http://schemas.openxmlformats.org/drawingml/2006/main">
            <a:pPr>
              <a:defRPr sz="2850" b="1">
                <a:solidFill>
                  <a:srgbClr val="173F2F"/>
                </a:solidFill>
                <a:latin typeface="Arial"/>
                <a:ea typeface="Arial"/>
                <a:cs typeface="Arial"/>
              </a:defRPr>
            </a:pPr>
            <a:r>
              <a:rPr sz="2850" b="1">
                <a:solidFill>
                  <a:srgbClr val="173F2F"/>
                </a:solidFill>
                <a:latin typeface="Arial"/>
                <a:ea typeface="Arial"/>
                <a:cs typeface="Arial"/>
              </a:rPr>
              <a:t>La tabla da valores por 100 g.</a:t>
            </a:r>
          </a:p>
          <a:p xmlns:a="http://schemas.openxmlformats.org/drawingml/2006/main">
            <a:pPr>
              <a:defRPr sz="2850" b="1">
                <a:solidFill>
                  <a:srgbClr val="173F2F"/>
                </a:solidFill>
                <a:latin typeface="Arial"/>
                <a:ea typeface="Arial"/>
                <a:cs typeface="Arial"/>
              </a:defRPr>
            </a:pPr>
            <a:r>
              <a:rPr sz="2850" b="1">
                <a:solidFill>
                  <a:srgbClr val="173F2F"/>
                </a:solidFill>
                <a:latin typeface="Arial"/>
                <a:ea typeface="Arial"/>
                <a:cs typeface="Arial"/>
              </a:rPr>
              <a:t>El usuario come una porción real.</a:t>
            </a:r>
          </a:p>
        </p:txBody>
      </p:sp>
      <p:sp>
        <p:nvSpPr>
          <p:cNvPr id="6" name="FoodScan vincula una foto, el peso total&#10;y una referenc">
            <a:extLst xmlns:a="http://schemas.openxmlformats.org/drawingml/2006/main">
              <a:ext uri="{FF2B5EF4-FFF2-40B4-BE49-F238E27FC236}">
                <a16:creationId xmlns:a16="http://schemas.microsoft.com/office/drawing/2014/main" id="{9A0C477B-079C-4177-B720-B4ADD80959FD}"/>
              </a:ext>
            </a:extLst>
          </p:cNvPr>
          <p:cNvSpPr>
            <a:spLocks xmlns:a="http://schemas.openxmlformats.org/drawingml/2006/main" noGrp="1"/>
          </p:cNvSpPr>
          <p:nvPr/>
        </p:nvSpPr>
        <p:spPr>
          <a:xfrm xmlns:a="http://schemas.openxmlformats.org/drawingml/2006/main">
            <a:off x="571500" y="3143250"/>
            <a:ext cx="6953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73F2F"/>
                </a:solidFill>
                <a:latin typeface="Arial"/>
                <a:ea typeface="Arial"/>
                <a:cs typeface="Arial"/>
              </a:defRPr>
            </a:defPPr>
          </a:lstStyle>
          <a:p xmlns:a="http://schemas.openxmlformats.org/drawingml/2006/main">
            <a:pPr>
              <a:defRPr sz="2250" b="0">
                <a:solidFill>
                  <a:srgbClr val="173F2F"/>
                </a:solidFill>
                <a:latin typeface="Arial"/>
                <a:ea typeface="Arial"/>
                <a:cs typeface="Arial"/>
              </a:defRPr>
            </a:pPr>
            <a:r>
              <a:rPr sz="2250" b="0">
                <a:solidFill>
                  <a:srgbClr val="173F2F"/>
                </a:solidFill>
                <a:latin typeface="Arial"/>
                <a:ea typeface="Arial"/>
                <a:cs typeface="Arial"/>
              </a:rPr>
              <a:t>FoodScan vincula una foto, el peso total</a:t>
            </a:r>
          </a:p>
          <a:p xmlns:a="http://schemas.openxmlformats.org/drawingml/2006/main">
            <a:pPr>
              <a:defRPr sz="2250" b="0">
                <a:solidFill>
                  <a:srgbClr val="173F2F"/>
                </a:solidFill>
                <a:latin typeface="Arial"/>
                <a:ea typeface="Arial"/>
                <a:cs typeface="Arial"/>
              </a:defRPr>
            </a:pPr>
            <a:r>
              <a:rPr sz="2250" b="0">
                <a:solidFill>
                  <a:srgbClr val="173F2F"/>
                </a:solidFill>
                <a:latin typeface="Arial"/>
                <a:ea typeface="Arial"/>
                <a:cs typeface="Arial"/>
              </a:rPr>
              <a:t>y una referencia nutricional peruana.</a:t>
            </a:r>
          </a:p>
        </p:txBody>
      </p:sp>
      <p:sp>
        <p:nvSpPr>
          <p:cNvPr id="7" name="Identificar y estimar proporciones&#10;Revisar alimentos y ">
            <a:extLst xmlns:a="http://schemas.openxmlformats.org/drawingml/2006/main">
              <a:ext uri="{FF2B5EF4-FFF2-40B4-BE49-F238E27FC236}">
                <a16:creationId xmlns:a16="http://schemas.microsoft.com/office/drawing/2014/main" id="{FB2D7B12-115D-419D-8DB2-8C87A54C71E4}"/>
              </a:ext>
            </a:extLst>
          </p:cNvPr>
          <p:cNvSpPr>
            <a:spLocks xmlns:a="http://schemas.openxmlformats.org/drawingml/2006/main" noGrp="1"/>
          </p:cNvSpPr>
          <p:nvPr/>
        </p:nvSpPr>
        <p:spPr>
          <a:xfrm xmlns:a="http://schemas.openxmlformats.org/drawingml/2006/main">
            <a:off x="571500" y="4552950"/>
            <a:ext cx="67627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577161"/>
                </a:solidFill>
                <a:latin typeface="Arial"/>
                <a:ea typeface="Arial"/>
                <a:cs typeface="Arial"/>
              </a:defRPr>
            </a:defPPr>
          </a:lstStyle>
          <a:p xmlns:a="http://schemas.openxmlformats.org/drawingml/2006/main">
            <a:pPr>
              <a:defRPr sz="2025" b="0">
                <a:solidFill>
                  <a:srgbClr val="577161"/>
                </a:solidFill>
                <a:latin typeface="Arial"/>
                <a:ea typeface="Arial"/>
                <a:cs typeface="Arial"/>
              </a:defRPr>
            </a:pPr>
            <a:r>
              <a:rPr sz="2025" b="0">
                <a:solidFill>
                  <a:srgbClr val="577161"/>
                </a:solidFill>
                <a:latin typeface="Arial"/>
                <a:ea typeface="Arial"/>
                <a:cs typeface="Arial"/>
              </a:rPr>
              <a:t>Identificar y estimar proporciones</a:t>
            </a:r>
          </a:p>
          <a:p xmlns:a="http://schemas.openxmlformats.org/drawingml/2006/main">
            <a:pPr>
              <a:defRPr sz="2025" b="0">
                <a:solidFill>
                  <a:srgbClr val="577161"/>
                </a:solidFill>
                <a:latin typeface="Arial"/>
                <a:ea typeface="Arial"/>
                <a:cs typeface="Arial"/>
              </a:defRPr>
            </a:pPr>
            <a:r>
              <a:rPr sz="2025" b="0">
                <a:solidFill>
                  <a:srgbClr val="577161"/>
                </a:solidFill>
                <a:latin typeface="Arial"/>
                <a:ea typeface="Arial"/>
                <a:cs typeface="Arial"/>
              </a:rPr>
              <a:t>Revisar alimentos y cantidad</a:t>
            </a:r>
          </a:p>
          <a:p xmlns:a="http://schemas.openxmlformats.org/drawingml/2006/main">
            <a:pPr>
              <a:defRPr sz="2025" b="0">
                <a:solidFill>
                  <a:srgbClr val="577161"/>
                </a:solidFill>
                <a:latin typeface="Arial"/>
                <a:ea typeface="Arial"/>
                <a:cs typeface="Arial"/>
              </a:defRPr>
            </a:pPr>
            <a:r>
              <a:rPr sz="2025" b="0">
                <a:solidFill>
                  <a:srgbClr val="577161"/>
                </a:solidFill>
                <a:latin typeface="Arial"/>
                <a:ea typeface="Arial"/>
                <a:cs typeface="Arial"/>
              </a:rPr>
              <a:t>Calcular kcal y macronutrientes</a:t>
            </a:r>
          </a:p>
        </p:txBody>
      </p:sp>
      <p:pic>
        <p:nvPicPr>
          <p:cNvPr id="8" name="">
            <a:extLst xmlns:a="http://schemas.openxmlformats.org/drawingml/2006/main">
              <a:ext uri="{FF2B5EF4-FFF2-40B4-BE49-F238E27FC236}">
                <a16:creationId xmlns:a16="http://schemas.microsoft.com/office/drawing/2014/main" id="{156A8F3A-E52E-49AF-A339-6CB78E90112E}"/>
              </a:ext>
            </a:extLst>
          </p:cNvPr>
          <p:cNvPicPr>
            <a:picLocks xmlns:a="http://schemas.openxmlformats.org/drawingml/2006/main" noChangeAspect="1"/>
          </p:cNvPicPr>
          <p:nvPr/>
        </p:nvPicPr>
        <p:blipFill>
          <a:blip xmlns:r="http://schemas.openxmlformats.org/officeDocument/2006/relationships" xmlns:a="http://schemas.openxmlformats.org/drawingml/2006/main" r:embed="R6df87a05d32f48cc"/>
          <a:stretch xmlns:a="http://schemas.openxmlformats.org/drawingml/2006/main"/>
        </p:blipFill>
        <p:spPr>
          <a:xfrm xmlns:a="http://schemas.openxmlformats.org/drawingml/2006/main">
            <a:off x="8498140" y="1581150"/>
            <a:ext cx="2091821" cy="4533900"/>
          </a:xfrm>
          <a:prstGeom xmlns:a="http://schemas.openxmlformats.org/drawingml/2006/main" prst="rect">
            <a:avLst/>
          </a:prstGeom>
        </p:spPr>
      </p:pic>
    </p:spTree>
    <p:extLst>
      <p:ext uri="{BB962C8B-B14F-4D97-AF65-F5344CB8AC3E}">
        <p14:creationId xmlns:p14="http://schemas.microsoft.com/office/powerpoint/2010/main" val="703980477"/>
      </p:ext>
    </p:extLst>
  </p:cSld>
</p:sld>
</file>

<file path=ppt/slides/slide3.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4" name="Artículo 1 · Volumen desde imágenes">
            <a:extLst xmlns:a="http://schemas.openxmlformats.org/drawingml/2006/main">
              <a:ext uri="{FF2B5EF4-FFF2-40B4-BE49-F238E27FC236}">
                <a16:creationId xmlns:a16="http://schemas.microsoft.com/office/drawing/2014/main" id="{A5A2A585-83E6-4A4B-A6DB-F73B805A6065}"/>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Artículo 1 · Volumen desde imágenes</a:t>
            </a:r>
          </a:p>
        </p:txBody>
      </p:sp>
      <p:sp>
        <p:nvSpPr>
          <p:cNvPr id="2" name="A Comparison of Food Portion Size Estimation Using Geom">
            <a:extLst xmlns:a="http://schemas.openxmlformats.org/drawingml/2006/main">
              <a:ext uri="{FF2B5EF4-FFF2-40B4-BE49-F238E27FC236}">
                <a16:creationId xmlns:a16="http://schemas.microsoft.com/office/drawing/2014/main" id="{77FAFA02-3DFF-4660-ADF4-443EFE58A27C}"/>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A Comparison of Food Portion Size Estimation Using Geometric Models and Depth Images</a:t>
            </a:r>
          </a:p>
        </p:txBody>
      </p:sp>
      <p:sp>
        <p:nvSpPr>
          <p:cNvPr id="3" name="Fuentes [1] · Referencias al final">
            <a:extLst xmlns:a="http://schemas.openxmlformats.org/drawingml/2006/main">
              <a:ext uri="{FF2B5EF4-FFF2-40B4-BE49-F238E27FC236}">
                <a16:creationId xmlns:a16="http://schemas.microsoft.com/office/drawing/2014/main" id="{5ED39C6A-EB2B-4B74-81E2-74A7D2C4B433}"/>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[1] · Referencias al final</a:t>
            </a:r>
          </a:p>
        </p:txBody>
      </p:sp>
      <p:sp>
        <p:nvSpPr>
          <p:cNvPr id="4" name="03">
            <a:extLst xmlns:a="http://schemas.openxmlformats.org/drawingml/2006/main">
              <a:ext uri="{FF2B5EF4-FFF2-40B4-BE49-F238E27FC236}">
                <a16:creationId xmlns:a16="http://schemas.microsoft.com/office/drawing/2014/main" id="{24E1857B-C462-4950-898F-E2FB6530A62F}"/>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03</a:t>
            </a:r>
          </a:p>
        </p:txBody>
      </p:sp>
      <p:pic>
        <p:nvPicPr>
          <p:cNvPr id="5" name="">
            <a:extLst xmlns:a="http://schemas.openxmlformats.org/drawingml/2006/main">
              <a:ext uri="{FF2B5EF4-FFF2-40B4-BE49-F238E27FC236}">
                <a16:creationId xmlns:a16="http://schemas.microsoft.com/office/drawing/2014/main" id="{22BF65DD-6DF3-4595-BA70-D94FCC66C76B}"/>
              </a:ext>
            </a:extLst>
          </p:cNvPr>
          <p:cNvPicPr>
            <a:picLocks xmlns:a="http://schemas.openxmlformats.org/drawingml/2006/main" noChangeAspect="1"/>
          </p:cNvPicPr>
          <p:nvPr/>
        </p:nvPicPr>
        <p:blipFill>
          <a:blip xmlns:r="http://schemas.openxmlformats.org/officeDocument/2006/relationships" xmlns:a="http://schemas.openxmlformats.org/drawingml/2006/main" r:embed="R96ae369c191341ac"/>
          <a:stretch xmlns:a="http://schemas.openxmlformats.org/drawingml/2006/main"/>
        </p:blipFill>
        <p:spPr>
          <a:xfrm xmlns:a="http://schemas.openxmlformats.org/drawingml/2006/main">
            <a:off x="1020285" y="1790700"/>
            <a:ext cx="4969831" cy="3714750"/>
          </a:xfrm>
          <a:prstGeom xmlns:a="http://schemas.openxmlformats.org/drawingml/2006/main" prst="rect">
            <a:avLst/>
          </a:prstGeom>
        </p:spPr>
      </p:pic>
      <p:sp>
        <p:nvSpPr>
          <p:cNvPr id="6" name="Figura original del antecedente">
            <a:extLst xmlns:a="http://schemas.openxmlformats.org/drawingml/2006/main">
              <a:ext uri="{FF2B5EF4-FFF2-40B4-BE49-F238E27FC236}">
                <a16:creationId xmlns:a16="http://schemas.microsoft.com/office/drawing/2014/main" id="{937F3DD9-4EA7-49EE-B9C4-A2A2AAE5D4B3}"/>
              </a:ext>
            </a:extLst>
          </p:cNvPr>
          <p:cNvSpPr>
            <a:spLocks xmlns:a="http://schemas.openxmlformats.org/drawingml/2006/main" noGrp="1"/>
          </p:cNvSpPr>
          <p:nvPr/>
        </p:nvSpPr>
        <p:spPr>
          <a:xfrm xmlns:a="http://schemas.openxmlformats.org/drawingml/2006/main">
            <a:off x="571500" y="5648325"/>
            <a:ext cx="586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77161"/>
                </a:solidFill>
                <a:latin typeface="Arial"/>
                <a:ea typeface="Arial"/>
                <a:cs typeface="Arial"/>
              </a:defRPr>
            </a:defPPr>
          </a:lstStyle>
          <a:p xmlns:a="http://schemas.openxmlformats.org/drawingml/2006/main">
            <a:pPr>
              <a:defRPr sz="1275" b="0">
                <a:solidFill>
                  <a:srgbClr val="577161"/>
                </a:solidFill>
                <a:latin typeface="Arial"/>
                <a:ea typeface="Arial"/>
                <a:cs typeface="Arial"/>
              </a:defRPr>
            </a:pPr>
            <a:r>
              <a:rPr sz="1275" b="0">
                <a:solidFill>
                  <a:srgbClr val="577161"/>
                </a:solidFill>
                <a:latin typeface="Arial"/>
                <a:ea typeface="Arial"/>
                <a:cs typeface="Arial"/>
              </a:rPr>
              <a:t>Figura original del antecedente</a:t>
            </a:r>
          </a:p>
        </p:txBody>
      </p:sp>
      <p:sp>
        <p:nvSpPr>
          <p:cNvPr id="7" name="9 de 10">
            <a:extLst xmlns:a="http://schemas.openxmlformats.org/drawingml/2006/main">
              <a:ext uri="{FF2B5EF4-FFF2-40B4-BE49-F238E27FC236}">
                <a16:creationId xmlns:a16="http://schemas.microsoft.com/office/drawing/2014/main" id="{21B9C8C7-C295-445C-86D0-DCA2B53F4DA2}"/>
              </a:ext>
            </a:extLst>
          </p:cNvPr>
          <p:cNvSpPr>
            <a:spLocks xmlns:a="http://schemas.openxmlformats.org/drawingml/2006/main" noGrp="1"/>
          </p:cNvSpPr>
          <p:nvPr/>
        </p:nvSpPr>
        <p:spPr>
          <a:xfrm xmlns:a="http://schemas.openxmlformats.org/drawingml/2006/main">
            <a:off x="6934200" y="1695450"/>
            <a:ext cx="4667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3F2F"/>
                </a:solidFill>
                <a:latin typeface="Arial"/>
                <a:ea typeface="Arial"/>
                <a:cs typeface="Arial"/>
              </a:defRPr>
            </a:defPPr>
          </a:lstStyle>
          <a:p xmlns:a="http://schemas.openxmlformats.org/drawingml/2006/main">
            <a:pPr>
              <a:defRPr sz="3300" b="1">
                <a:solidFill>
                  <a:srgbClr val="173F2F"/>
                </a:solidFill>
                <a:latin typeface="Arial"/>
                <a:ea typeface="Arial"/>
                <a:cs typeface="Arial"/>
              </a:defRPr>
            </a:pPr>
            <a:r>
              <a:rPr sz="3300" b="1">
                <a:solidFill>
                  <a:srgbClr val="173F2F"/>
                </a:solidFill>
                <a:latin typeface="Arial"/>
                <a:ea typeface="Arial"/>
                <a:cs typeface="Arial"/>
              </a:rPr>
              <a:t>9 de 10</a:t>
            </a:r>
          </a:p>
        </p:txBody>
      </p:sp>
      <p:sp>
        <p:nvSpPr>
          <p:cNvPr id="8" name="objetos sobreestimados con profundidad">
            <a:extLst xmlns:a="http://schemas.openxmlformats.org/drawingml/2006/main">
              <a:ext uri="{FF2B5EF4-FFF2-40B4-BE49-F238E27FC236}">
                <a16:creationId xmlns:a16="http://schemas.microsoft.com/office/drawing/2014/main" id="{84FB73AF-0875-4297-9576-EF1D040495E9}"/>
              </a:ext>
            </a:extLst>
          </p:cNvPr>
          <p:cNvSpPr>
            <a:spLocks xmlns:a="http://schemas.openxmlformats.org/drawingml/2006/main" noGrp="1"/>
          </p:cNvSpPr>
          <p:nvPr/>
        </p:nvSpPr>
        <p:spPr>
          <a:xfrm xmlns:a="http://schemas.openxmlformats.org/drawingml/2006/main">
            <a:off x="6934200" y="2324100"/>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objetos sobreestimados con profundidad</a:t>
            </a:r>
          </a:p>
        </p:txBody>
      </p:sp>
      <p:sp>
        <p:nvSpPr>
          <p:cNvPr id="9" name="Geometría conocida frente a mapas de profundidad y vóxe">
            <a:extLst xmlns:a="http://schemas.openxmlformats.org/drawingml/2006/main">
              <a:ext uri="{FF2B5EF4-FFF2-40B4-BE49-F238E27FC236}">
                <a16:creationId xmlns:a16="http://schemas.microsoft.com/office/drawing/2014/main" id="{83F09302-EDFF-4CCE-9969-117A21ADAF3F}"/>
              </a:ext>
            </a:extLst>
          </p:cNvPr>
          <p:cNvSpPr>
            <a:spLocks xmlns:a="http://schemas.openxmlformats.org/drawingml/2006/main" noGrp="1"/>
          </p:cNvSpPr>
          <p:nvPr/>
        </p:nvSpPr>
        <p:spPr>
          <a:xfrm xmlns:a="http://schemas.openxmlformats.org/drawingml/2006/main">
            <a:off x="6934200" y="2905125"/>
            <a:ext cx="4667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Geometría conocida frente a mapas de profundidad y vóxeles.</a:t>
            </a:r>
          </a:p>
        </p:txBody>
      </p:sp>
      <p:sp>
        <p:nvSpPr>
          <p:cNvPr id="10" name="Aporte al proyecto">
            <a:extLst xmlns:a="http://schemas.openxmlformats.org/drawingml/2006/main">
              <a:ext uri="{FF2B5EF4-FFF2-40B4-BE49-F238E27FC236}">
                <a16:creationId xmlns:a16="http://schemas.microsoft.com/office/drawing/2014/main" id="{CC023DA2-2DC8-4B6C-AB4E-DB5C28015F84}"/>
              </a:ext>
            </a:extLst>
          </p:cNvPr>
          <p:cNvSpPr>
            <a:spLocks xmlns:a="http://schemas.openxmlformats.org/drawingml/2006/main" noGrp="1"/>
          </p:cNvSpPr>
          <p:nvPr/>
        </p:nvSpPr>
        <p:spPr>
          <a:xfrm xmlns:a="http://schemas.openxmlformats.org/drawingml/2006/main">
            <a:off x="6934200" y="38290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Aporte al proyecto</a:t>
            </a:r>
          </a:p>
        </p:txBody>
      </p:sp>
      <p:sp>
        <p:nvSpPr>
          <p:cNvPr id="11" name="La captura, la forma y la escala condicionan la cantida">
            <a:extLst xmlns:a="http://schemas.openxmlformats.org/drawingml/2006/main">
              <a:ext uri="{FF2B5EF4-FFF2-40B4-BE49-F238E27FC236}">
                <a16:creationId xmlns:a16="http://schemas.microsoft.com/office/drawing/2014/main" id="{17D6BCBE-CD06-49BC-B340-DA209B5CF716}"/>
              </a:ext>
            </a:extLst>
          </p:cNvPr>
          <p:cNvSpPr>
            <a:spLocks xmlns:a="http://schemas.openxmlformats.org/drawingml/2006/main" noGrp="1"/>
          </p:cNvSpPr>
          <p:nvPr/>
        </p:nvSpPr>
        <p:spPr>
          <a:xfrm xmlns:a="http://schemas.openxmlformats.org/drawingml/2006/main">
            <a:off x="6934200" y="4162425"/>
            <a:ext cx="466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73F2F"/>
                </a:solidFill>
                <a:latin typeface="Arial"/>
                <a:ea typeface="Arial"/>
                <a:cs typeface="Arial"/>
              </a:defRPr>
            </a:defPPr>
          </a:lstStyle>
          <a:p xmlns:a="http://schemas.openxmlformats.org/drawingml/2006/main">
            <a:pPr>
              <a:defRPr sz="1800" b="0">
                <a:solidFill>
                  <a:srgbClr val="173F2F"/>
                </a:solidFill>
                <a:latin typeface="Arial"/>
                <a:ea typeface="Arial"/>
                <a:cs typeface="Arial"/>
              </a:defRPr>
            </a:pPr>
            <a:r>
              <a:rPr sz="1800" b="0">
                <a:solidFill>
                  <a:srgbClr val="173F2F"/>
                </a:solidFill>
                <a:latin typeface="Arial"/>
                <a:ea typeface="Arial"/>
                <a:cs typeface="Arial"/>
              </a:rPr>
              <a:t>La captura, la forma y la escala condicionan la cantidad.</a:t>
            </a:r>
          </a:p>
        </p:txBody>
      </p:sp>
      <p:sp>
        <p:nvSpPr>
          <p:cNvPr id="12" name="Límite: Réplicas y máscaras conocidas. El vaso llegó a ">
            <a:extLst xmlns:a="http://schemas.openxmlformats.org/drawingml/2006/main">
              <a:ext uri="{FF2B5EF4-FFF2-40B4-BE49-F238E27FC236}">
                <a16:creationId xmlns:a16="http://schemas.microsoft.com/office/drawing/2014/main" id="{C2A1EB7D-7577-45DE-899A-0C9D1C15B020}"/>
              </a:ext>
            </a:extLst>
          </p:cNvPr>
          <p:cNvSpPr>
            <a:spLocks xmlns:a="http://schemas.openxmlformats.org/drawingml/2006/main" noGrp="1"/>
          </p:cNvSpPr>
          <p:nvPr/>
        </p:nvSpPr>
        <p:spPr>
          <a:xfrm xmlns:a="http://schemas.openxmlformats.org/drawingml/2006/main">
            <a:off x="6934200" y="5143500"/>
            <a:ext cx="466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77161"/>
                </a:solidFill>
                <a:latin typeface="Arial"/>
                <a:ea typeface="Arial"/>
                <a:cs typeface="Arial"/>
              </a:defRPr>
            </a:defPPr>
          </a:lstStyle>
          <a:p xmlns:a="http://schemas.openxmlformats.org/drawingml/2006/main">
            <a:pPr>
              <a:defRPr sz="1575" b="0">
                <a:solidFill>
                  <a:srgbClr val="577161"/>
                </a:solidFill>
                <a:latin typeface="Arial"/>
                <a:ea typeface="Arial"/>
                <a:cs typeface="Arial"/>
              </a:defRPr>
            </a:pPr>
            <a:r>
              <a:rPr sz="1575" b="0">
                <a:solidFill>
                  <a:srgbClr val="577161"/>
                </a:solidFill>
                <a:latin typeface="Arial"/>
                <a:ea typeface="Arial"/>
                <a:cs typeface="Arial"/>
              </a:rPr>
              <a:t>Límite: Réplicas y máscaras conocidas. El vaso llegó a 2,34 veces el volumen real.</a:t>
            </a:r>
          </a:p>
        </p:txBody>
      </p:sp>
      <p:sp>
        <p:nvSpPr>
          <p:cNvPr id="13" name="F3 Capturar · F5 Determinar cantidad">
            <a:extLst xmlns:a="http://schemas.openxmlformats.org/drawingml/2006/main">
              <a:ext uri="{FF2B5EF4-FFF2-40B4-BE49-F238E27FC236}">
                <a16:creationId xmlns:a16="http://schemas.microsoft.com/office/drawing/2014/main" id="{04F62732-9277-40D9-8E0F-B3737BD9E7C3}"/>
              </a:ext>
            </a:extLst>
          </p:cNvPr>
          <p:cNvSpPr>
            <a:spLocks xmlns:a="http://schemas.openxmlformats.org/drawingml/2006/main" noGrp="1"/>
          </p:cNvSpPr>
          <p:nvPr/>
        </p:nvSpPr>
        <p:spPr>
          <a:xfrm xmlns:a="http://schemas.openxmlformats.org/drawingml/2006/main">
            <a:off x="571500" y="601980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F3 Capturar · F5 Determinar cantidad</a:t>
            </a:r>
          </a:p>
        </p:txBody>
      </p:sp>
    </p:spTree>
    <p:extLst>
      <p:ext uri="{BB962C8B-B14F-4D97-AF65-F5344CB8AC3E}">
        <p14:creationId xmlns:p14="http://schemas.microsoft.com/office/powerpoint/2010/main" val="1955595072"/>
      </p:ext>
    </p:extLst>
  </p:cSld>
</p:sld>
</file>

<file path=ppt/slides/slide4.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4" name="Artículo 2 · Peso desde una fotografía">
            <a:extLst xmlns:a="http://schemas.openxmlformats.org/drawingml/2006/main">
              <a:ext uri="{FF2B5EF4-FFF2-40B4-BE49-F238E27FC236}">
                <a16:creationId xmlns:a16="http://schemas.microsoft.com/office/drawing/2014/main" id="{691D328A-6227-4FB4-B728-8A0CD816F037}"/>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Artículo 2 · Peso desde una fotografía</a:t>
            </a:r>
          </a:p>
        </p:txBody>
      </p:sp>
      <p:sp>
        <p:nvSpPr>
          <p:cNvPr id="2" name="A Novel Approach to Estimate the Weight of Food Items B">
            <a:extLst xmlns:a="http://schemas.openxmlformats.org/drawingml/2006/main">
              <a:ext uri="{FF2B5EF4-FFF2-40B4-BE49-F238E27FC236}">
                <a16:creationId xmlns:a16="http://schemas.microsoft.com/office/drawing/2014/main" id="{58A91C8D-A542-4251-987D-917AC561DC0A}"/>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A Novel Approach to Estimate the Weight of Food Items Based on Features Extracted from an Image Using Boosting Algorithms</a:t>
            </a:r>
          </a:p>
        </p:txBody>
      </p:sp>
      <p:sp>
        <p:nvSpPr>
          <p:cNvPr id="3" name="Fuentes [2] · Referencias al final">
            <a:extLst xmlns:a="http://schemas.openxmlformats.org/drawingml/2006/main">
              <a:ext uri="{FF2B5EF4-FFF2-40B4-BE49-F238E27FC236}">
                <a16:creationId xmlns:a16="http://schemas.microsoft.com/office/drawing/2014/main" id="{D224BFFA-0405-43E1-B066-157842442837}"/>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[2] · Referencias al final</a:t>
            </a:r>
          </a:p>
        </p:txBody>
      </p:sp>
      <p:sp>
        <p:nvSpPr>
          <p:cNvPr id="4" name="04">
            <a:extLst xmlns:a="http://schemas.openxmlformats.org/drawingml/2006/main">
              <a:ext uri="{FF2B5EF4-FFF2-40B4-BE49-F238E27FC236}">
                <a16:creationId xmlns:a16="http://schemas.microsoft.com/office/drawing/2014/main" id="{BE5DF8E3-C0D5-4F92-84AE-1E5CE4D6FF13}"/>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04</a:t>
            </a:r>
          </a:p>
        </p:txBody>
      </p:sp>
      <p:pic>
        <p:nvPicPr>
          <p:cNvPr id="5" name="">
            <a:extLst xmlns:a="http://schemas.openxmlformats.org/drawingml/2006/main">
              <a:ext uri="{FF2B5EF4-FFF2-40B4-BE49-F238E27FC236}">
                <a16:creationId xmlns:a16="http://schemas.microsoft.com/office/drawing/2014/main" id="{01A1DB3A-9B74-4AAC-8F19-9DA34DCC7782}"/>
              </a:ext>
            </a:extLst>
          </p:cNvPr>
          <p:cNvPicPr>
            <a:picLocks xmlns:a="http://schemas.openxmlformats.org/drawingml/2006/main" noChangeAspect="1"/>
          </p:cNvPicPr>
          <p:nvPr/>
        </p:nvPicPr>
        <p:blipFill>
          <a:blip xmlns:r="http://schemas.openxmlformats.org/officeDocument/2006/relationships" xmlns:a="http://schemas.openxmlformats.org/drawingml/2006/main" r:embed="R8660cbb469e9414c"/>
          <a:stretch xmlns:a="http://schemas.openxmlformats.org/drawingml/2006/main"/>
        </p:blipFill>
        <p:spPr>
          <a:xfrm xmlns:a="http://schemas.openxmlformats.org/drawingml/2006/main">
            <a:off x="571500" y="2135671"/>
            <a:ext cx="5867400" cy="3024809"/>
          </a:xfrm>
          <a:prstGeom xmlns:a="http://schemas.openxmlformats.org/drawingml/2006/main" prst="rect">
            <a:avLst/>
          </a:prstGeom>
        </p:spPr>
      </p:pic>
      <p:sp>
        <p:nvSpPr>
          <p:cNvPr id="6" name="Figura original del antecedente">
            <a:extLst xmlns:a="http://schemas.openxmlformats.org/drawingml/2006/main">
              <a:ext uri="{FF2B5EF4-FFF2-40B4-BE49-F238E27FC236}">
                <a16:creationId xmlns:a16="http://schemas.microsoft.com/office/drawing/2014/main" id="{79B17278-A73A-4D4C-9C51-9450A77EBF69}"/>
              </a:ext>
            </a:extLst>
          </p:cNvPr>
          <p:cNvSpPr>
            <a:spLocks xmlns:a="http://schemas.openxmlformats.org/drawingml/2006/main" noGrp="1"/>
          </p:cNvSpPr>
          <p:nvPr/>
        </p:nvSpPr>
        <p:spPr>
          <a:xfrm xmlns:a="http://schemas.openxmlformats.org/drawingml/2006/main">
            <a:off x="571500" y="5648325"/>
            <a:ext cx="586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77161"/>
                </a:solidFill>
                <a:latin typeface="Arial"/>
                <a:ea typeface="Arial"/>
                <a:cs typeface="Arial"/>
              </a:defRPr>
            </a:defPPr>
          </a:lstStyle>
          <a:p xmlns:a="http://schemas.openxmlformats.org/drawingml/2006/main">
            <a:pPr>
              <a:defRPr sz="1275" b="0">
                <a:solidFill>
                  <a:srgbClr val="577161"/>
                </a:solidFill>
                <a:latin typeface="Arial"/>
                <a:ea typeface="Arial"/>
                <a:cs typeface="Arial"/>
              </a:defRPr>
            </a:pPr>
            <a:r>
              <a:rPr sz="1275" b="0">
                <a:solidFill>
                  <a:srgbClr val="577161"/>
                </a:solidFill>
                <a:latin typeface="Arial"/>
                <a:ea typeface="Arial"/>
                <a:cs typeface="Arial"/>
              </a:rPr>
              <a:t>Figura original del antecedente</a:t>
            </a:r>
          </a:p>
        </p:txBody>
      </p:sp>
      <p:sp>
        <p:nvSpPr>
          <p:cNvPr id="7" name="3,93 g">
            <a:extLst xmlns:a="http://schemas.openxmlformats.org/drawingml/2006/main">
              <a:ext uri="{FF2B5EF4-FFF2-40B4-BE49-F238E27FC236}">
                <a16:creationId xmlns:a16="http://schemas.microsoft.com/office/drawing/2014/main" id="{11980E70-5EFC-4257-BD20-CF5A8516BCAB}"/>
              </a:ext>
            </a:extLst>
          </p:cNvPr>
          <p:cNvSpPr>
            <a:spLocks xmlns:a="http://schemas.openxmlformats.org/drawingml/2006/main" noGrp="1"/>
          </p:cNvSpPr>
          <p:nvPr/>
        </p:nvSpPr>
        <p:spPr>
          <a:xfrm xmlns:a="http://schemas.openxmlformats.org/drawingml/2006/main">
            <a:off x="6934200" y="1695450"/>
            <a:ext cx="4667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3F2F"/>
                </a:solidFill>
                <a:latin typeface="Arial"/>
                <a:ea typeface="Arial"/>
                <a:cs typeface="Arial"/>
              </a:defRPr>
            </a:defPPr>
          </a:lstStyle>
          <a:p xmlns:a="http://schemas.openxmlformats.org/drawingml/2006/main">
            <a:pPr>
              <a:defRPr sz="3300" b="1">
                <a:solidFill>
                  <a:srgbClr val="173F2F"/>
                </a:solidFill>
                <a:latin typeface="Arial"/>
                <a:ea typeface="Arial"/>
                <a:cs typeface="Arial"/>
              </a:defRPr>
            </a:pPr>
            <a:r>
              <a:rPr sz="3300" b="1">
                <a:solidFill>
                  <a:srgbClr val="173F2F"/>
                </a:solidFill>
                <a:latin typeface="Arial"/>
                <a:ea typeface="Arial"/>
                <a:cs typeface="Arial"/>
              </a:rPr>
              <a:t>3,93 g</a:t>
            </a:r>
          </a:p>
        </p:txBody>
      </p:sp>
      <p:sp>
        <p:nvSpPr>
          <p:cNvPr id="8" name="error absoluto medio con XGBoost">
            <a:extLst xmlns:a="http://schemas.openxmlformats.org/drawingml/2006/main">
              <a:ext uri="{FF2B5EF4-FFF2-40B4-BE49-F238E27FC236}">
                <a16:creationId xmlns:a16="http://schemas.microsoft.com/office/drawing/2014/main" id="{994FA590-17F9-4C59-8565-9DC32F7C3F1C}"/>
              </a:ext>
            </a:extLst>
          </p:cNvPr>
          <p:cNvSpPr>
            <a:spLocks xmlns:a="http://schemas.openxmlformats.org/drawingml/2006/main" noGrp="1"/>
          </p:cNvSpPr>
          <p:nvPr/>
        </p:nvSpPr>
        <p:spPr>
          <a:xfrm xmlns:a="http://schemas.openxmlformats.org/drawingml/2006/main">
            <a:off x="6934200" y="2324100"/>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error absoluto medio con XGBoost</a:t>
            </a:r>
          </a:p>
        </p:txBody>
      </p:sp>
      <p:sp>
        <p:nvSpPr>
          <p:cNvPr id="9" name="23 052 imágenes de 226 platos mediterráneos. MAPE: 3,73">
            <a:extLst xmlns:a="http://schemas.openxmlformats.org/drawingml/2006/main">
              <a:ext uri="{FF2B5EF4-FFF2-40B4-BE49-F238E27FC236}">
                <a16:creationId xmlns:a16="http://schemas.microsoft.com/office/drawing/2014/main" id="{798CC333-52BA-487A-8CB0-27FABCC15483}"/>
              </a:ext>
            </a:extLst>
          </p:cNvPr>
          <p:cNvSpPr>
            <a:spLocks xmlns:a="http://schemas.openxmlformats.org/drawingml/2006/main" noGrp="1"/>
          </p:cNvSpPr>
          <p:nvPr/>
        </p:nvSpPr>
        <p:spPr>
          <a:xfrm xmlns:a="http://schemas.openxmlformats.org/drawingml/2006/main">
            <a:off x="6934200" y="2905125"/>
            <a:ext cx="4667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23 052 imágenes de 226 platos mediterráneos. MAPE: 3,73 %.</a:t>
            </a:r>
          </a:p>
        </p:txBody>
      </p:sp>
      <p:sp>
        <p:nvSpPr>
          <p:cNvPr id="10" name="Aporte al proyecto">
            <a:extLst xmlns:a="http://schemas.openxmlformats.org/drawingml/2006/main">
              <a:ext uri="{FF2B5EF4-FFF2-40B4-BE49-F238E27FC236}">
                <a16:creationId xmlns:a16="http://schemas.microsoft.com/office/drawing/2014/main" id="{C032437F-1316-4C32-9082-F15E58ACC8B8}"/>
              </a:ext>
            </a:extLst>
          </p:cNvPr>
          <p:cNvSpPr>
            <a:spLocks xmlns:a="http://schemas.openxmlformats.org/drawingml/2006/main" noGrp="1"/>
          </p:cNvSpPr>
          <p:nvPr/>
        </p:nvSpPr>
        <p:spPr>
          <a:xfrm xmlns:a="http://schemas.openxmlformats.org/drawingml/2006/main">
            <a:off x="6934200" y="38290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Aporte al proyecto</a:t>
            </a:r>
          </a:p>
        </p:txBody>
      </p:sp>
      <p:sp>
        <p:nvSpPr>
          <p:cNvPr id="11" name="Segmentación, identidad y referencia de tamaño permiten">
            <a:extLst xmlns:a="http://schemas.openxmlformats.org/drawingml/2006/main">
              <a:ext uri="{FF2B5EF4-FFF2-40B4-BE49-F238E27FC236}">
                <a16:creationId xmlns:a16="http://schemas.microsoft.com/office/drawing/2014/main" id="{C71960CE-E661-42A9-A860-9256F27CB1FC}"/>
              </a:ext>
            </a:extLst>
          </p:cNvPr>
          <p:cNvSpPr>
            <a:spLocks xmlns:a="http://schemas.openxmlformats.org/drawingml/2006/main" noGrp="1"/>
          </p:cNvSpPr>
          <p:nvPr/>
        </p:nvSpPr>
        <p:spPr>
          <a:xfrm xmlns:a="http://schemas.openxmlformats.org/drawingml/2006/main">
            <a:off x="6934200" y="4162425"/>
            <a:ext cx="466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73F2F"/>
                </a:solidFill>
                <a:latin typeface="Arial"/>
                <a:ea typeface="Arial"/>
                <a:cs typeface="Arial"/>
              </a:defRPr>
            </a:defPPr>
          </a:lstStyle>
          <a:p xmlns:a="http://schemas.openxmlformats.org/drawingml/2006/main">
            <a:pPr>
              <a:defRPr sz="1800" b="0">
                <a:solidFill>
                  <a:srgbClr val="173F2F"/>
                </a:solidFill>
                <a:latin typeface="Arial"/>
                <a:ea typeface="Arial"/>
                <a:cs typeface="Arial"/>
              </a:defRPr>
            </a:pPr>
            <a:r>
              <a:rPr sz="1800" b="0">
                <a:solidFill>
                  <a:srgbClr val="173F2F"/>
                </a:solidFill>
                <a:latin typeface="Arial"/>
                <a:ea typeface="Arial"/>
                <a:cs typeface="Arial"/>
              </a:rPr>
              <a:t>Segmentación, identidad y referencia de tamaño permiten estimar gramos.</a:t>
            </a:r>
          </a:p>
        </p:txBody>
      </p:sp>
      <p:sp>
        <p:nvSpPr>
          <p:cNvPr id="12" name="Límite: El desempeño publicado corresponde a ese conjun">
            <a:extLst xmlns:a="http://schemas.openxmlformats.org/drawingml/2006/main">
              <a:ext uri="{FF2B5EF4-FFF2-40B4-BE49-F238E27FC236}">
                <a16:creationId xmlns:a16="http://schemas.microsoft.com/office/drawing/2014/main" id="{D21097E9-B682-4C9E-AE23-C5D83A36E96A}"/>
              </a:ext>
            </a:extLst>
          </p:cNvPr>
          <p:cNvSpPr>
            <a:spLocks xmlns:a="http://schemas.openxmlformats.org/drawingml/2006/main" noGrp="1"/>
          </p:cNvSpPr>
          <p:nvPr/>
        </p:nvSpPr>
        <p:spPr>
          <a:xfrm xmlns:a="http://schemas.openxmlformats.org/drawingml/2006/main">
            <a:off x="6934200" y="5143500"/>
            <a:ext cx="466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77161"/>
                </a:solidFill>
                <a:latin typeface="Arial"/>
                <a:ea typeface="Arial"/>
                <a:cs typeface="Arial"/>
              </a:defRPr>
            </a:defPPr>
          </a:lstStyle>
          <a:p xmlns:a="http://schemas.openxmlformats.org/drawingml/2006/main">
            <a:pPr>
              <a:defRPr sz="1575" b="0">
                <a:solidFill>
                  <a:srgbClr val="577161"/>
                </a:solidFill>
                <a:latin typeface="Arial"/>
                <a:ea typeface="Arial"/>
                <a:cs typeface="Arial"/>
              </a:defRPr>
            </a:pPr>
            <a:r>
              <a:rPr sz="1575" b="0">
                <a:solidFill>
                  <a:srgbClr val="577161"/>
                </a:solidFill>
                <a:latin typeface="Arial"/>
                <a:ea typeface="Arial"/>
                <a:cs typeface="Arial"/>
              </a:rPr>
              <a:t>Límite: El desempeño publicado corresponde a ese conjunto. FoodScan necesita su propia validación.</a:t>
            </a:r>
          </a:p>
        </p:txBody>
      </p:sp>
      <p:sp>
        <p:nvSpPr>
          <p:cNvPr id="13" name="F3 Capturar · F5 Cantidad · Control de calidad">
            <a:extLst xmlns:a="http://schemas.openxmlformats.org/drawingml/2006/main">
              <a:ext uri="{FF2B5EF4-FFF2-40B4-BE49-F238E27FC236}">
                <a16:creationId xmlns:a16="http://schemas.microsoft.com/office/drawing/2014/main" id="{C24DF23E-167F-4901-BE6B-90DD2FFB9588}"/>
              </a:ext>
            </a:extLst>
          </p:cNvPr>
          <p:cNvSpPr>
            <a:spLocks xmlns:a="http://schemas.openxmlformats.org/drawingml/2006/main" noGrp="1"/>
          </p:cNvSpPr>
          <p:nvPr/>
        </p:nvSpPr>
        <p:spPr>
          <a:xfrm xmlns:a="http://schemas.openxmlformats.org/drawingml/2006/main">
            <a:off x="571500" y="601980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F3 Capturar · F5 Cantidad · Control de calidad</a:t>
            </a:r>
          </a:p>
        </p:txBody>
      </p:sp>
    </p:spTree>
    <p:extLst>
      <p:ext uri="{BB962C8B-B14F-4D97-AF65-F5344CB8AC3E}">
        <p14:creationId xmlns:p14="http://schemas.microsoft.com/office/powerpoint/2010/main" val="1682836849"/>
      </p:ext>
    </p:extLst>
  </p:cSld>
</p:sld>
</file>

<file path=ppt/slides/slide5.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4" name="Artículo 3 · Etapas del reconocimiento">
            <a:extLst xmlns:a="http://schemas.openxmlformats.org/drawingml/2006/main">
              <a:ext uri="{FF2B5EF4-FFF2-40B4-BE49-F238E27FC236}">
                <a16:creationId xmlns:a16="http://schemas.microsoft.com/office/drawing/2014/main" id="{C361A182-2133-463D-A95F-A337D82745FF}"/>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Artículo 3 · Etapas del reconocimiento</a:t>
            </a:r>
          </a:p>
        </p:txBody>
      </p:sp>
      <p:sp>
        <p:nvSpPr>
          <p:cNvPr id="2" name="Applying Image-Based Food-Recognition Systems on Dietar">
            <a:extLst xmlns:a="http://schemas.openxmlformats.org/drawingml/2006/main">
              <a:ext uri="{FF2B5EF4-FFF2-40B4-BE49-F238E27FC236}">
                <a16:creationId xmlns:a16="http://schemas.microsoft.com/office/drawing/2014/main" id="{843E5B78-2948-420D-A763-B2D41947DE51}"/>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Applying Image-Based Food-Recognition Systems on Dietary Assessment: A Systematic Review</a:t>
            </a:r>
          </a:p>
        </p:txBody>
      </p:sp>
      <p:sp>
        <p:nvSpPr>
          <p:cNvPr id="3" name="Fuentes [3] · Referencias al final">
            <a:extLst xmlns:a="http://schemas.openxmlformats.org/drawingml/2006/main">
              <a:ext uri="{FF2B5EF4-FFF2-40B4-BE49-F238E27FC236}">
                <a16:creationId xmlns:a16="http://schemas.microsoft.com/office/drawing/2014/main" id="{F97701FB-1420-4817-B618-7D075426B828}"/>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[3] · Referencias al final</a:t>
            </a:r>
          </a:p>
        </p:txBody>
      </p:sp>
      <p:sp>
        <p:nvSpPr>
          <p:cNvPr id="4" name="05">
            <a:extLst xmlns:a="http://schemas.openxmlformats.org/drawingml/2006/main">
              <a:ext uri="{FF2B5EF4-FFF2-40B4-BE49-F238E27FC236}">
                <a16:creationId xmlns:a16="http://schemas.microsoft.com/office/drawing/2014/main" id="{13AC49E4-A1BD-4AB3-9D74-43BA05D220A6}"/>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05</a:t>
            </a:r>
          </a:p>
        </p:txBody>
      </p:sp>
      <p:pic>
        <p:nvPicPr>
          <p:cNvPr id="5" name="">
            <a:extLst xmlns:a="http://schemas.openxmlformats.org/drawingml/2006/main">
              <a:ext uri="{FF2B5EF4-FFF2-40B4-BE49-F238E27FC236}">
                <a16:creationId xmlns:a16="http://schemas.microsoft.com/office/drawing/2014/main" id="{746D9A16-4DD2-4F19-B435-6D2C0FC2E7F9}"/>
              </a:ext>
            </a:extLst>
          </p:cNvPr>
          <p:cNvPicPr>
            <a:picLocks xmlns:a="http://schemas.openxmlformats.org/drawingml/2006/main" noChangeAspect="1"/>
          </p:cNvPicPr>
          <p:nvPr/>
        </p:nvPicPr>
        <p:blipFill>
          <a:blip xmlns:r="http://schemas.openxmlformats.org/officeDocument/2006/relationships" xmlns:a="http://schemas.openxmlformats.org/drawingml/2006/main" r:embed="R6a43c9c498744466"/>
          <a:stretch xmlns:a="http://schemas.openxmlformats.org/drawingml/2006/main"/>
        </p:blipFill>
        <p:spPr>
          <a:xfrm xmlns:a="http://schemas.openxmlformats.org/drawingml/2006/main">
            <a:off x="571500" y="2183061"/>
            <a:ext cx="5867400" cy="2930028"/>
          </a:xfrm>
          <a:prstGeom xmlns:a="http://schemas.openxmlformats.org/drawingml/2006/main" prst="rect">
            <a:avLst/>
          </a:prstGeom>
        </p:spPr>
      </p:pic>
      <p:sp>
        <p:nvSpPr>
          <p:cNvPr id="6" name="Figura original del antecedente">
            <a:extLst xmlns:a="http://schemas.openxmlformats.org/drawingml/2006/main">
              <a:ext uri="{FF2B5EF4-FFF2-40B4-BE49-F238E27FC236}">
                <a16:creationId xmlns:a16="http://schemas.microsoft.com/office/drawing/2014/main" id="{E16FDD1F-F40C-4FDC-B345-E6F66273A69E}"/>
              </a:ext>
            </a:extLst>
          </p:cNvPr>
          <p:cNvSpPr>
            <a:spLocks xmlns:a="http://schemas.openxmlformats.org/drawingml/2006/main" noGrp="1"/>
          </p:cNvSpPr>
          <p:nvPr/>
        </p:nvSpPr>
        <p:spPr>
          <a:xfrm xmlns:a="http://schemas.openxmlformats.org/drawingml/2006/main">
            <a:off x="571500" y="5648325"/>
            <a:ext cx="586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77161"/>
                </a:solidFill>
                <a:latin typeface="Arial"/>
                <a:ea typeface="Arial"/>
                <a:cs typeface="Arial"/>
              </a:defRPr>
            </a:defPPr>
          </a:lstStyle>
          <a:p xmlns:a="http://schemas.openxmlformats.org/drawingml/2006/main">
            <a:pPr>
              <a:defRPr sz="1275" b="0">
                <a:solidFill>
                  <a:srgbClr val="577161"/>
                </a:solidFill>
                <a:latin typeface="Arial"/>
                <a:ea typeface="Arial"/>
                <a:cs typeface="Arial"/>
              </a:defRPr>
            </a:pPr>
            <a:r>
              <a:rPr sz="1275" b="0">
                <a:solidFill>
                  <a:srgbClr val="577161"/>
                </a:solidFill>
                <a:latin typeface="Arial"/>
                <a:ea typeface="Arial"/>
                <a:cs typeface="Arial"/>
              </a:rPr>
              <a:t>Figura original del antecedente</a:t>
            </a:r>
          </a:p>
        </p:txBody>
      </p:sp>
      <p:sp>
        <p:nvSpPr>
          <p:cNvPr id="7" name="78 estudios">
            <a:extLst xmlns:a="http://schemas.openxmlformats.org/drawingml/2006/main">
              <a:ext uri="{FF2B5EF4-FFF2-40B4-BE49-F238E27FC236}">
                <a16:creationId xmlns:a16="http://schemas.microsoft.com/office/drawing/2014/main" id="{627E0671-0047-4E2E-BBBA-81135C5D919B}"/>
              </a:ext>
            </a:extLst>
          </p:cNvPr>
          <p:cNvSpPr>
            <a:spLocks xmlns:a="http://schemas.openxmlformats.org/drawingml/2006/main" noGrp="1"/>
          </p:cNvSpPr>
          <p:nvPr/>
        </p:nvSpPr>
        <p:spPr>
          <a:xfrm xmlns:a="http://schemas.openxmlformats.org/drawingml/2006/main">
            <a:off x="6934200" y="1695450"/>
            <a:ext cx="4667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3F2F"/>
                </a:solidFill>
                <a:latin typeface="Arial"/>
                <a:ea typeface="Arial"/>
                <a:cs typeface="Arial"/>
              </a:defRPr>
            </a:defPPr>
          </a:lstStyle>
          <a:p xmlns:a="http://schemas.openxmlformats.org/drawingml/2006/main">
            <a:pPr>
              <a:defRPr sz="3300" b="1">
                <a:solidFill>
                  <a:srgbClr val="173F2F"/>
                </a:solidFill>
                <a:latin typeface="Arial"/>
                <a:ea typeface="Arial"/>
                <a:cs typeface="Arial"/>
              </a:defRPr>
            </a:pPr>
            <a:r>
              <a:rPr sz="3300" b="1">
                <a:solidFill>
                  <a:srgbClr val="173F2F"/>
                </a:solidFill>
                <a:latin typeface="Arial"/>
                <a:ea typeface="Arial"/>
                <a:cs typeface="Arial"/>
              </a:rPr>
              <a:t>78 estudios</a:t>
            </a:r>
          </a:p>
        </p:txBody>
      </p:sp>
      <p:sp>
        <p:nvSpPr>
          <p:cNvPr id="8" name="seleccionados de 159 publicaciones">
            <a:extLst xmlns:a="http://schemas.openxmlformats.org/drawingml/2006/main">
              <a:ext uri="{FF2B5EF4-FFF2-40B4-BE49-F238E27FC236}">
                <a16:creationId xmlns:a16="http://schemas.microsoft.com/office/drawing/2014/main" id="{A3B38F44-E624-4122-B9C2-38CEDD057CA7}"/>
              </a:ext>
            </a:extLst>
          </p:cNvPr>
          <p:cNvSpPr>
            <a:spLocks xmlns:a="http://schemas.openxmlformats.org/drawingml/2006/main" noGrp="1"/>
          </p:cNvSpPr>
          <p:nvPr/>
        </p:nvSpPr>
        <p:spPr>
          <a:xfrm xmlns:a="http://schemas.openxmlformats.org/drawingml/2006/main">
            <a:off x="6934200" y="2324100"/>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seleccionados de 159 publicaciones</a:t>
            </a:r>
          </a:p>
        </p:txBody>
      </p:sp>
      <p:sp>
        <p:nvSpPr>
          <p:cNvPr id="9" name="45 utilizaron aprendizaje profundo. La cadena incluye s">
            <a:extLst xmlns:a="http://schemas.openxmlformats.org/drawingml/2006/main">
              <a:ext uri="{FF2B5EF4-FFF2-40B4-BE49-F238E27FC236}">
                <a16:creationId xmlns:a16="http://schemas.microsoft.com/office/drawing/2014/main" id="{C378BAFA-4910-4D08-B13D-BCD8B748CD8E}"/>
              </a:ext>
            </a:extLst>
          </p:cNvPr>
          <p:cNvSpPr>
            <a:spLocks xmlns:a="http://schemas.openxmlformats.org/drawingml/2006/main" noGrp="1"/>
          </p:cNvSpPr>
          <p:nvPr/>
        </p:nvSpPr>
        <p:spPr>
          <a:xfrm xmlns:a="http://schemas.openxmlformats.org/drawingml/2006/main">
            <a:off x="6934200" y="2905125"/>
            <a:ext cx="4667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45 utilizaron aprendizaje profundo. La cadena incluye segmentar, clasificar, estimar y consultar.</a:t>
            </a:r>
          </a:p>
        </p:txBody>
      </p:sp>
      <p:sp>
        <p:nvSpPr>
          <p:cNvPr id="10" name="Aporte al proyecto">
            <a:extLst xmlns:a="http://schemas.openxmlformats.org/drawingml/2006/main">
              <a:ext uri="{FF2B5EF4-FFF2-40B4-BE49-F238E27FC236}">
                <a16:creationId xmlns:a16="http://schemas.microsoft.com/office/drawing/2014/main" id="{1C556CEC-1272-4629-815C-D3850C31CAE5}"/>
              </a:ext>
            </a:extLst>
          </p:cNvPr>
          <p:cNvSpPr>
            <a:spLocks xmlns:a="http://schemas.openxmlformats.org/drawingml/2006/main" noGrp="1"/>
          </p:cNvSpPr>
          <p:nvPr/>
        </p:nvSpPr>
        <p:spPr>
          <a:xfrm xmlns:a="http://schemas.openxmlformats.org/drawingml/2006/main">
            <a:off x="6934200" y="38290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Aporte al proyecto</a:t>
            </a:r>
          </a:p>
        </p:txBody>
      </p:sp>
      <p:sp>
        <p:nvSpPr>
          <p:cNvPr id="11" name="Separar identidad, cantidad, referencia y cálculo evita">
            <a:extLst xmlns:a="http://schemas.openxmlformats.org/drawingml/2006/main">
              <a:ext uri="{FF2B5EF4-FFF2-40B4-BE49-F238E27FC236}">
                <a16:creationId xmlns:a16="http://schemas.microsoft.com/office/drawing/2014/main" id="{BF26F19C-FEE2-4E23-8881-E1D129D316E8}"/>
              </a:ext>
            </a:extLst>
          </p:cNvPr>
          <p:cNvSpPr>
            <a:spLocks xmlns:a="http://schemas.openxmlformats.org/drawingml/2006/main" noGrp="1"/>
          </p:cNvSpPr>
          <p:nvPr/>
        </p:nvSpPr>
        <p:spPr>
          <a:xfrm xmlns:a="http://schemas.openxmlformats.org/drawingml/2006/main">
            <a:off x="6934200" y="4162425"/>
            <a:ext cx="466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73F2F"/>
                </a:solidFill>
                <a:latin typeface="Arial"/>
                <a:ea typeface="Arial"/>
                <a:cs typeface="Arial"/>
              </a:defRPr>
            </a:defPPr>
          </a:lstStyle>
          <a:p xmlns:a="http://schemas.openxmlformats.org/drawingml/2006/main">
            <a:pPr>
              <a:defRPr sz="1800" b="0">
                <a:solidFill>
                  <a:srgbClr val="173F2F"/>
                </a:solidFill>
                <a:latin typeface="Arial"/>
                <a:ea typeface="Arial"/>
                <a:cs typeface="Arial"/>
              </a:defRPr>
            </a:pPr>
            <a:r>
              <a:rPr sz="1800" b="0">
                <a:solidFill>
                  <a:srgbClr val="173F2F"/>
                </a:solidFill>
                <a:latin typeface="Arial"/>
                <a:ea typeface="Arial"/>
                <a:cs typeface="Arial"/>
              </a:rPr>
              <a:t>Separar identidad, cantidad, referencia y cálculo evita ocultar errores.</a:t>
            </a:r>
          </a:p>
        </p:txBody>
      </p:sp>
      <p:sp>
        <p:nvSpPr>
          <p:cNvPr id="12" name="Límite: Una clasificación correcta no garantiza una por">
            <a:extLst xmlns:a="http://schemas.openxmlformats.org/drawingml/2006/main">
              <a:ext uri="{FF2B5EF4-FFF2-40B4-BE49-F238E27FC236}">
                <a16:creationId xmlns:a16="http://schemas.microsoft.com/office/drawing/2014/main" id="{302542B9-4815-4D67-BE54-8008D348BAA6}"/>
              </a:ext>
            </a:extLst>
          </p:cNvPr>
          <p:cNvSpPr>
            <a:spLocks xmlns:a="http://schemas.openxmlformats.org/drawingml/2006/main" noGrp="1"/>
          </p:cNvSpPr>
          <p:nvPr/>
        </p:nvSpPr>
        <p:spPr>
          <a:xfrm xmlns:a="http://schemas.openxmlformats.org/drawingml/2006/main">
            <a:off x="6934200" y="5143500"/>
            <a:ext cx="466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77161"/>
                </a:solidFill>
                <a:latin typeface="Arial"/>
                <a:ea typeface="Arial"/>
                <a:cs typeface="Arial"/>
              </a:defRPr>
            </a:defPPr>
          </a:lstStyle>
          <a:p xmlns:a="http://schemas.openxmlformats.org/drawingml/2006/main">
            <a:pPr>
              <a:defRPr sz="1575" b="0">
                <a:solidFill>
                  <a:srgbClr val="577161"/>
                </a:solidFill>
                <a:latin typeface="Arial"/>
                <a:ea typeface="Arial"/>
                <a:cs typeface="Arial"/>
              </a:defRPr>
            </a:pPr>
            <a:r>
              <a:rPr sz="1575" b="0">
                <a:solidFill>
                  <a:srgbClr val="577161"/>
                </a:solidFill>
                <a:latin typeface="Arial"/>
                <a:ea typeface="Arial"/>
                <a:cs typeface="Arial"/>
              </a:rPr>
              <a:t>Límite: Una clasificación correcta no garantiza una porción correcta.</a:t>
            </a:r>
          </a:p>
        </p:txBody>
      </p:sp>
      <p:sp>
        <p:nvSpPr>
          <p:cNvPr id="13" name="F3 · F5 · F6 · F7 · F8">
            <a:extLst xmlns:a="http://schemas.openxmlformats.org/drawingml/2006/main">
              <a:ext uri="{FF2B5EF4-FFF2-40B4-BE49-F238E27FC236}">
                <a16:creationId xmlns:a16="http://schemas.microsoft.com/office/drawing/2014/main" id="{30EEA78F-E5B9-49DF-A3A8-51E0CB14BDE0}"/>
              </a:ext>
            </a:extLst>
          </p:cNvPr>
          <p:cNvSpPr>
            <a:spLocks xmlns:a="http://schemas.openxmlformats.org/drawingml/2006/main" noGrp="1"/>
          </p:cNvSpPr>
          <p:nvPr/>
        </p:nvSpPr>
        <p:spPr>
          <a:xfrm xmlns:a="http://schemas.openxmlformats.org/drawingml/2006/main">
            <a:off x="571500" y="601980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F3 · F5 · F6 · F7 · F8</a:t>
            </a:r>
          </a:p>
        </p:txBody>
      </p:sp>
    </p:spTree>
    <p:extLst>
      <p:ext uri="{BB962C8B-B14F-4D97-AF65-F5344CB8AC3E}">
        <p14:creationId xmlns:p14="http://schemas.microsoft.com/office/powerpoint/2010/main" val="513466396"/>
      </p:ext>
    </p:extLst>
  </p:cSld>
</p:sld>
</file>

<file path=ppt/slides/slide6.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4" name="CN114360689A · Arquitectura nutricional">
            <a:extLst xmlns:a="http://schemas.openxmlformats.org/drawingml/2006/main">
              <a:ext uri="{FF2B5EF4-FFF2-40B4-BE49-F238E27FC236}">
                <a16:creationId xmlns:a16="http://schemas.microsoft.com/office/drawing/2014/main" id="{898E88F2-EFE3-4B70-A1D6-82F00078005E}"/>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CN114360689A · Arquitectura nutricional</a:t>
            </a:r>
          </a:p>
        </p:txBody>
      </p:sp>
      <p:sp>
        <p:nvSpPr>
          <p:cNvPr id="2" name="Calculador de calorías, proteínas y otros nutrientes">
            <a:extLst xmlns:a="http://schemas.openxmlformats.org/drawingml/2006/main">
              <a:ext uri="{FF2B5EF4-FFF2-40B4-BE49-F238E27FC236}">
                <a16:creationId xmlns:a16="http://schemas.microsoft.com/office/drawing/2014/main" id="{3D7FC5EF-D4FB-4DBC-9408-2F6BBB26FD17}"/>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Calculador de calorías, proteínas y otros nutrientes</a:t>
            </a:r>
          </a:p>
        </p:txBody>
      </p:sp>
      <p:sp>
        <p:nvSpPr>
          <p:cNvPr id="3" name="Fuentes [4] · Referencias al final">
            <a:extLst xmlns:a="http://schemas.openxmlformats.org/drawingml/2006/main">
              <a:ext uri="{FF2B5EF4-FFF2-40B4-BE49-F238E27FC236}">
                <a16:creationId xmlns:a16="http://schemas.microsoft.com/office/drawing/2014/main" id="{8F7A5515-7838-49C3-B56F-03356331EC00}"/>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[4] · Referencias al final</a:t>
            </a:r>
          </a:p>
        </p:txBody>
      </p:sp>
      <p:sp>
        <p:nvSpPr>
          <p:cNvPr id="4" name="06">
            <a:extLst xmlns:a="http://schemas.openxmlformats.org/drawingml/2006/main">
              <a:ext uri="{FF2B5EF4-FFF2-40B4-BE49-F238E27FC236}">
                <a16:creationId xmlns:a16="http://schemas.microsoft.com/office/drawing/2014/main" id="{F153411F-71CC-4D94-8BE7-A37EF5692042}"/>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06</a:t>
            </a:r>
          </a:p>
        </p:txBody>
      </p:sp>
      <p:pic>
        <p:nvPicPr>
          <p:cNvPr id="5" name="">
            <a:extLst xmlns:a="http://schemas.openxmlformats.org/drawingml/2006/main">
              <a:ext uri="{FF2B5EF4-FFF2-40B4-BE49-F238E27FC236}">
                <a16:creationId xmlns:a16="http://schemas.microsoft.com/office/drawing/2014/main" id="{E3E8B85C-5F8C-44FB-B5EB-9432AC311129}"/>
              </a:ext>
            </a:extLst>
          </p:cNvPr>
          <p:cNvPicPr>
            <a:picLocks xmlns:a="http://schemas.openxmlformats.org/drawingml/2006/main" noChangeAspect="1"/>
          </p:cNvPicPr>
          <p:nvPr/>
        </p:nvPicPr>
        <p:blipFill>
          <a:blip xmlns:r="http://schemas.openxmlformats.org/officeDocument/2006/relationships" xmlns:a="http://schemas.openxmlformats.org/drawingml/2006/main" r:embed="R18a665caaf0544da"/>
          <a:stretch xmlns:a="http://schemas.openxmlformats.org/drawingml/2006/main"/>
        </p:blipFill>
        <p:spPr>
          <a:xfrm xmlns:a="http://schemas.openxmlformats.org/drawingml/2006/main">
            <a:off x="918327" y="1790700"/>
            <a:ext cx="5173747" cy="3714750"/>
          </a:xfrm>
          <a:prstGeom xmlns:a="http://schemas.openxmlformats.org/drawingml/2006/main" prst="rect">
            <a:avLst/>
          </a:prstGeom>
        </p:spPr>
      </p:pic>
      <p:sp>
        <p:nvSpPr>
          <p:cNvPr id="6" name="Figura original del antecedente">
            <a:extLst xmlns:a="http://schemas.openxmlformats.org/drawingml/2006/main">
              <a:ext uri="{FF2B5EF4-FFF2-40B4-BE49-F238E27FC236}">
                <a16:creationId xmlns:a16="http://schemas.microsoft.com/office/drawing/2014/main" id="{EC056BDD-7F5D-4719-8EEB-DA5CC6195324}"/>
              </a:ext>
            </a:extLst>
          </p:cNvPr>
          <p:cNvSpPr>
            <a:spLocks xmlns:a="http://schemas.openxmlformats.org/drawingml/2006/main" noGrp="1"/>
          </p:cNvSpPr>
          <p:nvPr/>
        </p:nvSpPr>
        <p:spPr>
          <a:xfrm xmlns:a="http://schemas.openxmlformats.org/drawingml/2006/main">
            <a:off x="571500" y="5648325"/>
            <a:ext cx="586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77161"/>
                </a:solidFill>
                <a:latin typeface="Arial"/>
                <a:ea typeface="Arial"/>
                <a:cs typeface="Arial"/>
              </a:defRPr>
            </a:defPPr>
          </a:lstStyle>
          <a:p xmlns:a="http://schemas.openxmlformats.org/drawingml/2006/main">
            <a:pPr>
              <a:defRPr sz="1275" b="0">
                <a:solidFill>
                  <a:srgbClr val="577161"/>
                </a:solidFill>
                <a:latin typeface="Arial"/>
                <a:ea typeface="Arial"/>
                <a:cs typeface="Arial"/>
              </a:defRPr>
            </a:pPr>
            <a:r>
              <a:rPr sz="1275" b="0">
                <a:solidFill>
                  <a:srgbClr val="577161"/>
                </a:solidFill>
                <a:latin typeface="Arial"/>
                <a:ea typeface="Arial"/>
                <a:cs typeface="Arial"/>
              </a:rPr>
              <a:t>Figura original del antecedente</a:t>
            </a:r>
          </a:p>
        </p:txBody>
      </p:sp>
      <p:sp>
        <p:nvSpPr>
          <p:cNvPr id="7" name="Pesar + identificar">
            <a:extLst xmlns:a="http://schemas.openxmlformats.org/drawingml/2006/main">
              <a:ext uri="{FF2B5EF4-FFF2-40B4-BE49-F238E27FC236}">
                <a16:creationId xmlns:a16="http://schemas.microsoft.com/office/drawing/2014/main" id="{F178EB9E-58FD-42D3-B43E-B14F93D63ABA}"/>
              </a:ext>
            </a:extLst>
          </p:cNvPr>
          <p:cNvSpPr>
            <a:spLocks xmlns:a="http://schemas.openxmlformats.org/drawingml/2006/main" noGrp="1"/>
          </p:cNvSpPr>
          <p:nvPr/>
        </p:nvSpPr>
        <p:spPr>
          <a:xfrm xmlns:a="http://schemas.openxmlformats.org/drawingml/2006/main">
            <a:off x="6934200" y="1695450"/>
            <a:ext cx="4667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73F2F"/>
                </a:solidFill>
                <a:latin typeface="Arial"/>
                <a:ea typeface="Arial"/>
                <a:cs typeface="Arial"/>
              </a:defRPr>
            </a:defPPr>
          </a:lstStyle>
          <a:p xmlns:a="http://schemas.openxmlformats.org/drawingml/2006/main">
            <a:pPr>
              <a:defRPr sz="2700" b="1">
                <a:solidFill>
                  <a:srgbClr val="173F2F"/>
                </a:solidFill>
                <a:latin typeface="Arial"/>
                <a:ea typeface="Arial"/>
                <a:cs typeface="Arial"/>
              </a:defRPr>
            </a:pPr>
            <a:r>
              <a:rPr sz="2700" b="1">
                <a:solidFill>
                  <a:srgbClr val="173F2F"/>
                </a:solidFill>
                <a:latin typeface="Arial"/>
                <a:ea typeface="Arial"/>
                <a:cs typeface="Arial"/>
              </a:rPr>
              <a:t>Pesar + identificar</a:t>
            </a:r>
          </a:p>
        </p:txBody>
      </p:sp>
      <p:sp>
        <p:nvSpPr>
          <p:cNvPr id="8" name="cámara, base nutricional y análisis">
            <a:extLst xmlns:a="http://schemas.openxmlformats.org/drawingml/2006/main">
              <a:ext uri="{FF2B5EF4-FFF2-40B4-BE49-F238E27FC236}">
                <a16:creationId xmlns:a16="http://schemas.microsoft.com/office/drawing/2014/main" id="{65A07FBC-D764-4652-8B28-02EBCEF333D1}"/>
              </a:ext>
            </a:extLst>
          </p:cNvPr>
          <p:cNvSpPr>
            <a:spLocks xmlns:a="http://schemas.openxmlformats.org/drawingml/2006/main" noGrp="1"/>
          </p:cNvSpPr>
          <p:nvPr/>
        </p:nvSpPr>
        <p:spPr>
          <a:xfrm xmlns:a="http://schemas.openxmlformats.org/drawingml/2006/main">
            <a:off x="6934200" y="2324100"/>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cámara, base nutricional y análisis</a:t>
            </a:r>
          </a:p>
        </p:txBody>
      </p:sp>
      <p:sp>
        <p:nvSpPr>
          <p:cNvPr id="9" name="Permite fotografía o nombre del alimento. Combina la ma">
            <a:extLst xmlns:a="http://schemas.openxmlformats.org/drawingml/2006/main">
              <a:ext uri="{FF2B5EF4-FFF2-40B4-BE49-F238E27FC236}">
                <a16:creationId xmlns:a16="http://schemas.microsoft.com/office/drawing/2014/main" id="{C368FD6D-EE85-4021-A43F-33057EBB70DC}"/>
              </a:ext>
            </a:extLst>
          </p:cNvPr>
          <p:cNvSpPr>
            <a:spLocks xmlns:a="http://schemas.openxmlformats.org/drawingml/2006/main" noGrp="1"/>
          </p:cNvSpPr>
          <p:nvPr/>
        </p:nvSpPr>
        <p:spPr>
          <a:xfrm xmlns:a="http://schemas.openxmlformats.org/drawingml/2006/main">
            <a:off x="6934200" y="2905125"/>
            <a:ext cx="4667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Permite fotografía o nombre del alimento. Combina la masa con una referencia.</a:t>
            </a:r>
          </a:p>
        </p:txBody>
      </p:sp>
      <p:sp>
        <p:nvSpPr>
          <p:cNvPr id="10" name="Aporte al proyecto">
            <a:extLst xmlns:a="http://schemas.openxmlformats.org/drawingml/2006/main">
              <a:ext uri="{FF2B5EF4-FFF2-40B4-BE49-F238E27FC236}">
                <a16:creationId xmlns:a16="http://schemas.microsoft.com/office/drawing/2014/main" id="{680F0F47-280C-4C60-A222-FC5B58E18D1A}"/>
              </a:ext>
            </a:extLst>
          </p:cNvPr>
          <p:cNvSpPr>
            <a:spLocks xmlns:a="http://schemas.openxmlformats.org/drawingml/2006/main" noGrp="1"/>
          </p:cNvSpPr>
          <p:nvPr/>
        </p:nvSpPr>
        <p:spPr>
          <a:xfrm xmlns:a="http://schemas.openxmlformats.org/drawingml/2006/main">
            <a:off x="6934200" y="38290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Aporte al proyecto</a:t>
            </a:r>
          </a:p>
        </p:txBody>
      </p:sp>
      <p:sp>
        <p:nvSpPr>
          <p:cNvPr id="11" name="Integrar medición, reconocimiento, consulta y cálculo e">
            <a:extLst xmlns:a="http://schemas.openxmlformats.org/drawingml/2006/main">
              <a:ext uri="{FF2B5EF4-FFF2-40B4-BE49-F238E27FC236}">
                <a16:creationId xmlns:a16="http://schemas.microsoft.com/office/drawing/2014/main" id="{613C11F8-E351-4232-B0BB-280EAFA9EA64}"/>
              </a:ext>
            </a:extLst>
          </p:cNvPr>
          <p:cNvSpPr>
            <a:spLocks xmlns:a="http://schemas.openxmlformats.org/drawingml/2006/main" noGrp="1"/>
          </p:cNvSpPr>
          <p:nvPr/>
        </p:nvSpPr>
        <p:spPr>
          <a:xfrm xmlns:a="http://schemas.openxmlformats.org/drawingml/2006/main">
            <a:off x="6934200" y="4162425"/>
            <a:ext cx="466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73F2F"/>
                </a:solidFill>
                <a:latin typeface="Arial"/>
                <a:ea typeface="Arial"/>
                <a:cs typeface="Arial"/>
              </a:defRPr>
            </a:defPPr>
          </a:lstStyle>
          <a:p xmlns:a="http://schemas.openxmlformats.org/drawingml/2006/main">
            <a:pPr>
              <a:defRPr sz="1800" b="0">
                <a:solidFill>
                  <a:srgbClr val="173F2F"/>
                </a:solidFill>
                <a:latin typeface="Arial"/>
                <a:ea typeface="Arial"/>
                <a:cs typeface="Arial"/>
              </a:defRPr>
            </a:pPr>
            <a:r>
              <a:rPr sz="1800" b="0">
                <a:solidFill>
                  <a:srgbClr val="173F2F"/>
                </a:solidFill>
                <a:latin typeface="Arial"/>
                <a:ea typeface="Arial"/>
                <a:cs typeface="Arial"/>
              </a:rPr>
              <a:t>Integrar medición, reconocimiento, consulta y cálculo en un flujo.</a:t>
            </a:r>
          </a:p>
        </p:txBody>
      </p:sp>
      <p:sp>
        <p:nvSpPr>
          <p:cNvPr id="12" name="Límite: Sin capacidad, error de pesaje ni exactitud de ">
            <a:extLst xmlns:a="http://schemas.openxmlformats.org/drawingml/2006/main">
              <a:ext uri="{FF2B5EF4-FFF2-40B4-BE49-F238E27FC236}">
                <a16:creationId xmlns:a16="http://schemas.microsoft.com/office/drawing/2014/main" id="{C66AD7B3-DF18-4576-B730-06F68B58DEA3}"/>
              </a:ext>
            </a:extLst>
          </p:cNvPr>
          <p:cNvSpPr>
            <a:spLocks xmlns:a="http://schemas.openxmlformats.org/drawingml/2006/main" noGrp="1"/>
          </p:cNvSpPr>
          <p:nvPr/>
        </p:nvSpPr>
        <p:spPr>
          <a:xfrm xmlns:a="http://schemas.openxmlformats.org/drawingml/2006/main">
            <a:off x="6934200" y="5143500"/>
            <a:ext cx="466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77161"/>
                </a:solidFill>
                <a:latin typeface="Arial"/>
                <a:ea typeface="Arial"/>
                <a:cs typeface="Arial"/>
              </a:defRPr>
            </a:defPPr>
          </a:lstStyle>
          <a:p xmlns:a="http://schemas.openxmlformats.org/drawingml/2006/main">
            <a:pPr>
              <a:defRPr sz="1575" b="0">
                <a:solidFill>
                  <a:srgbClr val="577161"/>
                </a:solidFill>
                <a:latin typeface="Arial"/>
                <a:ea typeface="Arial"/>
                <a:cs typeface="Arial"/>
              </a:defRPr>
            </a:pPr>
            <a:r>
              <a:rPr sz="1575" b="0">
                <a:solidFill>
                  <a:srgbClr val="577161"/>
                </a:solidFill>
                <a:latin typeface="Arial"/>
                <a:ea typeface="Arial"/>
                <a:cs typeface="Arial"/>
              </a:rPr>
              <a:t>Límite: Sin capacidad, error de pesaje ni exactitud de reconocimiento declarados.</a:t>
            </a:r>
          </a:p>
        </p:txBody>
      </p:sp>
      <p:sp>
        <p:nvSpPr>
          <p:cNvPr id="13" name="F3 · F5 · F6 · F7 · F8">
            <a:extLst xmlns:a="http://schemas.openxmlformats.org/drawingml/2006/main">
              <a:ext uri="{FF2B5EF4-FFF2-40B4-BE49-F238E27FC236}">
                <a16:creationId xmlns:a16="http://schemas.microsoft.com/office/drawing/2014/main" id="{3C7A7E1F-B64A-45CC-B54E-4588B4B7C246}"/>
              </a:ext>
            </a:extLst>
          </p:cNvPr>
          <p:cNvSpPr>
            <a:spLocks xmlns:a="http://schemas.openxmlformats.org/drawingml/2006/main" noGrp="1"/>
          </p:cNvSpPr>
          <p:nvPr/>
        </p:nvSpPr>
        <p:spPr>
          <a:xfrm xmlns:a="http://schemas.openxmlformats.org/drawingml/2006/main">
            <a:off x="571500" y="601980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F3 · F5 · F6 · F7 · F8</a:t>
            </a:r>
          </a:p>
        </p:txBody>
      </p:sp>
    </p:spTree>
    <p:extLst>
      <p:ext uri="{BB962C8B-B14F-4D97-AF65-F5344CB8AC3E}">
        <p14:creationId xmlns:p14="http://schemas.microsoft.com/office/powerpoint/2010/main" val="613992892"/>
      </p:ext>
    </p:extLst>
  </p:cSld>
</p:sld>
</file>

<file path=ppt/slides/slide7.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4" name="US10292511B2 · Cantidad consumida">
            <a:extLst xmlns:a="http://schemas.openxmlformats.org/drawingml/2006/main">
              <a:ext uri="{FF2B5EF4-FFF2-40B4-BE49-F238E27FC236}">
                <a16:creationId xmlns:a16="http://schemas.microsoft.com/office/drawing/2014/main" id="{DA2D0948-56F7-48DC-8DB4-8FC3E9DE1C99}"/>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US10292511B2 · Cantidad consumida</a:t>
            </a:r>
          </a:p>
        </p:txBody>
      </p:sp>
      <p:sp>
        <p:nvSpPr>
          <p:cNvPr id="2" name="Methods, System and Apparatus to Improve Motivation and">
            <a:extLst xmlns:a="http://schemas.openxmlformats.org/drawingml/2006/main">
              <a:ext uri="{FF2B5EF4-FFF2-40B4-BE49-F238E27FC236}">
                <a16:creationId xmlns:a16="http://schemas.microsoft.com/office/drawing/2014/main" id="{652C8AE0-EDA6-4881-881E-50E25057B77E}"/>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Methods, System and Apparatus to Improve Motivation and Control When Taking Meals and to Automate the Process of Monitoring Nutrition</a:t>
            </a:r>
          </a:p>
        </p:txBody>
      </p:sp>
      <p:sp>
        <p:nvSpPr>
          <p:cNvPr id="3" name="Fuentes [5] · Referencias al final">
            <a:extLst xmlns:a="http://schemas.openxmlformats.org/drawingml/2006/main">
              <a:ext uri="{FF2B5EF4-FFF2-40B4-BE49-F238E27FC236}">
                <a16:creationId xmlns:a16="http://schemas.microsoft.com/office/drawing/2014/main" id="{623B20E9-9888-409E-8413-98BF145D93F5}"/>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[5] · Referencias al final</a:t>
            </a:r>
          </a:p>
        </p:txBody>
      </p:sp>
      <p:sp>
        <p:nvSpPr>
          <p:cNvPr id="4" name="07">
            <a:extLst xmlns:a="http://schemas.openxmlformats.org/drawingml/2006/main">
              <a:ext uri="{FF2B5EF4-FFF2-40B4-BE49-F238E27FC236}">
                <a16:creationId xmlns:a16="http://schemas.microsoft.com/office/drawing/2014/main" id="{53271240-0498-4C0C-B93F-7AE3282CD52E}"/>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07</a:t>
            </a:r>
          </a:p>
        </p:txBody>
      </p:sp>
      <p:pic>
        <p:nvPicPr>
          <p:cNvPr id="5" name="">
            <a:extLst xmlns:a="http://schemas.openxmlformats.org/drawingml/2006/main">
              <a:ext uri="{FF2B5EF4-FFF2-40B4-BE49-F238E27FC236}">
                <a16:creationId xmlns:a16="http://schemas.microsoft.com/office/drawing/2014/main" id="{7100C0D3-D874-4C9C-B6E2-D8648705D2BA}"/>
              </a:ext>
            </a:extLst>
          </p:cNvPr>
          <p:cNvPicPr>
            <a:picLocks xmlns:a="http://schemas.openxmlformats.org/drawingml/2006/main" noChangeAspect="1"/>
          </p:cNvPicPr>
          <p:nvPr/>
        </p:nvPicPr>
        <p:blipFill>
          <a:blip xmlns:r="http://schemas.openxmlformats.org/officeDocument/2006/relationships" xmlns:a="http://schemas.openxmlformats.org/drawingml/2006/main" r:embed="Rf1f6f2a885f94227"/>
          <a:stretch xmlns:a="http://schemas.openxmlformats.org/drawingml/2006/main"/>
        </p:blipFill>
        <p:spPr>
          <a:xfrm xmlns:a="http://schemas.openxmlformats.org/drawingml/2006/main">
            <a:off x="2069956" y="1790700"/>
            <a:ext cx="2870489" cy="3714750"/>
          </a:xfrm>
          <a:prstGeom xmlns:a="http://schemas.openxmlformats.org/drawingml/2006/main" prst="rect">
            <a:avLst/>
          </a:prstGeom>
        </p:spPr>
      </p:pic>
      <p:sp>
        <p:nvSpPr>
          <p:cNvPr id="6" name="Figura original del antecedente">
            <a:extLst xmlns:a="http://schemas.openxmlformats.org/drawingml/2006/main">
              <a:ext uri="{FF2B5EF4-FFF2-40B4-BE49-F238E27FC236}">
                <a16:creationId xmlns:a16="http://schemas.microsoft.com/office/drawing/2014/main" id="{A6A42407-D31E-412D-8DBC-CD2E184C5D27}"/>
              </a:ext>
            </a:extLst>
          </p:cNvPr>
          <p:cNvSpPr>
            <a:spLocks xmlns:a="http://schemas.openxmlformats.org/drawingml/2006/main" noGrp="1"/>
          </p:cNvSpPr>
          <p:nvPr/>
        </p:nvSpPr>
        <p:spPr>
          <a:xfrm xmlns:a="http://schemas.openxmlformats.org/drawingml/2006/main">
            <a:off x="571500" y="5648325"/>
            <a:ext cx="586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77161"/>
                </a:solidFill>
                <a:latin typeface="Arial"/>
                <a:ea typeface="Arial"/>
                <a:cs typeface="Arial"/>
              </a:defRPr>
            </a:defPPr>
          </a:lstStyle>
          <a:p xmlns:a="http://schemas.openxmlformats.org/drawingml/2006/main">
            <a:pPr>
              <a:defRPr sz="1275" b="0">
                <a:solidFill>
                  <a:srgbClr val="577161"/>
                </a:solidFill>
                <a:latin typeface="Arial"/>
                <a:ea typeface="Arial"/>
                <a:cs typeface="Arial"/>
              </a:defRPr>
            </a:pPr>
            <a:r>
              <a:rPr sz="1275" b="0">
                <a:solidFill>
                  <a:srgbClr val="577161"/>
                </a:solidFill>
                <a:latin typeface="Arial"/>
                <a:ea typeface="Arial"/>
                <a:cs typeface="Arial"/>
              </a:rPr>
              <a:t>Figura original del antecedente</a:t>
            </a:r>
          </a:p>
        </p:txBody>
      </p:sp>
      <p:sp>
        <p:nvSpPr>
          <p:cNvPr id="7" name="Servido y consumido">
            <a:extLst xmlns:a="http://schemas.openxmlformats.org/drawingml/2006/main">
              <a:ext uri="{FF2B5EF4-FFF2-40B4-BE49-F238E27FC236}">
                <a16:creationId xmlns:a16="http://schemas.microsoft.com/office/drawing/2014/main" id="{09732004-EF2C-4926-B215-CA836E8006E9}"/>
              </a:ext>
            </a:extLst>
          </p:cNvPr>
          <p:cNvSpPr>
            <a:spLocks xmlns:a="http://schemas.openxmlformats.org/drawingml/2006/main" noGrp="1"/>
          </p:cNvSpPr>
          <p:nvPr/>
        </p:nvSpPr>
        <p:spPr>
          <a:xfrm xmlns:a="http://schemas.openxmlformats.org/drawingml/2006/main">
            <a:off x="6934200" y="1695450"/>
            <a:ext cx="4667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73F2F"/>
                </a:solidFill>
                <a:latin typeface="Arial"/>
                <a:ea typeface="Arial"/>
                <a:cs typeface="Arial"/>
              </a:defRPr>
            </a:defPPr>
          </a:lstStyle>
          <a:p xmlns:a="http://schemas.openxmlformats.org/drawingml/2006/main">
            <a:pPr>
              <a:defRPr sz="2700" b="1">
                <a:solidFill>
                  <a:srgbClr val="173F2F"/>
                </a:solidFill>
                <a:latin typeface="Arial"/>
                <a:ea typeface="Arial"/>
                <a:cs typeface="Arial"/>
              </a:defRPr>
            </a:pPr>
            <a:r>
              <a:rPr sz="2700" b="1">
                <a:solidFill>
                  <a:srgbClr val="173F2F"/>
                </a:solidFill>
                <a:latin typeface="Arial"/>
                <a:ea typeface="Arial"/>
                <a:cs typeface="Arial"/>
              </a:rPr>
              <a:t>Servido y consumido</a:t>
            </a:r>
          </a:p>
        </p:txBody>
      </p:sp>
      <p:sp>
        <p:nvSpPr>
          <p:cNvPr id="8" name="balanza conectada con el aplicativo">
            <a:extLst xmlns:a="http://schemas.openxmlformats.org/drawingml/2006/main">
              <a:ext uri="{FF2B5EF4-FFF2-40B4-BE49-F238E27FC236}">
                <a16:creationId xmlns:a16="http://schemas.microsoft.com/office/drawing/2014/main" id="{B3D889E4-343F-4E1C-BF88-BB8773F33F2F}"/>
              </a:ext>
            </a:extLst>
          </p:cNvPr>
          <p:cNvSpPr>
            <a:spLocks xmlns:a="http://schemas.openxmlformats.org/drawingml/2006/main" noGrp="1"/>
          </p:cNvSpPr>
          <p:nvPr/>
        </p:nvSpPr>
        <p:spPr>
          <a:xfrm xmlns:a="http://schemas.openxmlformats.org/drawingml/2006/main">
            <a:off x="6934200" y="2324100"/>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balanza conectada con el aplicativo</a:t>
            </a:r>
          </a:p>
        </p:txBody>
      </p:sp>
      <p:sp>
        <p:nvSpPr>
          <p:cNvPr id="9" name="Tara del recipiente, masa inicial y lecturas sucesivas ">
            <a:extLst xmlns:a="http://schemas.openxmlformats.org/drawingml/2006/main">
              <a:ext uri="{FF2B5EF4-FFF2-40B4-BE49-F238E27FC236}">
                <a16:creationId xmlns:a16="http://schemas.microsoft.com/office/drawing/2014/main" id="{DF024F97-2D3A-40B3-8E23-2792BA542091}"/>
              </a:ext>
            </a:extLst>
          </p:cNvPr>
          <p:cNvSpPr>
            <a:spLocks xmlns:a="http://schemas.openxmlformats.org/drawingml/2006/main" noGrp="1"/>
          </p:cNvSpPr>
          <p:nvPr/>
        </p:nvSpPr>
        <p:spPr>
          <a:xfrm xmlns:a="http://schemas.openxmlformats.org/drawingml/2006/main">
            <a:off x="6934200" y="2905125"/>
            <a:ext cx="4667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Tara del recipiente, masa inicial y lecturas sucesivas durante la comida.</a:t>
            </a:r>
          </a:p>
        </p:txBody>
      </p:sp>
      <p:sp>
        <p:nvSpPr>
          <p:cNvPr id="10" name="Aporte al proyecto">
            <a:extLst xmlns:a="http://schemas.openxmlformats.org/drawingml/2006/main">
              <a:ext uri="{FF2B5EF4-FFF2-40B4-BE49-F238E27FC236}">
                <a16:creationId xmlns:a16="http://schemas.microsoft.com/office/drawing/2014/main" id="{534EB175-EEFA-4385-86EB-9EC225E92EB6}"/>
              </a:ext>
            </a:extLst>
          </p:cNvPr>
          <p:cNvSpPr>
            <a:spLocks xmlns:a="http://schemas.openxmlformats.org/drawingml/2006/main" noGrp="1"/>
          </p:cNvSpPr>
          <p:nvPr/>
        </p:nvSpPr>
        <p:spPr>
          <a:xfrm xmlns:a="http://schemas.openxmlformats.org/drawingml/2006/main">
            <a:off x="6934200" y="38290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Aporte al proyecto</a:t>
            </a:r>
          </a:p>
        </p:txBody>
      </p:sp>
      <p:sp>
        <p:nvSpPr>
          <p:cNvPr id="11" name="Vincular la medición física y el registro digital. Dist">
            <a:extLst xmlns:a="http://schemas.openxmlformats.org/drawingml/2006/main">
              <a:ext uri="{FF2B5EF4-FFF2-40B4-BE49-F238E27FC236}">
                <a16:creationId xmlns:a16="http://schemas.microsoft.com/office/drawing/2014/main" id="{427F8873-BDAF-427B-BDE0-7175B65C80E5}"/>
              </a:ext>
            </a:extLst>
          </p:cNvPr>
          <p:cNvSpPr>
            <a:spLocks xmlns:a="http://schemas.openxmlformats.org/drawingml/2006/main" noGrp="1"/>
          </p:cNvSpPr>
          <p:nvPr/>
        </p:nvSpPr>
        <p:spPr>
          <a:xfrm xmlns:a="http://schemas.openxmlformats.org/drawingml/2006/main">
            <a:off x="6934200" y="4162425"/>
            <a:ext cx="466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73F2F"/>
                </a:solidFill>
                <a:latin typeface="Arial"/>
                <a:ea typeface="Arial"/>
                <a:cs typeface="Arial"/>
              </a:defRPr>
            </a:defPPr>
          </a:lstStyle>
          <a:p xmlns:a="http://schemas.openxmlformats.org/drawingml/2006/main">
            <a:pPr>
              <a:defRPr sz="1800" b="0">
                <a:solidFill>
                  <a:srgbClr val="173F2F"/>
                </a:solidFill>
                <a:latin typeface="Arial"/>
                <a:ea typeface="Arial"/>
                <a:cs typeface="Arial"/>
              </a:defRPr>
            </a:pPr>
            <a:r>
              <a:rPr sz="1800" b="0">
                <a:solidFill>
                  <a:srgbClr val="173F2F"/>
                </a:solidFill>
                <a:latin typeface="Arial"/>
                <a:ea typeface="Arial"/>
                <a:cs typeface="Arial"/>
              </a:rPr>
              <a:t>Vincular la medición física y el registro digital. Distinguir consumo efectivo.</a:t>
            </a:r>
          </a:p>
        </p:txBody>
      </p:sp>
      <p:sp>
        <p:nvSpPr>
          <p:cNvPr id="12" name="Límite: No declara capacidad ni precisión metrológica. ">
            <a:extLst xmlns:a="http://schemas.openxmlformats.org/drawingml/2006/main">
              <a:ext uri="{FF2B5EF4-FFF2-40B4-BE49-F238E27FC236}">
                <a16:creationId xmlns:a16="http://schemas.microsoft.com/office/drawing/2014/main" id="{A42B52D4-4C5B-4B64-B819-33FE6321C998}"/>
              </a:ext>
            </a:extLst>
          </p:cNvPr>
          <p:cNvSpPr>
            <a:spLocks xmlns:a="http://schemas.openxmlformats.org/drawingml/2006/main" noGrp="1"/>
          </p:cNvSpPr>
          <p:nvPr/>
        </p:nvSpPr>
        <p:spPr>
          <a:xfrm xmlns:a="http://schemas.openxmlformats.org/drawingml/2006/main">
            <a:off x="6934200" y="5143500"/>
            <a:ext cx="466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77161"/>
                </a:solidFill>
                <a:latin typeface="Arial"/>
                <a:ea typeface="Arial"/>
                <a:cs typeface="Arial"/>
              </a:defRPr>
            </a:defPPr>
          </a:lstStyle>
          <a:p xmlns:a="http://schemas.openxmlformats.org/drawingml/2006/main">
            <a:pPr>
              <a:defRPr sz="1575" b="0">
                <a:solidFill>
                  <a:srgbClr val="577161"/>
                </a:solidFill>
                <a:latin typeface="Arial"/>
                <a:ea typeface="Arial"/>
                <a:cs typeface="Arial"/>
              </a:defRPr>
            </a:pPr>
            <a:r>
              <a:rPr sz="1575" b="0">
                <a:solidFill>
                  <a:srgbClr val="577161"/>
                </a:solidFill>
                <a:latin typeface="Arial"/>
                <a:ea typeface="Arial"/>
                <a:cs typeface="Arial"/>
              </a:rPr>
              <a:t>Límite: No declara capacidad ni precisión metrológica. Nuestro avance registra la porción servida.</a:t>
            </a:r>
          </a:p>
        </p:txBody>
      </p:sp>
      <p:sp>
        <p:nvSpPr>
          <p:cNvPr id="13" name="F2 Conectar · F4 Transmitir · F5 Cantidad">
            <a:extLst xmlns:a="http://schemas.openxmlformats.org/drawingml/2006/main">
              <a:ext uri="{FF2B5EF4-FFF2-40B4-BE49-F238E27FC236}">
                <a16:creationId xmlns:a16="http://schemas.microsoft.com/office/drawing/2014/main" id="{93607C78-46F6-4FDE-8CE9-C53AE3D0AE94}"/>
              </a:ext>
            </a:extLst>
          </p:cNvPr>
          <p:cNvSpPr>
            <a:spLocks xmlns:a="http://schemas.openxmlformats.org/drawingml/2006/main" noGrp="1"/>
          </p:cNvSpPr>
          <p:nvPr/>
        </p:nvSpPr>
        <p:spPr>
          <a:xfrm xmlns:a="http://schemas.openxmlformats.org/drawingml/2006/main">
            <a:off x="571500" y="601980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F2 Conectar · F4 Transmitir · F5 Cantidad</a:t>
            </a:r>
          </a:p>
        </p:txBody>
      </p:sp>
    </p:spTree>
    <p:extLst>
      <p:ext uri="{BB962C8B-B14F-4D97-AF65-F5344CB8AC3E}">
        <p14:creationId xmlns:p14="http://schemas.microsoft.com/office/powerpoint/2010/main" val="54671474"/>
      </p:ext>
    </p:extLst>
  </p:cSld>
</p:sld>
</file>

<file path=ppt/slides/slide8.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4" name="WO2014008555A1 · Escalamiento">
            <a:extLst xmlns:a="http://schemas.openxmlformats.org/drawingml/2006/main">
              <a:ext uri="{FF2B5EF4-FFF2-40B4-BE49-F238E27FC236}">
                <a16:creationId xmlns:a16="http://schemas.microsoft.com/office/drawing/2014/main" id="{278558FA-B340-417C-A7C6-3006F4536573}"/>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WO2014008555A1 · Escalamiento</a:t>
            </a:r>
          </a:p>
        </p:txBody>
      </p:sp>
      <p:sp>
        <p:nvSpPr>
          <p:cNvPr id="2" name="Method and System for Planning and Monitoring Calorie C">
            <a:extLst xmlns:a="http://schemas.openxmlformats.org/drawingml/2006/main">
              <a:ext uri="{FF2B5EF4-FFF2-40B4-BE49-F238E27FC236}">
                <a16:creationId xmlns:a16="http://schemas.microsoft.com/office/drawing/2014/main" id="{E7C8E93B-E235-4A46-829D-54A05D8D8AEA}"/>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Method and System for Planning and Monitoring Calorie Consumption</a:t>
            </a:r>
          </a:p>
        </p:txBody>
      </p:sp>
      <p:sp>
        <p:nvSpPr>
          <p:cNvPr id="3" name="Fuentes [6] · Referencias al final">
            <a:extLst xmlns:a="http://schemas.openxmlformats.org/drawingml/2006/main">
              <a:ext uri="{FF2B5EF4-FFF2-40B4-BE49-F238E27FC236}">
                <a16:creationId xmlns:a16="http://schemas.microsoft.com/office/drawing/2014/main" id="{C70D0B43-579E-4B9E-969E-9F8D9112CC5E}"/>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[6] · Referencias al final</a:t>
            </a:r>
          </a:p>
        </p:txBody>
      </p:sp>
      <p:sp>
        <p:nvSpPr>
          <p:cNvPr id="4" name="08">
            <a:extLst xmlns:a="http://schemas.openxmlformats.org/drawingml/2006/main">
              <a:ext uri="{FF2B5EF4-FFF2-40B4-BE49-F238E27FC236}">
                <a16:creationId xmlns:a16="http://schemas.microsoft.com/office/drawing/2014/main" id="{B23F5239-77D7-4C10-9B10-B0C7D9AB51BB}"/>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08</a:t>
            </a:r>
          </a:p>
        </p:txBody>
      </p:sp>
      <p:pic>
        <p:nvPicPr>
          <p:cNvPr id="5" name="">
            <a:extLst xmlns:a="http://schemas.openxmlformats.org/drawingml/2006/main">
              <a:ext uri="{FF2B5EF4-FFF2-40B4-BE49-F238E27FC236}">
                <a16:creationId xmlns:a16="http://schemas.microsoft.com/office/drawing/2014/main" id="{B93A103E-7076-48D6-812B-86B051ACF868}"/>
              </a:ext>
            </a:extLst>
          </p:cNvPr>
          <p:cNvPicPr>
            <a:picLocks xmlns:a="http://schemas.openxmlformats.org/drawingml/2006/main" noChangeAspect="1"/>
          </p:cNvPicPr>
          <p:nvPr/>
        </p:nvPicPr>
        <p:blipFill>
          <a:blip xmlns:r="http://schemas.openxmlformats.org/officeDocument/2006/relationships" xmlns:a="http://schemas.openxmlformats.org/drawingml/2006/main" r:embed="R56e66da1f9a1406f"/>
          <a:stretch xmlns:a="http://schemas.openxmlformats.org/drawingml/2006/main"/>
        </p:blipFill>
        <p:spPr>
          <a:xfrm xmlns:a="http://schemas.openxmlformats.org/drawingml/2006/main">
            <a:off x="2191857" y="1790700"/>
            <a:ext cx="2626685" cy="3714750"/>
          </a:xfrm>
          <a:prstGeom xmlns:a="http://schemas.openxmlformats.org/drawingml/2006/main" prst="rect">
            <a:avLst/>
          </a:prstGeom>
        </p:spPr>
      </p:pic>
      <p:sp>
        <p:nvSpPr>
          <p:cNvPr id="6" name="Figura original del antecedente">
            <a:extLst xmlns:a="http://schemas.openxmlformats.org/drawingml/2006/main">
              <a:ext uri="{FF2B5EF4-FFF2-40B4-BE49-F238E27FC236}">
                <a16:creationId xmlns:a16="http://schemas.microsoft.com/office/drawing/2014/main" id="{2E6E4DB5-2195-4FA5-B04C-090AE9B7E7AC}"/>
              </a:ext>
            </a:extLst>
          </p:cNvPr>
          <p:cNvSpPr>
            <a:spLocks xmlns:a="http://schemas.openxmlformats.org/drawingml/2006/main" noGrp="1"/>
          </p:cNvSpPr>
          <p:nvPr/>
        </p:nvSpPr>
        <p:spPr>
          <a:xfrm xmlns:a="http://schemas.openxmlformats.org/drawingml/2006/main">
            <a:off x="571500" y="5648325"/>
            <a:ext cx="586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77161"/>
                </a:solidFill>
                <a:latin typeface="Arial"/>
                <a:ea typeface="Arial"/>
                <a:cs typeface="Arial"/>
              </a:defRPr>
            </a:defPPr>
          </a:lstStyle>
          <a:p xmlns:a="http://schemas.openxmlformats.org/drawingml/2006/main">
            <a:pPr>
              <a:defRPr sz="1275" b="0">
                <a:solidFill>
                  <a:srgbClr val="577161"/>
                </a:solidFill>
                <a:latin typeface="Arial"/>
                <a:ea typeface="Arial"/>
                <a:cs typeface="Arial"/>
              </a:defRPr>
            </a:pPr>
            <a:r>
              <a:rPr sz="1275" b="0">
                <a:solidFill>
                  <a:srgbClr val="577161"/>
                </a:solidFill>
                <a:latin typeface="Arial"/>
                <a:ea typeface="Arial"/>
                <a:cs typeface="Arial"/>
              </a:rPr>
              <a:t>Figura original del antecedente</a:t>
            </a:r>
          </a:p>
        </p:txBody>
      </p:sp>
      <p:sp>
        <p:nvSpPr>
          <p:cNvPr id="7" name="Referencia por 100 g">
            <a:extLst xmlns:a="http://schemas.openxmlformats.org/drawingml/2006/main">
              <a:ext uri="{FF2B5EF4-FFF2-40B4-BE49-F238E27FC236}">
                <a16:creationId xmlns:a16="http://schemas.microsoft.com/office/drawing/2014/main" id="{ABAD5791-D7EE-45B5-B961-F636628D6F16}"/>
              </a:ext>
            </a:extLst>
          </p:cNvPr>
          <p:cNvSpPr>
            <a:spLocks xmlns:a="http://schemas.openxmlformats.org/drawingml/2006/main" noGrp="1"/>
          </p:cNvSpPr>
          <p:nvPr/>
        </p:nvSpPr>
        <p:spPr>
          <a:xfrm xmlns:a="http://schemas.openxmlformats.org/drawingml/2006/main">
            <a:off x="6934200" y="1695450"/>
            <a:ext cx="4667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73F2F"/>
                </a:solidFill>
                <a:latin typeface="Arial"/>
                <a:ea typeface="Arial"/>
                <a:cs typeface="Arial"/>
              </a:defRPr>
            </a:defPPr>
          </a:lstStyle>
          <a:p xmlns:a="http://schemas.openxmlformats.org/drawingml/2006/main">
            <a:pPr>
              <a:defRPr sz="2700" b="1">
                <a:solidFill>
                  <a:srgbClr val="173F2F"/>
                </a:solidFill>
                <a:latin typeface="Arial"/>
                <a:ea typeface="Arial"/>
                <a:cs typeface="Arial"/>
              </a:defRPr>
            </a:pPr>
            <a:r>
              <a:rPr sz="2700" b="1">
                <a:solidFill>
                  <a:srgbClr val="173F2F"/>
                </a:solidFill>
                <a:latin typeface="Arial"/>
                <a:ea typeface="Arial"/>
                <a:cs typeface="Arial"/>
              </a:rPr>
              <a:t>Referencia por 100 g</a:t>
            </a:r>
          </a:p>
        </p:txBody>
      </p:sp>
      <p:sp>
        <p:nvSpPr>
          <p:cNvPr id="8" name="conversión a valores por gramo">
            <a:extLst xmlns:a="http://schemas.openxmlformats.org/drawingml/2006/main">
              <a:ext uri="{FF2B5EF4-FFF2-40B4-BE49-F238E27FC236}">
                <a16:creationId xmlns:a16="http://schemas.microsoft.com/office/drawing/2014/main" id="{AAB410CA-26A3-4535-A944-47D87F9E225A}"/>
              </a:ext>
            </a:extLst>
          </p:cNvPr>
          <p:cNvSpPr>
            <a:spLocks xmlns:a="http://schemas.openxmlformats.org/drawingml/2006/main" noGrp="1"/>
          </p:cNvSpPr>
          <p:nvPr/>
        </p:nvSpPr>
        <p:spPr>
          <a:xfrm xmlns:a="http://schemas.openxmlformats.org/drawingml/2006/main">
            <a:off x="6934200" y="2324100"/>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conversión a valores por gramo</a:t>
            </a:r>
          </a:p>
        </p:txBody>
      </p:sp>
      <p:sp>
        <p:nvSpPr>
          <p:cNvPr id="9" name="Relaciona densidad energética, cantidad de alimento e h">
            <a:extLst xmlns:a="http://schemas.openxmlformats.org/drawingml/2006/main">
              <a:ext uri="{FF2B5EF4-FFF2-40B4-BE49-F238E27FC236}">
                <a16:creationId xmlns:a16="http://schemas.microsoft.com/office/drawing/2014/main" id="{6AF9A8DF-BDE0-4204-B701-8F74C5D05CBA}"/>
              </a:ext>
            </a:extLst>
          </p:cNvPr>
          <p:cNvSpPr>
            <a:spLocks xmlns:a="http://schemas.openxmlformats.org/drawingml/2006/main" noGrp="1"/>
          </p:cNvSpPr>
          <p:nvPr/>
        </p:nvSpPr>
        <p:spPr>
          <a:xfrm xmlns:a="http://schemas.openxmlformats.org/drawingml/2006/main">
            <a:off x="6934200" y="2905125"/>
            <a:ext cx="4667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Relaciona densidad energética, cantidad de alimento e historial.</a:t>
            </a:r>
          </a:p>
        </p:txBody>
      </p:sp>
      <p:sp>
        <p:nvSpPr>
          <p:cNvPr id="10" name="Aporte al proyecto">
            <a:extLst xmlns:a="http://schemas.openxmlformats.org/drawingml/2006/main">
              <a:ext uri="{FF2B5EF4-FFF2-40B4-BE49-F238E27FC236}">
                <a16:creationId xmlns:a16="http://schemas.microsoft.com/office/drawing/2014/main" id="{449B7A25-38E5-42F3-9DF8-A0AC2E1A5F00}"/>
              </a:ext>
            </a:extLst>
          </p:cNvPr>
          <p:cNvSpPr>
            <a:spLocks xmlns:a="http://schemas.openxmlformats.org/drawingml/2006/main" noGrp="1"/>
          </p:cNvSpPr>
          <p:nvPr/>
        </p:nvSpPr>
        <p:spPr>
          <a:xfrm xmlns:a="http://schemas.openxmlformats.org/drawingml/2006/main">
            <a:off x="6934200" y="38290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Aporte al proyecto</a:t>
            </a:r>
          </a:p>
        </p:txBody>
      </p:sp>
      <p:sp>
        <p:nvSpPr>
          <p:cNvPr id="11" name="Calcular cada nutriente según la masa de la porción con">
            <a:extLst xmlns:a="http://schemas.openxmlformats.org/drawingml/2006/main">
              <a:ext uri="{FF2B5EF4-FFF2-40B4-BE49-F238E27FC236}">
                <a16:creationId xmlns:a16="http://schemas.microsoft.com/office/drawing/2014/main" id="{AC8B8440-6F79-4B5B-A8E7-6C6D7ADE9BFD}"/>
              </a:ext>
            </a:extLst>
          </p:cNvPr>
          <p:cNvSpPr>
            <a:spLocks xmlns:a="http://schemas.openxmlformats.org/drawingml/2006/main" noGrp="1"/>
          </p:cNvSpPr>
          <p:nvPr/>
        </p:nvSpPr>
        <p:spPr>
          <a:xfrm xmlns:a="http://schemas.openxmlformats.org/drawingml/2006/main">
            <a:off x="6934200" y="4162425"/>
            <a:ext cx="466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73F2F"/>
                </a:solidFill>
                <a:latin typeface="Arial"/>
                <a:ea typeface="Arial"/>
                <a:cs typeface="Arial"/>
              </a:defRPr>
            </a:defPPr>
          </a:lstStyle>
          <a:p xmlns:a="http://schemas.openxmlformats.org/drawingml/2006/main">
            <a:pPr>
              <a:defRPr sz="1800" b="0">
                <a:solidFill>
                  <a:srgbClr val="173F2F"/>
                </a:solidFill>
                <a:latin typeface="Arial"/>
                <a:ea typeface="Arial"/>
                <a:cs typeface="Arial"/>
              </a:defRPr>
            </a:pPr>
            <a:r>
              <a:rPr sz="1800" b="0">
                <a:solidFill>
                  <a:srgbClr val="173F2F"/>
                </a:solidFill>
                <a:latin typeface="Arial"/>
                <a:ea typeface="Arial"/>
                <a:cs typeface="Arial"/>
              </a:rPr>
              <a:t>Calcular cada nutriente según la masa de la porción confirmada.</a:t>
            </a:r>
          </a:p>
        </p:txBody>
      </p:sp>
      <p:sp>
        <p:nvSpPr>
          <p:cNvPr id="12" name="Límite: La planificación y las recomendaciones personal">
            <a:extLst xmlns:a="http://schemas.openxmlformats.org/drawingml/2006/main">
              <a:ext uri="{FF2B5EF4-FFF2-40B4-BE49-F238E27FC236}">
                <a16:creationId xmlns:a16="http://schemas.microsoft.com/office/drawing/2014/main" id="{E81FACCF-2327-4755-BE88-B932EBB7862C}"/>
              </a:ext>
            </a:extLst>
          </p:cNvPr>
          <p:cNvSpPr>
            <a:spLocks xmlns:a="http://schemas.openxmlformats.org/drawingml/2006/main" noGrp="1"/>
          </p:cNvSpPr>
          <p:nvPr/>
        </p:nvSpPr>
        <p:spPr>
          <a:xfrm xmlns:a="http://schemas.openxmlformats.org/drawingml/2006/main">
            <a:off x="6934200" y="5143500"/>
            <a:ext cx="466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77161"/>
                </a:solidFill>
                <a:latin typeface="Arial"/>
                <a:ea typeface="Arial"/>
                <a:cs typeface="Arial"/>
              </a:defRPr>
            </a:defPPr>
          </a:lstStyle>
          <a:p xmlns:a="http://schemas.openxmlformats.org/drawingml/2006/main">
            <a:pPr>
              <a:defRPr sz="1575" b="0">
                <a:solidFill>
                  <a:srgbClr val="577161"/>
                </a:solidFill>
                <a:latin typeface="Arial"/>
                <a:ea typeface="Arial"/>
                <a:cs typeface="Arial"/>
              </a:defRPr>
            </a:pPr>
            <a:r>
              <a:rPr sz="1575" b="0">
                <a:solidFill>
                  <a:srgbClr val="577161"/>
                </a:solidFill>
                <a:latin typeface="Arial"/>
                <a:ea typeface="Arial"/>
                <a:cs typeface="Arial"/>
              </a:rPr>
              <a:t>Límite: La planificación y las recomendaciones personalizadas exceden el alcance actual.</a:t>
            </a:r>
          </a:p>
        </p:txBody>
      </p:sp>
      <p:sp>
        <p:nvSpPr>
          <p:cNvPr id="13" name="F8 Calcular · Error de cálculo objetivo ≤ 1 %">
            <a:extLst xmlns:a="http://schemas.openxmlformats.org/drawingml/2006/main">
              <a:ext uri="{FF2B5EF4-FFF2-40B4-BE49-F238E27FC236}">
                <a16:creationId xmlns:a16="http://schemas.microsoft.com/office/drawing/2014/main" id="{380B214F-AAB4-4FC5-845C-7084D99F26EE}"/>
              </a:ext>
            </a:extLst>
          </p:cNvPr>
          <p:cNvSpPr>
            <a:spLocks xmlns:a="http://schemas.openxmlformats.org/drawingml/2006/main" noGrp="1"/>
          </p:cNvSpPr>
          <p:nvPr/>
        </p:nvSpPr>
        <p:spPr>
          <a:xfrm xmlns:a="http://schemas.openxmlformats.org/drawingml/2006/main">
            <a:off x="571500" y="601980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F8 Calcular · Error de cálculo objetivo ≤ 1 %</a:t>
            </a:r>
          </a:p>
        </p:txBody>
      </p:sp>
    </p:spTree>
    <p:extLst>
      <p:ext uri="{BB962C8B-B14F-4D97-AF65-F5344CB8AC3E}">
        <p14:creationId xmlns:p14="http://schemas.microsoft.com/office/powerpoint/2010/main" val="1955215525"/>
      </p:ext>
    </p:extLst>
  </p:cSld>
</p:sld>
</file>

<file path=ppt/slides/slide9.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4" name="US8439683B2 · Imagen y descripción">
            <a:extLst xmlns:a="http://schemas.openxmlformats.org/drawingml/2006/main">
              <a:ext uri="{FF2B5EF4-FFF2-40B4-BE49-F238E27FC236}">
                <a16:creationId xmlns:a16="http://schemas.microsoft.com/office/drawing/2014/main" id="{F5351D35-251C-4F81-AE44-6E2C89C138C6}"/>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US8439683B2 · Imagen y descripción</a:t>
            </a:r>
          </a:p>
        </p:txBody>
      </p:sp>
      <p:sp>
        <p:nvSpPr>
          <p:cNvPr id="2" name="Food Recognition Using Visual Analysis and Speech Recog">
            <a:extLst xmlns:a="http://schemas.openxmlformats.org/drawingml/2006/main">
              <a:ext uri="{FF2B5EF4-FFF2-40B4-BE49-F238E27FC236}">
                <a16:creationId xmlns:a16="http://schemas.microsoft.com/office/drawing/2014/main" id="{DD430E12-5086-443B-B19D-D53B52CDBCA9}"/>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Food Recognition Using Visual Analysis and Speech Recognition</a:t>
            </a:r>
          </a:p>
        </p:txBody>
      </p:sp>
      <p:sp>
        <p:nvSpPr>
          <p:cNvPr id="3" name="Fuentes [7] · Referencias al final">
            <a:extLst xmlns:a="http://schemas.openxmlformats.org/drawingml/2006/main">
              <a:ext uri="{FF2B5EF4-FFF2-40B4-BE49-F238E27FC236}">
                <a16:creationId xmlns:a16="http://schemas.microsoft.com/office/drawing/2014/main" id="{D727A919-1C3E-4ADC-93A2-9883489BDB34}"/>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[7] · Referencias al final</a:t>
            </a:r>
          </a:p>
        </p:txBody>
      </p:sp>
      <p:sp>
        <p:nvSpPr>
          <p:cNvPr id="4" name="09">
            <a:extLst xmlns:a="http://schemas.openxmlformats.org/drawingml/2006/main">
              <a:ext uri="{FF2B5EF4-FFF2-40B4-BE49-F238E27FC236}">
                <a16:creationId xmlns:a16="http://schemas.microsoft.com/office/drawing/2014/main" id="{AC4C145D-C3F4-4CCC-A67F-08918B0E48D4}"/>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09</a:t>
            </a:r>
          </a:p>
        </p:txBody>
      </p:sp>
      <p:pic>
        <p:nvPicPr>
          <p:cNvPr id="5" name="">
            <a:extLst xmlns:a="http://schemas.openxmlformats.org/drawingml/2006/main">
              <a:ext uri="{FF2B5EF4-FFF2-40B4-BE49-F238E27FC236}">
                <a16:creationId xmlns:a16="http://schemas.microsoft.com/office/drawing/2014/main" id="{9410C728-5BD9-4259-9B35-CB8584E560CA}"/>
              </a:ext>
            </a:extLst>
          </p:cNvPr>
          <p:cNvPicPr>
            <a:picLocks xmlns:a="http://schemas.openxmlformats.org/drawingml/2006/main" noChangeAspect="1"/>
          </p:cNvPicPr>
          <p:nvPr/>
        </p:nvPicPr>
        <p:blipFill>
          <a:blip xmlns:r="http://schemas.openxmlformats.org/officeDocument/2006/relationships" xmlns:a="http://schemas.openxmlformats.org/drawingml/2006/main" r:embed="R95a359deb22e4e61"/>
          <a:stretch xmlns:a="http://schemas.openxmlformats.org/drawingml/2006/main"/>
        </p:blipFill>
        <p:spPr>
          <a:xfrm xmlns:a="http://schemas.openxmlformats.org/drawingml/2006/main">
            <a:off x="629513" y="1790700"/>
            <a:ext cx="5751374" cy="3714750"/>
          </a:xfrm>
          <a:prstGeom xmlns:a="http://schemas.openxmlformats.org/drawingml/2006/main" prst="rect">
            <a:avLst/>
          </a:prstGeom>
        </p:spPr>
      </p:pic>
      <p:sp>
        <p:nvSpPr>
          <p:cNvPr id="6" name="Figura original del antecedente">
            <a:extLst xmlns:a="http://schemas.openxmlformats.org/drawingml/2006/main">
              <a:ext uri="{FF2B5EF4-FFF2-40B4-BE49-F238E27FC236}">
                <a16:creationId xmlns:a16="http://schemas.microsoft.com/office/drawing/2014/main" id="{BF8CCB6D-97EA-4208-9443-A253F6B6BDF2}"/>
              </a:ext>
            </a:extLst>
          </p:cNvPr>
          <p:cNvSpPr>
            <a:spLocks xmlns:a="http://schemas.openxmlformats.org/drawingml/2006/main" noGrp="1"/>
          </p:cNvSpPr>
          <p:nvPr/>
        </p:nvSpPr>
        <p:spPr>
          <a:xfrm xmlns:a="http://schemas.openxmlformats.org/drawingml/2006/main">
            <a:off x="571500" y="5648325"/>
            <a:ext cx="586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77161"/>
                </a:solidFill>
                <a:latin typeface="Arial"/>
                <a:ea typeface="Arial"/>
                <a:cs typeface="Arial"/>
              </a:defRPr>
            </a:defPPr>
          </a:lstStyle>
          <a:p xmlns:a="http://schemas.openxmlformats.org/drawingml/2006/main">
            <a:pPr>
              <a:defRPr sz="1275" b="0">
                <a:solidFill>
                  <a:srgbClr val="577161"/>
                </a:solidFill>
                <a:latin typeface="Arial"/>
                <a:ea typeface="Arial"/>
                <a:cs typeface="Arial"/>
              </a:defRPr>
            </a:pPr>
            <a:r>
              <a:rPr sz="1275" b="0">
                <a:solidFill>
                  <a:srgbClr val="577161"/>
                </a:solidFill>
                <a:latin typeface="Arial"/>
                <a:ea typeface="Arial"/>
                <a:cs typeface="Arial"/>
              </a:rPr>
              <a:t>Figura original del antecedente</a:t>
            </a:r>
          </a:p>
        </p:txBody>
      </p:sp>
      <p:sp>
        <p:nvSpPr>
          <p:cNvPr id="7" name="Imagen + voz o texto">
            <a:extLst xmlns:a="http://schemas.openxmlformats.org/drawingml/2006/main">
              <a:ext uri="{FF2B5EF4-FFF2-40B4-BE49-F238E27FC236}">
                <a16:creationId xmlns:a16="http://schemas.microsoft.com/office/drawing/2014/main" id="{96E6D53A-3928-456B-8B14-8FE719B32F3C}"/>
              </a:ext>
            </a:extLst>
          </p:cNvPr>
          <p:cNvSpPr>
            <a:spLocks xmlns:a="http://schemas.openxmlformats.org/drawingml/2006/main" noGrp="1"/>
          </p:cNvSpPr>
          <p:nvPr/>
        </p:nvSpPr>
        <p:spPr>
          <a:xfrm xmlns:a="http://schemas.openxmlformats.org/drawingml/2006/main">
            <a:off x="6934200" y="1695450"/>
            <a:ext cx="4667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73F2F"/>
                </a:solidFill>
                <a:latin typeface="Arial"/>
                <a:ea typeface="Arial"/>
                <a:cs typeface="Arial"/>
              </a:defRPr>
            </a:defPPr>
          </a:lstStyle>
          <a:p xmlns:a="http://schemas.openxmlformats.org/drawingml/2006/main">
            <a:pPr>
              <a:defRPr sz="2700" b="1">
                <a:solidFill>
                  <a:srgbClr val="173F2F"/>
                </a:solidFill>
                <a:latin typeface="Arial"/>
                <a:ea typeface="Arial"/>
                <a:cs typeface="Arial"/>
              </a:defRPr>
            </a:pPr>
            <a:r>
              <a:rPr sz="2700" b="1">
                <a:solidFill>
                  <a:srgbClr val="173F2F"/>
                </a:solidFill>
                <a:latin typeface="Arial"/>
                <a:ea typeface="Arial"/>
                <a:cs typeface="Arial"/>
              </a:rPr>
              <a:t>Imagen + voz o texto</a:t>
            </a:r>
          </a:p>
        </p:txBody>
      </p:sp>
      <p:sp>
        <p:nvSpPr>
          <p:cNvPr id="8" name="información adicional para reconocer">
            <a:extLst xmlns:a="http://schemas.openxmlformats.org/drawingml/2006/main">
              <a:ext uri="{FF2B5EF4-FFF2-40B4-BE49-F238E27FC236}">
                <a16:creationId xmlns:a16="http://schemas.microsoft.com/office/drawing/2014/main" id="{2568DA81-EB96-4123-85FC-4B68BA730973}"/>
              </a:ext>
            </a:extLst>
          </p:cNvPr>
          <p:cNvSpPr>
            <a:spLocks xmlns:a="http://schemas.openxmlformats.org/drawingml/2006/main" noGrp="1"/>
          </p:cNvSpPr>
          <p:nvPr/>
        </p:nvSpPr>
        <p:spPr>
          <a:xfrm xmlns:a="http://schemas.openxmlformats.org/drawingml/2006/main">
            <a:off x="6934200" y="2324100"/>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información adicional para reconocer</a:t>
            </a:r>
          </a:p>
        </p:txBody>
      </p:sp>
      <p:sp>
        <p:nvSpPr>
          <p:cNvPr id="9" name="La realización preferida usa al menos tres imágenes de ">
            <a:extLst xmlns:a="http://schemas.openxmlformats.org/drawingml/2006/main">
              <a:ext uri="{FF2B5EF4-FFF2-40B4-BE49-F238E27FC236}">
                <a16:creationId xmlns:a16="http://schemas.microsoft.com/office/drawing/2014/main" id="{1871DD19-DFBA-4E7F-BAA0-0ED6D03C7CBD}"/>
              </a:ext>
            </a:extLst>
          </p:cNvPr>
          <p:cNvSpPr>
            <a:spLocks xmlns:a="http://schemas.openxmlformats.org/drawingml/2006/main" noGrp="1"/>
          </p:cNvSpPr>
          <p:nvPr/>
        </p:nvSpPr>
        <p:spPr>
          <a:xfrm xmlns:a="http://schemas.openxmlformats.org/drawingml/2006/main">
            <a:off x="6934200" y="2905125"/>
            <a:ext cx="4667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La realización preferida usa al menos tres imágenes de la escena.</a:t>
            </a:r>
          </a:p>
        </p:txBody>
      </p:sp>
      <p:sp>
        <p:nvSpPr>
          <p:cNvPr id="10" name="Aporte al proyecto">
            <a:extLst xmlns:a="http://schemas.openxmlformats.org/drawingml/2006/main">
              <a:ext uri="{FF2B5EF4-FFF2-40B4-BE49-F238E27FC236}">
                <a16:creationId xmlns:a16="http://schemas.microsoft.com/office/drawing/2014/main" id="{A5164CC1-A3DB-451F-B1DD-E02C01117D8F}"/>
              </a:ext>
            </a:extLst>
          </p:cNvPr>
          <p:cNvSpPr>
            <a:spLocks xmlns:a="http://schemas.openxmlformats.org/drawingml/2006/main" noGrp="1"/>
          </p:cNvSpPr>
          <p:nvPr/>
        </p:nvSpPr>
        <p:spPr>
          <a:xfrm xmlns:a="http://schemas.openxmlformats.org/drawingml/2006/main">
            <a:off x="6934200" y="38290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Aporte al proyecto</a:t>
            </a:r>
          </a:p>
        </p:txBody>
      </p:sp>
      <p:sp>
        <p:nvSpPr>
          <p:cNvPr id="11" name="Permitir que el usuario aclare alimentos y preparación.">
            <a:extLst xmlns:a="http://schemas.openxmlformats.org/drawingml/2006/main">
              <a:ext uri="{FF2B5EF4-FFF2-40B4-BE49-F238E27FC236}">
                <a16:creationId xmlns:a16="http://schemas.microsoft.com/office/drawing/2014/main" id="{0E395FCF-826E-45DA-9CB9-CDCC39EE80DC}"/>
              </a:ext>
            </a:extLst>
          </p:cNvPr>
          <p:cNvSpPr>
            <a:spLocks xmlns:a="http://schemas.openxmlformats.org/drawingml/2006/main" noGrp="1"/>
          </p:cNvSpPr>
          <p:nvPr/>
        </p:nvSpPr>
        <p:spPr>
          <a:xfrm xmlns:a="http://schemas.openxmlformats.org/drawingml/2006/main">
            <a:off x="6934200" y="4162425"/>
            <a:ext cx="466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73F2F"/>
                </a:solidFill>
                <a:latin typeface="Arial"/>
                <a:ea typeface="Arial"/>
                <a:cs typeface="Arial"/>
              </a:defRPr>
            </a:defPPr>
          </a:lstStyle>
          <a:p xmlns:a="http://schemas.openxmlformats.org/drawingml/2006/main">
            <a:pPr>
              <a:defRPr sz="1800" b="0">
                <a:solidFill>
                  <a:srgbClr val="173F2F"/>
                </a:solidFill>
                <a:latin typeface="Arial"/>
                <a:ea typeface="Arial"/>
                <a:cs typeface="Arial"/>
              </a:defRPr>
            </a:pPr>
            <a:r>
              <a:rPr sz="1800" b="0">
                <a:solidFill>
                  <a:srgbClr val="173F2F"/>
                </a:solidFill>
                <a:latin typeface="Arial"/>
                <a:ea typeface="Arial"/>
                <a:cs typeface="Arial"/>
              </a:rPr>
              <a:t>Permitir que el usuario aclare alimentos y preparación.</a:t>
            </a:r>
          </a:p>
        </p:txBody>
      </p:sp>
      <p:sp>
        <p:nvSpPr>
          <p:cNvPr id="12" name="Límite: Más capturas aumentan el esfuerzo. FoodScan usa">
            <a:extLst xmlns:a="http://schemas.openxmlformats.org/drawingml/2006/main">
              <a:ext uri="{FF2B5EF4-FFF2-40B4-BE49-F238E27FC236}">
                <a16:creationId xmlns:a16="http://schemas.microsoft.com/office/drawing/2014/main" id="{A7CEA4B6-32F2-445B-BDC6-49DE6CC005C6}"/>
              </a:ext>
            </a:extLst>
          </p:cNvPr>
          <p:cNvSpPr>
            <a:spLocks xmlns:a="http://schemas.openxmlformats.org/drawingml/2006/main" noGrp="1"/>
          </p:cNvSpPr>
          <p:nvPr/>
        </p:nvSpPr>
        <p:spPr>
          <a:xfrm xmlns:a="http://schemas.openxmlformats.org/drawingml/2006/main">
            <a:off x="6934200" y="5143500"/>
            <a:ext cx="466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77161"/>
                </a:solidFill>
                <a:latin typeface="Arial"/>
                <a:ea typeface="Arial"/>
                <a:cs typeface="Arial"/>
              </a:defRPr>
            </a:defPPr>
          </a:lstStyle>
          <a:p xmlns:a="http://schemas.openxmlformats.org/drawingml/2006/main">
            <a:pPr>
              <a:defRPr sz="1575" b="0">
                <a:solidFill>
                  <a:srgbClr val="577161"/>
                </a:solidFill>
                <a:latin typeface="Arial"/>
                <a:ea typeface="Arial"/>
                <a:cs typeface="Arial"/>
              </a:defRPr>
            </a:pPr>
            <a:r>
              <a:rPr sz="1575" b="0">
                <a:solidFill>
                  <a:srgbClr val="577161"/>
                </a:solidFill>
                <a:latin typeface="Arial"/>
                <a:ea typeface="Arial"/>
                <a:cs typeface="Arial"/>
              </a:rPr>
              <a:t>Límite: Más capturas aumentan el esfuerzo. FoodScan usa una foto y corrección posterior.</a:t>
            </a:r>
          </a:p>
        </p:txBody>
      </p:sp>
      <p:sp>
        <p:nvSpPr>
          <p:cNvPr id="13" name="F3 Capturar · F6 Identificar y corregir">
            <a:extLst xmlns:a="http://schemas.openxmlformats.org/drawingml/2006/main">
              <a:ext uri="{FF2B5EF4-FFF2-40B4-BE49-F238E27FC236}">
                <a16:creationId xmlns:a16="http://schemas.microsoft.com/office/drawing/2014/main" id="{211941E9-7AF8-455F-9994-D1853CBA8332}"/>
              </a:ext>
            </a:extLst>
          </p:cNvPr>
          <p:cNvSpPr>
            <a:spLocks xmlns:a="http://schemas.openxmlformats.org/drawingml/2006/main" noGrp="1"/>
          </p:cNvSpPr>
          <p:nvPr/>
        </p:nvSpPr>
        <p:spPr>
          <a:xfrm xmlns:a="http://schemas.openxmlformats.org/drawingml/2006/main">
            <a:off x="571500" y="601980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F3 Capturar · F6 Identificar y corregir</a:t>
            </a:r>
          </a:p>
        </p:txBody>
      </p:sp>
    </p:spTree>
    <p:extLst>
      <p:ext uri="{BB962C8B-B14F-4D97-AF65-F5344CB8AC3E}">
        <p14:creationId xmlns:p14="http://schemas.microsoft.com/office/powerpoint/2010/main" val="1730224417"/>
      </p:ext>
    </p:extLst>
  </p:cSld>
</p:sld>
</file>

<file path=ppt/slides/slide10.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4" name="US20140063180A1 · Balanza conectada">
            <a:extLst xmlns:a="http://schemas.openxmlformats.org/drawingml/2006/main">
              <a:ext uri="{FF2B5EF4-FFF2-40B4-BE49-F238E27FC236}">
                <a16:creationId xmlns:a16="http://schemas.microsoft.com/office/drawing/2014/main" id="{DA615EB2-6855-4684-94A5-9C54B439870E}"/>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US20140063180A1 · Balanza conectada</a:t>
            </a:r>
          </a:p>
        </p:txBody>
      </p:sp>
      <p:sp>
        <p:nvSpPr>
          <p:cNvPr id="2" name="Connected Food Scale System and Method">
            <a:extLst xmlns:a="http://schemas.openxmlformats.org/drawingml/2006/main">
              <a:ext uri="{FF2B5EF4-FFF2-40B4-BE49-F238E27FC236}">
                <a16:creationId xmlns:a16="http://schemas.microsoft.com/office/drawing/2014/main" id="{342C92B3-B334-4F35-9193-2A60222101B4}"/>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Connected Food Scale System and Method</a:t>
            </a:r>
          </a:p>
        </p:txBody>
      </p:sp>
      <p:sp>
        <p:nvSpPr>
          <p:cNvPr id="3" name="Fuentes [8] · Referencias al final">
            <a:extLst xmlns:a="http://schemas.openxmlformats.org/drawingml/2006/main">
              <a:ext uri="{FF2B5EF4-FFF2-40B4-BE49-F238E27FC236}">
                <a16:creationId xmlns:a16="http://schemas.microsoft.com/office/drawing/2014/main" id="{422F8EF7-3FE3-446B-829E-F83F77CB0F91}"/>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[8] · Referencias al final</a:t>
            </a:r>
          </a:p>
        </p:txBody>
      </p:sp>
      <p:sp>
        <p:nvSpPr>
          <p:cNvPr id="4" name="10">
            <a:extLst xmlns:a="http://schemas.openxmlformats.org/drawingml/2006/main">
              <a:ext uri="{FF2B5EF4-FFF2-40B4-BE49-F238E27FC236}">
                <a16:creationId xmlns:a16="http://schemas.microsoft.com/office/drawing/2014/main" id="{443B06FE-1E8D-4984-A76C-FFE101741EF0}"/>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10</a:t>
            </a:r>
          </a:p>
        </p:txBody>
      </p:sp>
      <p:pic>
        <p:nvPicPr>
          <p:cNvPr id="5" name="">
            <a:extLst xmlns:a="http://schemas.openxmlformats.org/drawingml/2006/main">
              <a:ext uri="{FF2B5EF4-FFF2-40B4-BE49-F238E27FC236}">
                <a16:creationId xmlns:a16="http://schemas.microsoft.com/office/drawing/2014/main" id="{1FDD03D8-B7ED-49C8-9376-C35C5B9E9E8A}"/>
              </a:ext>
            </a:extLst>
          </p:cNvPr>
          <p:cNvPicPr>
            <a:picLocks xmlns:a="http://schemas.openxmlformats.org/drawingml/2006/main" noChangeAspect="1"/>
          </p:cNvPicPr>
          <p:nvPr/>
        </p:nvPicPr>
        <p:blipFill>
          <a:blip xmlns:r="http://schemas.openxmlformats.org/officeDocument/2006/relationships" xmlns:a="http://schemas.openxmlformats.org/drawingml/2006/main" r:embed="Rea601e2810b14f2e"/>
          <a:stretch xmlns:a="http://schemas.openxmlformats.org/drawingml/2006/main"/>
        </p:blipFill>
        <p:spPr>
          <a:xfrm xmlns:a="http://schemas.openxmlformats.org/drawingml/2006/main">
            <a:off x="730106" y="1790700"/>
            <a:ext cx="5550188" cy="3714750"/>
          </a:xfrm>
          <a:prstGeom xmlns:a="http://schemas.openxmlformats.org/drawingml/2006/main" prst="rect">
            <a:avLst/>
          </a:prstGeom>
        </p:spPr>
      </p:pic>
      <p:sp>
        <p:nvSpPr>
          <p:cNvPr id="6" name="Figura original del antecedente">
            <a:extLst xmlns:a="http://schemas.openxmlformats.org/drawingml/2006/main">
              <a:ext uri="{FF2B5EF4-FFF2-40B4-BE49-F238E27FC236}">
                <a16:creationId xmlns:a16="http://schemas.microsoft.com/office/drawing/2014/main" id="{12DAAD20-F017-4E25-A4E9-FEC81DEDAB4E}"/>
              </a:ext>
            </a:extLst>
          </p:cNvPr>
          <p:cNvSpPr>
            <a:spLocks xmlns:a="http://schemas.openxmlformats.org/drawingml/2006/main" noGrp="1"/>
          </p:cNvSpPr>
          <p:nvPr/>
        </p:nvSpPr>
        <p:spPr>
          <a:xfrm xmlns:a="http://schemas.openxmlformats.org/drawingml/2006/main">
            <a:off x="571500" y="5648325"/>
            <a:ext cx="586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77161"/>
                </a:solidFill>
                <a:latin typeface="Arial"/>
                <a:ea typeface="Arial"/>
                <a:cs typeface="Arial"/>
              </a:defRPr>
            </a:defPPr>
          </a:lstStyle>
          <a:p xmlns:a="http://schemas.openxmlformats.org/drawingml/2006/main">
            <a:pPr>
              <a:defRPr sz="1275" b="0">
                <a:solidFill>
                  <a:srgbClr val="577161"/>
                </a:solidFill>
                <a:latin typeface="Arial"/>
                <a:ea typeface="Arial"/>
                <a:cs typeface="Arial"/>
              </a:defRPr>
            </a:pPr>
            <a:r>
              <a:rPr sz="1275" b="0">
                <a:solidFill>
                  <a:srgbClr val="577161"/>
                </a:solidFill>
                <a:latin typeface="Arial"/>
                <a:ea typeface="Arial"/>
                <a:cs typeface="Arial"/>
              </a:rPr>
              <a:t>Figura original del antecedente</a:t>
            </a:r>
          </a:p>
        </p:txBody>
      </p:sp>
      <p:sp>
        <p:nvSpPr>
          <p:cNvPr id="7" name="Masa + registro">
            <a:extLst xmlns:a="http://schemas.openxmlformats.org/drawingml/2006/main">
              <a:ext uri="{FF2B5EF4-FFF2-40B4-BE49-F238E27FC236}">
                <a16:creationId xmlns:a16="http://schemas.microsoft.com/office/drawing/2014/main" id="{D4F1CA1C-A440-44B8-B839-2D10A393DAA2}"/>
              </a:ext>
            </a:extLst>
          </p:cNvPr>
          <p:cNvSpPr>
            <a:spLocks xmlns:a="http://schemas.openxmlformats.org/drawingml/2006/main" noGrp="1"/>
          </p:cNvSpPr>
          <p:nvPr/>
        </p:nvSpPr>
        <p:spPr>
          <a:xfrm xmlns:a="http://schemas.openxmlformats.org/drawingml/2006/main">
            <a:off x="6934200" y="1695450"/>
            <a:ext cx="4667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3F2F"/>
                </a:solidFill>
                <a:latin typeface="Arial"/>
                <a:ea typeface="Arial"/>
                <a:cs typeface="Arial"/>
              </a:defRPr>
            </a:defPPr>
          </a:lstStyle>
          <a:p xmlns:a="http://schemas.openxmlformats.org/drawingml/2006/main">
            <a:pPr>
              <a:defRPr sz="3300" b="1">
                <a:solidFill>
                  <a:srgbClr val="173F2F"/>
                </a:solidFill>
                <a:latin typeface="Arial"/>
                <a:ea typeface="Arial"/>
                <a:cs typeface="Arial"/>
              </a:defRPr>
            </a:pPr>
            <a:r>
              <a:rPr sz="3300" b="1">
                <a:solidFill>
                  <a:srgbClr val="173F2F"/>
                </a:solidFill>
                <a:latin typeface="Arial"/>
                <a:ea typeface="Arial"/>
                <a:cs typeface="Arial"/>
              </a:rPr>
              <a:t>Masa + registro</a:t>
            </a:r>
          </a:p>
        </p:txBody>
      </p:sp>
      <p:sp>
        <p:nvSpPr>
          <p:cNvPr id="8" name="medición física asociada al alimento">
            <a:extLst xmlns:a="http://schemas.openxmlformats.org/drawingml/2006/main">
              <a:ext uri="{FF2B5EF4-FFF2-40B4-BE49-F238E27FC236}">
                <a16:creationId xmlns:a16="http://schemas.microsoft.com/office/drawing/2014/main" id="{9B32B145-739E-47D5-9BDD-AE3E2C05A93C}"/>
              </a:ext>
            </a:extLst>
          </p:cNvPr>
          <p:cNvSpPr>
            <a:spLocks xmlns:a="http://schemas.openxmlformats.org/drawingml/2006/main" noGrp="1"/>
          </p:cNvSpPr>
          <p:nvPr/>
        </p:nvSpPr>
        <p:spPr>
          <a:xfrm xmlns:a="http://schemas.openxmlformats.org/drawingml/2006/main">
            <a:off x="6934200" y="2324100"/>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medición física asociada al alimento</a:t>
            </a:r>
          </a:p>
        </p:txBody>
      </p:sp>
      <p:sp>
        <p:nvSpPr>
          <p:cNvPr id="9" name="Sensor de carga, conversión digital y conexión física, ">
            <a:extLst xmlns:a="http://schemas.openxmlformats.org/drawingml/2006/main">
              <a:ext uri="{FF2B5EF4-FFF2-40B4-BE49-F238E27FC236}">
                <a16:creationId xmlns:a16="http://schemas.microsoft.com/office/drawing/2014/main" id="{5A834AEA-37A4-45D2-8ED9-F5905CFC558B}"/>
              </a:ext>
            </a:extLst>
          </p:cNvPr>
          <p:cNvSpPr>
            <a:spLocks xmlns:a="http://schemas.openxmlformats.org/drawingml/2006/main" noGrp="1"/>
          </p:cNvSpPr>
          <p:nvPr/>
        </p:nvSpPr>
        <p:spPr>
          <a:xfrm xmlns:a="http://schemas.openxmlformats.org/drawingml/2006/main">
            <a:off x="6934200" y="2905125"/>
            <a:ext cx="4667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Sensor de carga, conversión digital y conexión física, Wi-Fi o Bluetooth.</a:t>
            </a:r>
          </a:p>
        </p:txBody>
      </p:sp>
      <p:sp>
        <p:nvSpPr>
          <p:cNvPr id="10" name="Aporte al proyecto">
            <a:extLst xmlns:a="http://schemas.openxmlformats.org/drawingml/2006/main">
              <a:ext uri="{FF2B5EF4-FFF2-40B4-BE49-F238E27FC236}">
                <a16:creationId xmlns:a16="http://schemas.microsoft.com/office/drawing/2014/main" id="{A4917B0F-6C8F-4BCB-BF49-208295CF8301}"/>
              </a:ext>
            </a:extLst>
          </p:cNvPr>
          <p:cNvSpPr>
            <a:spLocks xmlns:a="http://schemas.openxmlformats.org/drawingml/2006/main" noGrp="1"/>
          </p:cNvSpPr>
          <p:nvPr/>
        </p:nvSpPr>
        <p:spPr>
          <a:xfrm xmlns:a="http://schemas.openxmlformats.org/drawingml/2006/main">
            <a:off x="6934200" y="38290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Aporte al proyecto</a:t>
            </a:r>
          </a:p>
        </p:txBody>
      </p:sp>
      <p:sp>
        <p:nvSpPr>
          <p:cNvPr id="11" name="Transmitir gramos con un estado y asociarlos a una capt">
            <a:extLst xmlns:a="http://schemas.openxmlformats.org/drawingml/2006/main">
              <a:ext uri="{FF2B5EF4-FFF2-40B4-BE49-F238E27FC236}">
                <a16:creationId xmlns:a16="http://schemas.microsoft.com/office/drawing/2014/main" id="{6186C581-A278-4D63-8367-91233FFC285B}"/>
              </a:ext>
            </a:extLst>
          </p:cNvPr>
          <p:cNvSpPr>
            <a:spLocks xmlns:a="http://schemas.openxmlformats.org/drawingml/2006/main" noGrp="1"/>
          </p:cNvSpPr>
          <p:nvPr/>
        </p:nvSpPr>
        <p:spPr>
          <a:xfrm xmlns:a="http://schemas.openxmlformats.org/drawingml/2006/main">
            <a:off x="6934200" y="4162425"/>
            <a:ext cx="466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73F2F"/>
                </a:solidFill>
                <a:latin typeface="Arial"/>
                <a:ea typeface="Arial"/>
                <a:cs typeface="Arial"/>
              </a:defRPr>
            </a:defPPr>
          </a:lstStyle>
          <a:p xmlns:a="http://schemas.openxmlformats.org/drawingml/2006/main">
            <a:pPr>
              <a:defRPr sz="1800" b="0">
                <a:solidFill>
                  <a:srgbClr val="173F2F"/>
                </a:solidFill>
                <a:latin typeface="Arial"/>
                <a:ea typeface="Arial"/>
                <a:cs typeface="Arial"/>
              </a:defRPr>
            </a:pPr>
            <a:r>
              <a:rPr sz="1800" b="0">
                <a:solidFill>
                  <a:srgbClr val="173F2F"/>
                </a:solidFill>
                <a:latin typeface="Arial"/>
                <a:ea typeface="Arial"/>
                <a:cs typeface="Arial"/>
              </a:rPr>
              <a:t>Transmitir gramos con un estado y asociarlos a una captura.</a:t>
            </a:r>
          </a:p>
        </p:txBody>
      </p:sp>
      <p:sp>
        <p:nvSpPr>
          <p:cNvPr id="12" name="Límite: La publicación no indica capacidad ni precisión">
            <a:extLst xmlns:a="http://schemas.openxmlformats.org/drawingml/2006/main">
              <a:ext uri="{FF2B5EF4-FFF2-40B4-BE49-F238E27FC236}">
                <a16:creationId xmlns:a16="http://schemas.microsoft.com/office/drawing/2014/main" id="{D58057A0-66FE-4742-A4D2-FFF41BCE5A46}"/>
              </a:ext>
            </a:extLst>
          </p:cNvPr>
          <p:cNvSpPr>
            <a:spLocks xmlns:a="http://schemas.openxmlformats.org/drawingml/2006/main" noGrp="1"/>
          </p:cNvSpPr>
          <p:nvPr/>
        </p:nvSpPr>
        <p:spPr>
          <a:xfrm xmlns:a="http://schemas.openxmlformats.org/drawingml/2006/main">
            <a:off x="6934200" y="5143500"/>
            <a:ext cx="466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77161"/>
                </a:solidFill>
                <a:latin typeface="Arial"/>
                <a:ea typeface="Arial"/>
                <a:cs typeface="Arial"/>
              </a:defRPr>
            </a:defPPr>
          </a:lstStyle>
          <a:p xmlns:a="http://schemas.openxmlformats.org/drawingml/2006/main">
            <a:pPr>
              <a:defRPr sz="1575" b="0">
                <a:solidFill>
                  <a:srgbClr val="577161"/>
                </a:solidFill>
                <a:latin typeface="Arial"/>
                <a:ea typeface="Arial"/>
                <a:cs typeface="Arial"/>
              </a:defRPr>
            </a:pPr>
            <a:r>
              <a:rPr sz="1575" b="0">
                <a:solidFill>
                  <a:srgbClr val="577161"/>
                </a:solidFill>
                <a:latin typeface="Arial"/>
                <a:ea typeface="Arial"/>
                <a:cs typeface="Arial"/>
              </a:rPr>
              <a:t>Límite: La publicación no indica capacidad ni precisión de la balanza.</a:t>
            </a:r>
          </a:p>
        </p:txBody>
      </p:sp>
      <p:sp>
        <p:nvSpPr>
          <p:cNvPr id="13" name="F2 Conectar · F4 Transmitir · F10 Guardar">
            <a:extLst xmlns:a="http://schemas.openxmlformats.org/drawingml/2006/main">
              <a:ext uri="{FF2B5EF4-FFF2-40B4-BE49-F238E27FC236}">
                <a16:creationId xmlns:a16="http://schemas.microsoft.com/office/drawing/2014/main" id="{A5DC1E5E-D1F8-450E-9FFE-501696343C0D}"/>
              </a:ext>
            </a:extLst>
          </p:cNvPr>
          <p:cNvSpPr>
            <a:spLocks xmlns:a="http://schemas.openxmlformats.org/drawingml/2006/main" noGrp="1"/>
          </p:cNvSpPr>
          <p:nvPr/>
        </p:nvSpPr>
        <p:spPr>
          <a:xfrm xmlns:a="http://schemas.openxmlformats.org/drawingml/2006/main">
            <a:off x="571500" y="601980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F2 Conectar · F4 Transmitir · F10 Guardar</a:t>
            </a:r>
          </a:p>
        </p:txBody>
      </p:sp>
    </p:spTree>
    <p:extLst>
      <p:ext uri="{BB962C8B-B14F-4D97-AF65-F5344CB8AC3E}">
        <p14:creationId xmlns:p14="http://schemas.microsoft.com/office/powerpoint/2010/main" val="112723498"/>
      </p:ext>
    </p:extLst>
  </p:cSld>
</p:sld>
</file>

<file path=ppt/slides/slide11.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4" name="CN108871530A · Pesaje y calorías">
            <a:extLst xmlns:a="http://schemas.openxmlformats.org/drawingml/2006/main">
              <a:ext uri="{FF2B5EF4-FFF2-40B4-BE49-F238E27FC236}">
                <a16:creationId xmlns:a16="http://schemas.microsoft.com/office/drawing/2014/main" id="{3784D4DE-4A89-4EC3-B20C-E6201CA7B7A3}"/>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CN108871530A · Pesaje y calorías</a:t>
            </a:r>
          </a:p>
        </p:txBody>
      </p:sp>
      <p:sp>
        <p:nvSpPr>
          <p:cNvPr id="2" name="Electronic scale and method for automatically recognizi">
            <a:extLst xmlns:a="http://schemas.openxmlformats.org/drawingml/2006/main">
              <a:ext uri="{FF2B5EF4-FFF2-40B4-BE49-F238E27FC236}">
                <a16:creationId xmlns:a16="http://schemas.microsoft.com/office/drawing/2014/main" id="{811CC967-0763-46D3-9369-8548C7BE8F52}"/>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Electronic scale and method for automatically recognizing food calories</a:t>
            </a:r>
          </a:p>
        </p:txBody>
      </p:sp>
      <p:sp>
        <p:nvSpPr>
          <p:cNvPr id="3" name="Fuentes [9] · Referencias al final">
            <a:extLst xmlns:a="http://schemas.openxmlformats.org/drawingml/2006/main">
              <a:ext uri="{FF2B5EF4-FFF2-40B4-BE49-F238E27FC236}">
                <a16:creationId xmlns:a16="http://schemas.microsoft.com/office/drawing/2014/main" id="{F2E71D8F-EED9-4276-9FBD-1C8FE52E985C}"/>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[9] · Referencias al final</a:t>
            </a:r>
          </a:p>
        </p:txBody>
      </p:sp>
      <p:sp>
        <p:nvSpPr>
          <p:cNvPr id="4" name="11">
            <a:extLst xmlns:a="http://schemas.openxmlformats.org/drawingml/2006/main">
              <a:ext uri="{FF2B5EF4-FFF2-40B4-BE49-F238E27FC236}">
                <a16:creationId xmlns:a16="http://schemas.microsoft.com/office/drawing/2014/main" id="{B2D9DC69-F930-48CF-B48E-F96F5E50FEE3}"/>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11</a:t>
            </a:r>
          </a:p>
        </p:txBody>
      </p:sp>
      <p:pic>
        <p:nvPicPr>
          <p:cNvPr id="5" name="">
            <a:extLst xmlns:a="http://schemas.openxmlformats.org/drawingml/2006/main">
              <a:ext uri="{FF2B5EF4-FFF2-40B4-BE49-F238E27FC236}">
                <a16:creationId xmlns:a16="http://schemas.microsoft.com/office/drawing/2014/main" id="{F8607103-C1EC-4644-8FBA-BEC4F2A9042B}"/>
              </a:ext>
            </a:extLst>
          </p:cNvPr>
          <p:cNvPicPr>
            <a:picLocks xmlns:a="http://schemas.openxmlformats.org/drawingml/2006/main" noChangeAspect="1"/>
          </p:cNvPicPr>
          <p:nvPr/>
        </p:nvPicPr>
        <p:blipFill>
          <a:blip xmlns:r="http://schemas.openxmlformats.org/officeDocument/2006/relationships" xmlns:a="http://schemas.openxmlformats.org/drawingml/2006/main" r:embed="R883f9cfde0a64e9b"/>
          <a:stretch xmlns:a="http://schemas.openxmlformats.org/drawingml/2006/main"/>
        </p:blipFill>
        <p:spPr>
          <a:xfrm xmlns:a="http://schemas.openxmlformats.org/drawingml/2006/main">
            <a:off x="2192867" y="1790700"/>
            <a:ext cx="2624667" cy="3714750"/>
          </a:xfrm>
          <a:prstGeom xmlns:a="http://schemas.openxmlformats.org/drawingml/2006/main" prst="rect">
            <a:avLst/>
          </a:prstGeom>
        </p:spPr>
      </p:pic>
      <p:sp>
        <p:nvSpPr>
          <p:cNvPr id="6" name="Figura original del antecedente">
            <a:extLst xmlns:a="http://schemas.openxmlformats.org/drawingml/2006/main">
              <a:ext uri="{FF2B5EF4-FFF2-40B4-BE49-F238E27FC236}">
                <a16:creationId xmlns:a16="http://schemas.microsoft.com/office/drawing/2014/main" id="{206F294F-5B24-44AF-B7B1-860E911AE17E}"/>
              </a:ext>
            </a:extLst>
          </p:cNvPr>
          <p:cNvSpPr>
            <a:spLocks xmlns:a="http://schemas.openxmlformats.org/drawingml/2006/main" noGrp="1"/>
          </p:cNvSpPr>
          <p:nvPr/>
        </p:nvSpPr>
        <p:spPr>
          <a:xfrm xmlns:a="http://schemas.openxmlformats.org/drawingml/2006/main">
            <a:off x="571500" y="5648325"/>
            <a:ext cx="586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77161"/>
                </a:solidFill>
                <a:latin typeface="Arial"/>
                <a:ea typeface="Arial"/>
                <a:cs typeface="Arial"/>
              </a:defRPr>
            </a:defPPr>
          </a:lstStyle>
          <a:p xmlns:a="http://schemas.openxmlformats.org/drawingml/2006/main">
            <a:pPr>
              <a:defRPr sz="1275" b="0">
                <a:solidFill>
                  <a:srgbClr val="577161"/>
                </a:solidFill>
                <a:latin typeface="Arial"/>
                <a:ea typeface="Arial"/>
                <a:cs typeface="Arial"/>
              </a:defRPr>
            </a:pPr>
            <a:r>
              <a:rPr sz="1275" b="0">
                <a:solidFill>
                  <a:srgbClr val="577161"/>
                </a:solidFill>
                <a:latin typeface="Arial"/>
                <a:ea typeface="Arial"/>
                <a:cs typeface="Arial"/>
              </a:rPr>
              <a:t>Figura original del antecedente</a:t>
            </a:r>
          </a:p>
        </p:txBody>
      </p:sp>
      <p:sp>
        <p:nvSpPr>
          <p:cNvPr id="7" name="kcal = m × C / 100">
            <a:extLst xmlns:a="http://schemas.openxmlformats.org/drawingml/2006/main">
              <a:ext uri="{FF2B5EF4-FFF2-40B4-BE49-F238E27FC236}">
                <a16:creationId xmlns:a16="http://schemas.microsoft.com/office/drawing/2014/main" id="{F335E984-8CD4-42AC-BDDB-C9C0CE3AF9D9}"/>
              </a:ext>
            </a:extLst>
          </p:cNvPr>
          <p:cNvSpPr>
            <a:spLocks xmlns:a="http://schemas.openxmlformats.org/drawingml/2006/main" noGrp="1"/>
          </p:cNvSpPr>
          <p:nvPr/>
        </p:nvSpPr>
        <p:spPr>
          <a:xfrm xmlns:a="http://schemas.openxmlformats.org/drawingml/2006/main">
            <a:off x="6934200" y="1695450"/>
            <a:ext cx="4667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3F2F"/>
                </a:solidFill>
                <a:latin typeface="Arial"/>
                <a:ea typeface="Arial"/>
                <a:cs typeface="Arial"/>
              </a:defRPr>
            </a:defPPr>
          </a:lstStyle>
          <a:p xmlns:a="http://schemas.openxmlformats.org/drawingml/2006/main">
            <a:pPr>
              <a:defRPr sz="3300" b="1">
                <a:solidFill>
                  <a:srgbClr val="173F2F"/>
                </a:solidFill>
                <a:latin typeface="Arial"/>
                <a:ea typeface="Arial"/>
                <a:cs typeface="Arial"/>
              </a:defRPr>
            </a:pPr>
            <a:r>
              <a:rPr sz="3300" b="1">
                <a:solidFill>
                  <a:srgbClr val="173F2F"/>
                </a:solidFill>
                <a:latin typeface="Arial"/>
                <a:ea typeface="Arial"/>
                <a:cs typeface="Arial"/>
              </a:rPr>
              <a:t>kcal = m × C / 100</a:t>
            </a:r>
          </a:p>
        </p:txBody>
      </p:sp>
      <p:sp>
        <p:nvSpPr>
          <p:cNvPr id="8" name="masa y referencia por 100 g">
            <a:extLst xmlns:a="http://schemas.openxmlformats.org/drawingml/2006/main">
              <a:ext uri="{FF2B5EF4-FFF2-40B4-BE49-F238E27FC236}">
                <a16:creationId xmlns:a16="http://schemas.microsoft.com/office/drawing/2014/main" id="{159A1D5B-DC1F-4014-BA37-88AB4FF32ED0}"/>
              </a:ext>
            </a:extLst>
          </p:cNvPr>
          <p:cNvSpPr>
            <a:spLocks xmlns:a="http://schemas.openxmlformats.org/drawingml/2006/main" noGrp="1"/>
          </p:cNvSpPr>
          <p:nvPr/>
        </p:nvSpPr>
        <p:spPr>
          <a:xfrm xmlns:a="http://schemas.openxmlformats.org/drawingml/2006/main">
            <a:off x="6934200" y="2324100"/>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masa y referencia por 100 g</a:t>
            </a:r>
          </a:p>
        </p:txBody>
      </p:sp>
      <p:sp>
        <p:nvSpPr>
          <p:cNvPr id="9" name="Integra identificación, pesaje, base de datos, análisis">
            <a:extLst xmlns:a="http://schemas.openxmlformats.org/drawingml/2006/main">
              <a:ext uri="{FF2B5EF4-FFF2-40B4-BE49-F238E27FC236}">
                <a16:creationId xmlns:a16="http://schemas.microsoft.com/office/drawing/2014/main" id="{B3761DF1-4B90-4885-8966-E967C8E5D2CC}"/>
              </a:ext>
            </a:extLst>
          </p:cNvPr>
          <p:cNvSpPr>
            <a:spLocks xmlns:a="http://schemas.openxmlformats.org/drawingml/2006/main" noGrp="1"/>
          </p:cNvSpPr>
          <p:nvPr/>
        </p:nvSpPr>
        <p:spPr>
          <a:xfrm xmlns:a="http://schemas.openxmlformats.org/drawingml/2006/main">
            <a:off x="6934200" y="2905125"/>
            <a:ext cx="4667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Integra identificación, pesaje, base de datos, análisis y visualización.</a:t>
            </a:r>
          </a:p>
        </p:txBody>
      </p:sp>
      <p:sp>
        <p:nvSpPr>
          <p:cNvPr id="10" name="Aporte al proyecto">
            <a:extLst xmlns:a="http://schemas.openxmlformats.org/drawingml/2006/main">
              <a:ext uri="{FF2B5EF4-FFF2-40B4-BE49-F238E27FC236}">
                <a16:creationId xmlns:a16="http://schemas.microsoft.com/office/drawing/2014/main" id="{3874CE9C-0E0A-44A1-B09C-9DB8FC6E883C}"/>
              </a:ext>
            </a:extLst>
          </p:cNvPr>
          <p:cNvSpPr>
            <a:spLocks xmlns:a="http://schemas.openxmlformats.org/drawingml/2006/main" noGrp="1"/>
          </p:cNvSpPr>
          <p:nvPr/>
        </p:nvSpPr>
        <p:spPr>
          <a:xfrm xmlns:a="http://schemas.openxmlformats.org/drawingml/2006/main">
            <a:off x="6934200" y="38290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Aporte al proyecto</a:t>
            </a:r>
          </a:p>
        </p:txBody>
      </p:sp>
      <p:sp>
        <p:nvSpPr>
          <p:cNvPr id="11" name="El dato de masa y el alimento seleccionado determinan e">
            <a:extLst xmlns:a="http://schemas.openxmlformats.org/drawingml/2006/main">
              <a:ext uri="{FF2B5EF4-FFF2-40B4-BE49-F238E27FC236}">
                <a16:creationId xmlns:a16="http://schemas.microsoft.com/office/drawing/2014/main" id="{CF1F28E1-A736-407B-9488-1BD1E39F2A01}"/>
              </a:ext>
            </a:extLst>
          </p:cNvPr>
          <p:cNvSpPr>
            <a:spLocks xmlns:a="http://schemas.openxmlformats.org/drawingml/2006/main" noGrp="1"/>
          </p:cNvSpPr>
          <p:nvPr/>
        </p:nvSpPr>
        <p:spPr>
          <a:xfrm xmlns:a="http://schemas.openxmlformats.org/drawingml/2006/main">
            <a:off x="6934200" y="4162425"/>
            <a:ext cx="466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73F2F"/>
                </a:solidFill>
                <a:latin typeface="Arial"/>
                <a:ea typeface="Arial"/>
                <a:cs typeface="Arial"/>
              </a:defRPr>
            </a:defPPr>
          </a:lstStyle>
          <a:p xmlns:a="http://schemas.openxmlformats.org/drawingml/2006/main">
            <a:pPr>
              <a:defRPr sz="1800" b="0">
                <a:solidFill>
                  <a:srgbClr val="173F2F"/>
                </a:solidFill>
                <a:latin typeface="Arial"/>
                <a:ea typeface="Arial"/>
                <a:cs typeface="Arial"/>
              </a:defRPr>
            </a:pPr>
            <a:r>
              <a:rPr sz="1800" b="0">
                <a:solidFill>
                  <a:srgbClr val="173F2F"/>
                </a:solidFill>
                <a:latin typeface="Arial"/>
                <a:ea typeface="Arial"/>
                <a:cs typeface="Arial"/>
              </a:rPr>
              <a:t>El dato de masa y el alimento seleccionado determinan el escalamiento.</a:t>
            </a:r>
          </a:p>
        </p:txBody>
      </p:sp>
      <p:sp>
        <p:nvSpPr>
          <p:cNvPr id="12" name="Límite: Sin métricas de reconocimiento ni error de pesa">
            <a:extLst xmlns:a="http://schemas.openxmlformats.org/drawingml/2006/main">
              <a:ext uri="{FF2B5EF4-FFF2-40B4-BE49-F238E27FC236}">
                <a16:creationId xmlns:a16="http://schemas.microsoft.com/office/drawing/2014/main" id="{8D4A4852-7634-46C8-8DB9-E0081A112706}"/>
              </a:ext>
            </a:extLst>
          </p:cNvPr>
          <p:cNvSpPr>
            <a:spLocks xmlns:a="http://schemas.openxmlformats.org/drawingml/2006/main" noGrp="1"/>
          </p:cNvSpPr>
          <p:nvPr/>
        </p:nvSpPr>
        <p:spPr>
          <a:xfrm xmlns:a="http://schemas.openxmlformats.org/drawingml/2006/main">
            <a:off x="6934200" y="5143500"/>
            <a:ext cx="466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77161"/>
                </a:solidFill>
                <a:latin typeface="Arial"/>
                <a:ea typeface="Arial"/>
                <a:cs typeface="Arial"/>
              </a:defRPr>
            </a:defPPr>
          </a:lstStyle>
          <a:p xmlns:a="http://schemas.openxmlformats.org/drawingml/2006/main">
            <a:pPr>
              <a:defRPr sz="1575" b="0">
                <a:solidFill>
                  <a:srgbClr val="577161"/>
                </a:solidFill>
                <a:latin typeface="Arial"/>
                <a:ea typeface="Arial"/>
                <a:cs typeface="Arial"/>
              </a:defRPr>
            </a:pPr>
            <a:r>
              <a:rPr sz="1575" b="0">
                <a:solidFill>
                  <a:srgbClr val="577161"/>
                </a:solidFill>
                <a:latin typeface="Arial"/>
                <a:ea typeface="Arial"/>
                <a:cs typeface="Arial"/>
              </a:rPr>
              <a:t>Límite: Sin métricas de reconocimiento ni error de pesaje publicados.</a:t>
            </a:r>
          </a:p>
        </p:txBody>
      </p:sp>
      <p:sp>
        <p:nvSpPr>
          <p:cNvPr id="13" name="F5 Cantidad · F7 Referencia · F8 Cálculo">
            <a:extLst xmlns:a="http://schemas.openxmlformats.org/drawingml/2006/main">
              <a:ext uri="{FF2B5EF4-FFF2-40B4-BE49-F238E27FC236}">
                <a16:creationId xmlns:a16="http://schemas.microsoft.com/office/drawing/2014/main" id="{6D446A86-7FF4-4C46-AEAD-1959DF80E9CD}"/>
              </a:ext>
            </a:extLst>
          </p:cNvPr>
          <p:cNvSpPr>
            <a:spLocks xmlns:a="http://schemas.openxmlformats.org/drawingml/2006/main" noGrp="1"/>
          </p:cNvSpPr>
          <p:nvPr/>
        </p:nvSpPr>
        <p:spPr>
          <a:xfrm xmlns:a="http://schemas.openxmlformats.org/drawingml/2006/main">
            <a:off x="571500" y="601980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F5 Cantidad · F7 Referencia · F8 Cálculo</a:t>
            </a:r>
          </a:p>
        </p:txBody>
      </p:sp>
    </p:spTree>
    <p:extLst>
      <p:ext uri="{BB962C8B-B14F-4D97-AF65-F5344CB8AC3E}">
        <p14:creationId xmlns:p14="http://schemas.microsoft.com/office/powerpoint/2010/main" val="209742554"/>
      </p:ext>
    </p:extLst>
  </p:cSld>
</p:sld>
</file>

<file path=ppt/slides/slide12.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4" name="Tesis 1 · Reconstrucción de porciones">
            <a:extLst xmlns:a="http://schemas.openxmlformats.org/drawingml/2006/main">
              <a:ext uri="{FF2B5EF4-FFF2-40B4-BE49-F238E27FC236}">
                <a16:creationId xmlns:a16="http://schemas.microsoft.com/office/drawing/2014/main" id="{BEF76EE0-2F32-42E5-879C-5522240567E4}"/>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Tesis 1 · Reconstrucción de porciones</a:t>
            </a:r>
          </a:p>
        </p:txBody>
      </p:sp>
      <p:sp>
        <p:nvSpPr>
          <p:cNvPr id="2" name="Single View Reconstruction for Food Portion Estimation">
            <a:extLst xmlns:a="http://schemas.openxmlformats.org/drawingml/2006/main">
              <a:ext uri="{FF2B5EF4-FFF2-40B4-BE49-F238E27FC236}">
                <a16:creationId xmlns:a16="http://schemas.microsoft.com/office/drawing/2014/main" id="{E5C26880-0606-4079-B6C2-CA306F1C75A3}"/>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Single View Reconstruction for Food Portion Estimation</a:t>
            </a:r>
          </a:p>
        </p:txBody>
      </p:sp>
      <p:sp>
        <p:nvSpPr>
          <p:cNvPr id="3" name="Fuentes [10] · Referencias al final">
            <a:extLst xmlns:a="http://schemas.openxmlformats.org/drawingml/2006/main">
              <a:ext uri="{FF2B5EF4-FFF2-40B4-BE49-F238E27FC236}">
                <a16:creationId xmlns:a16="http://schemas.microsoft.com/office/drawing/2014/main" id="{9C381D6D-6C20-4FCF-B878-270298A5AFD0}"/>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[10] · Referencias al final</a:t>
            </a:r>
          </a:p>
        </p:txBody>
      </p:sp>
      <p:sp>
        <p:nvSpPr>
          <p:cNvPr id="4" name="12">
            <a:extLst xmlns:a="http://schemas.openxmlformats.org/drawingml/2006/main">
              <a:ext uri="{FF2B5EF4-FFF2-40B4-BE49-F238E27FC236}">
                <a16:creationId xmlns:a16="http://schemas.microsoft.com/office/drawing/2014/main" id="{6CCBB827-C538-4F78-9F96-C27FA81CB07C}"/>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12</a:t>
            </a:r>
          </a:p>
        </p:txBody>
      </p:sp>
      <p:pic>
        <p:nvPicPr>
          <p:cNvPr id="5" name="">
            <a:extLst xmlns:a="http://schemas.openxmlformats.org/drawingml/2006/main">
              <a:ext uri="{FF2B5EF4-FFF2-40B4-BE49-F238E27FC236}">
                <a16:creationId xmlns:a16="http://schemas.microsoft.com/office/drawing/2014/main" id="{7B578575-C597-45AD-A871-F07B784AFBE0}"/>
              </a:ext>
            </a:extLst>
          </p:cNvPr>
          <p:cNvPicPr>
            <a:picLocks xmlns:a="http://schemas.openxmlformats.org/drawingml/2006/main" noChangeAspect="1"/>
          </p:cNvPicPr>
          <p:nvPr/>
        </p:nvPicPr>
        <p:blipFill>
          <a:blip xmlns:r="http://schemas.openxmlformats.org/officeDocument/2006/relationships" xmlns:a="http://schemas.openxmlformats.org/drawingml/2006/main" r:embed="R0aa207676a5c4722"/>
          <a:stretch xmlns:a="http://schemas.openxmlformats.org/drawingml/2006/main"/>
        </p:blipFill>
        <p:spPr>
          <a:xfrm xmlns:a="http://schemas.openxmlformats.org/drawingml/2006/main">
            <a:off x="2072040" y="1790700"/>
            <a:ext cx="2866319" cy="3714750"/>
          </a:xfrm>
          <a:prstGeom xmlns:a="http://schemas.openxmlformats.org/drawingml/2006/main" prst="rect">
            <a:avLst/>
          </a:prstGeom>
        </p:spPr>
      </p:pic>
      <p:sp>
        <p:nvSpPr>
          <p:cNvPr id="6" name="Figura original del antecedente">
            <a:extLst xmlns:a="http://schemas.openxmlformats.org/drawingml/2006/main">
              <a:ext uri="{FF2B5EF4-FFF2-40B4-BE49-F238E27FC236}">
                <a16:creationId xmlns:a16="http://schemas.microsoft.com/office/drawing/2014/main" id="{267FC605-2D48-4E11-9BB3-48BA5F042944}"/>
              </a:ext>
            </a:extLst>
          </p:cNvPr>
          <p:cNvSpPr>
            <a:spLocks xmlns:a="http://schemas.openxmlformats.org/drawingml/2006/main" noGrp="1"/>
          </p:cNvSpPr>
          <p:nvPr/>
        </p:nvSpPr>
        <p:spPr>
          <a:xfrm xmlns:a="http://schemas.openxmlformats.org/drawingml/2006/main">
            <a:off x="571500" y="5648325"/>
            <a:ext cx="586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77161"/>
                </a:solidFill>
                <a:latin typeface="Arial"/>
                <a:ea typeface="Arial"/>
                <a:cs typeface="Arial"/>
              </a:defRPr>
            </a:defPPr>
          </a:lstStyle>
          <a:p xmlns:a="http://schemas.openxmlformats.org/drawingml/2006/main">
            <a:pPr>
              <a:defRPr sz="1275" b="0">
                <a:solidFill>
                  <a:srgbClr val="577161"/>
                </a:solidFill>
                <a:latin typeface="Arial"/>
                <a:ea typeface="Arial"/>
                <a:cs typeface="Arial"/>
              </a:defRPr>
            </a:pPr>
            <a:r>
              <a:rPr sz="1275" b="0">
                <a:solidFill>
                  <a:srgbClr val="577161"/>
                </a:solidFill>
                <a:latin typeface="Arial"/>
                <a:ea typeface="Arial"/>
                <a:cs typeface="Arial"/>
              </a:rPr>
              <a:t>Figura original del antecedente</a:t>
            </a:r>
          </a:p>
        </p:txBody>
      </p:sp>
      <p:sp>
        <p:nvSpPr>
          <p:cNvPr id="7" name="&lt; 6 %">
            <a:extLst xmlns:a="http://schemas.openxmlformats.org/drawingml/2006/main">
              <a:ext uri="{FF2B5EF4-FFF2-40B4-BE49-F238E27FC236}">
                <a16:creationId xmlns:a16="http://schemas.microsoft.com/office/drawing/2014/main" id="{D803462C-6300-4A6D-9027-78A09779201F}"/>
              </a:ext>
            </a:extLst>
          </p:cNvPr>
          <p:cNvSpPr>
            <a:spLocks xmlns:a="http://schemas.openxmlformats.org/drawingml/2006/main" noGrp="1"/>
          </p:cNvSpPr>
          <p:nvPr/>
        </p:nvSpPr>
        <p:spPr>
          <a:xfrm xmlns:a="http://schemas.openxmlformats.org/drawingml/2006/main">
            <a:off x="6934200" y="1695450"/>
            <a:ext cx="4667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3F2F"/>
                </a:solidFill>
                <a:latin typeface="Arial"/>
                <a:ea typeface="Arial"/>
                <a:cs typeface="Arial"/>
              </a:defRPr>
            </a:defPPr>
          </a:lstStyle>
          <a:p xmlns:a="http://schemas.openxmlformats.org/drawingml/2006/main">
            <a:pPr>
              <a:defRPr sz="3300" b="1">
                <a:solidFill>
                  <a:srgbClr val="173F2F"/>
                </a:solidFill>
                <a:latin typeface="Arial"/>
                <a:ea typeface="Arial"/>
                <a:cs typeface="Arial"/>
              </a:defRPr>
            </a:pPr>
            <a:r>
              <a:rPr sz="3300" b="1">
                <a:solidFill>
                  <a:srgbClr val="173F2F"/>
                </a:solidFill>
                <a:latin typeface="Arial"/>
                <a:ea typeface="Arial"/>
                <a:cs typeface="Arial"/>
              </a:rPr>
              <a:t>&lt; 6 %</a:t>
            </a:r>
          </a:p>
        </p:txBody>
      </p:sp>
      <p:sp>
        <p:nvSpPr>
          <p:cNvPr id="8" name="error energético en una etapa geométrica">
            <a:extLst xmlns:a="http://schemas.openxmlformats.org/drawingml/2006/main">
              <a:ext uri="{FF2B5EF4-FFF2-40B4-BE49-F238E27FC236}">
                <a16:creationId xmlns:a16="http://schemas.microsoft.com/office/drawing/2014/main" id="{86CD3844-0F37-435E-AF3A-E330F1A3B5ED}"/>
              </a:ext>
            </a:extLst>
          </p:cNvPr>
          <p:cNvSpPr>
            <a:spLocks xmlns:a="http://schemas.openxmlformats.org/drawingml/2006/main" noGrp="1"/>
          </p:cNvSpPr>
          <p:nvPr/>
        </p:nvSpPr>
        <p:spPr>
          <a:xfrm xmlns:a="http://schemas.openxmlformats.org/drawingml/2006/main">
            <a:off x="6934200" y="2324100"/>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error energético en una etapa geométrica</a:t>
            </a:r>
          </a:p>
        </p:txBody>
      </p:sp>
      <p:sp>
        <p:nvSpPr>
          <p:cNvPr id="9" name="Fang estudia modelos geométricos, profundidad, coocurre">
            <a:extLst xmlns:a="http://schemas.openxmlformats.org/drawingml/2006/main">
              <a:ext uri="{FF2B5EF4-FFF2-40B4-BE49-F238E27FC236}">
                <a16:creationId xmlns:a16="http://schemas.microsoft.com/office/drawing/2014/main" id="{DF7A9E4C-79F7-4E72-B550-438DBCE25494}"/>
              </a:ext>
            </a:extLst>
          </p:cNvPr>
          <p:cNvSpPr>
            <a:spLocks xmlns:a="http://schemas.openxmlformats.org/drawingml/2006/main" noGrp="1"/>
          </p:cNvSpPr>
          <p:nvPr/>
        </p:nvSpPr>
        <p:spPr>
          <a:xfrm xmlns:a="http://schemas.openxmlformats.org/drawingml/2006/main">
            <a:off x="6934200" y="2905125"/>
            <a:ext cx="4667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Fang estudia modelos geométricos, profundidad, coocurrencia y redes generativas.</a:t>
            </a:r>
          </a:p>
        </p:txBody>
      </p:sp>
      <p:sp>
        <p:nvSpPr>
          <p:cNvPr id="10" name="Aporte al proyecto">
            <a:extLst xmlns:a="http://schemas.openxmlformats.org/drawingml/2006/main">
              <a:ext uri="{FF2B5EF4-FFF2-40B4-BE49-F238E27FC236}">
                <a16:creationId xmlns:a16="http://schemas.microsoft.com/office/drawing/2014/main" id="{A865F56D-8556-4E06-BF7C-7B7FBA1A70E1}"/>
              </a:ext>
            </a:extLst>
          </p:cNvPr>
          <p:cNvSpPr>
            <a:spLocks xmlns:a="http://schemas.openxmlformats.org/drawingml/2006/main" noGrp="1"/>
          </p:cNvSpPr>
          <p:nvPr/>
        </p:nvSpPr>
        <p:spPr>
          <a:xfrm xmlns:a="http://schemas.openxmlformats.org/drawingml/2006/main">
            <a:off x="6934200" y="38290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Aporte al proyecto</a:t>
            </a:r>
          </a:p>
        </p:txBody>
      </p:sp>
      <p:sp>
        <p:nvSpPr>
          <p:cNvPr id="11" name="Comprender la relación entre imagen, volumen, masa y en">
            <a:extLst xmlns:a="http://schemas.openxmlformats.org/drawingml/2006/main">
              <a:ext uri="{FF2B5EF4-FFF2-40B4-BE49-F238E27FC236}">
                <a16:creationId xmlns:a16="http://schemas.microsoft.com/office/drawing/2014/main" id="{FBD4DD77-B87A-4C9B-B9A4-FA6124E9FAD9}"/>
              </a:ext>
            </a:extLst>
          </p:cNvPr>
          <p:cNvSpPr>
            <a:spLocks xmlns:a="http://schemas.openxmlformats.org/drawingml/2006/main" noGrp="1"/>
          </p:cNvSpPr>
          <p:nvPr/>
        </p:nvSpPr>
        <p:spPr>
          <a:xfrm xmlns:a="http://schemas.openxmlformats.org/drawingml/2006/main">
            <a:off x="6934200" y="4162425"/>
            <a:ext cx="466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73F2F"/>
                </a:solidFill>
                <a:latin typeface="Arial"/>
                <a:ea typeface="Arial"/>
                <a:cs typeface="Arial"/>
              </a:defRPr>
            </a:defPPr>
          </a:lstStyle>
          <a:p xmlns:a="http://schemas.openxmlformats.org/drawingml/2006/main">
            <a:pPr>
              <a:defRPr sz="1800" b="0">
                <a:solidFill>
                  <a:srgbClr val="173F2F"/>
                </a:solidFill>
                <a:latin typeface="Arial"/>
                <a:ea typeface="Arial"/>
                <a:cs typeface="Arial"/>
              </a:defRPr>
            </a:pPr>
            <a:r>
              <a:rPr sz="1800" b="0">
                <a:solidFill>
                  <a:srgbClr val="173F2F"/>
                </a:solidFill>
                <a:latin typeface="Arial"/>
                <a:ea typeface="Arial"/>
                <a:cs typeface="Arial"/>
              </a:rPr>
              <a:t>Comprender la relación entre imagen, volumen, masa y energía.</a:t>
            </a:r>
          </a:p>
        </p:txBody>
      </p:sp>
      <p:sp>
        <p:nvSpPr>
          <p:cNvPr id="12" name="Límite: La cifra supone segmentación e identificación c">
            <a:extLst xmlns:a="http://schemas.openxmlformats.org/drawingml/2006/main">
              <a:ext uri="{FF2B5EF4-FFF2-40B4-BE49-F238E27FC236}">
                <a16:creationId xmlns:a16="http://schemas.microsoft.com/office/drawing/2014/main" id="{E76C5B4D-B0FA-4498-B76E-90871516A100}"/>
              </a:ext>
            </a:extLst>
          </p:cNvPr>
          <p:cNvSpPr>
            <a:spLocks xmlns:a="http://schemas.openxmlformats.org/drawingml/2006/main" noGrp="1"/>
          </p:cNvSpPr>
          <p:nvPr/>
        </p:nvSpPr>
        <p:spPr>
          <a:xfrm xmlns:a="http://schemas.openxmlformats.org/drawingml/2006/main">
            <a:off x="6934200" y="5143500"/>
            <a:ext cx="466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77161"/>
                </a:solidFill>
                <a:latin typeface="Arial"/>
                <a:ea typeface="Arial"/>
                <a:cs typeface="Arial"/>
              </a:defRPr>
            </a:defPPr>
          </a:lstStyle>
          <a:p xmlns:a="http://schemas.openxmlformats.org/drawingml/2006/main">
            <a:pPr>
              <a:defRPr sz="1575" b="0">
                <a:solidFill>
                  <a:srgbClr val="577161"/>
                </a:solidFill>
                <a:latin typeface="Arial"/>
                <a:ea typeface="Arial"/>
                <a:cs typeface="Arial"/>
              </a:defRPr>
            </a:pPr>
            <a:r>
              <a:rPr sz="1575" b="0">
                <a:solidFill>
                  <a:srgbClr val="577161"/>
                </a:solidFill>
                <a:latin typeface="Arial"/>
                <a:ea typeface="Arial"/>
                <a:cs typeface="Arial"/>
              </a:rPr>
              <a:t>Límite: La cifra supone segmentación e identificación correctas. No describe todo el sistema.</a:t>
            </a:r>
          </a:p>
        </p:txBody>
      </p:sp>
      <p:sp>
        <p:nvSpPr>
          <p:cNvPr id="13" name="F5 Cantidad · F8 Cálculo · Validación local">
            <a:extLst xmlns:a="http://schemas.openxmlformats.org/drawingml/2006/main">
              <a:ext uri="{FF2B5EF4-FFF2-40B4-BE49-F238E27FC236}">
                <a16:creationId xmlns:a16="http://schemas.microsoft.com/office/drawing/2014/main" id="{EB4D7ED7-0F06-408C-9A5D-B43923D46D5A}"/>
              </a:ext>
            </a:extLst>
          </p:cNvPr>
          <p:cNvSpPr>
            <a:spLocks xmlns:a="http://schemas.openxmlformats.org/drawingml/2006/main" noGrp="1"/>
          </p:cNvSpPr>
          <p:nvPr/>
        </p:nvSpPr>
        <p:spPr>
          <a:xfrm xmlns:a="http://schemas.openxmlformats.org/drawingml/2006/main">
            <a:off x="571500" y="601980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F5 Cantidad · F8 Cálculo · Validación local</a:t>
            </a:r>
          </a:p>
        </p:txBody>
      </p:sp>
    </p:spTree>
    <p:extLst>
      <p:ext uri="{BB962C8B-B14F-4D97-AF65-F5344CB8AC3E}">
        <p14:creationId xmlns:p14="http://schemas.microsoft.com/office/powerpoint/2010/main" val="250041353"/>
      </p:ext>
    </p:extLst>
  </p:cSld>
</p:sld>
</file>

<file path=ppt/slides/slide13.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4" name="Tesis 2 · Checkifood">
            <a:extLst xmlns:a="http://schemas.openxmlformats.org/drawingml/2006/main">
              <a:ext uri="{FF2B5EF4-FFF2-40B4-BE49-F238E27FC236}">
                <a16:creationId xmlns:a16="http://schemas.microsoft.com/office/drawing/2014/main" id="{0228D805-058B-4ABA-A105-F6C68AAC9255}"/>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Tesis 2 · Checkifood</a:t>
            </a:r>
          </a:p>
        </p:txBody>
      </p:sp>
      <p:sp>
        <p:nvSpPr>
          <p:cNvPr id="2" name="Modelo ProLab: Checkifood, aplicación móvil que ayuda a">
            <a:extLst xmlns:a="http://schemas.openxmlformats.org/drawingml/2006/main">
              <a:ext uri="{FF2B5EF4-FFF2-40B4-BE49-F238E27FC236}">
                <a16:creationId xmlns:a16="http://schemas.microsoft.com/office/drawing/2014/main" id="{5C62DFB8-DF11-47EB-A35D-F61EE2A9ED03}"/>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Modelo ProLab: Checkifood, aplicación móvil que ayuda al régimen alimenticio con machine learning</a:t>
            </a:r>
          </a:p>
        </p:txBody>
      </p:sp>
      <p:sp>
        <p:nvSpPr>
          <p:cNvPr id="3" name="Fuentes [11] · Referencias al final">
            <a:extLst xmlns:a="http://schemas.openxmlformats.org/drawingml/2006/main">
              <a:ext uri="{FF2B5EF4-FFF2-40B4-BE49-F238E27FC236}">
                <a16:creationId xmlns:a16="http://schemas.microsoft.com/office/drawing/2014/main" id="{8B6EB1A9-430C-48DE-9009-2FB696E85655}"/>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[11] · Referencias al final</a:t>
            </a:r>
          </a:p>
        </p:txBody>
      </p:sp>
      <p:sp>
        <p:nvSpPr>
          <p:cNvPr id="4" name="13">
            <a:extLst xmlns:a="http://schemas.openxmlformats.org/drawingml/2006/main">
              <a:ext uri="{FF2B5EF4-FFF2-40B4-BE49-F238E27FC236}">
                <a16:creationId xmlns:a16="http://schemas.microsoft.com/office/drawing/2014/main" id="{2F027698-4662-4F4D-AB8A-49E80D91547E}"/>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13</a:t>
            </a:r>
          </a:p>
        </p:txBody>
      </p:sp>
      <p:pic>
        <p:nvPicPr>
          <p:cNvPr id="5" name="">
            <a:extLst xmlns:a="http://schemas.openxmlformats.org/drawingml/2006/main">
              <a:ext uri="{FF2B5EF4-FFF2-40B4-BE49-F238E27FC236}">
                <a16:creationId xmlns:a16="http://schemas.microsoft.com/office/drawing/2014/main" id="{BCFA7E19-8603-47FB-930E-F720356ED03E}"/>
              </a:ext>
            </a:extLst>
          </p:cNvPr>
          <p:cNvPicPr>
            <a:picLocks xmlns:a="http://schemas.openxmlformats.org/drawingml/2006/main" noChangeAspect="1"/>
          </p:cNvPicPr>
          <p:nvPr/>
        </p:nvPicPr>
        <p:blipFill>
          <a:blip xmlns:r="http://schemas.openxmlformats.org/officeDocument/2006/relationships" xmlns:a="http://schemas.openxmlformats.org/drawingml/2006/main" r:embed="R72817c7698c848fd"/>
          <a:stretch xmlns:a="http://schemas.openxmlformats.org/drawingml/2006/main"/>
        </p:blipFill>
        <p:spPr>
          <a:xfrm xmlns:a="http://schemas.openxmlformats.org/drawingml/2006/main">
            <a:off x="2192655" y="1790700"/>
            <a:ext cx="2625090" cy="3714750"/>
          </a:xfrm>
          <a:prstGeom xmlns:a="http://schemas.openxmlformats.org/drawingml/2006/main" prst="rect">
            <a:avLst/>
          </a:prstGeom>
        </p:spPr>
      </p:pic>
      <p:sp>
        <p:nvSpPr>
          <p:cNvPr id="6" name="Figura original del antecedente">
            <a:extLst xmlns:a="http://schemas.openxmlformats.org/drawingml/2006/main">
              <a:ext uri="{FF2B5EF4-FFF2-40B4-BE49-F238E27FC236}">
                <a16:creationId xmlns:a16="http://schemas.microsoft.com/office/drawing/2014/main" id="{5F5C5811-BC1F-4F82-8BD6-0821C7C2A8F7}"/>
              </a:ext>
            </a:extLst>
          </p:cNvPr>
          <p:cNvSpPr>
            <a:spLocks xmlns:a="http://schemas.openxmlformats.org/drawingml/2006/main" noGrp="1"/>
          </p:cNvSpPr>
          <p:nvPr/>
        </p:nvSpPr>
        <p:spPr>
          <a:xfrm xmlns:a="http://schemas.openxmlformats.org/drawingml/2006/main">
            <a:off x="571500" y="5648325"/>
            <a:ext cx="586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77161"/>
                </a:solidFill>
                <a:latin typeface="Arial"/>
                <a:ea typeface="Arial"/>
                <a:cs typeface="Arial"/>
              </a:defRPr>
            </a:defPPr>
          </a:lstStyle>
          <a:p xmlns:a="http://schemas.openxmlformats.org/drawingml/2006/main">
            <a:pPr>
              <a:defRPr sz="1275" b="0">
                <a:solidFill>
                  <a:srgbClr val="577161"/>
                </a:solidFill>
                <a:latin typeface="Arial"/>
                <a:ea typeface="Arial"/>
                <a:cs typeface="Arial"/>
              </a:defRPr>
            </a:pPr>
            <a:r>
              <a:rPr sz="1275" b="0">
                <a:solidFill>
                  <a:srgbClr val="577161"/>
                </a:solidFill>
                <a:latin typeface="Arial"/>
                <a:ea typeface="Arial"/>
                <a:cs typeface="Arial"/>
              </a:rPr>
              <a:t>Figura original del antecedente</a:t>
            </a:r>
          </a:p>
        </p:txBody>
      </p:sp>
      <p:sp>
        <p:nvSpPr>
          <p:cNvPr id="7" name="Contexto peruano">
            <a:extLst xmlns:a="http://schemas.openxmlformats.org/drawingml/2006/main">
              <a:ext uri="{FF2B5EF4-FFF2-40B4-BE49-F238E27FC236}">
                <a16:creationId xmlns:a16="http://schemas.microsoft.com/office/drawing/2014/main" id="{FB58B174-564D-4C0D-A26B-ACB3D0C1B0FE}"/>
              </a:ext>
            </a:extLst>
          </p:cNvPr>
          <p:cNvSpPr>
            <a:spLocks xmlns:a="http://schemas.openxmlformats.org/drawingml/2006/main" noGrp="1"/>
          </p:cNvSpPr>
          <p:nvPr/>
        </p:nvSpPr>
        <p:spPr>
          <a:xfrm xmlns:a="http://schemas.openxmlformats.org/drawingml/2006/main">
            <a:off x="6934200" y="1695450"/>
            <a:ext cx="4667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3F2F"/>
                </a:solidFill>
                <a:latin typeface="Arial"/>
                <a:ea typeface="Arial"/>
                <a:cs typeface="Arial"/>
              </a:defRPr>
            </a:defPPr>
          </a:lstStyle>
          <a:p xmlns:a="http://schemas.openxmlformats.org/drawingml/2006/main">
            <a:pPr>
              <a:defRPr sz="3300" b="1">
                <a:solidFill>
                  <a:srgbClr val="173F2F"/>
                </a:solidFill>
                <a:latin typeface="Arial"/>
                <a:ea typeface="Arial"/>
                <a:cs typeface="Arial"/>
              </a:defRPr>
            </a:pPr>
            <a:r>
              <a:rPr sz="3300" b="1">
                <a:solidFill>
                  <a:srgbClr val="173F2F"/>
                </a:solidFill>
                <a:latin typeface="Arial"/>
                <a:ea typeface="Arial"/>
                <a:cs typeface="Arial"/>
              </a:rPr>
              <a:t>Contexto peruano</a:t>
            </a:r>
          </a:p>
        </p:txBody>
      </p:sp>
      <p:sp>
        <p:nvSpPr>
          <p:cNvPr id="8" name="propuesta para personas de 18 a 45 años">
            <a:extLst xmlns:a="http://schemas.openxmlformats.org/drawingml/2006/main">
              <a:ext uri="{FF2B5EF4-FFF2-40B4-BE49-F238E27FC236}">
                <a16:creationId xmlns:a16="http://schemas.microsoft.com/office/drawing/2014/main" id="{1508C356-C6F7-4415-96B1-7CF1B0852A21}"/>
              </a:ext>
            </a:extLst>
          </p:cNvPr>
          <p:cNvSpPr>
            <a:spLocks xmlns:a="http://schemas.openxmlformats.org/drawingml/2006/main" noGrp="1"/>
          </p:cNvSpPr>
          <p:nvPr/>
        </p:nvSpPr>
        <p:spPr>
          <a:xfrm xmlns:a="http://schemas.openxmlformats.org/drawingml/2006/main">
            <a:off x="6934200" y="2324100"/>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propuesta para personas de 18 a 45 años</a:t>
            </a:r>
          </a:p>
        </p:txBody>
      </p:sp>
      <p:sp>
        <p:nvSpPr>
          <p:cNvPr id="9" name="Fotografías y machine learning para simplificar el regi">
            <a:extLst xmlns:a="http://schemas.openxmlformats.org/drawingml/2006/main">
              <a:ext uri="{FF2B5EF4-FFF2-40B4-BE49-F238E27FC236}">
                <a16:creationId xmlns:a16="http://schemas.microsoft.com/office/drawing/2014/main" id="{428BE9D4-0657-404E-8F54-7998F2DE92E9}"/>
              </a:ext>
            </a:extLst>
          </p:cNvPr>
          <p:cNvSpPr>
            <a:spLocks xmlns:a="http://schemas.openxmlformats.org/drawingml/2006/main" noGrp="1"/>
          </p:cNvSpPr>
          <p:nvPr/>
        </p:nvSpPr>
        <p:spPr>
          <a:xfrm xmlns:a="http://schemas.openxmlformats.org/drawingml/2006/main">
            <a:off x="6934200" y="2905125"/>
            <a:ext cx="4667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Fotografías y machine learning para simplificar el registro alimentario.</a:t>
            </a:r>
          </a:p>
        </p:txBody>
      </p:sp>
      <p:sp>
        <p:nvSpPr>
          <p:cNvPr id="10" name="Aporte al proyecto">
            <a:extLst xmlns:a="http://schemas.openxmlformats.org/drawingml/2006/main">
              <a:ext uri="{FF2B5EF4-FFF2-40B4-BE49-F238E27FC236}">
                <a16:creationId xmlns:a16="http://schemas.microsoft.com/office/drawing/2014/main" id="{C9BF1E07-93CA-4403-971B-7782D39B8EEA}"/>
              </a:ext>
            </a:extLst>
          </p:cNvPr>
          <p:cNvSpPr>
            <a:spLocks xmlns:a="http://schemas.openxmlformats.org/drawingml/2006/main" noGrp="1"/>
          </p:cNvSpPr>
          <p:nvPr/>
        </p:nvSpPr>
        <p:spPr>
          <a:xfrm xmlns:a="http://schemas.openxmlformats.org/drawingml/2006/main">
            <a:off x="6934200" y="38290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Aporte al proyecto</a:t>
            </a:r>
          </a:p>
        </p:txBody>
      </p:sp>
      <p:sp>
        <p:nvSpPr>
          <p:cNvPr id="11" name="Adaptar la interacción y el catálogo al usuario local.">
            <a:extLst xmlns:a="http://schemas.openxmlformats.org/drawingml/2006/main">
              <a:ext uri="{FF2B5EF4-FFF2-40B4-BE49-F238E27FC236}">
                <a16:creationId xmlns:a16="http://schemas.microsoft.com/office/drawing/2014/main" id="{AAC97D0E-98E8-4B4F-ABDB-33E17B48CA69}"/>
              </a:ext>
            </a:extLst>
          </p:cNvPr>
          <p:cNvSpPr>
            <a:spLocks xmlns:a="http://schemas.openxmlformats.org/drawingml/2006/main" noGrp="1"/>
          </p:cNvSpPr>
          <p:nvPr/>
        </p:nvSpPr>
        <p:spPr>
          <a:xfrm xmlns:a="http://schemas.openxmlformats.org/drawingml/2006/main">
            <a:off x="6934200" y="4162425"/>
            <a:ext cx="466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73F2F"/>
                </a:solidFill>
                <a:latin typeface="Arial"/>
                <a:ea typeface="Arial"/>
                <a:cs typeface="Arial"/>
              </a:defRPr>
            </a:defPPr>
          </a:lstStyle>
          <a:p xmlns:a="http://schemas.openxmlformats.org/drawingml/2006/main">
            <a:pPr>
              <a:defRPr sz="1800" b="0">
                <a:solidFill>
                  <a:srgbClr val="173F2F"/>
                </a:solidFill>
                <a:latin typeface="Arial"/>
                <a:ea typeface="Arial"/>
                <a:cs typeface="Arial"/>
              </a:defRPr>
            </a:pPr>
            <a:r>
              <a:rPr sz="1800" b="0">
                <a:solidFill>
                  <a:srgbClr val="173F2F"/>
                </a:solidFill>
                <a:latin typeface="Arial"/>
                <a:ea typeface="Arial"/>
                <a:cs typeface="Arial"/>
              </a:rPr>
              <a:t>Adaptar la interacción y el catálogo al usuario local.</a:t>
            </a:r>
          </a:p>
        </p:txBody>
      </p:sp>
      <p:sp>
        <p:nvSpPr>
          <p:cNvPr id="12" name="Límite: La ficha pública no informa precisión en gramos">
            <a:extLst xmlns:a="http://schemas.openxmlformats.org/drawingml/2006/main">
              <a:ext uri="{FF2B5EF4-FFF2-40B4-BE49-F238E27FC236}">
                <a16:creationId xmlns:a16="http://schemas.microsoft.com/office/drawing/2014/main" id="{D5648821-CF94-4EF4-A5BE-26CDE8F57E23}"/>
              </a:ext>
            </a:extLst>
          </p:cNvPr>
          <p:cNvSpPr>
            <a:spLocks xmlns:a="http://schemas.openxmlformats.org/drawingml/2006/main" noGrp="1"/>
          </p:cNvSpPr>
          <p:nvPr/>
        </p:nvSpPr>
        <p:spPr>
          <a:xfrm xmlns:a="http://schemas.openxmlformats.org/drawingml/2006/main">
            <a:off x="6934200" y="5143500"/>
            <a:ext cx="466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77161"/>
                </a:solidFill>
                <a:latin typeface="Arial"/>
                <a:ea typeface="Arial"/>
                <a:cs typeface="Arial"/>
              </a:defRPr>
            </a:defPPr>
          </a:lstStyle>
          <a:p xmlns:a="http://schemas.openxmlformats.org/drawingml/2006/main">
            <a:pPr>
              <a:defRPr sz="1575" b="0">
                <a:solidFill>
                  <a:srgbClr val="577161"/>
                </a:solidFill>
                <a:latin typeface="Arial"/>
                <a:ea typeface="Arial"/>
                <a:cs typeface="Arial"/>
              </a:defRPr>
            </a:pPr>
            <a:r>
              <a:rPr sz="1575" b="0">
                <a:solidFill>
                  <a:srgbClr val="577161"/>
                </a:solidFill>
                <a:latin typeface="Arial"/>
                <a:ea typeface="Arial"/>
                <a:cs typeface="Arial"/>
              </a:rPr>
              <a:t>Límite: La ficha pública no informa precisión en gramos ni exactitud nutricional.</a:t>
            </a:r>
          </a:p>
        </p:txBody>
      </p:sp>
      <p:sp>
        <p:nvSpPr>
          <p:cNvPr id="13" name="F3 Capturar · F6 Corregir · Ergonomía">
            <a:extLst xmlns:a="http://schemas.openxmlformats.org/drawingml/2006/main">
              <a:ext uri="{FF2B5EF4-FFF2-40B4-BE49-F238E27FC236}">
                <a16:creationId xmlns:a16="http://schemas.microsoft.com/office/drawing/2014/main" id="{4A16B4A1-294A-41A3-8BBA-E3628D735598}"/>
              </a:ext>
            </a:extLst>
          </p:cNvPr>
          <p:cNvSpPr>
            <a:spLocks xmlns:a="http://schemas.openxmlformats.org/drawingml/2006/main" noGrp="1"/>
          </p:cNvSpPr>
          <p:nvPr/>
        </p:nvSpPr>
        <p:spPr>
          <a:xfrm xmlns:a="http://schemas.openxmlformats.org/drawingml/2006/main">
            <a:off x="571500" y="601980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F3 Capturar · F6 Corregir · Ergonomía</a:t>
            </a:r>
          </a:p>
        </p:txBody>
      </p:sp>
    </p:spTree>
    <p:extLst>
      <p:ext uri="{BB962C8B-B14F-4D97-AF65-F5344CB8AC3E}">
        <p14:creationId xmlns:p14="http://schemas.microsoft.com/office/powerpoint/2010/main" val="995331441"/>
      </p:ext>
    </p:extLst>
  </p:cSld>
</p:sld>
</file>

<file path=ppt/slides/slide14.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4" name="Tesis 3 · Consumo de deportistas del IPD">
            <a:extLst xmlns:a="http://schemas.openxmlformats.org/drawingml/2006/main">
              <a:ext uri="{FF2B5EF4-FFF2-40B4-BE49-F238E27FC236}">
                <a16:creationId xmlns:a16="http://schemas.microsoft.com/office/drawing/2014/main" id="{73AEADFB-1078-4A56-9DBD-77ECD4F76A61}"/>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Tesis 3 · Consumo de deportistas del IPD</a:t>
            </a:r>
          </a:p>
        </p:txBody>
      </p:sp>
      <p:sp>
        <p:nvSpPr>
          <p:cNvPr id="2" name="Evaluación del aporte nutricional del menú del servicio">
            <a:extLst xmlns:a="http://schemas.openxmlformats.org/drawingml/2006/main">
              <a:ext uri="{FF2B5EF4-FFF2-40B4-BE49-F238E27FC236}">
                <a16:creationId xmlns:a16="http://schemas.microsoft.com/office/drawing/2014/main" id="{C348E8C7-3D25-4190-A50D-28C3EC127097}"/>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Evaluación del aporte nutricional del menú del servicio de alimentación para deportistas albergados del IPD y su relación con sus requerimientos nutricionales</a:t>
            </a:r>
          </a:p>
        </p:txBody>
      </p:sp>
      <p:sp>
        <p:nvSpPr>
          <p:cNvPr id="3" name="Fuentes [12] · Referencias al final">
            <a:extLst xmlns:a="http://schemas.openxmlformats.org/drawingml/2006/main">
              <a:ext uri="{FF2B5EF4-FFF2-40B4-BE49-F238E27FC236}">
                <a16:creationId xmlns:a16="http://schemas.microsoft.com/office/drawing/2014/main" id="{B1D71439-984A-44DA-AD9E-742CAACC2588}"/>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[12] · Referencias al final</a:t>
            </a:r>
          </a:p>
        </p:txBody>
      </p:sp>
      <p:sp>
        <p:nvSpPr>
          <p:cNvPr id="4" name="14">
            <a:extLst xmlns:a="http://schemas.openxmlformats.org/drawingml/2006/main">
              <a:ext uri="{FF2B5EF4-FFF2-40B4-BE49-F238E27FC236}">
                <a16:creationId xmlns:a16="http://schemas.microsoft.com/office/drawing/2014/main" id="{281D84AE-67B1-49D2-B8D1-6AA0232D8B46}"/>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14</a:t>
            </a:r>
          </a:p>
        </p:txBody>
      </p:sp>
      <p:pic>
        <p:nvPicPr>
          <p:cNvPr id="5" name="">
            <a:extLst xmlns:a="http://schemas.openxmlformats.org/drawingml/2006/main">
              <a:ext uri="{FF2B5EF4-FFF2-40B4-BE49-F238E27FC236}">
                <a16:creationId xmlns:a16="http://schemas.microsoft.com/office/drawing/2014/main" id="{A837570F-1158-4296-9DB0-997772EBC983}"/>
              </a:ext>
            </a:extLst>
          </p:cNvPr>
          <p:cNvPicPr>
            <a:picLocks xmlns:a="http://schemas.openxmlformats.org/drawingml/2006/main" noChangeAspect="1"/>
          </p:cNvPicPr>
          <p:nvPr/>
        </p:nvPicPr>
        <p:blipFill>
          <a:blip xmlns:r="http://schemas.openxmlformats.org/officeDocument/2006/relationships" xmlns:a="http://schemas.openxmlformats.org/drawingml/2006/main" r:embed="R2f913c3f1a6242b1"/>
          <a:stretch xmlns:a="http://schemas.openxmlformats.org/drawingml/2006/main"/>
        </p:blipFill>
        <p:spPr>
          <a:xfrm xmlns:a="http://schemas.openxmlformats.org/drawingml/2006/main">
            <a:off x="2191359" y="1790700"/>
            <a:ext cx="2627682" cy="3714750"/>
          </a:xfrm>
          <a:prstGeom xmlns:a="http://schemas.openxmlformats.org/drawingml/2006/main" prst="rect">
            <a:avLst/>
          </a:prstGeom>
        </p:spPr>
      </p:pic>
      <p:sp>
        <p:nvSpPr>
          <p:cNvPr id="6" name="Figura original del antecedente">
            <a:extLst xmlns:a="http://schemas.openxmlformats.org/drawingml/2006/main">
              <a:ext uri="{FF2B5EF4-FFF2-40B4-BE49-F238E27FC236}">
                <a16:creationId xmlns:a16="http://schemas.microsoft.com/office/drawing/2014/main" id="{E67F86F7-5D17-4839-BBEA-95D4513E4181}"/>
              </a:ext>
            </a:extLst>
          </p:cNvPr>
          <p:cNvSpPr>
            <a:spLocks xmlns:a="http://schemas.openxmlformats.org/drawingml/2006/main" noGrp="1"/>
          </p:cNvSpPr>
          <p:nvPr/>
        </p:nvSpPr>
        <p:spPr>
          <a:xfrm xmlns:a="http://schemas.openxmlformats.org/drawingml/2006/main">
            <a:off x="571500" y="5648325"/>
            <a:ext cx="586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77161"/>
                </a:solidFill>
                <a:latin typeface="Arial"/>
                <a:ea typeface="Arial"/>
                <a:cs typeface="Arial"/>
              </a:defRPr>
            </a:defPPr>
          </a:lstStyle>
          <a:p xmlns:a="http://schemas.openxmlformats.org/drawingml/2006/main">
            <a:pPr>
              <a:defRPr sz="1275" b="0">
                <a:solidFill>
                  <a:srgbClr val="577161"/>
                </a:solidFill>
                <a:latin typeface="Arial"/>
                <a:ea typeface="Arial"/>
                <a:cs typeface="Arial"/>
              </a:defRPr>
            </a:pPr>
            <a:r>
              <a:rPr sz="1275" b="0">
                <a:solidFill>
                  <a:srgbClr val="577161"/>
                </a:solidFill>
                <a:latin typeface="Arial"/>
                <a:ea typeface="Arial"/>
                <a:cs typeface="Arial"/>
              </a:rPr>
              <a:t>Figura original del antecedente</a:t>
            </a:r>
          </a:p>
        </p:txBody>
      </p:sp>
      <p:sp>
        <p:nvSpPr>
          <p:cNvPr id="7" name="30 deportistas">
            <a:extLst xmlns:a="http://schemas.openxmlformats.org/drawingml/2006/main">
              <a:ext uri="{FF2B5EF4-FFF2-40B4-BE49-F238E27FC236}">
                <a16:creationId xmlns:a16="http://schemas.microsoft.com/office/drawing/2014/main" id="{5824CB02-4664-48E9-813A-283FCA4997F8}"/>
              </a:ext>
            </a:extLst>
          </p:cNvPr>
          <p:cNvSpPr>
            <a:spLocks xmlns:a="http://schemas.openxmlformats.org/drawingml/2006/main" noGrp="1"/>
          </p:cNvSpPr>
          <p:nvPr/>
        </p:nvSpPr>
        <p:spPr>
          <a:xfrm xmlns:a="http://schemas.openxmlformats.org/drawingml/2006/main">
            <a:off x="6934200" y="1695450"/>
            <a:ext cx="4667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3F2F"/>
                </a:solidFill>
                <a:latin typeface="Arial"/>
                <a:ea typeface="Arial"/>
                <a:cs typeface="Arial"/>
              </a:defRPr>
            </a:defPPr>
          </a:lstStyle>
          <a:p xmlns:a="http://schemas.openxmlformats.org/drawingml/2006/main">
            <a:pPr>
              <a:defRPr sz="3300" b="1">
                <a:solidFill>
                  <a:srgbClr val="173F2F"/>
                </a:solidFill>
                <a:latin typeface="Arial"/>
                <a:ea typeface="Arial"/>
                <a:cs typeface="Arial"/>
              </a:defRPr>
            </a:pPr>
            <a:r>
              <a:rPr sz="3300" b="1">
                <a:solidFill>
                  <a:srgbClr val="173F2F"/>
                </a:solidFill>
                <a:latin typeface="Arial"/>
                <a:ea typeface="Arial"/>
                <a:cs typeface="Arial"/>
              </a:rPr>
              <a:t>30 deportistas</a:t>
            </a:r>
          </a:p>
        </p:txBody>
      </p:sp>
      <p:sp>
        <p:nvSpPr>
          <p:cNvPr id="8" name="una semana de pesaje directo">
            <a:extLst xmlns:a="http://schemas.openxmlformats.org/drawingml/2006/main">
              <a:ext uri="{FF2B5EF4-FFF2-40B4-BE49-F238E27FC236}">
                <a16:creationId xmlns:a16="http://schemas.microsoft.com/office/drawing/2014/main" id="{5F3E85D1-F458-404F-870D-E4C0A1411A92}"/>
              </a:ext>
            </a:extLst>
          </p:cNvPr>
          <p:cNvSpPr>
            <a:spLocks xmlns:a="http://schemas.openxmlformats.org/drawingml/2006/main" noGrp="1"/>
          </p:cNvSpPr>
          <p:nvPr/>
        </p:nvSpPr>
        <p:spPr>
          <a:xfrm xmlns:a="http://schemas.openxmlformats.org/drawingml/2006/main">
            <a:off x="6934200" y="2324100"/>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una semana de pesaje directo</a:t>
            </a:r>
          </a:p>
        </p:txBody>
      </p:sp>
      <p:sp>
        <p:nvSpPr>
          <p:cNvPr id="9" name="Desayuno, almuerzo, cena y fraccionamientos. Peso servi">
            <a:extLst xmlns:a="http://schemas.openxmlformats.org/drawingml/2006/main">
              <a:ext uri="{FF2B5EF4-FFF2-40B4-BE49-F238E27FC236}">
                <a16:creationId xmlns:a16="http://schemas.microsoft.com/office/drawing/2014/main" id="{AD297AA6-7433-41FE-8BA2-D5DCF959D1A0}"/>
              </a:ext>
            </a:extLst>
          </p:cNvPr>
          <p:cNvSpPr>
            <a:spLocks xmlns:a="http://schemas.openxmlformats.org/drawingml/2006/main" noGrp="1"/>
          </p:cNvSpPr>
          <p:nvPr/>
        </p:nvSpPr>
        <p:spPr>
          <a:xfrm xmlns:a="http://schemas.openxmlformats.org/drawingml/2006/main">
            <a:off x="6934200" y="2905125"/>
            <a:ext cx="4667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Desayuno, almuerzo, cena y fraccionamientos. Peso servido y consumido.</a:t>
            </a:r>
          </a:p>
        </p:txBody>
      </p:sp>
      <p:sp>
        <p:nvSpPr>
          <p:cNvPr id="10" name="Aporte al proyecto">
            <a:extLst xmlns:a="http://schemas.openxmlformats.org/drawingml/2006/main">
              <a:ext uri="{FF2B5EF4-FFF2-40B4-BE49-F238E27FC236}">
                <a16:creationId xmlns:a16="http://schemas.microsoft.com/office/drawing/2014/main" id="{FCBC695F-C99E-4C06-8DD3-4E1D72D2609C}"/>
              </a:ext>
            </a:extLst>
          </p:cNvPr>
          <p:cNvSpPr>
            <a:spLocks xmlns:a="http://schemas.openxmlformats.org/drawingml/2006/main" noGrp="1"/>
          </p:cNvSpPr>
          <p:nvPr/>
        </p:nvSpPr>
        <p:spPr>
          <a:xfrm xmlns:a="http://schemas.openxmlformats.org/drawingml/2006/main">
            <a:off x="6934200" y="38290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Aporte al proyecto</a:t>
            </a:r>
          </a:p>
        </p:txBody>
      </p:sp>
      <p:sp>
        <p:nvSpPr>
          <p:cNvPr id="11" name="Usar cantidades de referencia para evaluar masa y resul">
            <a:extLst xmlns:a="http://schemas.openxmlformats.org/drawingml/2006/main">
              <a:ext uri="{FF2B5EF4-FFF2-40B4-BE49-F238E27FC236}">
                <a16:creationId xmlns:a16="http://schemas.microsoft.com/office/drawing/2014/main" id="{EFF8C38C-3C92-4E15-9B48-23069CEA57A7}"/>
              </a:ext>
            </a:extLst>
          </p:cNvPr>
          <p:cNvSpPr>
            <a:spLocks xmlns:a="http://schemas.openxmlformats.org/drawingml/2006/main" noGrp="1"/>
          </p:cNvSpPr>
          <p:nvPr/>
        </p:nvSpPr>
        <p:spPr>
          <a:xfrm xmlns:a="http://schemas.openxmlformats.org/drawingml/2006/main">
            <a:off x="6934200" y="4162425"/>
            <a:ext cx="466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73F2F"/>
                </a:solidFill>
                <a:latin typeface="Arial"/>
                <a:ea typeface="Arial"/>
                <a:cs typeface="Arial"/>
              </a:defRPr>
            </a:defPPr>
          </a:lstStyle>
          <a:p xmlns:a="http://schemas.openxmlformats.org/drawingml/2006/main">
            <a:pPr>
              <a:defRPr sz="1800" b="0">
                <a:solidFill>
                  <a:srgbClr val="173F2F"/>
                </a:solidFill>
                <a:latin typeface="Arial"/>
                <a:ea typeface="Arial"/>
                <a:cs typeface="Arial"/>
              </a:defRPr>
            </a:pPr>
            <a:r>
              <a:rPr sz="1800" b="0">
                <a:solidFill>
                  <a:srgbClr val="173F2F"/>
                </a:solidFill>
                <a:latin typeface="Arial"/>
                <a:ea typeface="Arial"/>
                <a:cs typeface="Arial"/>
              </a:rPr>
              <a:t>Usar cantidades de referencia para evaluar masa y resultados nutricionales.</a:t>
            </a:r>
          </a:p>
        </p:txBody>
      </p:sp>
      <p:sp>
        <p:nvSpPr>
          <p:cNvPr id="12" name="Límite: La muestra de la tesis no reemplaza las 30 porc">
            <a:extLst xmlns:a="http://schemas.openxmlformats.org/drawingml/2006/main">
              <a:ext uri="{FF2B5EF4-FFF2-40B4-BE49-F238E27FC236}">
                <a16:creationId xmlns:a16="http://schemas.microsoft.com/office/drawing/2014/main" id="{CED76390-E9E3-4044-B1B2-DDF2AF83F041}"/>
              </a:ext>
            </a:extLst>
          </p:cNvPr>
          <p:cNvSpPr>
            <a:spLocks xmlns:a="http://schemas.openxmlformats.org/drawingml/2006/main" noGrp="1"/>
          </p:cNvSpPr>
          <p:nvPr/>
        </p:nvSpPr>
        <p:spPr>
          <a:xfrm xmlns:a="http://schemas.openxmlformats.org/drawingml/2006/main">
            <a:off x="6934200" y="5143500"/>
            <a:ext cx="466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77161"/>
                </a:solidFill>
                <a:latin typeface="Arial"/>
                <a:ea typeface="Arial"/>
                <a:cs typeface="Arial"/>
              </a:defRPr>
            </a:defPPr>
          </a:lstStyle>
          <a:p xmlns:a="http://schemas.openxmlformats.org/drawingml/2006/main">
            <a:pPr>
              <a:defRPr sz="1575" b="0">
                <a:solidFill>
                  <a:srgbClr val="577161"/>
                </a:solidFill>
                <a:latin typeface="Arial"/>
                <a:ea typeface="Arial"/>
                <a:cs typeface="Arial"/>
              </a:defRPr>
            </a:pPr>
            <a:r>
              <a:rPr sz="1575" b="0">
                <a:solidFill>
                  <a:srgbClr val="577161"/>
                </a:solidFill>
                <a:latin typeface="Arial"/>
                <a:ea typeface="Arial"/>
                <a:cs typeface="Arial"/>
              </a:rPr>
              <a:t>Límite: La muestra de la tesis no reemplaza las 30 porciones que debe validar FoodScan.</a:t>
            </a:r>
          </a:p>
        </p:txBody>
      </p:sp>
      <p:sp>
        <p:nvSpPr>
          <p:cNvPr id="13" name="F5 Cantidad · Exigencia de control de calidad">
            <a:extLst xmlns:a="http://schemas.openxmlformats.org/drawingml/2006/main">
              <a:ext uri="{FF2B5EF4-FFF2-40B4-BE49-F238E27FC236}">
                <a16:creationId xmlns:a16="http://schemas.microsoft.com/office/drawing/2014/main" id="{E8FCBEFE-482B-470F-BFD5-25F8DECB1689}"/>
              </a:ext>
            </a:extLst>
          </p:cNvPr>
          <p:cNvSpPr>
            <a:spLocks xmlns:a="http://schemas.openxmlformats.org/drawingml/2006/main" noGrp="1"/>
          </p:cNvSpPr>
          <p:nvPr/>
        </p:nvSpPr>
        <p:spPr>
          <a:xfrm xmlns:a="http://schemas.openxmlformats.org/drawingml/2006/main">
            <a:off x="571500" y="601980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F5 Cantidad · Exigencia de control de calidad</a:t>
            </a:r>
          </a:p>
        </p:txBody>
      </p:sp>
    </p:spTree>
    <p:extLst>
      <p:ext uri="{BB962C8B-B14F-4D97-AF65-F5344CB8AC3E}">
        <p14:creationId xmlns:p14="http://schemas.microsoft.com/office/powerpoint/2010/main" val="1658377902"/>
      </p:ext>
    </p:extLst>
  </p:cSld>
</p:sld>
</file>

<file path=ppt/slides/slide15.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4" name="Producto 1 · Etekcity ESN00">
            <a:extLst xmlns:a="http://schemas.openxmlformats.org/drawingml/2006/main">
              <a:ext uri="{FF2B5EF4-FFF2-40B4-BE49-F238E27FC236}">
                <a16:creationId xmlns:a16="http://schemas.microsoft.com/office/drawing/2014/main" id="{13D8F0B3-ADEB-45CF-AF0F-032D72E2F0EA}"/>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Producto 1 · Etekcity ESN00</a:t>
            </a:r>
          </a:p>
        </p:txBody>
      </p:sp>
      <p:sp>
        <p:nvSpPr>
          <p:cNvPr id="2" name="ESN00 Smart Nutrition Scale">
            <a:extLst xmlns:a="http://schemas.openxmlformats.org/drawingml/2006/main">
              <a:ext uri="{FF2B5EF4-FFF2-40B4-BE49-F238E27FC236}">
                <a16:creationId xmlns:a16="http://schemas.microsoft.com/office/drawing/2014/main" id="{D9F0EFFC-103D-4873-9E7F-E8EE4DCDCC21}"/>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ESN00 Smart Nutrition Scale</a:t>
            </a:r>
          </a:p>
        </p:txBody>
      </p:sp>
      <p:sp>
        <p:nvSpPr>
          <p:cNvPr id="3" name="Fuentes [13] · Referencias al final">
            <a:extLst xmlns:a="http://schemas.openxmlformats.org/drawingml/2006/main">
              <a:ext uri="{FF2B5EF4-FFF2-40B4-BE49-F238E27FC236}">
                <a16:creationId xmlns:a16="http://schemas.microsoft.com/office/drawing/2014/main" id="{36D257D4-CDDA-472A-90FD-7BE83FE091BF}"/>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[13] · Referencias al final</a:t>
            </a:r>
          </a:p>
        </p:txBody>
      </p:sp>
      <p:sp>
        <p:nvSpPr>
          <p:cNvPr id="4" name="15">
            <a:extLst xmlns:a="http://schemas.openxmlformats.org/drawingml/2006/main">
              <a:ext uri="{FF2B5EF4-FFF2-40B4-BE49-F238E27FC236}">
                <a16:creationId xmlns:a16="http://schemas.microsoft.com/office/drawing/2014/main" id="{7EF59FCB-352D-4EEC-BF0A-6FC5C15259E3}"/>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15</a:t>
            </a:r>
          </a:p>
        </p:txBody>
      </p:sp>
      <p:pic>
        <p:nvPicPr>
          <p:cNvPr id="5" name="">
            <a:extLst xmlns:a="http://schemas.openxmlformats.org/drawingml/2006/main">
              <a:ext uri="{FF2B5EF4-FFF2-40B4-BE49-F238E27FC236}">
                <a16:creationId xmlns:a16="http://schemas.microsoft.com/office/drawing/2014/main" id="{EDB9C8CE-6618-4000-89B6-02F52C327098}"/>
              </a:ext>
            </a:extLst>
          </p:cNvPr>
          <p:cNvPicPr>
            <a:picLocks xmlns:a="http://schemas.openxmlformats.org/drawingml/2006/main" noChangeAspect="1"/>
          </p:cNvPicPr>
          <p:nvPr/>
        </p:nvPicPr>
        <p:blipFill>
          <a:blip xmlns:r="http://schemas.openxmlformats.org/officeDocument/2006/relationships" xmlns:a="http://schemas.openxmlformats.org/drawingml/2006/main" r:embed="R4820a6af8983449c"/>
          <a:stretch xmlns:a="http://schemas.openxmlformats.org/drawingml/2006/main"/>
        </p:blipFill>
        <p:spPr>
          <a:xfrm xmlns:a="http://schemas.openxmlformats.org/drawingml/2006/main">
            <a:off x="1647825" y="1790700"/>
            <a:ext cx="3714750" cy="3714750"/>
          </a:xfrm>
          <a:prstGeom xmlns:a="http://schemas.openxmlformats.org/drawingml/2006/main" prst="rect">
            <a:avLst/>
          </a:prstGeom>
        </p:spPr>
      </p:pic>
      <p:sp>
        <p:nvSpPr>
          <p:cNvPr id="6" name="Figura original del antecedente">
            <a:extLst xmlns:a="http://schemas.openxmlformats.org/drawingml/2006/main">
              <a:ext uri="{FF2B5EF4-FFF2-40B4-BE49-F238E27FC236}">
                <a16:creationId xmlns:a16="http://schemas.microsoft.com/office/drawing/2014/main" id="{3F5E8DAC-30BD-49C6-8271-214942F13A44}"/>
              </a:ext>
            </a:extLst>
          </p:cNvPr>
          <p:cNvSpPr>
            <a:spLocks xmlns:a="http://schemas.openxmlformats.org/drawingml/2006/main" noGrp="1"/>
          </p:cNvSpPr>
          <p:nvPr/>
        </p:nvSpPr>
        <p:spPr>
          <a:xfrm xmlns:a="http://schemas.openxmlformats.org/drawingml/2006/main">
            <a:off x="571500" y="5648325"/>
            <a:ext cx="586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77161"/>
                </a:solidFill>
                <a:latin typeface="Arial"/>
                <a:ea typeface="Arial"/>
                <a:cs typeface="Arial"/>
              </a:defRPr>
            </a:defPPr>
          </a:lstStyle>
          <a:p xmlns:a="http://schemas.openxmlformats.org/drawingml/2006/main">
            <a:pPr>
              <a:defRPr sz="1275" b="0">
                <a:solidFill>
                  <a:srgbClr val="577161"/>
                </a:solidFill>
                <a:latin typeface="Arial"/>
                <a:ea typeface="Arial"/>
                <a:cs typeface="Arial"/>
              </a:defRPr>
            </a:pPr>
            <a:r>
              <a:rPr sz="1275" b="0">
                <a:solidFill>
                  <a:srgbClr val="577161"/>
                </a:solidFill>
                <a:latin typeface="Arial"/>
                <a:ea typeface="Arial"/>
                <a:cs typeface="Arial"/>
              </a:rPr>
              <a:t>Figura original del antecedente</a:t>
            </a:r>
          </a:p>
        </p:txBody>
      </p:sp>
      <p:sp>
        <p:nvSpPr>
          <p:cNvPr id="7" name="3–5000 g">
            <a:extLst xmlns:a="http://schemas.openxmlformats.org/drawingml/2006/main">
              <a:ext uri="{FF2B5EF4-FFF2-40B4-BE49-F238E27FC236}">
                <a16:creationId xmlns:a16="http://schemas.microsoft.com/office/drawing/2014/main" id="{AC0A5248-12AC-40F0-9355-0CD85AE1F57A}"/>
              </a:ext>
            </a:extLst>
          </p:cNvPr>
          <p:cNvSpPr>
            <a:spLocks xmlns:a="http://schemas.openxmlformats.org/drawingml/2006/main" noGrp="1"/>
          </p:cNvSpPr>
          <p:nvPr/>
        </p:nvSpPr>
        <p:spPr>
          <a:xfrm xmlns:a="http://schemas.openxmlformats.org/drawingml/2006/main">
            <a:off x="6934200" y="1695450"/>
            <a:ext cx="4667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3F2F"/>
                </a:solidFill>
                <a:latin typeface="Arial"/>
                <a:ea typeface="Arial"/>
                <a:cs typeface="Arial"/>
              </a:defRPr>
            </a:defPPr>
          </a:lstStyle>
          <a:p xmlns:a="http://schemas.openxmlformats.org/drawingml/2006/main">
            <a:pPr>
              <a:defRPr sz="3300" b="1">
                <a:solidFill>
                  <a:srgbClr val="173F2F"/>
                </a:solidFill>
                <a:latin typeface="Arial"/>
                <a:ea typeface="Arial"/>
                <a:cs typeface="Arial"/>
              </a:defRPr>
            </a:pPr>
            <a:r>
              <a:rPr sz="3300" b="1">
                <a:solidFill>
                  <a:srgbClr val="173F2F"/>
                </a:solidFill>
                <a:latin typeface="Arial"/>
                <a:ea typeface="Arial"/>
                <a:cs typeface="Arial"/>
              </a:rPr>
              <a:t>3–5000 g</a:t>
            </a:r>
          </a:p>
        </p:txBody>
      </p:sp>
      <p:sp>
        <p:nvSpPr>
          <p:cNvPr id="8" name="incrementos publicados de 1 g">
            <a:extLst xmlns:a="http://schemas.openxmlformats.org/drawingml/2006/main">
              <a:ext uri="{FF2B5EF4-FFF2-40B4-BE49-F238E27FC236}">
                <a16:creationId xmlns:a16="http://schemas.microsoft.com/office/drawing/2014/main" id="{2818CC51-4922-495B-9697-23E9DA498950}"/>
              </a:ext>
            </a:extLst>
          </p:cNvPr>
          <p:cNvSpPr>
            <a:spLocks xmlns:a="http://schemas.openxmlformats.org/drawingml/2006/main" noGrp="1"/>
          </p:cNvSpPr>
          <p:nvPr/>
        </p:nvSpPr>
        <p:spPr>
          <a:xfrm xmlns:a="http://schemas.openxmlformats.org/drawingml/2006/main">
            <a:off x="6934200" y="2324100"/>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incrementos publicados de 1 g</a:t>
            </a:r>
          </a:p>
        </p:txBody>
      </p:sp>
      <p:sp>
        <p:nvSpPr>
          <p:cNvPr id="9" name="VeSync, hasta 19 nutrientes y aproximadamente un millón">
            <a:extLst xmlns:a="http://schemas.openxmlformats.org/drawingml/2006/main">
              <a:ext uri="{FF2B5EF4-FFF2-40B4-BE49-F238E27FC236}">
                <a16:creationId xmlns:a16="http://schemas.microsoft.com/office/drawing/2014/main" id="{0EE79C1A-1354-4683-8491-DC01E2A87C08}"/>
              </a:ext>
            </a:extLst>
          </p:cNvPr>
          <p:cNvSpPr>
            <a:spLocks xmlns:a="http://schemas.openxmlformats.org/drawingml/2006/main" noGrp="1"/>
          </p:cNvSpPr>
          <p:nvPr/>
        </p:nvSpPr>
        <p:spPr>
          <a:xfrm xmlns:a="http://schemas.openxmlformats.org/drawingml/2006/main">
            <a:off x="6934200" y="2905125"/>
            <a:ext cx="4667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VeSync, hasta 19 nutrientes y aproximadamente un millón de registros.</a:t>
            </a:r>
          </a:p>
        </p:txBody>
      </p:sp>
      <p:sp>
        <p:nvSpPr>
          <p:cNvPr id="10" name="Aporte al proyecto">
            <a:extLst xmlns:a="http://schemas.openxmlformats.org/drawingml/2006/main">
              <a:ext uri="{FF2B5EF4-FFF2-40B4-BE49-F238E27FC236}">
                <a16:creationId xmlns:a16="http://schemas.microsoft.com/office/drawing/2014/main" id="{E1B94784-425D-4EAC-9473-DAB12EAD3E68}"/>
              </a:ext>
            </a:extLst>
          </p:cNvPr>
          <p:cNvSpPr>
            <a:spLocks xmlns:a="http://schemas.openxmlformats.org/drawingml/2006/main" noGrp="1"/>
          </p:cNvSpPr>
          <p:nvPr/>
        </p:nvSpPr>
        <p:spPr>
          <a:xfrm xmlns:a="http://schemas.openxmlformats.org/drawingml/2006/main">
            <a:off x="6934200" y="38290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Aporte al proyecto</a:t>
            </a:r>
          </a:p>
        </p:txBody>
      </p:sp>
      <p:sp>
        <p:nvSpPr>
          <p:cNvPr id="11" name="Tara, pesaje directo y consulta nutricional en una expe">
            <a:extLst xmlns:a="http://schemas.openxmlformats.org/drawingml/2006/main">
              <a:ext uri="{FF2B5EF4-FFF2-40B4-BE49-F238E27FC236}">
                <a16:creationId xmlns:a16="http://schemas.microsoft.com/office/drawing/2014/main" id="{AAEC8C1A-A712-445B-9AFC-6C428BD5420A}"/>
              </a:ext>
            </a:extLst>
          </p:cNvPr>
          <p:cNvSpPr>
            <a:spLocks xmlns:a="http://schemas.openxmlformats.org/drawingml/2006/main" noGrp="1"/>
          </p:cNvSpPr>
          <p:nvPr/>
        </p:nvSpPr>
        <p:spPr>
          <a:xfrm xmlns:a="http://schemas.openxmlformats.org/drawingml/2006/main">
            <a:off x="6934200" y="4162425"/>
            <a:ext cx="466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73F2F"/>
                </a:solidFill>
                <a:latin typeface="Arial"/>
                <a:ea typeface="Arial"/>
                <a:cs typeface="Arial"/>
              </a:defRPr>
            </a:defPPr>
          </a:lstStyle>
          <a:p xmlns:a="http://schemas.openxmlformats.org/drawingml/2006/main">
            <a:pPr>
              <a:defRPr sz="1800" b="0">
                <a:solidFill>
                  <a:srgbClr val="173F2F"/>
                </a:solidFill>
                <a:latin typeface="Arial"/>
                <a:ea typeface="Arial"/>
                <a:cs typeface="Arial"/>
              </a:defRPr>
            </a:pPr>
            <a:r>
              <a:rPr sz="1800" b="0">
                <a:solidFill>
                  <a:srgbClr val="173F2F"/>
                </a:solidFill>
                <a:latin typeface="Arial"/>
                <a:ea typeface="Arial"/>
                <a:cs typeface="Arial"/>
              </a:rPr>
              <a:t>Tara, pesaje directo y consulta nutricional en una experiencia integrada.</a:t>
            </a:r>
          </a:p>
        </p:txBody>
      </p:sp>
      <p:sp>
        <p:nvSpPr>
          <p:cNvPr id="12" name="Límite: El usuario debe seleccionar correctamente el al">
            <a:extLst xmlns:a="http://schemas.openxmlformats.org/drawingml/2006/main">
              <a:ext uri="{FF2B5EF4-FFF2-40B4-BE49-F238E27FC236}">
                <a16:creationId xmlns:a16="http://schemas.microsoft.com/office/drawing/2014/main" id="{5DED4116-3003-44DC-9681-928E444D43A6}"/>
              </a:ext>
            </a:extLst>
          </p:cNvPr>
          <p:cNvSpPr>
            <a:spLocks xmlns:a="http://schemas.openxmlformats.org/drawingml/2006/main" noGrp="1"/>
          </p:cNvSpPr>
          <p:nvPr/>
        </p:nvSpPr>
        <p:spPr>
          <a:xfrm xmlns:a="http://schemas.openxmlformats.org/drawingml/2006/main">
            <a:off x="6934200" y="5143500"/>
            <a:ext cx="466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77161"/>
                </a:solidFill>
                <a:latin typeface="Arial"/>
                <a:ea typeface="Arial"/>
                <a:cs typeface="Arial"/>
              </a:defRPr>
            </a:defPPr>
          </a:lstStyle>
          <a:p xmlns:a="http://schemas.openxmlformats.org/drawingml/2006/main">
            <a:pPr>
              <a:defRPr sz="1575" b="0">
                <a:solidFill>
                  <a:srgbClr val="577161"/>
                </a:solidFill>
                <a:latin typeface="Arial"/>
                <a:ea typeface="Arial"/>
                <a:cs typeface="Arial"/>
              </a:defRPr>
            </a:pPr>
            <a:r>
              <a:rPr sz="1575" b="0">
                <a:solidFill>
                  <a:srgbClr val="577161"/>
                </a:solidFill>
                <a:latin typeface="Arial"/>
                <a:ea typeface="Arial"/>
                <a:cs typeface="Arial"/>
              </a:rPr>
              <a:t>Límite: El usuario debe seleccionar correctamente el alimento. 1 g de incremento no implica ±1 g de exactitud.</a:t>
            </a:r>
          </a:p>
        </p:txBody>
      </p:sp>
      <p:sp>
        <p:nvSpPr>
          <p:cNvPr id="13" name="F5 Cantidad · F6 Identidad · F7 Referencia">
            <a:extLst xmlns:a="http://schemas.openxmlformats.org/drawingml/2006/main">
              <a:ext uri="{FF2B5EF4-FFF2-40B4-BE49-F238E27FC236}">
                <a16:creationId xmlns:a16="http://schemas.microsoft.com/office/drawing/2014/main" id="{2242C44A-6624-4903-91E4-40153E0BC28B}"/>
              </a:ext>
            </a:extLst>
          </p:cNvPr>
          <p:cNvSpPr>
            <a:spLocks xmlns:a="http://schemas.openxmlformats.org/drawingml/2006/main" noGrp="1"/>
          </p:cNvSpPr>
          <p:nvPr/>
        </p:nvSpPr>
        <p:spPr>
          <a:xfrm xmlns:a="http://schemas.openxmlformats.org/drawingml/2006/main">
            <a:off x="571500" y="601980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F5 Cantidad · F6 Identidad · F7 Referencia</a:t>
            </a:r>
          </a:p>
        </p:txBody>
      </p:sp>
    </p:spTree>
    <p:extLst>
      <p:ext uri="{BB962C8B-B14F-4D97-AF65-F5344CB8AC3E}">
        <p14:creationId xmlns:p14="http://schemas.microsoft.com/office/powerpoint/2010/main" val="1276848682"/>
      </p:ext>
    </p:extLst>
  </p:cSld>
</p:sld>
</file>

<file path=ppt/slides/slide16.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4" name="Producto 2 · Fitia">
            <a:extLst xmlns:a="http://schemas.openxmlformats.org/drawingml/2006/main">
              <a:ext uri="{FF2B5EF4-FFF2-40B4-BE49-F238E27FC236}">
                <a16:creationId xmlns:a16="http://schemas.microsoft.com/office/drawing/2014/main" id="{3ED2153D-75DF-4012-86CB-AA37833246B7}"/>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Producto 2 · Fitia</a:t>
            </a:r>
          </a:p>
        </p:txBody>
      </p:sp>
      <p:sp>
        <p:nvSpPr>
          <p:cNvPr id="2" name="Fitia: Contador de calorías y dietas con IA">
            <a:extLst xmlns:a="http://schemas.openxmlformats.org/drawingml/2006/main">
              <a:ext uri="{FF2B5EF4-FFF2-40B4-BE49-F238E27FC236}">
                <a16:creationId xmlns:a16="http://schemas.microsoft.com/office/drawing/2014/main" id="{40EED016-F663-47FF-B024-2BF4B608CB64}"/>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Fitia: Contador de calorías y dietas con IA</a:t>
            </a:r>
          </a:p>
        </p:txBody>
      </p:sp>
      <p:sp>
        <p:nvSpPr>
          <p:cNvPr id="3" name="Fuentes [14] · Referencias al final">
            <a:extLst xmlns:a="http://schemas.openxmlformats.org/drawingml/2006/main">
              <a:ext uri="{FF2B5EF4-FFF2-40B4-BE49-F238E27FC236}">
                <a16:creationId xmlns:a16="http://schemas.microsoft.com/office/drawing/2014/main" id="{A36F4462-5C1A-4ED4-B883-B1D835F63541}"/>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[14] · Referencias al final</a:t>
            </a:r>
          </a:p>
        </p:txBody>
      </p:sp>
      <p:sp>
        <p:nvSpPr>
          <p:cNvPr id="4" name="16">
            <a:extLst xmlns:a="http://schemas.openxmlformats.org/drawingml/2006/main">
              <a:ext uri="{FF2B5EF4-FFF2-40B4-BE49-F238E27FC236}">
                <a16:creationId xmlns:a16="http://schemas.microsoft.com/office/drawing/2014/main" id="{C88A6137-2643-4B11-AAEB-37B9C4A9A770}"/>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16</a:t>
            </a:r>
          </a:p>
        </p:txBody>
      </p:sp>
      <p:pic>
        <p:nvPicPr>
          <p:cNvPr id="5" name="">
            <a:extLst xmlns:a="http://schemas.openxmlformats.org/drawingml/2006/main">
              <a:ext uri="{FF2B5EF4-FFF2-40B4-BE49-F238E27FC236}">
                <a16:creationId xmlns:a16="http://schemas.microsoft.com/office/drawing/2014/main" id="{3C051039-4076-4220-B4CC-C3A9A8C5F65D}"/>
              </a:ext>
            </a:extLst>
          </p:cNvPr>
          <p:cNvPicPr>
            <a:picLocks xmlns:a="http://schemas.openxmlformats.org/drawingml/2006/main" noChangeAspect="1"/>
          </p:cNvPicPr>
          <p:nvPr/>
        </p:nvPicPr>
        <p:blipFill>
          <a:blip xmlns:r="http://schemas.openxmlformats.org/officeDocument/2006/relationships" xmlns:a="http://schemas.openxmlformats.org/drawingml/2006/main" r:embed="R1b4337d42a1d4646"/>
          <a:stretch xmlns:a="http://schemas.openxmlformats.org/drawingml/2006/main"/>
        </p:blipFill>
        <p:spPr>
          <a:xfrm xmlns:a="http://schemas.openxmlformats.org/drawingml/2006/main">
            <a:off x="2648370" y="1790700"/>
            <a:ext cx="1713660" cy="3714750"/>
          </a:xfrm>
          <a:prstGeom xmlns:a="http://schemas.openxmlformats.org/drawingml/2006/main" prst="rect">
            <a:avLst/>
          </a:prstGeom>
        </p:spPr>
      </p:pic>
      <p:sp>
        <p:nvSpPr>
          <p:cNvPr id="6" name="Figura original del antecedente">
            <a:extLst xmlns:a="http://schemas.openxmlformats.org/drawingml/2006/main">
              <a:ext uri="{FF2B5EF4-FFF2-40B4-BE49-F238E27FC236}">
                <a16:creationId xmlns:a16="http://schemas.microsoft.com/office/drawing/2014/main" id="{45EF6B61-8511-4FB1-A797-D5A8F72B346F}"/>
              </a:ext>
            </a:extLst>
          </p:cNvPr>
          <p:cNvSpPr>
            <a:spLocks xmlns:a="http://schemas.openxmlformats.org/drawingml/2006/main" noGrp="1"/>
          </p:cNvSpPr>
          <p:nvPr/>
        </p:nvSpPr>
        <p:spPr>
          <a:xfrm xmlns:a="http://schemas.openxmlformats.org/drawingml/2006/main">
            <a:off x="571500" y="5648325"/>
            <a:ext cx="586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77161"/>
                </a:solidFill>
                <a:latin typeface="Arial"/>
                <a:ea typeface="Arial"/>
                <a:cs typeface="Arial"/>
              </a:defRPr>
            </a:defPPr>
          </a:lstStyle>
          <a:p xmlns:a="http://schemas.openxmlformats.org/drawingml/2006/main">
            <a:pPr>
              <a:defRPr sz="1275" b="0">
                <a:solidFill>
                  <a:srgbClr val="577161"/>
                </a:solidFill>
                <a:latin typeface="Arial"/>
                <a:ea typeface="Arial"/>
                <a:cs typeface="Arial"/>
              </a:defRPr>
            </a:pPr>
            <a:r>
              <a:rPr sz="1275" b="0">
                <a:solidFill>
                  <a:srgbClr val="577161"/>
                </a:solidFill>
                <a:latin typeface="Arial"/>
                <a:ea typeface="Arial"/>
                <a:cs typeface="Arial"/>
              </a:rPr>
              <a:t>Figura original del antecedente</a:t>
            </a:r>
          </a:p>
        </p:txBody>
      </p:sp>
      <p:sp>
        <p:nvSpPr>
          <p:cNvPr id="7" name="Foto, voz y texto">
            <a:extLst xmlns:a="http://schemas.openxmlformats.org/drawingml/2006/main">
              <a:ext uri="{FF2B5EF4-FFF2-40B4-BE49-F238E27FC236}">
                <a16:creationId xmlns:a16="http://schemas.microsoft.com/office/drawing/2014/main" id="{DFB6DC86-EC8D-4A33-91F2-0DB489E53475}"/>
              </a:ext>
            </a:extLst>
          </p:cNvPr>
          <p:cNvSpPr>
            <a:spLocks xmlns:a="http://schemas.openxmlformats.org/drawingml/2006/main" noGrp="1"/>
          </p:cNvSpPr>
          <p:nvPr/>
        </p:nvSpPr>
        <p:spPr>
          <a:xfrm xmlns:a="http://schemas.openxmlformats.org/drawingml/2006/main">
            <a:off x="6934200" y="1695450"/>
            <a:ext cx="4667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3F2F"/>
                </a:solidFill>
                <a:latin typeface="Arial"/>
                <a:ea typeface="Arial"/>
                <a:cs typeface="Arial"/>
              </a:defRPr>
            </a:defPPr>
          </a:lstStyle>
          <a:p xmlns:a="http://schemas.openxmlformats.org/drawingml/2006/main">
            <a:pPr>
              <a:defRPr sz="3300" b="1">
                <a:solidFill>
                  <a:srgbClr val="173F2F"/>
                </a:solidFill>
                <a:latin typeface="Arial"/>
                <a:ea typeface="Arial"/>
                <a:cs typeface="Arial"/>
              </a:defRPr>
            </a:pPr>
            <a:r>
              <a:rPr sz="3300" b="1">
                <a:solidFill>
                  <a:srgbClr val="173F2F"/>
                </a:solidFill>
                <a:latin typeface="Arial"/>
                <a:ea typeface="Arial"/>
                <a:cs typeface="Arial"/>
              </a:rPr>
              <a:t>Foto, voz y texto</a:t>
            </a:r>
          </a:p>
        </p:txBody>
      </p:sp>
      <p:sp>
        <p:nvSpPr>
          <p:cNvPr id="8" name="también permite código de barras">
            <a:extLst xmlns:a="http://schemas.openxmlformats.org/drawingml/2006/main">
              <a:ext uri="{FF2B5EF4-FFF2-40B4-BE49-F238E27FC236}">
                <a16:creationId xmlns:a16="http://schemas.microsoft.com/office/drawing/2014/main" id="{8365B6C7-0E67-454C-8E48-FDCF7146111F}"/>
              </a:ext>
            </a:extLst>
          </p:cNvPr>
          <p:cNvSpPr>
            <a:spLocks xmlns:a="http://schemas.openxmlformats.org/drawingml/2006/main" noGrp="1"/>
          </p:cNvSpPr>
          <p:nvPr/>
        </p:nvSpPr>
        <p:spPr>
          <a:xfrm xmlns:a="http://schemas.openxmlformats.org/drawingml/2006/main">
            <a:off x="6934200" y="2324100"/>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también permite código de barras</a:t>
            </a:r>
          </a:p>
        </p:txBody>
      </p:sp>
      <p:sp>
        <p:nvSpPr>
          <p:cNvPr id="9" name="Registra comidas y muestra calorías, macronutrientes y ">
            <a:extLst xmlns:a="http://schemas.openxmlformats.org/drawingml/2006/main">
              <a:ext uri="{FF2B5EF4-FFF2-40B4-BE49-F238E27FC236}">
                <a16:creationId xmlns:a16="http://schemas.microsoft.com/office/drawing/2014/main" id="{C176FA01-F7B6-4CEA-ADC7-13E9E65DAC67}"/>
              </a:ext>
            </a:extLst>
          </p:cNvPr>
          <p:cNvSpPr>
            <a:spLocks xmlns:a="http://schemas.openxmlformats.org/drawingml/2006/main" noGrp="1"/>
          </p:cNvSpPr>
          <p:nvPr/>
        </p:nvSpPr>
        <p:spPr>
          <a:xfrm xmlns:a="http://schemas.openxmlformats.org/drawingml/2006/main">
            <a:off x="6934200" y="2905125"/>
            <a:ext cx="4667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Registra comidas y muestra calorías, macronutrientes y avance diario.</a:t>
            </a:r>
          </a:p>
        </p:txBody>
      </p:sp>
      <p:sp>
        <p:nvSpPr>
          <p:cNvPr id="10" name="Aporte al proyecto">
            <a:extLst xmlns:a="http://schemas.openxmlformats.org/drawingml/2006/main">
              <a:ext uri="{FF2B5EF4-FFF2-40B4-BE49-F238E27FC236}">
                <a16:creationId xmlns:a16="http://schemas.microsoft.com/office/drawing/2014/main" id="{AF263373-6BAE-4BC7-AC85-975BABE36C66}"/>
              </a:ext>
            </a:extLst>
          </p:cNvPr>
          <p:cNvSpPr>
            <a:spLocks xmlns:a="http://schemas.openxmlformats.org/drawingml/2006/main" noGrp="1"/>
          </p:cNvSpPr>
          <p:nvPr/>
        </p:nvSpPr>
        <p:spPr>
          <a:xfrm xmlns:a="http://schemas.openxmlformats.org/drawingml/2006/main">
            <a:off x="6934200" y="38290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Aporte al proyecto</a:t>
            </a:r>
          </a:p>
        </p:txBody>
      </p:sp>
      <p:sp>
        <p:nvSpPr>
          <p:cNvPr id="11" name="Ofrecer entradas alternativas y permitir ajustar la por">
            <a:extLst xmlns:a="http://schemas.openxmlformats.org/drawingml/2006/main">
              <a:ext uri="{FF2B5EF4-FFF2-40B4-BE49-F238E27FC236}">
                <a16:creationId xmlns:a16="http://schemas.microsoft.com/office/drawing/2014/main" id="{7F537F0D-2971-4C9C-8300-E3F711EB8DE1}"/>
              </a:ext>
            </a:extLst>
          </p:cNvPr>
          <p:cNvSpPr>
            <a:spLocks xmlns:a="http://schemas.openxmlformats.org/drawingml/2006/main" noGrp="1"/>
          </p:cNvSpPr>
          <p:nvPr/>
        </p:nvSpPr>
        <p:spPr>
          <a:xfrm xmlns:a="http://schemas.openxmlformats.org/drawingml/2006/main">
            <a:off x="6934200" y="4162425"/>
            <a:ext cx="466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73F2F"/>
                </a:solidFill>
                <a:latin typeface="Arial"/>
                <a:ea typeface="Arial"/>
                <a:cs typeface="Arial"/>
              </a:defRPr>
            </a:defPPr>
          </a:lstStyle>
          <a:p xmlns:a="http://schemas.openxmlformats.org/drawingml/2006/main">
            <a:pPr>
              <a:defRPr sz="1800" b="0">
                <a:solidFill>
                  <a:srgbClr val="173F2F"/>
                </a:solidFill>
                <a:latin typeface="Arial"/>
                <a:ea typeface="Arial"/>
                <a:cs typeface="Arial"/>
              </a:defRPr>
            </a:pPr>
            <a:r>
              <a:rPr sz="1800" b="0">
                <a:solidFill>
                  <a:srgbClr val="173F2F"/>
                </a:solidFill>
                <a:latin typeface="Arial"/>
                <a:ea typeface="Arial"/>
                <a:cs typeface="Arial"/>
              </a:rPr>
              <a:t>Ofrecer entradas alternativas y permitir ajustar la porción.</a:t>
            </a:r>
          </a:p>
        </p:txBody>
      </p:sp>
      <p:sp>
        <p:nvSpPr>
          <p:cNvPr id="12" name="Límite: La fuente revisada no publica una precisión en ">
            <a:extLst xmlns:a="http://schemas.openxmlformats.org/drawingml/2006/main">
              <a:ext uri="{FF2B5EF4-FFF2-40B4-BE49-F238E27FC236}">
                <a16:creationId xmlns:a16="http://schemas.microsoft.com/office/drawing/2014/main" id="{E15416EC-7251-411A-BF61-5BBBFC27A2E7}"/>
              </a:ext>
            </a:extLst>
          </p:cNvPr>
          <p:cNvSpPr>
            <a:spLocks xmlns:a="http://schemas.openxmlformats.org/drawingml/2006/main" noGrp="1"/>
          </p:cNvSpPr>
          <p:nvPr/>
        </p:nvSpPr>
        <p:spPr>
          <a:xfrm xmlns:a="http://schemas.openxmlformats.org/drawingml/2006/main">
            <a:off x="6934200" y="5143500"/>
            <a:ext cx="466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77161"/>
                </a:solidFill>
                <a:latin typeface="Arial"/>
                <a:ea typeface="Arial"/>
                <a:cs typeface="Arial"/>
              </a:defRPr>
            </a:defPPr>
          </a:lstStyle>
          <a:p xmlns:a="http://schemas.openxmlformats.org/drawingml/2006/main">
            <a:pPr>
              <a:defRPr sz="1575" b="0">
                <a:solidFill>
                  <a:srgbClr val="577161"/>
                </a:solidFill>
                <a:latin typeface="Arial"/>
                <a:ea typeface="Arial"/>
                <a:cs typeface="Arial"/>
              </a:defRPr>
            </a:pPr>
            <a:r>
              <a:rPr sz="1575" b="0">
                <a:solidFill>
                  <a:srgbClr val="577161"/>
                </a:solidFill>
                <a:latin typeface="Arial"/>
                <a:ea typeface="Arial"/>
                <a:cs typeface="Arial"/>
              </a:rPr>
              <a:t>Límite: La fuente revisada no publica una precisión en gramos para la estimación fotográfica.</a:t>
            </a:r>
          </a:p>
        </p:txBody>
      </p:sp>
      <p:sp>
        <p:nvSpPr>
          <p:cNvPr id="13" name="F3 Capturar · F6 Corregir · F9 Informar">
            <a:extLst xmlns:a="http://schemas.openxmlformats.org/drawingml/2006/main">
              <a:ext uri="{FF2B5EF4-FFF2-40B4-BE49-F238E27FC236}">
                <a16:creationId xmlns:a16="http://schemas.microsoft.com/office/drawing/2014/main" id="{73009114-5E0E-4539-9DBA-33EF2FF3C348}"/>
              </a:ext>
            </a:extLst>
          </p:cNvPr>
          <p:cNvSpPr>
            <a:spLocks xmlns:a="http://schemas.openxmlformats.org/drawingml/2006/main" noGrp="1"/>
          </p:cNvSpPr>
          <p:nvPr/>
        </p:nvSpPr>
        <p:spPr>
          <a:xfrm xmlns:a="http://schemas.openxmlformats.org/drawingml/2006/main">
            <a:off x="571500" y="601980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F3 Capturar · F6 Corregir · F9 Informar</a:t>
            </a:r>
          </a:p>
        </p:txBody>
      </p:sp>
    </p:spTree>
    <p:extLst>
      <p:ext uri="{BB962C8B-B14F-4D97-AF65-F5344CB8AC3E}">
        <p14:creationId xmlns:p14="http://schemas.microsoft.com/office/powerpoint/2010/main" val="1308134758"/>
      </p:ext>
    </p:extLst>
  </p:cSld>
</p:sld>
</file>

<file path=ppt/slides/slide17.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4" name="Producto 3 · SnapCalorie">
            <a:extLst xmlns:a="http://schemas.openxmlformats.org/drawingml/2006/main">
              <a:ext uri="{FF2B5EF4-FFF2-40B4-BE49-F238E27FC236}">
                <a16:creationId xmlns:a16="http://schemas.microsoft.com/office/drawing/2014/main" id="{7D08786B-387D-4BEE-B941-5AE81AC19999}"/>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Producto 3 · SnapCalorie</a:t>
            </a:r>
          </a:p>
        </p:txBody>
      </p:sp>
      <p:sp>
        <p:nvSpPr>
          <p:cNvPr id="2" name="SnapCalorie: AI Calorie Tracking Made Simple">
            <a:extLst xmlns:a="http://schemas.openxmlformats.org/drawingml/2006/main">
              <a:ext uri="{FF2B5EF4-FFF2-40B4-BE49-F238E27FC236}">
                <a16:creationId xmlns:a16="http://schemas.microsoft.com/office/drawing/2014/main" id="{0D3597AF-F105-4A12-B8F4-7DC55A616B4C}"/>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SnapCalorie: AI Calorie Tracking Made Simple</a:t>
            </a:r>
          </a:p>
        </p:txBody>
      </p:sp>
      <p:sp>
        <p:nvSpPr>
          <p:cNvPr id="3" name="Fuentes [15] · Referencias al final">
            <a:extLst xmlns:a="http://schemas.openxmlformats.org/drawingml/2006/main">
              <a:ext uri="{FF2B5EF4-FFF2-40B4-BE49-F238E27FC236}">
                <a16:creationId xmlns:a16="http://schemas.microsoft.com/office/drawing/2014/main" id="{42AE546E-E6FC-429B-BC68-210716154AF8}"/>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[15] · Referencias al final</a:t>
            </a:r>
          </a:p>
        </p:txBody>
      </p:sp>
      <p:sp>
        <p:nvSpPr>
          <p:cNvPr id="4" name="17">
            <a:extLst xmlns:a="http://schemas.openxmlformats.org/drawingml/2006/main">
              <a:ext uri="{FF2B5EF4-FFF2-40B4-BE49-F238E27FC236}">
                <a16:creationId xmlns:a16="http://schemas.microsoft.com/office/drawing/2014/main" id="{939B05EE-3FDA-4515-9579-132F9EE47C68}"/>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17</a:t>
            </a:r>
          </a:p>
        </p:txBody>
      </p:sp>
      <p:pic>
        <p:nvPicPr>
          <p:cNvPr id="5" name="">
            <a:extLst xmlns:a="http://schemas.openxmlformats.org/drawingml/2006/main">
              <a:ext uri="{FF2B5EF4-FFF2-40B4-BE49-F238E27FC236}">
                <a16:creationId xmlns:a16="http://schemas.microsoft.com/office/drawing/2014/main" id="{97B7940A-8B95-4F4D-9610-2CC360782E96}"/>
              </a:ext>
            </a:extLst>
          </p:cNvPr>
          <p:cNvPicPr>
            <a:picLocks xmlns:a="http://schemas.openxmlformats.org/drawingml/2006/main" noChangeAspect="1"/>
          </p:cNvPicPr>
          <p:nvPr/>
        </p:nvPicPr>
        <p:blipFill>
          <a:blip xmlns:r="http://schemas.openxmlformats.org/officeDocument/2006/relationships" xmlns:a="http://schemas.openxmlformats.org/drawingml/2006/main" r:embed="R3e0b677ee80a438d"/>
          <a:stretch xmlns:a="http://schemas.openxmlformats.org/drawingml/2006/main"/>
        </p:blipFill>
        <p:spPr>
          <a:xfrm xmlns:a="http://schemas.openxmlformats.org/drawingml/2006/main">
            <a:off x="1611014" y="1790700"/>
            <a:ext cx="3788373" cy="3714750"/>
          </a:xfrm>
          <a:prstGeom xmlns:a="http://schemas.openxmlformats.org/drawingml/2006/main" prst="rect">
            <a:avLst/>
          </a:prstGeom>
        </p:spPr>
      </p:pic>
      <p:sp>
        <p:nvSpPr>
          <p:cNvPr id="6" name="Figura original del antecedente">
            <a:extLst xmlns:a="http://schemas.openxmlformats.org/drawingml/2006/main">
              <a:ext uri="{FF2B5EF4-FFF2-40B4-BE49-F238E27FC236}">
                <a16:creationId xmlns:a16="http://schemas.microsoft.com/office/drawing/2014/main" id="{42E21C20-422F-4C43-95F5-F352D0ADCFF1}"/>
              </a:ext>
            </a:extLst>
          </p:cNvPr>
          <p:cNvSpPr>
            <a:spLocks xmlns:a="http://schemas.openxmlformats.org/drawingml/2006/main" noGrp="1"/>
          </p:cNvSpPr>
          <p:nvPr/>
        </p:nvSpPr>
        <p:spPr>
          <a:xfrm xmlns:a="http://schemas.openxmlformats.org/drawingml/2006/main">
            <a:off x="571500" y="5648325"/>
            <a:ext cx="5867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77161"/>
                </a:solidFill>
                <a:latin typeface="Arial"/>
                <a:ea typeface="Arial"/>
                <a:cs typeface="Arial"/>
              </a:defRPr>
            </a:defPPr>
          </a:lstStyle>
          <a:p xmlns:a="http://schemas.openxmlformats.org/drawingml/2006/main">
            <a:pPr>
              <a:defRPr sz="1275" b="0">
                <a:solidFill>
                  <a:srgbClr val="577161"/>
                </a:solidFill>
                <a:latin typeface="Arial"/>
                <a:ea typeface="Arial"/>
                <a:cs typeface="Arial"/>
              </a:defRPr>
            </a:pPr>
            <a:r>
              <a:rPr sz="1275" b="0">
                <a:solidFill>
                  <a:srgbClr val="577161"/>
                </a:solidFill>
                <a:latin typeface="Arial"/>
                <a:ea typeface="Arial"/>
                <a:cs typeface="Arial"/>
              </a:rPr>
              <a:t>Figura original del antecedente</a:t>
            </a:r>
          </a:p>
        </p:txBody>
      </p:sp>
      <p:sp>
        <p:nvSpPr>
          <p:cNvPr id="7" name="Foto, revisión y registro">
            <a:extLst xmlns:a="http://schemas.openxmlformats.org/drawingml/2006/main">
              <a:ext uri="{FF2B5EF4-FFF2-40B4-BE49-F238E27FC236}">
                <a16:creationId xmlns:a16="http://schemas.microsoft.com/office/drawing/2014/main" id="{E1308993-2A27-48D1-B5C0-64D212006C02}"/>
              </a:ext>
            </a:extLst>
          </p:cNvPr>
          <p:cNvSpPr>
            <a:spLocks xmlns:a="http://schemas.openxmlformats.org/drawingml/2006/main" noGrp="1"/>
          </p:cNvSpPr>
          <p:nvPr/>
        </p:nvSpPr>
        <p:spPr>
          <a:xfrm xmlns:a="http://schemas.openxmlformats.org/drawingml/2006/main">
            <a:off x="6934200" y="1695450"/>
            <a:ext cx="4667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73F2F"/>
                </a:solidFill>
                <a:latin typeface="Arial"/>
                <a:ea typeface="Arial"/>
                <a:cs typeface="Arial"/>
              </a:defRPr>
            </a:defPPr>
          </a:lstStyle>
          <a:p xmlns:a="http://schemas.openxmlformats.org/drawingml/2006/main">
            <a:pPr>
              <a:defRPr sz="2700" b="1">
                <a:solidFill>
                  <a:srgbClr val="173F2F"/>
                </a:solidFill>
                <a:latin typeface="Arial"/>
                <a:ea typeface="Arial"/>
                <a:cs typeface="Arial"/>
              </a:defRPr>
            </a:pPr>
            <a:r>
              <a:rPr sz="2700" b="1">
                <a:solidFill>
                  <a:srgbClr val="173F2F"/>
                </a:solidFill>
                <a:latin typeface="Arial"/>
                <a:ea typeface="Arial"/>
                <a:cs typeface="Arial"/>
              </a:rPr>
              <a:t>Foto, revisión y registro</a:t>
            </a:r>
          </a:p>
        </p:txBody>
      </p:sp>
      <p:sp>
        <p:nvSpPr>
          <p:cNvPr id="8" name="flujo breve de seguimiento alimentario">
            <a:extLst xmlns:a="http://schemas.openxmlformats.org/drawingml/2006/main">
              <a:ext uri="{FF2B5EF4-FFF2-40B4-BE49-F238E27FC236}">
                <a16:creationId xmlns:a16="http://schemas.microsoft.com/office/drawing/2014/main" id="{E07D293C-ED82-4CE1-8192-AB8662353F32}"/>
              </a:ext>
            </a:extLst>
          </p:cNvPr>
          <p:cNvSpPr>
            <a:spLocks xmlns:a="http://schemas.openxmlformats.org/drawingml/2006/main" noGrp="1"/>
          </p:cNvSpPr>
          <p:nvPr/>
        </p:nvSpPr>
        <p:spPr>
          <a:xfrm xmlns:a="http://schemas.openxmlformats.org/drawingml/2006/main">
            <a:off x="6934200" y="2324100"/>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flujo breve de seguimiento alimentario</a:t>
            </a:r>
          </a:p>
        </p:txBody>
      </p:sp>
      <p:sp>
        <p:nvSpPr>
          <p:cNvPr id="9" name="Presenta kcal y macros. Incluye voz, tendencias y plani">
            <a:extLst xmlns:a="http://schemas.openxmlformats.org/drawingml/2006/main">
              <a:ext uri="{FF2B5EF4-FFF2-40B4-BE49-F238E27FC236}">
                <a16:creationId xmlns:a16="http://schemas.microsoft.com/office/drawing/2014/main" id="{A702F846-C87E-40C0-81E8-48AD4DF5B9FF}"/>
              </a:ext>
            </a:extLst>
          </p:cNvPr>
          <p:cNvSpPr>
            <a:spLocks xmlns:a="http://schemas.openxmlformats.org/drawingml/2006/main" noGrp="1"/>
          </p:cNvSpPr>
          <p:nvPr/>
        </p:nvSpPr>
        <p:spPr>
          <a:xfrm xmlns:a="http://schemas.openxmlformats.org/drawingml/2006/main">
            <a:off x="6934200" y="2905125"/>
            <a:ext cx="4667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Presenta kcal y macros. Incluye voz, tendencias y planificación.</a:t>
            </a:r>
          </a:p>
        </p:txBody>
      </p:sp>
      <p:sp>
        <p:nvSpPr>
          <p:cNvPr id="10" name="Aporte al proyecto">
            <a:extLst xmlns:a="http://schemas.openxmlformats.org/drawingml/2006/main">
              <a:ext uri="{FF2B5EF4-FFF2-40B4-BE49-F238E27FC236}">
                <a16:creationId xmlns:a16="http://schemas.microsoft.com/office/drawing/2014/main" id="{9A405B4B-0774-4A4D-BE43-1D7E7EE1B048}"/>
              </a:ext>
            </a:extLst>
          </p:cNvPr>
          <p:cNvSpPr>
            <a:spLocks xmlns:a="http://schemas.openxmlformats.org/drawingml/2006/main" noGrp="1"/>
          </p:cNvSpPr>
          <p:nvPr/>
        </p:nvSpPr>
        <p:spPr>
          <a:xfrm xmlns:a="http://schemas.openxmlformats.org/drawingml/2006/main">
            <a:off x="6934200" y="38290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Aporte al proyecto</a:t>
            </a:r>
          </a:p>
        </p:txBody>
      </p:sp>
      <p:sp>
        <p:nvSpPr>
          <p:cNvPr id="11" name="Reducir el esfuerzo y conservar una revisión antes de g">
            <a:extLst xmlns:a="http://schemas.openxmlformats.org/drawingml/2006/main">
              <a:ext uri="{FF2B5EF4-FFF2-40B4-BE49-F238E27FC236}">
                <a16:creationId xmlns:a16="http://schemas.microsoft.com/office/drawing/2014/main" id="{B9AF8F78-F310-4CFB-8D9A-C3FD0414E2BA}"/>
              </a:ext>
            </a:extLst>
          </p:cNvPr>
          <p:cNvSpPr>
            <a:spLocks xmlns:a="http://schemas.openxmlformats.org/drawingml/2006/main" noGrp="1"/>
          </p:cNvSpPr>
          <p:nvPr/>
        </p:nvSpPr>
        <p:spPr>
          <a:xfrm xmlns:a="http://schemas.openxmlformats.org/drawingml/2006/main">
            <a:off x="6934200" y="4162425"/>
            <a:ext cx="466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73F2F"/>
                </a:solidFill>
                <a:latin typeface="Arial"/>
                <a:ea typeface="Arial"/>
                <a:cs typeface="Arial"/>
              </a:defRPr>
            </a:defPPr>
          </a:lstStyle>
          <a:p xmlns:a="http://schemas.openxmlformats.org/drawingml/2006/main">
            <a:pPr>
              <a:defRPr sz="1800" b="0">
                <a:solidFill>
                  <a:srgbClr val="173F2F"/>
                </a:solidFill>
                <a:latin typeface="Arial"/>
                <a:ea typeface="Arial"/>
                <a:cs typeface="Arial"/>
              </a:defRPr>
            </a:pPr>
            <a:r>
              <a:rPr sz="1800" b="0">
                <a:solidFill>
                  <a:srgbClr val="173F2F"/>
                </a:solidFill>
                <a:latin typeface="Arial"/>
                <a:ea typeface="Arial"/>
                <a:cs typeface="Arial"/>
              </a:rPr>
              <a:t>Reducir el esfuerzo y conservar una revisión antes de guardar.</a:t>
            </a:r>
          </a:p>
        </p:txBody>
      </p:sp>
      <p:sp>
        <p:nvSpPr>
          <p:cNvPr id="12" name="Límite: “5 veces más rápido” y “doble precisión” son de">
            <a:extLst xmlns:a="http://schemas.openxmlformats.org/drawingml/2006/main">
              <a:ext uri="{FF2B5EF4-FFF2-40B4-BE49-F238E27FC236}">
                <a16:creationId xmlns:a16="http://schemas.microsoft.com/office/drawing/2014/main" id="{88F3039C-0B6D-427D-95BB-76DF3A8847D5}"/>
              </a:ext>
            </a:extLst>
          </p:cNvPr>
          <p:cNvSpPr>
            <a:spLocks xmlns:a="http://schemas.openxmlformats.org/drawingml/2006/main" noGrp="1"/>
          </p:cNvSpPr>
          <p:nvPr/>
        </p:nvSpPr>
        <p:spPr>
          <a:xfrm xmlns:a="http://schemas.openxmlformats.org/drawingml/2006/main">
            <a:off x="6934200" y="5143500"/>
            <a:ext cx="466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77161"/>
                </a:solidFill>
                <a:latin typeface="Arial"/>
                <a:ea typeface="Arial"/>
                <a:cs typeface="Arial"/>
              </a:defRPr>
            </a:defPPr>
          </a:lstStyle>
          <a:p xmlns:a="http://schemas.openxmlformats.org/drawingml/2006/main">
            <a:pPr>
              <a:defRPr sz="1575" b="0">
                <a:solidFill>
                  <a:srgbClr val="577161"/>
                </a:solidFill>
                <a:latin typeface="Arial"/>
                <a:ea typeface="Arial"/>
                <a:cs typeface="Arial"/>
              </a:defRPr>
            </a:pPr>
            <a:r>
              <a:rPr sz="1575" b="0">
                <a:solidFill>
                  <a:srgbClr val="577161"/>
                </a:solidFill>
                <a:latin typeface="Arial"/>
                <a:ea typeface="Arial"/>
                <a:cs typeface="Arial"/>
              </a:rPr>
              <a:t>Límite: “5 veces más rápido” y “doble precisión” son declaraciones comerciales sin métricas comparables en esa página.</a:t>
            </a:r>
          </a:p>
        </p:txBody>
      </p:sp>
      <p:sp>
        <p:nvSpPr>
          <p:cNvPr id="13" name="F6 Revisar · F9 Informar · F10 Guardar">
            <a:extLst xmlns:a="http://schemas.openxmlformats.org/drawingml/2006/main">
              <a:ext uri="{FF2B5EF4-FFF2-40B4-BE49-F238E27FC236}">
                <a16:creationId xmlns:a16="http://schemas.microsoft.com/office/drawing/2014/main" id="{D8D2FB73-E6DC-43CD-952E-C25471E9EF5A}"/>
              </a:ext>
            </a:extLst>
          </p:cNvPr>
          <p:cNvSpPr>
            <a:spLocks xmlns:a="http://schemas.openxmlformats.org/drawingml/2006/main" noGrp="1"/>
          </p:cNvSpPr>
          <p:nvPr/>
        </p:nvSpPr>
        <p:spPr>
          <a:xfrm xmlns:a="http://schemas.openxmlformats.org/drawingml/2006/main">
            <a:off x="571500" y="601980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F6 Revisar · F9 Informar · F10 Guardar</a:t>
            </a:r>
          </a:p>
        </p:txBody>
      </p:sp>
    </p:spTree>
    <p:extLst>
      <p:ext uri="{BB962C8B-B14F-4D97-AF65-F5344CB8AC3E}">
        <p14:creationId xmlns:p14="http://schemas.microsoft.com/office/powerpoint/2010/main" val="609009120"/>
      </p:ext>
    </p:extLst>
  </p:cSld>
</p:sld>
</file>

<file path=ppt/slides/slide18.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7" name="Los antecedentes se convierten en decisiones">
            <a:extLst xmlns:a="http://schemas.openxmlformats.org/drawingml/2006/main">
              <a:ext uri="{FF2B5EF4-FFF2-40B4-BE49-F238E27FC236}">
                <a16:creationId xmlns:a16="http://schemas.microsoft.com/office/drawing/2014/main" id="{8C7D51D7-7E66-497F-9DB0-122502F8A33E}"/>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Los antecedentes se convierten en decisiones</a:t>
            </a:r>
          </a:p>
        </p:txBody>
      </p:sp>
      <p:sp>
        <p:nvSpPr>
          <p:cNvPr id="2" name="Síntesis de la revisión y su relación con VDI">
            <a:extLst xmlns:a="http://schemas.openxmlformats.org/drawingml/2006/main">
              <a:ext uri="{FF2B5EF4-FFF2-40B4-BE49-F238E27FC236}">
                <a16:creationId xmlns:a16="http://schemas.microsoft.com/office/drawing/2014/main" id="{C334C4EB-10BD-4827-8FEE-D18E88AC892A}"/>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Síntesis de la revisión y su relación con VDI</a:t>
            </a:r>
          </a:p>
        </p:txBody>
      </p:sp>
      <p:sp>
        <p:nvSpPr>
          <p:cNvPr id="3" name="Fuentes [1], [2], [3], [4], [5], [6], [10], [11], [12],">
            <a:extLst xmlns:a="http://schemas.openxmlformats.org/drawingml/2006/main">
              <a:ext uri="{FF2B5EF4-FFF2-40B4-BE49-F238E27FC236}">
                <a16:creationId xmlns:a16="http://schemas.microsoft.com/office/drawing/2014/main" id="{CEE174DF-455C-480E-B9AC-1AA798D4368A}"/>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[1], [2], [3], [4], [5], [6], [10], [11], [12], [13], [14], [15] · Referencias al final</a:t>
            </a:r>
          </a:p>
        </p:txBody>
      </p:sp>
      <p:sp>
        <p:nvSpPr>
          <p:cNvPr id="4" name="18">
            <a:extLst xmlns:a="http://schemas.openxmlformats.org/drawingml/2006/main">
              <a:ext uri="{FF2B5EF4-FFF2-40B4-BE49-F238E27FC236}">
                <a16:creationId xmlns:a16="http://schemas.microsoft.com/office/drawing/2014/main" id="{E82695D9-D572-4798-B954-1CF6EE6B13D6}"/>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18</a:t>
            </a:r>
          </a:p>
        </p:txBody>
      </p:sp>
      <p:graphicFrame>
        <p:nvGraphicFramePr>
          <p:cNvPr id="5" name="">
            <a:extLst xmlns:a="http://schemas.openxmlformats.org/drawingml/2006/main">
              <a:ext uri="{FF2B5EF4-FFF2-40B4-BE49-F238E27FC236}">
                <a16:creationId xmlns:a16="http://schemas.microsoft.com/office/drawing/2014/main" id="{AE2A927F-B268-42DA-8F9F-51E3659DE163}"/>
              </a:ext>
            </a:extLst>
          </p:cNvPr>
          <p:cNvGraphicFramePr/>
          <p:nvPr/>
        </p:nvGraphicFramePr>
        <p:xfrm>
          <a:off xmlns:a="http://schemas.openxmlformats.org/drawingml/2006/main" x="571500" y="1866900"/>
          <a:ext xmlns:a="http://schemas.openxmlformats.org/drawingml/2006/main" cx="11049000" cy="3314700"/>
        </p:xfrm>
        <a:graphic xmlns:a="http://schemas.openxmlformats.org/drawingml/2006/main">
          <a:graphicData uri="http://schemas.openxmlformats.org/drawingml/2006/table">
            <a:tbl>
              <a:tblPr/>
              <a:tblGrid>
                <a:gridCol w="2571750"/>
                <a:gridCol w="6334125"/>
                <a:gridCol w="2143125"/>
              </a:tblGrid>
              <a:tr h="662940">
                <a:tc>
                  <a:txBody>
                    <a:bodyPr/>
                    <a:lstStyle/>
                    <a:p>
                      <a:r>
                        <a:rPr sz="1950" b="1">
                          <a:solidFill>
                            <a:srgbClr val="FFFFFF"/>
                          </a:solidFill>
                          <a:latin typeface="Arial"/>
                          <a:ea typeface="Arial"/>
                          <a:cs typeface="Arial"/>
                        </a:rPr>
                        <a:t>Evidencia</a:t>
                      </a:r>
                    </a:p>
                  </a:txBody>
                  <a:tcPr marL="114300" marR="114300" marT="19050" marB="19050" anchor="ctr">
                    <a:solidFill>
                      <a:srgbClr val="173F2F"/>
                    </a:solidFill>
                  </a:tcPr>
                </a:tc>
                <a:tc>
                  <a:txBody>
                    <a:bodyPr/>
                    <a:lstStyle/>
                    <a:p>
                      <a:r>
                        <a:rPr sz="1950" b="1">
                          <a:solidFill>
                            <a:srgbClr val="FFFFFF"/>
                          </a:solidFill>
                          <a:latin typeface="Arial"/>
                          <a:ea typeface="Arial"/>
                          <a:cs typeface="Arial"/>
                        </a:rPr>
                        <a:t>Decisión en FoodScan</a:t>
                      </a:r>
                    </a:p>
                  </a:txBody>
                  <a:tcPr marL="114300" marR="114300" marT="19050" marB="19050" anchor="ctr">
                    <a:solidFill>
                      <a:srgbClr val="173F2F"/>
                    </a:solidFill>
                  </a:tcPr>
                </a:tc>
                <a:tc>
                  <a:txBody>
                    <a:bodyPr/>
                    <a:lstStyle/>
                    <a:p>
                      <a:r>
                        <a:rPr sz="1950" b="1">
                          <a:solidFill>
                            <a:srgbClr val="FFFFFF"/>
                          </a:solidFill>
                          <a:latin typeface="Arial"/>
                          <a:ea typeface="Arial"/>
                          <a:cs typeface="Arial"/>
                        </a:rPr>
                        <a:t>Funciones</a:t>
                      </a:r>
                    </a:p>
                  </a:txBody>
                  <a:tcPr marL="114300" marR="114300" marT="19050" marB="19050" anchor="ctr">
                    <a:solidFill>
                      <a:srgbClr val="173F2F"/>
                    </a:solidFill>
                  </a:tcPr>
                </a:tc>
              </a:tr>
              <a:tr h="662940">
                <a:tc>
                  <a:txBody>
                    <a:bodyPr/>
                    <a:lstStyle/>
                    <a:p>
                      <a:r>
                        <a:rPr sz="1950">
                          <a:solidFill>
                            <a:srgbClr val="173F2F"/>
                          </a:solidFill>
                          <a:latin typeface="Arial"/>
                          <a:ea typeface="Arial"/>
                          <a:cs typeface="Arial"/>
                        </a:rPr>
                        <a:t>Artículos científicos</a:t>
                      </a:r>
                    </a:p>
                  </a:txBody>
                  <a:tcPr marL="114300" marR="114300" marT="19050" marB="19050" anchor="ctr">
                    <a:solidFill>
                      <a:srgbClr val="FFFFFF"/>
                    </a:solidFill>
                  </a:tcPr>
                </a:tc>
                <a:tc>
                  <a:txBody>
                    <a:bodyPr/>
                    <a:lstStyle/>
                    <a:p>
                      <a:r>
                        <a:rPr sz="1950">
                          <a:solidFill>
                            <a:srgbClr val="173F2F"/>
                          </a:solidFill>
                          <a:latin typeface="Arial"/>
                          <a:ea typeface="Arial"/>
                          <a:cs typeface="Arial"/>
                        </a:rPr>
                        <a:t>Separar identificación y cantidad; validar las estimaciones.</a:t>
                      </a:r>
                    </a:p>
                  </a:txBody>
                  <a:tcPr marL="114300" marR="114300" marT="19050" marB="19050" anchor="ctr">
                    <a:solidFill>
                      <a:srgbClr val="FFFFFF"/>
                    </a:solidFill>
                  </a:tcPr>
                </a:tc>
                <a:tc>
                  <a:txBody>
                    <a:bodyPr/>
                    <a:lstStyle/>
                    <a:p>
                      <a:r>
                        <a:rPr sz="1950">
                          <a:solidFill>
                            <a:srgbClr val="173F2F"/>
                          </a:solidFill>
                          <a:latin typeface="Arial"/>
                          <a:ea typeface="Arial"/>
                          <a:cs typeface="Arial"/>
                        </a:rPr>
                        <a:t>F3 · F5 · F6</a:t>
                      </a:r>
                    </a:p>
                  </a:txBody>
                  <a:tcPr marL="114300" marR="114300" marT="19050" marB="19050" anchor="ctr">
                    <a:solidFill>
                      <a:srgbClr val="FFFFFF"/>
                    </a:solidFill>
                  </a:tcPr>
                </a:tc>
              </a:tr>
              <a:tr h="662940">
                <a:tc>
                  <a:txBody>
                    <a:bodyPr/>
                    <a:lstStyle/>
                    <a:p>
                      <a:r>
                        <a:rPr sz="1950">
                          <a:solidFill>
                            <a:srgbClr val="173F2F"/>
                          </a:solidFill>
                          <a:latin typeface="Arial"/>
                          <a:ea typeface="Arial"/>
                          <a:cs typeface="Arial"/>
                        </a:rPr>
                        <a:t>Seis patentes</a:t>
                      </a:r>
                    </a:p>
                  </a:txBody>
                  <a:tcPr marL="114300" marR="114300" marT="19050" marB="19050" anchor="ctr">
                    <a:solidFill>
                      <a:srgbClr val="EFF2E8"/>
                    </a:solidFill>
                  </a:tcPr>
                </a:tc>
                <a:tc>
                  <a:txBody>
                    <a:bodyPr/>
                    <a:lstStyle/>
                    <a:p>
                      <a:r>
                        <a:rPr sz="1950">
                          <a:solidFill>
                            <a:srgbClr val="173F2F"/>
                          </a:solidFill>
                          <a:latin typeface="Arial"/>
                          <a:ea typeface="Arial"/>
                          <a:cs typeface="Arial"/>
                        </a:rPr>
                        <a:t>Integrar masa, captura, comunicación y escalamiento.</a:t>
                      </a:r>
                    </a:p>
                  </a:txBody>
                  <a:tcPr marL="114300" marR="114300" marT="19050" marB="19050" anchor="ctr">
                    <a:solidFill>
                      <a:srgbClr val="EFF2E8"/>
                    </a:solidFill>
                  </a:tcPr>
                </a:tc>
                <a:tc>
                  <a:txBody>
                    <a:bodyPr/>
                    <a:lstStyle/>
                    <a:p>
                      <a:r>
                        <a:rPr sz="1950">
                          <a:solidFill>
                            <a:srgbClr val="173F2F"/>
                          </a:solidFill>
                          <a:latin typeface="Arial"/>
                          <a:ea typeface="Arial"/>
                          <a:cs typeface="Arial"/>
                        </a:rPr>
                        <a:t>F2 · F4 · F5 · F8</a:t>
                      </a:r>
                    </a:p>
                  </a:txBody>
                  <a:tcPr marL="114300" marR="114300" marT="19050" marB="19050" anchor="ctr">
                    <a:solidFill>
                      <a:srgbClr val="EFF2E8"/>
                    </a:solidFill>
                  </a:tcPr>
                </a:tc>
              </a:tr>
              <a:tr h="662940">
                <a:tc>
                  <a:txBody>
                    <a:bodyPr/>
                    <a:lstStyle/>
                    <a:p>
                      <a:r>
                        <a:rPr sz="1950">
                          <a:solidFill>
                            <a:srgbClr val="173F2F"/>
                          </a:solidFill>
                          <a:latin typeface="Arial"/>
                          <a:ea typeface="Arial"/>
                          <a:cs typeface="Arial"/>
                        </a:rPr>
                        <a:t>Tesis</a:t>
                      </a:r>
                    </a:p>
                  </a:txBody>
                  <a:tcPr marL="114300" marR="114300" marT="19050" marB="19050" anchor="ctr">
                    <a:solidFill>
                      <a:srgbClr val="FFFFFF"/>
                    </a:solidFill>
                  </a:tcPr>
                </a:tc>
                <a:tc>
                  <a:txBody>
                    <a:bodyPr/>
                    <a:lstStyle/>
                    <a:p>
                      <a:r>
                        <a:rPr sz="1950">
                          <a:solidFill>
                            <a:srgbClr val="173F2F"/>
                          </a:solidFill>
                          <a:latin typeface="Arial"/>
                          <a:ea typeface="Arial"/>
                          <a:cs typeface="Arial"/>
                        </a:rPr>
                        <a:t>Adaptar el contexto y comparar contra pesos de referencia.</a:t>
                      </a:r>
                    </a:p>
                  </a:txBody>
                  <a:tcPr marL="114300" marR="114300" marT="19050" marB="19050" anchor="ctr">
                    <a:solidFill>
                      <a:srgbClr val="FFFFFF"/>
                    </a:solidFill>
                  </a:tcPr>
                </a:tc>
                <a:tc>
                  <a:txBody>
                    <a:bodyPr/>
                    <a:lstStyle/>
                    <a:p>
                      <a:r>
                        <a:rPr sz="1950">
                          <a:solidFill>
                            <a:srgbClr val="173F2F"/>
                          </a:solidFill>
                          <a:latin typeface="Arial"/>
                          <a:ea typeface="Arial"/>
                          <a:cs typeface="Arial"/>
                        </a:rPr>
                        <a:t>F5 · F6 · Calidad</a:t>
                      </a:r>
                    </a:p>
                  </a:txBody>
                  <a:tcPr marL="114300" marR="114300" marT="19050" marB="19050" anchor="ctr">
                    <a:solidFill>
                      <a:srgbClr val="FFFFFF"/>
                    </a:solidFill>
                  </a:tcPr>
                </a:tc>
              </a:tr>
              <a:tr h="662940">
                <a:tc>
                  <a:txBody>
                    <a:bodyPr/>
                    <a:lstStyle/>
                    <a:p>
                      <a:r>
                        <a:rPr sz="1950">
                          <a:solidFill>
                            <a:srgbClr val="173F2F"/>
                          </a:solidFill>
                          <a:latin typeface="Arial"/>
                          <a:ea typeface="Arial"/>
                          <a:cs typeface="Arial"/>
                        </a:rPr>
                        <a:t>Productos comerciales</a:t>
                      </a:r>
                    </a:p>
                  </a:txBody>
                  <a:tcPr marL="114300" marR="114300" marT="19050" marB="19050" anchor="ctr">
                    <a:solidFill>
                      <a:srgbClr val="EFF2E8"/>
                    </a:solidFill>
                  </a:tcPr>
                </a:tc>
                <a:tc>
                  <a:txBody>
                    <a:bodyPr/>
                    <a:lstStyle/>
                    <a:p>
                      <a:r>
                        <a:rPr sz="1950">
                          <a:solidFill>
                            <a:srgbClr val="173F2F"/>
                          </a:solidFill>
                          <a:latin typeface="Arial"/>
                          <a:ea typeface="Arial"/>
                          <a:cs typeface="Arial"/>
                        </a:rPr>
                        <a:t>Registro breve, corrección y seguimiento del usuario.</a:t>
                      </a:r>
                    </a:p>
                  </a:txBody>
                  <a:tcPr marL="114300" marR="114300" marT="19050" marB="19050" anchor="ctr">
                    <a:solidFill>
                      <a:srgbClr val="EFF2E8"/>
                    </a:solidFill>
                  </a:tcPr>
                </a:tc>
                <a:tc>
                  <a:txBody>
                    <a:bodyPr/>
                    <a:lstStyle/>
                    <a:p>
                      <a:r>
                        <a:rPr sz="1950">
                          <a:solidFill>
                            <a:srgbClr val="173F2F"/>
                          </a:solidFill>
                          <a:latin typeface="Arial"/>
                          <a:ea typeface="Arial"/>
                          <a:cs typeface="Arial"/>
                        </a:rPr>
                        <a:t>F6 · F9 · F10</a:t>
                      </a:r>
                    </a:p>
                  </a:txBody>
                  <a:tcPr marL="114300" marR="114300" marT="19050" marB="19050" anchor="ctr">
                    <a:solidFill>
                      <a:srgbClr val="EFF2E8"/>
                    </a:solidFill>
                  </a:tcPr>
                </a:tc>
              </a:tr>
            </a:tbl>
          </a:graphicData>
        </a:graphic>
      </p:graphicFrame>
      <p:sp>
        <p:nvSpPr>
          <p:cNvPr id="6" name="Necesidades → exigencias → funciones → conceptos → eval">
            <a:extLst xmlns:a="http://schemas.openxmlformats.org/drawingml/2006/main">
              <a:ext uri="{FF2B5EF4-FFF2-40B4-BE49-F238E27FC236}">
                <a16:creationId xmlns:a16="http://schemas.microsoft.com/office/drawing/2014/main" id="{13F9AD3B-E126-4A82-A5C6-339C8B22A788}"/>
              </a:ext>
            </a:extLst>
          </p:cNvPr>
          <p:cNvSpPr>
            <a:spLocks xmlns:a="http://schemas.openxmlformats.org/drawingml/2006/main" noGrp="1"/>
          </p:cNvSpPr>
          <p:nvPr/>
        </p:nvSpPr>
        <p:spPr>
          <a:xfrm xmlns:a="http://schemas.openxmlformats.org/drawingml/2006/main">
            <a:off x="571500" y="552450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73F2F"/>
                </a:solidFill>
                <a:latin typeface="Arial"/>
                <a:ea typeface="Arial"/>
                <a:cs typeface="Arial"/>
              </a:defRPr>
            </a:defPPr>
          </a:lstStyle>
          <a:p xmlns:a="http://schemas.openxmlformats.org/drawingml/2006/main">
            <a:pPr>
              <a:defRPr sz="2100" b="1">
                <a:solidFill>
                  <a:srgbClr val="173F2F"/>
                </a:solidFill>
                <a:latin typeface="Arial"/>
                <a:ea typeface="Arial"/>
                <a:cs typeface="Arial"/>
              </a:defRPr>
            </a:pPr>
            <a:r>
              <a:rPr sz="2100" b="1">
                <a:solidFill>
                  <a:srgbClr val="173F2F"/>
                </a:solidFill>
                <a:latin typeface="Arial"/>
                <a:ea typeface="Arial"/>
                <a:cs typeface="Arial"/>
              </a:rPr>
              <a:t>Necesidades → exigencias → funciones → conceptos → evaluación → validación</a:t>
            </a:r>
          </a:p>
        </p:txBody>
      </p:sp>
    </p:spTree>
    <p:extLst>
      <p:ext uri="{BB962C8B-B14F-4D97-AF65-F5344CB8AC3E}">
        <p14:creationId xmlns:p14="http://schemas.microsoft.com/office/powerpoint/2010/main" val="117358046"/>
      </p:ext>
    </p:extLst>
  </p:cSld>
</p:sld>
</file>

<file path=ppt/slides/slide19.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8" name="Lista de exigencias: metas verificables">
            <a:extLst xmlns:a="http://schemas.openxmlformats.org/drawingml/2006/main">
              <a:ext uri="{FF2B5EF4-FFF2-40B4-BE49-F238E27FC236}">
                <a16:creationId xmlns:a16="http://schemas.microsoft.com/office/drawing/2014/main" id="{338E1E17-B6FF-4D2E-8429-3F41D83EF4E9}"/>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Lista de exigencias: metas verificables</a:t>
            </a:r>
          </a:p>
        </p:txBody>
      </p:sp>
      <p:sp>
        <p:nvSpPr>
          <p:cNvPr id="2" name="E = exigencia obligatoria. D = deseable. Lista completa">
            <a:extLst xmlns:a="http://schemas.openxmlformats.org/drawingml/2006/main">
              <a:ext uri="{FF2B5EF4-FFF2-40B4-BE49-F238E27FC236}">
                <a16:creationId xmlns:a16="http://schemas.microsoft.com/office/drawing/2014/main" id="{59EC21E4-BD05-46A2-AB07-5C4215DFFD94}"/>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E = exigencia obligatoria. D = deseable. Lista completa en el anexo.</a:t>
            </a:r>
          </a:p>
        </p:txBody>
      </p:sp>
      <p:sp>
        <p:nvSpPr>
          <p:cNvPr id="3" name="Fuentes [24] · Referencias al final">
            <a:extLst xmlns:a="http://schemas.openxmlformats.org/drawingml/2006/main">
              <a:ext uri="{FF2B5EF4-FFF2-40B4-BE49-F238E27FC236}">
                <a16:creationId xmlns:a16="http://schemas.microsoft.com/office/drawing/2014/main" id="{8B1214C7-BCA2-44A9-8207-28816128544C}"/>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[24] · Referencias al final</a:t>
            </a:r>
          </a:p>
        </p:txBody>
      </p:sp>
      <p:sp>
        <p:nvSpPr>
          <p:cNvPr id="4" name="19">
            <a:extLst xmlns:a="http://schemas.openxmlformats.org/drawingml/2006/main">
              <a:ext uri="{FF2B5EF4-FFF2-40B4-BE49-F238E27FC236}">
                <a16:creationId xmlns:a16="http://schemas.microsoft.com/office/drawing/2014/main" id="{1D5859C8-20FF-41AC-9BAF-55533E15DCAE}"/>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19</a:t>
            </a:r>
          </a:p>
        </p:txBody>
      </p:sp>
      <p:graphicFrame>
        <p:nvGraphicFramePr>
          <p:cNvPr id="5" name="">
            <a:extLst xmlns:a="http://schemas.openxmlformats.org/drawingml/2006/main">
              <a:ext uri="{FF2B5EF4-FFF2-40B4-BE49-F238E27FC236}">
                <a16:creationId xmlns:a16="http://schemas.microsoft.com/office/drawing/2014/main" id="{74047FA1-C6AC-4663-AE5C-CE64907D2A2F}"/>
              </a:ext>
            </a:extLst>
          </p:cNvPr>
          <p:cNvGraphicFramePr/>
          <p:nvPr/>
        </p:nvGraphicFramePr>
        <p:xfrm>
          <a:off xmlns:a="http://schemas.openxmlformats.org/drawingml/2006/main" x="571500" y="1704975"/>
          <a:ext xmlns:a="http://schemas.openxmlformats.org/drawingml/2006/main" cx="11049000" cy="3619500"/>
        </p:xfrm>
        <a:graphic xmlns:a="http://schemas.openxmlformats.org/drawingml/2006/main">
          <a:graphicData uri="http://schemas.openxmlformats.org/drawingml/2006/table">
            <a:tbl>
              <a:tblPr/>
              <a:tblGrid>
                <a:gridCol w="1762125"/>
                <a:gridCol w="5715000"/>
                <a:gridCol w="3571875"/>
              </a:tblGrid>
              <a:tr h="517071">
                <a:tc>
                  <a:txBody>
                    <a:bodyPr/>
                    <a:lstStyle/>
                    <a:p>
                      <a:r>
                        <a:rPr sz="1800" b="1">
                          <a:solidFill>
                            <a:srgbClr val="FFFFFF"/>
                          </a:solidFill>
                          <a:latin typeface="Arial"/>
                          <a:ea typeface="Arial"/>
                          <a:cs typeface="Arial"/>
                        </a:rPr>
                        <a:t>ID</a:t>
                      </a:r>
                    </a:p>
                  </a:txBody>
                  <a:tcPr marL="114300" marR="114300" marT="19050" marB="19050" anchor="ctr">
                    <a:solidFill>
                      <a:srgbClr val="173F2F"/>
                    </a:solidFill>
                  </a:tcPr>
                </a:tc>
                <a:tc>
                  <a:txBody>
                    <a:bodyPr/>
                    <a:lstStyle/>
                    <a:p>
                      <a:r>
                        <a:rPr sz="1800" b="1">
                          <a:solidFill>
                            <a:srgbClr val="FFFFFF"/>
                          </a:solidFill>
                          <a:latin typeface="Arial"/>
                          <a:ea typeface="Arial"/>
                          <a:cs typeface="Arial"/>
                        </a:rPr>
                        <a:t>Exigencia obligatoria</a:t>
                      </a:r>
                    </a:p>
                  </a:txBody>
                  <a:tcPr marL="114300" marR="114300" marT="19050" marB="19050" anchor="ctr">
                    <a:solidFill>
                      <a:srgbClr val="173F2F"/>
                    </a:solidFill>
                  </a:tcPr>
                </a:tc>
                <a:tc>
                  <a:txBody>
                    <a:bodyPr/>
                    <a:lstStyle/>
                    <a:p>
                      <a:r>
                        <a:rPr sz="1800" b="1">
                          <a:solidFill>
                            <a:srgbClr val="FFFFFF"/>
                          </a:solidFill>
                          <a:latin typeface="Arial"/>
                          <a:ea typeface="Arial"/>
                          <a:cs typeface="Arial"/>
                        </a:rPr>
                        <a:t>Comprobación</a:t>
                      </a:r>
                    </a:p>
                  </a:txBody>
                  <a:tcPr marL="114300" marR="114300" marT="19050" marB="19050" anchor="ctr">
                    <a:solidFill>
                      <a:srgbClr val="173F2F"/>
                    </a:solidFill>
                  </a:tcPr>
                </a:tc>
              </a:tr>
              <a:tr h="517071">
                <a:tc>
                  <a:txBody>
                    <a:bodyPr/>
                    <a:lstStyle/>
                    <a:p>
                      <a:r>
                        <a:rPr sz="1800">
                          <a:solidFill>
                            <a:srgbClr val="173F2F"/>
                          </a:solidFill>
                          <a:latin typeface="Arial"/>
                          <a:ea typeface="Arial"/>
                          <a:cs typeface="Arial"/>
                        </a:rPr>
                        <a:t>LE01/09/10</a:t>
                      </a:r>
                    </a:p>
                  </a:txBody>
                  <a:tcPr marL="114300" marR="114300" marT="19050" marB="19050" anchor="ctr">
                    <a:solidFill>
                      <a:srgbClr val="FFFFFF"/>
                    </a:solidFill>
                  </a:tcPr>
                </a:tc>
                <a:tc>
                  <a:txBody>
                    <a:bodyPr/>
                    <a:lstStyle/>
                    <a:p>
                      <a:r>
                        <a:rPr sz="1800">
                          <a:solidFill>
                            <a:srgbClr val="173F2F"/>
                          </a:solidFill>
                          <a:latin typeface="Arial"/>
                          <a:ea typeface="Arial"/>
                          <a:cs typeface="Arial"/>
                        </a:rPr>
                        <a:t>Gramos, kcal, proteínas, carbohidratos y grasas</a:t>
                      </a:r>
                    </a:p>
                  </a:txBody>
                  <a:tcPr marL="114300" marR="114300" marT="19050" marB="19050" anchor="ctr">
                    <a:solidFill>
                      <a:srgbClr val="FFFFFF"/>
                    </a:solidFill>
                  </a:tcPr>
                </a:tc>
                <a:tc>
                  <a:txBody>
                    <a:bodyPr/>
                    <a:lstStyle/>
                    <a:p>
                      <a:r>
                        <a:rPr sz="1800">
                          <a:solidFill>
                            <a:srgbClr val="173F2F"/>
                          </a:solidFill>
                          <a:latin typeface="Arial"/>
                          <a:ea typeface="Arial"/>
                          <a:cs typeface="Arial"/>
                        </a:rPr>
                        <a:t>Caso con cinco salidas</a:t>
                      </a:r>
                    </a:p>
                  </a:txBody>
                  <a:tcPr marL="114300" marR="114300" marT="19050" marB="19050" anchor="ctr">
                    <a:solidFill>
                      <a:srgbClr val="FFFFFF"/>
                    </a:solidFill>
                  </a:tcPr>
                </a:tc>
              </a:tr>
              <a:tr h="517071">
                <a:tc>
                  <a:txBody>
                    <a:bodyPr/>
                    <a:lstStyle/>
                    <a:p>
                      <a:r>
                        <a:rPr sz="1800">
                          <a:solidFill>
                            <a:srgbClr val="173F2F"/>
                          </a:solidFill>
                          <a:latin typeface="Arial"/>
                          <a:ea typeface="Arial"/>
                          <a:cs typeface="Arial"/>
                        </a:rPr>
                        <a:t>LE11/16</a:t>
                      </a:r>
                    </a:p>
                  </a:txBody>
                  <a:tcPr marL="114300" marR="114300" marT="19050" marB="19050" anchor="ctr">
                    <a:solidFill>
                      <a:srgbClr val="EFF2E8"/>
                    </a:solidFill>
                  </a:tcPr>
                </a:tc>
                <a:tc>
                  <a:txBody>
                    <a:bodyPr/>
                    <a:lstStyle/>
                    <a:p>
                      <a:r>
                        <a:rPr sz="1800">
                          <a:solidFill>
                            <a:srgbClr val="173F2F"/>
                          </a:solidFill>
                          <a:latin typeface="Arial"/>
                          <a:ea typeface="Arial"/>
                          <a:cs typeface="Arial"/>
                        </a:rPr>
                        <a:t>Corregir antes de guardar; distinguir origen del dato</a:t>
                      </a:r>
                    </a:p>
                  </a:txBody>
                  <a:tcPr marL="114300" marR="114300" marT="19050" marB="19050" anchor="ctr">
                    <a:solidFill>
                      <a:srgbClr val="EFF2E8"/>
                    </a:solidFill>
                  </a:tcPr>
                </a:tc>
                <a:tc>
                  <a:txBody>
                    <a:bodyPr/>
                    <a:lstStyle/>
                    <a:p>
                      <a:r>
                        <a:rPr sz="1800">
                          <a:solidFill>
                            <a:srgbClr val="173F2F"/>
                          </a:solidFill>
                          <a:latin typeface="Arial"/>
                          <a:ea typeface="Arial"/>
                          <a:cs typeface="Arial"/>
                        </a:rPr>
                        <a:t>Cambiar alimento y cantidad</a:t>
                      </a:r>
                    </a:p>
                  </a:txBody>
                  <a:tcPr marL="114300" marR="114300" marT="19050" marB="19050" anchor="ctr">
                    <a:solidFill>
                      <a:srgbClr val="EFF2E8"/>
                    </a:solidFill>
                  </a:tcPr>
                </a:tc>
              </a:tr>
              <a:tr h="517071">
                <a:tc>
                  <a:txBody>
                    <a:bodyPr/>
                    <a:lstStyle/>
                    <a:p>
                      <a:r>
                        <a:rPr sz="1800">
                          <a:solidFill>
                            <a:srgbClr val="173F2F"/>
                          </a:solidFill>
                          <a:latin typeface="Arial"/>
                          <a:ea typeface="Arial"/>
                          <a:cs typeface="Arial"/>
                        </a:rPr>
                        <a:t>LE13</a:t>
                      </a:r>
                    </a:p>
                  </a:txBody>
                  <a:tcPr marL="114300" marR="114300" marT="19050" marB="19050" anchor="ctr">
                    <a:solidFill>
                      <a:srgbClr val="FFFFFF"/>
                    </a:solidFill>
                  </a:tcPr>
                </a:tc>
                <a:tc>
                  <a:txBody>
                    <a:bodyPr/>
                    <a:lstStyle/>
                    <a:p>
                      <a:r>
                        <a:rPr sz="1800">
                          <a:solidFill>
                            <a:srgbClr val="173F2F"/>
                          </a:solidFill>
                          <a:latin typeface="Arial"/>
                          <a:ea typeface="Arial"/>
                          <a:cs typeface="Arial"/>
                        </a:rPr>
                        <a:t>Error de cálculo ≤ 1 %</a:t>
                      </a:r>
                    </a:p>
                  </a:txBody>
                  <a:tcPr marL="114300" marR="114300" marT="19050" marB="19050" anchor="ctr">
                    <a:solidFill>
                      <a:srgbClr val="FFFFFF"/>
                    </a:solidFill>
                  </a:tcPr>
                </a:tc>
                <a:tc>
                  <a:txBody>
                    <a:bodyPr/>
                    <a:lstStyle/>
                    <a:p>
                      <a:r>
                        <a:rPr sz="1800">
                          <a:solidFill>
                            <a:srgbClr val="173F2F"/>
                          </a:solidFill>
                          <a:latin typeface="Arial"/>
                          <a:ea typeface="Arial"/>
                          <a:cs typeface="Arial"/>
                        </a:rPr>
                        <a:t>Recálculo independiente</a:t>
                      </a:r>
                    </a:p>
                  </a:txBody>
                  <a:tcPr marL="114300" marR="114300" marT="19050" marB="19050" anchor="ctr">
                    <a:solidFill>
                      <a:srgbClr val="FFFFFF"/>
                    </a:solidFill>
                  </a:tcPr>
                </a:tc>
              </a:tr>
              <a:tr h="517071">
                <a:tc>
                  <a:txBody>
                    <a:bodyPr/>
                    <a:lstStyle/>
                    <a:p>
                      <a:r>
                        <a:rPr sz="1800">
                          <a:solidFill>
                            <a:srgbClr val="173F2F"/>
                          </a:solidFill>
                          <a:latin typeface="Arial"/>
                          <a:ea typeface="Arial"/>
                          <a:cs typeface="Arial"/>
                        </a:rPr>
                        <a:t>LE17</a:t>
                      </a:r>
                    </a:p>
                  </a:txBody>
                  <a:tcPr marL="114300" marR="114300" marT="19050" marB="19050" anchor="ctr">
                    <a:solidFill>
                      <a:srgbClr val="EFF2E8"/>
                    </a:solidFill>
                  </a:tcPr>
                </a:tc>
                <a:tc>
                  <a:txBody>
                    <a:bodyPr/>
                    <a:lstStyle/>
                    <a:p>
                      <a:r>
                        <a:rPr sz="1800">
                          <a:solidFill>
                            <a:srgbClr val="173F2F"/>
                          </a:solidFill>
                          <a:latin typeface="Arial"/>
                          <a:ea typeface="Arial"/>
                          <a:cs typeface="Arial"/>
                        </a:rPr>
                        <a:t>Registro ≤ 60 s y ≤ 5 acciones</a:t>
                      </a:r>
                    </a:p>
                  </a:txBody>
                  <a:tcPr marL="114300" marR="114300" marT="19050" marB="19050" anchor="ctr">
                    <a:solidFill>
                      <a:srgbClr val="EFF2E8"/>
                    </a:solidFill>
                  </a:tcPr>
                </a:tc>
                <a:tc>
                  <a:txBody>
                    <a:bodyPr/>
                    <a:lstStyle/>
                    <a:p>
                      <a:r>
                        <a:rPr sz="1800">
                          <a:solidFill>
                            <a:srgbClr val="173F2F"/>
                          </a:solidFill>
                          <a:latin typeface="Arial"/>
                          <a:ea typeface="Arial"/>
                          <a:cs typeface="Arial"/>
                        </a:rPr>
                        <a:t>Cronometraje y conteo</a:t>
                      </a:r>
                    </a:p>
                  </a:txBody>
                  <a:tcPr marL="114300" marR="114300" marT="19050" marB="19050" anchor="ctr">
                    <a:solidFill>
                      <a:srgbClr val="EFF2E8"/>
                    </a:solidFill>
                  </a:tcPr>
                </a:tc>
              </a:tr>
              <a:tr h="517071">
                <a:tc>
                  <a:txBody>
                    <a:bodyPr/>
                    <a:lstStyle/>
                    <a:p>
                      <a:r>
                        <a:rPr sz="1800">
                          <a:solidFill>
                            <a:srgbClr val="173F2F"/>
                          </a:solidFill>
                          <a:latin typeface="Arial"/>
                          <a:ea typeface="Arial"/>
                          <a:cs typeface="Arial"/>
                        </a:rPr>
                        <a:t>LE20</a:t>
                      </a:r>
                    </a:p>
                  </a:txBody>
                  <a:tcPr marL="114300" marR="114300" marT="19050" marB="19050" anchor="ctr">
                    <a:solidFill>
                      <a:srgbClr val="FFFFFF"/>
                    </a:solidFill>
                  </a:tcPr>
                </a:tc>
                <a:tc>
                  <a:txBody>
                    <a:bodyPr/>
                    <a:lstStyle/>
                    <a:p>
                      <a:r>
                        <a:rPr sz="1800">
                          <a:solidFill>
                            <a:srgbClr val="173F2F"/>
                          </a:solidFill>
                          <a:latin typeface="Arial"/>
                          <a:ea typeface="Arial"/>
                          <a:cs typeface="Arial"/>
                        </a:rPr>
                        <a:t>≥ 30 porciones; error medio de cantidad ≤ 20 %</a:t>
                      </a:r>
                    </a:p>
                  </a:txBody>
                  <a:tcPr marL="114300" marR="114300" marT="19050" marB="19050" anchor="ctr">
                    <a:solidFill>
                      <a:srgbClr val="FFFFFF"/>
                    </a:solidFill>
                  </a:tcPr>
                </a:tc>
                <a:tc>
                  <a:txBody>
                    <a:bodyPr/>
                    <a:lstStyle/>
                    <a:p>
                      <a:r>
                        <a:rPr sz="1800">
                          <a:solidFill>
                            <a:srgbClr val="173F2F"/>
                          </a:solidFill>
                          <a:latin typeface="Arial"/>
                          <a:ea typeface="Arial"/>
                          <a:cs typeface="Arial"/>
                        </a:rPr>
                        <a:t>Pesajes de referencia</a:t>
                      </a:r>
                    </a:p>
                  </a:txBody>
                  <a:tcPr marL="114300" marR="114300" marT="19050" marB="19050" anchor="ctr">
                    <a:solidFill>
                      <a:srgbClr val="FFFFFF"/>
                    </a:solidFill>
                  </a:tcPr>
                </a:tc>
              </a:tr>
              <a:tr h="517071">
                <a:tc>
                  <a:txBody>
                    <a:bodyPr/>
                    <a:lstStyle/>
                    <a:p>
                      <a:r>
                        <a:rPr sz="1800">
                          <a:solidFill>
                            <a:srgbClr val="173F2F"/>
                          </a:solidFill>
                          <a:latin typeface="Arial"/>
                          <a:ea typeface="Arial"/>
                          <a:cs typeface="Arial"/>
                        </a:rPr>
                        <a:t>LE25</a:t>
                      </a:r>
                    </a:p>
                  </a:txBody>
                  <a:tcPr marL="114300" marR="114300" marT="19050" marB="19050" anchor="ctr">
                    <a:solidFill>
                      <a:srgbClr val="EFF2E8"/>
                    </a:solidFill>
                  </a:tcPr>
                </a:tc>
                <a:tc>
                  <a:txBody>
                    <a:bodyPr/>
                    <a:lstStyle/>
                    <a:p>
                      <a:r>
                        <a:rPr sz="1800">
                          <a:solidFill>
                            <a:srgbClr val="173F2F"/>
                          </a:solidFill>
                          <a:latin typeface="Arial"/>
                          <a:ea typeface="Arial"/>
                          <a:cs typeface="Arial"/>
                        </a:rPr>
                        <a:t>Intercambiar cantidad, estado y comandos</a:t>
                      </a:r>
                    </a:p>
                  </a:txBody>
                  <a:tcPr marL="114300" marR="114300" marT="19050" marB="19050" anchor="ctr">
                    <a:solidFill>
                      <a:srgbClr val="EFF2E8"/>
                    </a:solidFill>
                  </a:tcPr>
                </a:tc>
                <a:tc>
                  <a:txBody>
                    <a:bodyPr/>
                    <a:lstStyle/>
                    <a:p>
                      <a:r>
                        <a:rPr sz="1800">
                          <a:solidFill>
                            <a:srgbClr val="173F2F"/>
                          </a:solidFill>
                          <a:latin typeface="Arial"/>
                          <a:ea typeface="Arial"/>
                          <a:cs typeface="Arial"/>
                        </a:rPr>
                        <a:t>Prueba de enlace físico</a:t>
                      </a:r>
                    </a:p>
                  </a:txBody>
                  <a:tcPr marL="114300" marR="114300" marT="19050" marB="19050" anchor="ctr">
                    <a:solidFill>
                      <a:srgbClr val="EFF2E8"/>
                    </a:solidFill>
                  </a:tcPr>
                </a:tc>
              </a:tr>
            </a:tbl>
          </a:graphicData>
        </a:graphic>
      </p:graphicFrame>
      <p:sp>
        <p:nvSpPr>
          <p:cNvPr id="6" name="Deseables: fabricación local, historial, mantenimiento ">
            <a:extLst xmlns:a="http://schemas.openxmlformats.org/drawingml/2006/main">
              <a:ext uri="{FF2B5EF4-FFF2-40B4-BE49-F238E27FC236}">
                <a16:creationId xmlns:a16="http://schemas.microsoft.com/office/drawing/2014/main" id="{0DB9C4ED-4B2C-491C-87BD-EDFF30D35D68}"/>
              </a:ext>
            </a:extLst>
          </p:cNvPr>
          <p:cNvSpPr>
            <a:spLocks xmlns:a="http://schemas.openxmlformats.org/drawingml/2006/main" noGrp="1"/>
          </p:cNvSpPr>
          <p:nvPr/>
        </p:nvSpPr>
        <p:spPr>
          <a:xfrm xmlns:a="http://schemas.openxmlformats.org/drawingml/2006/main">
            <a:off x="571500" y="56007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77161"/>
                </a:solidFill>
                <a:latin typeface="Arial"/>
                <a:ea typeface="Arial"/>
                <a:cs typeface="Arial"/>
              </a:defRPr>
            </a:defPPr>
          </a:lstStyle>
          <a:p xmlns:a="http://schemas.openxmlformats.org/drawingml/2006/main">
            <a:pPr>
              <a:defRPr sz="1875" b="0">
                <a:solidFill>
                  <a:srgbClr val="577161"/>
                </a:solidFill>
                <a:latin typeface="Arial"/>
                <a:ea typeface="Arial"/>
                <a:cs typeface="Arial"/>
              </a:defRPr>
            </a:pPr>
            <a:r>
              <a:rPr sz="1875" b="0">
                <a:solidFill>
                  <a:srgbClr val="577161"/>
                </a:solidFill>
                <a:latin typeface="Arial"/>
                <a:ea typeface="Arial"/>
                <a:cs typeface="Arial"/>
              </a:rPr>
              <a:t>Deseables: fabricación local, historial, mantenimiento y costo ≤ S/ 500.</a:t>
            </a:r>
          </a:p>
        </p:txBody>
      </p:sp>
      <p:sp>
        <p:nvSpPr>
          <p:cNvPr id="7" name="Rango actual de la app: 10–3000 g. Integración y valida">
            <a:extLst xmlns:a="http://schemas.openxmlformats.org/drawingml/2006/main">
              <a:ext uri="{FF2B5EF4-FFF2-40B4-BE49-F238E27FC236}">
                <a16:creationId xmlns:a16="http://schemas.microsoft.com/office/drawing/2014/main" id="{E456C86A-3A80-4F6E-8B6D-271FD05A73C4}"/>
              </a:ext>
            </a:extLst>
          </p:cNvPr>
          <p:cNvSpPr>
            <a:spLocks xmlns:a="http://schemas.openxmlformats.org/drawingml/2006/main" noGrp="1"/>
          </p:cNvSpPr>
          <p:nvPr/>
        </p:nvSpPr>
        <p:spPr>
          <a:xfrm xmlns:a="http://schemas.openxmlformats.org/drawingml/2006/main">
            <a:off x="571500" y="6019800"/>
            <a:ext cx="1104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Rango actual de la app: 10–3000 g. Integración y validación de hardware pendientes.</a:t>
            </a:r>
          </a:p>
        </p:txBody>
      </p:sp>
    </p:spTree>
    <p:extLst>
      <p:ext uri="{BB962C8B-B14F-4D97-AF65-F5344CB8AC3E}">
        <p14:creationId xmlns:p14="http://schemas.microsoft.com/office/powerpoint/2010/main" val="1569590781"/>
      </p:ext>
    </p:extLst>
  </p:cSld>
</p:sld>
</file>

<file path=ppt/slides/slide20.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24" name="Caja negra del sistema">
            <a:extLst xmlns:a="http://schemas.openxmlformats.org/drawingml/2006/main">
              <a:ext uri="{FF2B5EF4-FFF2-40B4-BE49-F238E27FC236}">
                <a16:creationId xmlns:a16="http://schemas.microsoft.com/office/drawing/2014/main" id="{F341C72D-1894-41CA-B26C-FCA2F8EB1EE6}"/>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Caja negra del sistema</a:t>
            </a:r>
          </a:p>
        </p:txBody>
      </p:sp>
      <p:sp>
        <p:nvSpPr>
          <p:cNvPr id="2" name="Transformar alimento, cantidad y referencia en informac">
            <a:extLst xmlns:a="http://schemas.openxmlformats.org/drawingml/2006/main">
              <a:ext uri="{FF2B5EF4-FFF2-40B4-BE49-F238E27FC236}">
                <a16:creationId xmlns:a16="http://schemas.microsoft.com/office/drawing/2014/main" id="{2CB7293B-6B27-4F57-AF44-C7430F700DCB}"/>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Transformar alimento, cantidad y referencia en información nutricional trazable</a:t>
            </a:r>
          </a:p>
        </p:txBody>
      </p:sp>
      <p:sp>
        <p:nvSpPr>
          <p:cNvPr id="3" name="Fuentes [24] · Referencias al final">
            <a:extLst xmlns:a="http://schemas.openxmlformats.org/drawingml/2006/main">
              <a:ext uri="{FF2B5EF4-FFF2-40B4-BE49-F238E27FC236}">
                <a16:creationId xmlns:a16="http://schemas.microsoft.com/office/drawing/2014/main" id="{2DB8CAB2-7B4F-4655-8F02-259DE0A0E506}"/>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[24] · Referencias al final</a:t>
            </a:r>
          </a:p>
        </p:txBody>
      </p:sp>
      <p:sp>
        <p:nvSpPr>
          <p:cNvPr id="4" name="20">
            <a:extLst xmlns:a="http://schemas.openxmlformats.org/drawingml/2006/main">
              <a:ext uri="{FF2B5EF4-FFF2-40B4-BE49-F238E27FC236}">
                <a16:creationId xmlns:a16="http://schemas.microsoft.com/office/drawing/2014/main" id="{F5C2886A-9EA2-478B-AE27-C33366A697FD}"/>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20</a:t>
            </a:r>
          </a:p>
        </p:txBody>
      </p:sp>
      <p:sp>
        <p:nvSpPr>
          <p:cNvPr id="5" name="">
            <a:extLst xmlns:a="http://schemas.openxmlformats.org/drawingml/2006/main">
              <a:ext uri="{FF2B5EF4-FFF2-40B4-BE49-F238E27FC236}">
                <a16:creationId xmlns:a16="http://schemas.microsoft.com/office/drawing/2014/main" id="{332AFFCA-8D35-49E1-9CD1-CA52D0F63942}"/>
              </a:ext>
            </a:extLst>
          </p:cNvPr>
          <p:cNvSpPr>
            <a:spLocks xmlns:a="http://schemas.openxmlformats.org/drawingml/2006/main" noGrp="1"/>
          </p:cNvSpPr>
          <p:nvPr/>
        </p:nvSpPr>
        <p:spPr>
          <a:xfrm xmlns:a="http://schemas.openxmlformats.org/drawingml/2006/main">
            <a:off x="4219575" y="2257425"/>
            <a:ext cx="3714750" cy="2657475"/>
          </a:xfrm>
          <a:prstGeom xmlns:a="http://schemas.openxmlformats.org/drawingml/2006/main" prst="rect">
            <a:avLst/>
          </a:prstGeom>
          <a:solidFill xmlns:a="http://schemas.openxmlformats.org/drawingml/2006/main">
            <a:srgbClr val="173F2F"/>
          </a:solidFill>
          <a:ln xmlns:a="http://schemas.openxmlformats.org/drawingml/2006/main" w="9525">
            <a:solidFill>
              <a:srgbClr val="CED7C8"/>
            </a:solidFill>
          </a:ln>
        </p:spPr>
        <p:txBody>
          <a:bodyPr xmlns:a="http://schemas.openxmlformats.org/drawingml/2006/main" lIns="133350" tIns="133350" rIns="133350" bIns="133350"/>
          <a:lstStyle xmlns:a="http://schemas.openxmlformats.org/drawingml/2006/main">
            <a:defPPr>
              <a:defRPr sz="2250" b="1">
                <a:solidFill>
                  <a:srgbClr val="FFFFFF"/>
                </a:solidFill>
                <a:latin typeface="Arial"/>
                <a:ea typeface="Arial"/>
                <a:cs typeface="Arial"/>
              </a:defRPr>
            </a:defPPr>
          </a:lstStyle>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FoodScan</a:t>
            </a:r>
          </a:p>
          <a:p xmlns:a="http://schemas.openxmlformats.org/drawingml/2006/main">
            <a:r>
              <a:t/>
            </a:r>
          </a:p>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Prototipo de captura</a:t>
            </a:r>
          </a:p>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y pesaje + aplicativo</a:t>
            </a:r>
          </a:p>
        </p:txBody>
      </p:sp>
      <p:sp>
        <p:nvSpPr>
          <p:cNvPr id="6" name="Entradas">
            <a:extLst xmlns:a="http://schemas.openxmlformats.org/drawingml/2006/main">
              <a:ext uri="{FF2B5EF4-FFF2-40B4-BE49-F238E27FC236}">
                <a16:creationId xmlns:a16="http://schemas.microsoft.com/office/drawing/2014/main" id="{5675C5F1-EF54-44B3-9863-AA52AFD234FE}"/>
              </a:ext>
            </a:extLst>
          </p:cNvPr>
          <p:cNvSpPr>
            <a:spLocks xmlns:a="http://schemas.openxmlformats.org/drawingml/2006/main" noGrp="1"/>
          </p:cNvSpPr>
          <p:nvPr/>
        </p:nvSpPr>
        <p:spPr>
          <a:xfrm xmlns:a="http://schemas.openxmlformats.org/drawingml/2006/main">
            <a:off x="571500" y="1781175"/>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3F2F"/>
                </a:solidFill>
                <a:latin typeface="Arial"/>
                <a:ea typeface="Arial"/>
                <a:cs typeface="Arial"/>
              </a:defRPr>
            </a:defPPr>
          </a:lstStyle>
          <a:p xmlns:a="http://schemas.openxmlformats.org/drawingml/2006/main">
            <a:pPr>
              <a:defRPr sz="2175" b="1">
                <a:solidFill>
                  <a:srgbClr val="173F2F"/>
                </a:solidFill>
                <a:latin typeface="Arial"/>
                <a:ea typeface="Arial"/>
                <a:cs typeface="Arial"/>
              </a:defRPr>
            </a:pPr>
            <a:r>
              <a:rPr sz="2175" b="1">
                <a:solidFill>
                  <a:srgbClr val="173F2F"/>
                </a:solidFill>
                <a:latin typeface="Arial"/>
                <a:ea typeface="Arial"/>
                <a:cs typeface="Arial"/>
              </a:rPr>
              <a:t>Entradas</a:t>
            </a:r>
          </a:p>
        </p:txBody>
      </p:sp>
      <p:sp>
        <p:nvSpPr>
          <p:cNvPr id="7" name="Salidas">
            <a:extLst xmlns:a="http://schemas.openxmlformats.org/drawingml/2006/main">
              <a:ext uri="{FF2B5EF4-FFF2-40B4-BE49-F238E27FC236}">
                <a16:creationId xmlns:a16="http://schemas.microsoft.com/office/drawing/2014/main" id="{D158615B-DD98-4890-9D16-293BB6F41154}"/>
              </a:ext>
            </a:extLst>
          </p:cNvPr>
          <p:cNvSpPr>
            <a:spLocks xmlns:a="http://schemas.openxmlformats.org/drawingml/2006/main" noGrp="1"/>
          </p:cNvSpPr>
          <p:nvPr/>
        </p:nvSpPr>
        <p:spPr>
          <a:xfrm xmlns:a="http://schemas.openxmlformats.org/drawingml/2006/main">
            <a:off x="8515350" y="1781175"/>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3F2F"/>
                </a:solidFill>
                <a:latin typeface="Arial"/>
                <a:ea typeface="Arial"/>
                <a:cs typeface="Arial"/>
              </a:defRPr>
            </a:defPPr>
          </a:lstStyle>
          <a:p xmlns:a="http://schemas.openxmlformats.org/drawingml/2006/main">
            <a:pPr>
              <a:defRPr sz="2175" b="1">
                <a:solidFill>
                  <a:srgbClr val="173F2F"/>
                </a:solidFill>
                <a:latin typeface="Arial"/>
                <a:ea typeface="Arial"/>
                <a:cs typeface="Arial"/>
              </a:defRPr>
            </a:pPr>
            <a:r>
              <a:rPr sz="2175" b="1">
                <a:solidFill>
                  <a:srgbClr val="173F2F"/>
                </a:solidFill>
                <a:latin typeface="Arial"/>
                <a:ea typeface="Arial"/>
                <a:cs typeface="Arial"/>
              </a:rPr>
              <a:t>Salidas</a:t>
            </a:r>
          </a:p>
        </p:txBody>
      </p:sp>
      <p:sp>
        <p:nvSpPr>
          <p:cNvPr id="8" name="Materia">
            <a:extLst xmlns:a="http://schemas.openxmlformats.org/drawingml/2006/main">
              <a:ext uri="{FF2B5EF4-FFF2-40B4-BE49-F238E27FC236}">
                <a16:creationId xmlns:a16="http://schemas.microsoft.com/office/drawing/2014/main" id="{704A3245-E446-430F-A6EB-691BB74A6879}"/>
              </a:ext>
            </a:extLst>
          </p:cNvPr>
          <p:cNvSpPr>
            <a:spLocks xmlns:a="http://schemas.openxmlformats.org/drawingml/2006/main" noGrp="1"/>
          </p:cNvSpPr>
          <p:nvPr/>
        </p:nvSpPr>
        <p:spPr>
          <a:xfrm xmlns:a="http://schemas.openxmlformats.org/drawingml/2006/main">
            <a:off x="571500" y="2457450"/>
            <a:ext cx="285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Materia</a:t>
            </a:r>
          </a:p>
        </p:txBody>
      </p:sp>
      <p:sp>
        <p:nvSpPr>
          <p:cNvPr id="9" name="Porción + recipiente">
            <a:extLst xmlns:a="http://schemas.openxmlformats.org/drawingml/2006/main">
              <a:ext uri="{FF2B5EF4-FFF2-40B4-BE49-F238E27FC236}">
                <a16:creationId xmlns:a16="http://schemas.microsoft.com/office/drawing/2014/main" id="{91A7294D-92CC-46CC-9767-1B28DF93EF7C}"/>
              </a:ext>
            </a:extLst>
          </p:cNvPr>
          <p:cNvSpPr>
            <a:spLocks xmlns:a="http://schemas.openxmlformats.org/drawingml/2006/main" noGrp="1"/>
          </p:cNvSpPr>
          <p:nvPr/>
        </p:nvSpPr>
        <p:spPr>
          <a:xfrm xmlns:a="http://schemas.openxmlformats.org/drawingml/2006/main">
            <a:off x="571500" y="2752725"/>
            <a:ext cx="333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Porción + recipiente</a:t>
            </a:r>
          </a:p>
        </p:txBody>
      </p:sp>
      <p:sp>
        <p:nvSpPr>
          <p:cNvPr id="10" name="Misma porción">
            <a:extLst xmlns:a="http://schemas.openxmlformats.org/drawingml/2006/main">
              <a:ext uri="{FF2B5EF4-FFF2-40B4-BE49-F238E27FC236}">
                <a16:creationId xmlns:a16="http://schemas.microsoft.com/office/drawing/2014/main" id="{596E3EB9-5F94-4093-A255-EB8C5F802A7C}"/>
              </a:ext>
            </a:extLst>
          </p:cNvPr>
          <p:cNvSpPr>
            <a:spLocks xmlns:a="http://schemas.openxmlformats.org/drawingml/2006/main" noGrp="1"/>
          </p:cNvSpPr>
          <p:nvPr/>
        </p:nvSpPr>
        <p:spPr>
          <a:xfrm xmlns:a="http://schemas.openxmlformats.org/drawingml/2006/main">
            <a:off x="8496300" y="2667000"/>
            <a:ext cx="31242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Misma porción</a:t>
            </a:r>
          </a:p>
        </p:txBody>
      </p:sp>
      <p:cxnSp>
        <p:nvCxnSpPr>
          <p:cNvPr id="11" name="">
            <a:extLst xmlns:a="http://schemas.openxmlformats.org/drawingml/2006/main">
              <a:ext uri="{FF2B5EF4-FFF2-40B4-BE49-F238E27FC236}">
                <a16:creationId xmlns:a16="http://schemas.microsoft.com/office/drawing/2014/main" id="{041B2907-AF1E-4547-8607-2BA3DFEE72A7}"/>
              </a:ext>
            </a:extLst>
          </p:cNvPr>
          <p:cNvCxnSpPr/>
          <p:nvPr/>
        </p:nvCxnSpPr>
        <p:spPr>
          <a:xfrm xmlns:a="http://schemas.openxmlformats.org/drawingml/2006/main">
            <a:off x="3381375" y="2962275"/>
            <a:ext cx="704850" cy="0"/>
          </a:xfrm>
          <a:prstGeom xmlns:a="http://schemas.openxmlformats.org/drawingml/2006/main" prst="straightConnector1">
            <a:avLst/>
          </a:prstGeom>
          <a:ln xmlns:a="http://schemas.openxmlformats.org/drawingml/2006/main" w="23813">
            <a:solidFill>
              <a:srgbClr val="577161"/>
            </a:solidFill>
            <a:tailEnd type="triangle" w="med" len="med"/>
          </a:ln>
        </p:spPr>
      </p:cxnSp>
      <p:cxnSp>
        <p:nvCxnSpPr>
          <p:cNvPr id="12" name="">
            <a:extLst xmlns:a="http://schemas.openxmlformats.org/drawingml/2006/main">
              <a:ext uri="{FF2B5EF4-FFF2-40B4-BE49-F238E27FC236}">
                <a16:creationId xmlns:a16="http://schemas.microsoft.com/office/drawing/2014/main" id="{C1A0A641-B165-4A1A-9817-440A1E5E03BE}"/>
              </a:ext>
            </a:extLst>
          </p:cNvPr>
          <p:cNvCxnSpPr/>
          <p:nvPr/>
        </p:nvCxnSpPr>
        <p:spPr>
          <a:xfrm xmlns:a="http://schemas.openxmlformats.org/drawingml/2006/main">
            <a:off x="8077200" y="2962275"/>
            <a:ext cx="304800" cy="0"/>
          </a:xfrm>
          <a:prstGeom xmlns:a="http://schemas.openxmlformats.org/drawingml/2006/main" prst="straightConnector1">
            <a:avLst/>
          </a:prstGeom>
          <a:ln xmlns:a="http://schemas.openxmlformats.org/drawingml/2006/main" w="23813">
            <a:solidFill>
              <a:srgbClr val="577161"/>
            </a:solidFill>
            <a:tailEnd type="triangle" w="med" len="med"/>
          </a:ln>
        </p:spPr>
      </p:cxnSp>
      <p:sp>
        <p:nvSpPr>
          <p:cNvPr id="13" name="Energía">
            <a:extLst xmlns:a="http://schemas.openxmlformats.org/drawingml/2006/main">
              <a:ext uri="{FF2B5EF4-FFF2-40B4-BE49-F238E27FC236}">
                <a16:creationId xmlns:a16="http://schemas.microsoft.com/office/drawing/2014/main" id="{E4D99E65-AEB3-4438-AD2B-F6D58CDCCDE1}"/>
              </a:ext>
            </a:extLst>
          </p:cNvPr>
          <p:cNvSpPr>
            <a:spLocks xmlns:a="http://schemas.openxmlformats.org/drawingml/2006/main" noGrp="1"/>
          </p:cNvSpPr>
          <p:nvPr/>
        </p:nvSpPr>
        <p:spPr>
          <a:xfrm xmlns:a="http://schemas.openxmlformats.org/drawingml/2006/main">
            <a:off x="571500" y="3552825"/>
            <a:ext cx="285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Energía</a:t>
            </a:r>
          </a:p>
        </p:txBody>
      </p:sp>
      <p:sp>
        <p:nvSpPr>
          <p:cNvPr id="14" name="Electricidad">
            <a:extLst xmlns:a="http://schemas.openxmlformats.org/drawingml/2006/main">
              <a:ext uri="{FF2B5EF4-FFF2-40B4-BE49-F238E27FC236}">
                <a16:creationId xmlns:a16="http://schemas.microsoft.com/office/drawing/2014/main" id="{C7E58C47-D60D-4842-A509-2507E7437A11}"/>
              </a:ext>
            </a:extLst>
          </p:cNvPr>
          <p:cNvSpPr>
            <a:spLocks xmlns:a="http://schemas.openxmlformats.org/drawingml/2006/main" noGrp="1"/>
          </p:cNvSpPr>
          <p:nvPr/>
        </p:nvSpPr>
        <p:spPr>
          <a:xfrm xmlns:a="http://schemas.openxmlformats.org/drawingml/2006/main">
            <a:off x="571500" y="3848100"/>
            <a:ext cx="333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Electricidad</a:t>
            </a:r>
          </a:p>
        </p:txBody>
      </p:sp>
      <p:sp>
        <p:nvSpPr>
          <p:cNvPr id="15" name="Consumo + calor">
            <a:extLst xmlns:a="http://schemas.openxmlformats.org/drawingml/2006/main">
              <a:ext uri="{FF2B5EF4-FFF2-40B4-BE49-F238E27FC236}">
                <a16:creationId xmlns:a16="http://schemas.microsoft.com/office/drawing/2014/main" id="{F2E0B3D3-5D7B-4EC1-97C7-C141060E6202}"/>
              </a:ext>
            </a:extLst>
          </p:cNvPr>
          <p:cNvSpPr>
            <a:spLocks xmlns:a="http://schemas.openxmlformats.org/drawingml/2006/main" noGrp="1"/>
          </p:cNvSpPr>
          <p:nvPr/>
        </p:nvSpPr>
        <p:spPr>
          <a:xfrm xmlns:a="http://schemas.openxmlformats.org/drawingml/2006/main">
            <a:off x="8496300" y="3762375"/>
            <a:ext cx="31242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Consumo + calor</a:t>
            </a:r>
          </a:p>
        </p:txBody>
      </p:sp>
      <p:cxnSp>
        <p:nvCxnSpPr>
          <p:cNvPr id="16" name="">
            <a:extLst xmlns:a="http://schemas.openxmlformats.org/drawingml/2006/main">
              <a:ext uri="{FF2B5EF4-FFF2-40B4-BE49-F238E27FC236}">
                <a16:creationId xmlns:a16="http://schemas.microsoft.com/office/drawing/2014/main" id="{56E094A0-9356-47AC-9956-BF50615925B5}"/>
              </a:ext>
            </a:extLst>
          </p:cNvPr>
          <p:cNvCxnSpPr/>
          <p:nvPr/>
        </p:nvCxnSpPr>
        <p:spPr>
          <a:xfrm xmlns:a="http://schemas.openxmlformats.org/drawingml/2006/main">
            <a:off x="3381375" y="4057650"/>
            <a:ext cx="704850" cy="0"/>
          </a:xfrm>
          <a:prstGeom xmlns:a="http://schemas.openxmlformats.org/drawingml/2006/main" prst="straightConnector1">
            <a:avLst/>
          </a:prstGeom>
          <a:ln xmlns:a="http://schemas.openxmlformats.org/drawingml/2006/main" w="23813">
            <a:solidFill>
              <a:srgbClr val="577161"/>
            </a:solidFill>
            <a:tailEnd type="triangle" w="med" len="med"/>
          </a:ln>
        </p:spPr>
      </p:cxnSp>
      <p:cxnSp>
        <p:nvCxnSpPr>
          <p:cNvPr id="17" name="">
            <a:extLst xmlns:a="http://schemas.openxmlformats.org/drawingml/2006/main">
              <a:ext uri="{FF2B5EF4-FFF2-40B4-BE49-F238E27FC236}">
                <a16:creationId xmlns:a16="http://schemas.microsoft.com/office/drawing/2014/main" id="{0AD601C2-3DB2-4B89-950A-08D703836E8F}"/>
              </a:ext>
            </a:extLst>
          </p:cNvPr>
          <p:cNvCxnSpPr/>
          <p:nvPr/>
        </p:nvCxnSpPr>
        <p:spPr>
          <a:xfrm xmlns:a="http://schemas.openxmlformats.org/drawingml/2006/main">
            <a:off x="8077200" y="4057650"/>
            <a:ext cx="304800" cy="0"/>
          </a:xfrm>
          <a:prstGeom xmlns:a="http://schemas.openxmlformats.org/drawingml/2006/main" prst="straightConnector1">
            <a:avLst/>
          </a:prstGeom>
          <a:ln xmlns:a="http://schemas.openxmlformats.org/drawingml/2006/main" w="23813">
            <a:solidFill>
              <a:srgbClr val="577161"/>
            </a:solidFill>
            <a:tailEnd type="triangle" w="med" len="med"/>
          </a:ln>
        </p:spPr>
      </p:cxnSp>
      <p:sp>
        <p:nvSpPr>
          <p:cNvPr id="18" name="Señales">
            <a:extLst xmlns:a="http://schemas.openxmlformats.org/drawingml/2006/main">
              <a:ext uri="{FF2B5EF4-FFF2-40B4-BE49-F238E27FC236}">
                <a16:creationId xmlns:a16="http://schemas.microsoft.com/office/drawing/2014/main" id="{6E1E794E-8B94-4CCD-A7F0-F2F35EDD7826}"/>
              </a:ext>
            </a:extLst>
          </p:cNvPr>
          <p:cNvSpPr>
            <a:spLocks xmlns:a="http://schemas.openxmlformats.org/drawingml/2006/main" noGrp="1"/>
          </p:cNvSpPr>
          <p:nvPr/>
        </p:nvSpPr>
        <p:spPr>
          <a:xfrm xmlns:a="http://schemas.openxmlformats.org/drawingml/2006/main">
            <a:off x="571500" y="4648200"/>
            <a:ext cx="285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Señales</a:t>
            </a:r>
          </a:p>
        </p:txBody>
      </p:sp>
      <p:sp>
        <p:nvSpPr>
          <p:cNvPr id="19" name="Foto + masa + comandos&#10;Referencia por 100 g">
            <a:extLst xmlns:a="http://schemas.openxmlformats.org/drawingml/2006/main">
              <a:ext uri="{FF2B5EF4-FFF2-40B4-BE49-F238E27FC236}">
                <a16:creationId xmlns:a16="http://schemas.microsoft.com/office/drawing/2014/main" id="{ECB338C4-A4E1-448D-B6B3-34ABA902474D}"/>
              </a:ext>
            </a:extLst>
          </p:cNvPr>
          <p:cNvSpPr>
            <a:spLocks xmlns:a="http://schemas.openxmlformats.org/drawingml/2006/main" noGrp="1"/>
          </p:cNvSpPr>
          <p:nvPr/>
        </p:nvSpPr>
        <p:spPr>
          <a:xfrm xmlns:a="http://schemas.openxmlformats.org/drawingml/2006/main">
            <a:off x="571500" y="4943475"/>
            <a:ext cx="333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Foto + masa + comandos</a:t>
            </a:r>
          </a:p>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Referencia por 100 g</a:t>
            </a:r>
          </a:p>
        </p:txBody>
      </p:sp>
      <p:sp>
        <p:nvSpPr>
          <p:cNvPr id="20" name="g + kcal + macros&#10;Fuente + estado + registro">
            <a:extLst xmlns:a="http://schemas.openxmlformats.org/drawingml/2006/main">
              <a:ext uri="{FF2B5EF4-FFF2-40B4-BE49-F238E27FC236}">
                <a16:creationId xmlns:a16="http://schemas.microsoft.com/office/drawing/2014/main" id="{20F0531F-16DE-4138-A7ED-FE86B34537D2}"/>
              </a:ext>
            </a:extLst>
          </p:cNvPr>
          <p:cNvSpPr>
            <a:spLocks xmlns:a="http://schemas.openxmlformats.org/drawingml/2006/main" noGrp="1"/>
          </p:cNvSpPr>
          <p:nvPr/>
        </p:nvSpPr>
        <p:spPr>
          <a:xfrm xmlns:a="http://schemas.openxmlformats.org/drawingml/2006/main">
            <a:off x="8496300" y="4857750"/>
            <a:ext cx="31242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73F2F"/>
                </a:solidFill>
                <a:latin typeface="Arial"/>
                <a:ea typeface="Arial"/>
                <a:cs typeface="Arial"/>
              </a:defRPr>
            </a:defPPr>
          </a:lstStyle>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g + kcal + macros</a:t>
            </a:r>
          </a:p>
          <a:p xmlns:a="http://schemas.openxmlformats.org/drawingml/2006/main">
            <a:pPr>
              <a:defRPr sz="1875" b="0">
                <a:solidFill>
                  <a:srgbClr val="173F2F"/>
                </a:solidFill>
                <a:latin typeface="Arial"/>
                <a:ea typeface="Arial"/>
                <a:cs typeface="Arial"/>
              </a:defRPr>
            </a:pPr>
            <a:r>
              <a:rPr sz="1875" b="0">
                <a:solidFill>
                  <a:srgbClr val="173F2F"/>
                </a:solidFill>
                <a:latin typeface="Arial"/>
                <a:ea typeface="Arial"/>
                <a:cs typeface="Arial"/>
              </a:rPr>
              <a:t>Fuente + estado + registro</a:t>
            </a:r>
          </a:p>
        </p:txBody>
      </p:sp>
      <p:cxnSp>
        <p:nvCxnSpPr>
          <p:cNvPr id="21" name="">
            <a:extLst xmlns:a="http://schemas.openxmlformats.org/drawingml/2006/main">
              <a:ext uri="{FF2B5EF4-FFF2-40B4-BE49-F238E27FC236}">
                <a16:creationId xmlns:a16="http://schemas.microsoft.com/office/drawing/2014/main" id="{933FC0A2-673E-4A3A-BC0F-D4238F96DAC3}"/>
              </a:ext>
            </a:extLst>
          </p:cNvPr>
          <p:cNvCxnSpPr/>
          <p:nvPr/>
        </p:nvCxnSpPr>
        <p:spPr>
          <a:xfrm xmlns:a="http://schemas.openxmlformats.org/drawingml/2006/main">
            <a:off x="3381375" y="5153025"/>
            <a:ext cx="704850" cy="0"/>
          </a:xfrm>
          <a:prstGeom xmlns:a="http://schemas.openxmlformats.org/drawingml/2006/main" prst="straightConnector1">
            <a:avLst/>
          </a:prstGeom>
          <a:ln xmlns:a="http://schemas.openxmlformats.org/drawingml/2006/main" w="23813">
            <a:solidFill>
              <a:srgbClr val="577161"/>
            </a:solidFill>
            <a:tailEnd type="triangle" w="med" len="med"/>
          </a:ln>
        </p:spPr>
      </p:cxnSp>
      <p:cxnSp>
        <p:nvCxnSpPr>
          <p:cNvPr id="22" name="">
            <a:extLst xmlns:a="http://schemas.openxmlformats.org/drawingml/2006/main">
              <a:ext uri="{FF2B5EF4-FFF2-40B4-BE49-F238E27FC236}">
                <a16:creationId xmlns:a16="http://schemas.microsoft.com/office/drawing/2014/main" id="{A4355D62-4515-4CC3-898B-DFBF46AE264D}"/>
              </a:ext>
            </a:extLst>
          </p:cNvPr>
          <p:cNvCxnSpPr/>
          <p:nvPr/>
        </p:nvCxnSpPr>
        <p:spPr>
          <a:xfrm xmlns:a="http://schemas.openxmlformats.org/drawingml/2006/main">
            <a:off x="8077200" y="5153025"/>
            <a:ext cx="304800" cy="0"/>
          </a:xfrm>
          <a:prstGeom xmlns:a="http://schemas.openxmlformats.org/drawingml/2006/main" prst="straightConnector1">
            <a:avLst/>
          </a:prstGeom>
          <a:ln xmlns:a="http://schemas.openxmlformats.org/drawingml/2006/main" w="23813">
            <a:solidFill>
              <a:srgbClr val="577161"/>
            </a:solidFill>
            <a:tailEnd type="triangle" w="med" len="med"/>
          </a:ln>
        </p:spPr>
      </p:cxnSp>
      <p:sp>
        <p:nvSpPr>
          <p:cNvPr id="23" name="La cámara observa y la balanza pesa. Los nutrientes se ">
            <a:extLst xmlns:a="http://schemas.openxmlformats.org/drawingml/2006/main">
              <a:ext uri="{FF2B5EF4-FFF2-40B4-BE49-F238E27FC236}">
                <a16:creationId xmlns:a16="http://schemas.microsoft.com/office/drawing/2014/main" id="{E5C7399E-31B4-48BA-BEEA-D39727B02EBA}"/>
              </a:ext>
            </a:extLst>
          </p:cNvPr>
          <p:cNvSpPr>
            <a:spLocks xmlns:a="http://schemas.openxmlformats.org/drawingml/2006/main" noGrp="1"/>
          </p:cNvSpPr>
          <p:nvPr/>
        </p:nvSpPr>
        <p:spPr>
          <a:xfrm xmlns:a="http://schemas.openxmlformats.org/drawingml/2006/main">
            <a:off x="571500" y="5857875"/>
            <a:ext cx="1104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3F2F"/>
                </a:solidFill>
                <a:latin typeface="Arial"/>
                <a:ea typeface="Arial"/>
                <a:cs typeface="Arial"/>
              </a:defRPr>
            </a:defPPr>
          </a:lstStyle>
          <a:p xmlns:a="http://schemas.openxmlformats.org/drawingml/2006/main">
            <a:pPr>
              <a:defRPr sz="2025" b="1">
                <a:solidFill>
                  <a:srgbClr val="173F2F"/>
                </a:solidFill>
                <a:latin typeface="Arial"/>
                <a:ea typeface="Arial"/>
                <a:cs typeface="Arial"/>
              </a:defRPr>
            </a:pPr>
            <a:r>
              <a:rPr sz="2025" b="1">
                <a:solidFill>
                  <a:srgbClr val="173F2F"/>
                </a:solidFill>
                <a:latin typeface="Arial"/>
                <a:ea typeface="Arial"/>
                <a:cs typeface="Arial"/>
              </a:rPr>
              <a:t>La cámara observa y la balanza pesa. Los nutrientes se calculan con una referencia.</a:t>
            </a:r>
          </a:p>
        </p:txBody>
      </p:sp>
    </p:spTree>
    <p:extLst>
      <p:ext uri="{BB962C8B-B14F-4D97-AF65-F5344CB8AC3E}">
        <p14:creationId xmlns:p14="http://schemas.microsoft.com/office/powerpoint/2010/main" val="841292498"/>
      </p:ext>
    </p:extLst>
  </p:cSld>
</p:sld>
</file>

<file path=ppt/slides/slide21.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6" name="Flujo de usuario: foto y peso total">
            <a:extLst xmlns:a="http://schemas.openxmlformats.org/drawingml/2006/main">
              <a:ext uri="{FF2B5EF4-FFF2-40B4-BE49-F238E27FC236}">
                <a16:creationId xmlns:a16="http://schemas.microsoft.com/office/drawing/2014/main" id="{3CAA15C6-DE78-4084-8A7B-8B0C60418255}"/>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Flujo de usuario: foto y peso total</a:t>
            </a:r>
          </a:p>
        </p:txBody>
      </p:sp>
      <p:sp>
        <p:nvSpPr>
          <p:cNvPr id="2" name="Se ingresa un único peso neto del plato; la app reparte">
            <a:extLst xmlns:a="http://schemas.openxmlformats.org/drawingml/2006/main">
              <a:ext uri="{FF2B5EF4-FFF2-40B4-BE49-F238E27FC236}">
                <a16:creationId xmlns:a16="http://schemas.microsoft.com/office/drawing/2014/main" id="{6A745DD0-F0D3-4C2D-A4B7-4EB3AB7B3B44}"/>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Se ingresa un único peso neto del plato; la app reparte ese total entre alimentos</a:t>
            </a:r>
          </a:p>
        </p:txBody>
      </p:sp>
      <p:sp>
        <p:nvSpPr>
          <p:cNvPr id="3" name="Fuentes [24] · Referencias al final">
            <a:extLst xmlns:a="http://schemas.openxmlformats.org/drawingml/2006/main">
              <a:ext uri="{FF2B5EF4-FFF2-40B4-BE49-F238E27FC236}">
                <a16:creationId xmlns:a16="http://schemas.microsoft.com/office/drawing/2014/main" id="{83AA10F6-CA35-4B6F-AD7A-89AACFC450DC}"/>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[24] · Referencias al final</a:t>
            </a:r>
          </a:p>
        </p:txBody>
      </p:sp>
      <p:sp>
        <p:nvSpPr>
          <p:cNvPr id="4" name="21">
            <a:extLst xmlns:a="http://schemas.openxmlformats.org/drawingml/2006/main">
              <a:ext uri="{FF2B5EF4-FFF2-40B4-BE49-F238E27FC236}">
                <a16:creationId xmlns:a16="http://schemas.microsoft.com/office/drawing/2014/main" id="{730CDB6A-BA87-4783-B58F-4838AE5395EA}"/>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21</a:t>
            </a:r>
          </a:p>
        </p:txBody>
      </p:sp>
      <p:sp>
        <p:nvSpPr>
          <p:cNvPr id="5" name="1 · Fotografiar o elegir">
            <a:extLst xmlns:a="http://schemas.openxmlformats.org/drawingml/2006/main">
              <a:ext uri="{FF2B5EF4-FFF2-40B4-BE49-F238E27FC236}">
                <a16:creationId xmlns:a16="http://schemas.microsoft.com/office/drawing/2014/main" id="{A44ED7D2-753D-4620-885C-945E10DC3415}"/>
              </a:ext>
            </a:extLst>
          </p:cNvPr>
          <p:cNvSpPr>
            <a:spLocks xmlns:a="http://schemas.openxmlformats.org/drawingml/2006/main" noGrp="1"/>
          </p:cNvSpPr>
          <p:nvPr/>
        </p:nvSpPr>
        <p:spPr>
          <a:xfrm xmlns:a="http://schemas.openxmlformats.org/drawingml/2006/main">
            <a:off x="571500" y="1657350"/>
            <a:ext cx="34956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1 · Fotografiar o elegir</a:t>
            </a:r>
          </a:p>
        </p:txBody>
      </p:sp>
      <p:pic>
        <p:nvPicPr>
          <p:cNvPr id="6" name="">
            <a:extLst xmlns:a="http://schemas.openxmlformats.org/drawingml/2006/main">
              <a:ext uri="{FF2B5EF4-FFF2-40B4-BE49-F238E27FC236}">
                <a16:creationId xmlns:a16="http://schemas.microsoft.com/office/drawing/2014/main" id="{621B8B9B-078F-43C0-84D2-BF9610143C87}"/>
              </a:ext>
            </a:extLst>
          </p:cNvPr>
          <p:cNvPicPr>
            <a:picLocks xmlns:a="http://schemas.openxmlformats.org/drawingml/2006/main" noChangeAspect="1"/>
          </p:cNvPicPr>
          <p:nvPr/>
        </p:nvPicPr>
        <p:blipFill>
          <a:blip xmlns:r="http://schemas.openxmlformats.org/officeDocument/2006/relationships" xmlns:a="http://schemas.openxmlformats.org/drawingml/2006/main" r:embed="Rb172ad8071094c95"/>
          <a:stretch xmlns:a="http://schemas.openxmlformats.org/drawingml/2006/main"/>
        </p:blipFill>
        <p:spPr>
          <a:xfrm xmlns:a="http://schemas.openxmlformats.org/drawingml/2006/main">
            <a:off x="1540393" y="2152650"/>
            <a:ext cx="1529314" cy="3314700"/>
          </a:xfrm>
          <a:prstGeom xmlns:a="http://schemas.openxmlformats.org/drawingml/2006/main" prst="rect">
            <a:avLst/>
          </a:prstGeom>
        </p:spPr>
      </p:pic>
      <p:sp>
        <p:nvSpPr>
          <p:cNvPr id="7" name="Plato completo y alimentos visibles.">
            <a:extLst xmlns:a="http://schemas.openxmlformats.org/drawingml/2006/main">
              <a:ext uri="{FF2B5EF4-FFF2-40B4-BE49-F238E27FC236}">
                <a16:creationId xmlns:a16="http://schemas.microsoft.com/office/drawing/2014/main" id="{5F7F68AC-9C7B-4FCC-BD48-25DFD3563024}"/>
              </a:ext>
            </a:extLst>
          </p:cNvPr>
          <p:cNvSpPr>
            <a:spLocks xmlns:a="http://schemas.openxmlformats.org/drawingml/2006/main" noGrp="1"/>
          </p:cNvSpPr>
          <p:nvPr/>
        </p:nvSpPr>
        <p:spPr>
          <a:xfrm xmlns:a="http://schemas.openxmlformats.org/drawingml/2006/main">
            <a:off x="571500" y="5695950"/>
            <a:ext cx="3495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77161"/>
                </a:solidFill>
                <a:latin typeface="Arial"/>
                <a:ea typeface="Arial"/>
                <a:cs typeface="Arial"/>
              </a:defRPr>
            </a:defPPr>
          </a:lstStyle>
          <a:p xmlns:a="http://schemas.openxmlformats.org/drawingml/2006/main">
            <a:pPr>
              <a:defRPr sz="1725" b="0">
                <a:solidFill>
                  <a:srgbClr val="577161"/>
                </a:solidFill>
                <a:latin typeface="Arial"/>
                <a:ea typeface="Arial"/>
                <a:cs typeface="Arial"/>
              </a:defRPr>
            </a:pPr>
            <a:r>
              <a:rPr sz="1725" b="0">
                <a:solidFill>
                  <a:srgbClr val="577161"/>
                </a:solidFill>
                <a:latin typeface="Arial"/>
                <a:ea typeface="Arial"/>
                <a:cs typeface="Arial"/>
              </a:rPr>
              <a:t>Plato completo y alimentos visibles.</a:t>
            </a:r>
          </a:p>
        </p:txBody>
      </p:sp>
      <p:sp>
        <p:nvSpPr>
          <p:cNvPr id="8" name="Preparación · Tarar y pesar">
            <a:extLst xmlns:a="http://schemas.openxmlformats.org/drawingml/2006/main">
              <a:ext uri="{FF2B5EF4-FFF2-40B4-BE49-F238E27FC236}">
                <a16:creationId xmlns:a16="http://schemas.microsoft.com/office/drawing/2014/main" id="{4BEC49D6-EFA3-4D1B-A00A-E8424C7CEB0D}"/>
              </a:ext>
            </a:extLst>
          </p:cNvPr>
          <p:cNvSpPr>
            <a:spLocks xmlns:a="http://schemas.openxmlformats.org/drawingml/2006/main" noGrp="1"/>
          </p:cNvSpPr>
          <p:nvPr/>
        </p:nvSpPr>
        <p:spPr>
          <a:xfrm xmlns:a="http://schemas.openxmlformats.org/drawingml/2006/main">
            <a:off x="4343400" y="1657350"/>
            <a:ext cx="34956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Preparación · Tarar y pesar</a:t>
            </a:r>
          </a:p>
        </p:txBody>
      </p:sp>
      <p:pic>
        <p:nvPicPr>
          <p:cNvPr id="9" name="">
            <a:extLst xmlns:a="http://schemas.openxmlformats.org/drawingml/2006/main">
              <a:ext uri="{FF2B5EF4-FFF2-40B4-BE49-F238E27FC236}">
                <a16:creationId xmlns:a16="http://schemas.microsoft.com/office/drawing/2014/main" id="{CDC8FBBB-19B5-43B8-96A7-8D2055FF95ED}"/>
              </a:ext>
            </a:extLst>
          </p:cNvPr>
          <p:cNvPicPr>
            <a:picLocks xmlns:a="http://schemas.openxmlformats.org/drawingml/2006/main" noChangeAspect="1"/>
          </p:cNvPicPr>
          <p:nvPr/>
        </p:nvPicPr>
        <p:blipFill>
          <a:blip xmlns:r="http://schemas.openxmlformats.org/officeDocument/2006/relationships" xmlns:a="http://schemas.openxmlformats.org/drawingml/2006/main" r:embed="R71e2421bc87a4be7"/>
          <a:stretch xmlns:a="http://schemas.openxmlformats.org/drawingml/2006/main"/>
        </p:blipFill>
        <p:spPr>
          <a:xfrm xmlns:a="http://schemas.openxmlformats.org/drawingml/2006/main">
            <a:off x="5082929" y="2152650"/>
            <a:ext cx="1988042" cy="3314700"/>
          </a:xfrm>
          <a:prstGeom xmlns:a="http://schemas.openxmlformats.org/drawingml/2006/main" prst="rect">
            <a:avLst/>
          </a:prstGeom>
        </p:spPr>
      </p:pic>
      <p:sp>
        <p:nvSpPr>
          <p:cNvPr id="10" name="Recipiente vacío; luego peso de la comida.">
            <a:extLst xmlns:a="http://schemas.openxmlformats.org/drawingml/2006/main">
              <a:ext uri="{FF2B5EF4-FFF2-40B4-BE49-F238E27FC236}">
                <a16:creationId xmlns:a16="http://schemas.microsoft.com/office/drawing/2014/main" id="{AC881E1C-6ED5-4AD9-ADBC-51279681D9A6}"/>
              </a:ext>
            </a:extLst>
          </p:cNvPr>
          <p:cNvSpPr>
            <a:spLocks xmlns:a="http://schemas.openxmlformats.org/drawingml/2006/main" noGrp="1"/>
          </p:cNvSpPr>
          <p:nvPr/>
        </p:nvSpPr>
        <p:spPr>
          <a:xfrm xmlns:a="http://schemas.openxmlformats.org/drawingml/2006/main">
            <a:off x="4343400" y="5695950"/>
            <a:ext cx="3495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77161"/>
                </a:solidFill>
                <a:latin typeface="Arial"/>
                <a:ea typeface="Arial"/>
                <a:cs typeface="Arial"/>
              </a:defRPr>
            </a:defPPr>
          </a:lstStyle>
          <a:p xmlns:a="http://schemas.openxmlformats.org/drawingml/2006/main">
            <a:pPr>
              <a:defRPr sz="1725" b="0">
                <a:solidFill>
                  <a:srgbClr val="577161"/>
                </a:solidFill>
                <a:latin typeface="Arial"/>
                <a:ea typeface="Arial"/>
                <a:cs typeface="Arial"/>
              </a:defRPr>
            </a:pPr>
            <a:r>
              <a:rPr sz="1725" b="0">
                <a:solidFill>
                  <a:srgbClr val="577161"/>
                </a:solidFill>
                <a:latin typeface="Arial"/>
                <a:ea typeface="Arial"/>
                <a:cs typeface="Arial"/>
              </a:rPr>
              <a:t>Recipiente vacío; luego peso de la comida.</a:t>
            </a:r>
          </a:p>
        </p:txBody>
      </p:sp>
      <p:sp>
        <p:nvSpPr>
          <p:cNvPr id="11" name="2 · Ingresar el peso neto">
            <a:extLst xmlns:a="http://schemas.openxmlformats.org/drawingml/2006/main">
              <a:ext uri="{FF2B5EF4-FFF2-40B4-BE49-F238E27FC236}">
                <a16:creationId xmlns:a16="http://schemas.microsoft.com/office/drawing/2014/main" id="{518B2C5E-D5D7-4FA0-B6BC-1922E07E588C}"/>
              </a:ext>
            </a:extLst>
          </p:cNvPr>
          <p:cNvSpPr>
            <a:spLocks xmlns:a="http://schemas.openxmlformats.org/drawingml/2006/main" noGrp="1"/>
          </p:cNvSpPr>
          <p:nvPr/>
        </p:nvSpPr>
        <p:spPr>
          <a:xfrm xmlns:a="http://schemas.openxmlformats.org/drawingml/2006/main">
            <a:off x="8124825" y="1657350"/>
            <a:ext cx="34956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2 · Ingresar el peso neto</a:t>
            </a:r>
          </a:p>
        </p:txBody>
      </p:sp>
      <p:pic>
        <p:nvPicPr>
          <p:cNvPr id="12" name="">
            <a:extLst xmlns:a="http://schemas.openxmlformats.org/drawingml/2006/main">
              <a:ext uri="{FF2B5EF4-FFF2-40B4-BE49-F238E27FC236}">
                <a16:creationId xmlns:a16="http://schemas.microsoft.com/office/drawing/2014/main" id="{B9142C9B-0E5E-4815-BAD3-18C6202F6DC4}"/>
              </a:ext>
            </a:extLst>
          </p:cNvPr>
          <p:cNvPicPr>
            <a:picLocks xmlns:a="http://schemas.openxmlformats.org/drawingml/2006/main" noChangeAspect="1"/>
          </p:cNvPicPr>
          <p:nvPr/>
        </p:nvPicPr>
        <p:blipFill>
          <a:blip xmlns:r="http://schemas.openxmlformats.org/officeDocument/2006/relationships" xmlns:a="http://schemas.openxmlformats.org/drawingml/2006/main" r:embed="R0d0f3acbb5f8465b"/>
          <a:stretch xmlns:a="http://schemas.openxmlformats.org/drawingml/2006/main"/>
        </p:blipFill>
        <p:spPr>
          <a:xfrm xmlns:a="http://schemas.openxmlformats.org/drawingml/2006/main">
            <a:off x="8833155" y="2152650"/>
            <a:ext cx="2050439" cy="3314700"/>
          </a:xfrm>
          <a:prstGeom xmlns:a="http://schemas.openxmlformats.org/drawingml/2006/main" prst="rect">
            <a:avLst/>
          </a:prstGeom>
        </p:spPr>
      </p:pic>
      <p:sp>
        <p:nvSpPr>
          <p:cNvPr id="13" name="3 · Pulsar “Analizar mi plato”.">
            <a:extLst xmlns:a="http://schemas.openxmlformats.org/drawingml/2006/main">
              <a:ext uri="{FF2B5EF4-FFF2-40B4-BE49-F238E27FC236}">
                <a16:creationId xmlns:a16="http://schemas.microsoft.com/office/drawing/2014/main" id="{F777CD46-E9A4-4248-AED3-F0FDE711FB46}"/>
              </a:ext>
            </a:extLst>
          </p:cNvPr>
          <p:cNvSpPr>
            <a:spLocks xmlns:a="http://schemas.openxmlformats.org/drawingml/2006/main" noGrp="1"/>
          </p:cNvSpPr>
          <p:nvPr/>
        </p:nvSpPr>
        <p:spPr>
          <a:xfrm xmlns:a="http://schemas.openxmlformats.org/drawingml/2006/main">
            <a:off x="8124825" y="5695950"/>
            <a:ext cx="3495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77161"/>
                </a:solidFill>
                <a:latin typeface="Arial"/>
                <a:ea typeface="Arial"/>
                <a:cs typeface="Arial"/>
              </a:defRPr>
            </a:defPPr>
          </a:lstStyle>
          <a:p xmlns:a="http://schemas.openxmlformats.org/drawingml/2006/main">
            <a:pPr>
              <a:defRPr sz="1725" b="0">
                <a:solidFill>
                  <a:srgbClr val="577161"/>
                </a:solidFill>
                <a:latin typeface="Arial"/>
                <a:ea typeface="Arial"/>
                <a:cs typeface="Arial"/>
              </a:defRPr>
            </a:pPr>
            <a:r>
              <a:rPr sz="1725" b="0">
                <a:solidFill>
                  <a:srgbClr val="577161"/>
                </a:solidFill>
                <a:latin typeface="Arial"/>
                <a:ea typeface="Arial"/>
                <a:cs typeface="Arial"/>
              </a:rPr>
              <a:t>3 · Pulsar “Analizar mi plato”.</a:t>
            </a:r>
          </a:p>
        </p:txBody>
      </p:sp>
      <p:cxnSp>
        <p:nvCxnSpPr>
          <p:cNvPr id="14" name="">
            <a:extLst xmlns:a="http://schemas.openxmlformats.org/drawingml/2006/main">
              <a:ext uri="{FF2B5EF4-FFF2-40B4-BE49-F238E27FC236}">
                <a16:creationId xmlns:a16="http://schemas.microsoft.com/office/drawing/2014/main" id="{FF936234-67C6-4E96-BEA3-1D0457EF2F9D}"/>
              </a:ext>
            </a:extLst>
          </p:cNvPr>
          <p:cNvCxnSpPr/>
          <p:nvPr/>
        </p:nvCxnSpPr>
        <p:spPr>
          <a:xfrm xmlns:a="http://schemas.openxmlformats.org/drawingml/2006/main">
            <a:off x="3876675" y="3752850"/>
            <a:ext cx="352425" cy="0"/>
          </a:xfrm>
          <a:prstGeom xmlns:a="http://schemas.openxmlformats.org/drawingml/2006/main" prst="straightConnector1">
            <a:avLst/>
          </a:prstGeom>
          <a:ln xmlns:a="http://schemas.openxmlformats.org/drawingml/2006/main" w="23813">
            <a:solidFill>
              <a:srgbClr val="577161"/>
            </a:solidFill>
            <a:tailEnd type="triangle" w="med" len="med"/>
          </a:ln>
        </p:spPr>
      </p:cxnSp>
      <p:cxnSp>
        <p:nvCxnSpPr>
          <p:cNvPr id="15" name="">
            <a:extLst xmlns:a="http://schemas.openxmlformats.org/drawingml/2006/main">
              <a:ext uri="{FF2B5EF4-FFF2-40B4-BE49-F238E27FC236}">
                <a16:creationId xmlns:a16="http://schemas.microsoft.com/office/drawing/2014/main" id="{728FC183-D4B9-472A-96E0-9A18FC73F86A}"/>
              </a:ext>
            </a:extLst>
          </p:cNvPr>
          <p:cNvCxnSpPr/>
          <p:nvPr/>
        </p:nvCxnSpPr>
        <p:spPr>
          <a:xfrm xmlns:a="http://schemas.openxmlformats.org/drawingml/2006/main">
            <a:off x="7658100" y="3752850"/>
            <a:ext cx="352425" cy="0"/>
          </a:xfrm>
          <a:prstGeom xmlns:a="http://schemas.openxmlformats.org/drawingml/2006/main" prst="straightConnector1">
            <a:avLst/>
          </a:prstGeom>
          <a:ln xmlns:a="http://schemas.openxmlformats.org/drawingml/2006/main" w="23813">
            <a:solidFill>
              <a:srgbClr val="577161"/>
            </a:solidFill>
            <a:tailEnd type="triangle" w="med" len="med"/>
          </a:ln>
        </p:spPr>
      </p:cxnSp>
    </p:spTree>
    <p:extLst>
      <p:ext uri="{BB962C8B-B14F-4D97-AF65-F5344CB8AC3E}">
        <p14:creationId xmlns:p14="http://schemas.microsoft.com/office/powerpoint/2010/main" val="1664460056"/>
      </p:ext>
    </p:extLst>
  </p:cSld>
</p:sld>
</file>

<file path=ppt/slides/slide22.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7" name="Flujo de usuario: revisar, corregir y guardar">
            <a:extLst xmlns:a="http://schemas.openxmlformats.org/drawingml/2006/main">
              <a:ext uri="{FF2B5EF4-FFF2-40B4-BE49-F238E27FC236}">
                <a16:creationId xmlns:a16="http://schemas.microsoft.com/office/drawing/2014/main" id="{9D345624-4824-495B-9C8E-869FDFCF329D}"/>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Flujo de usuario: revisar, corregir y guardar</a:t>
            </a:r>
          </a:p>
        </p:txBody>
      </p:sp>
      <p:sp>
        <p:nvSpPr>
          <p:cNvPr id="2" name="Los gramos estimados por alimento deben sumar el peso n">
            <a:extLst xmlns:a="http://schemas.openxmlformats.org/drawingml/2006/main">
              <a:ext uri="{FF2B5EF4-FFF2-40B4-BE49-F238E27FC236}">
                <a16:creationId xmlns:a16="http://schemas.microsoft.com/office/drawing/2014/main" id="{3E92DCA9-CB52-4FA8-B890-FC161FC7B018}"/>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Los gramos estimados por alimento deben sumar el peso neto total</a:t>
            </a:r>
          </a:p>
        </p:txBody>
      </p:sp>
      <p:sp>
        <p:nvSpPr>
          <p:cNvPr id="3" name="Fuentes [24] · Referencias al final">
            <a:extLst xmlns:a="http://schemas.openxmlformats.org/drawingml/2006/main">
              <a:ext uri="{FF2B5EF4-FFF2-40B4-BE49-F238E27FC236}">
                <a16:creationId xmlns:a16="http://schemas.microsoft.com/office/drawing/2014/main" id="{82D42E65-EA68-480B-9FFE-BFABFB40F0DC}"/>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[24] · Referencias al final</a:t>
            </a:r>
          </a:p>
        </p:txBody>
      </p:sp>
      <p:sp>
        <p:nvSpPr>
          <p:cNvPr id="4" name="22">
            <a:extLst xmlns:a="http://schemas.openxmlformats.org/drawingml/2006/main">
              <a:ext uri="{FF2B5EF4-FFF2-40B4-BE49-F238E27FC236}">
                <a16:creationId xmlns:a16="http://schemas.microsoft.com/office/drawing/2014/main" id="{E1D01B78-9AD9-4580-89F1-B2400BED95E0}"/>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22</a:t>
            </a:r>
          </a:p>
        </p:txBody>
      </p:sp>
      <p:sp>
        <p:nvSpPr>
          <p:cNvPr id="5" name="Resultado del análisis">
            <a:extLst xmlns:a="http://schemas.openxmlformats.org/drawingml/2006/main">
              <a:ext uri="{FF2B5EF4-FFF2-40B4-BE49-F238E27FC236}">
                <a16:creationId xmlns:a16="http://schemas.microsoft.com/office/drawing/2014/main" id="{C61C256C-F7E4-46E2-9E35-AC81AEDB1342}"/>
              </a:ext>
            </a:extLst>
          </p:cNvPr>
          <p:cNvSpPr>
            <a:spLocks xmlns:a="http://schemas.openxmlformats.org/drawingml/2006/main" noGrp="1"/>
          </p:cNvSpPr>
          <p:nvPr/>
        </p:nvSpPr>
        <p:spPr>
          <a:xfrm xmlns:a="http://schemas.openxmlformats.org/drawingml/2006/main">
            <a:off x="571500" y="1647825"/>
            <a:ext cx="34956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Resultado del análisis</a:t>
            </a:r>
          </a:p>
        </p:txBody>
      </p:sp>
      <p:pic>
        <p:nvPicPr>
          <p:cNvPr id="6" name="">
            <a:extLst xmlns:a="http://schemas.openxmlformats.org/drawingml/2006/main">
              <a:ext uri="{FF2B5EF4-FFF2-40B4-BE49-F238E27FC236}">
                <a16:creationId xmlns:a16="http://schemas.microsoft.com/office/drawing/2014/main" id="{CD6AE8F3-BDA9-447C-8D50-D9459D0BF7EA}"/>
              </a:ext>
            </a:extLst>
          </p:cNvPr>
          <p:cNvPicPr>
            <a:picLocks xmlns:a="http://schemas.openxmlformats.org/drawingml/2006/main" noChangeAspect="1"/>
          </p:cNvPicPr>
          <p:nvPr/>
        </p:nvPicPr>
        <p:blipFill>
          <a:blip xmlns:r="http://schemas.openxmlformats.org/officeDocument/2006/relationships" xmlns:a="http://schemas.openxmlformats.org/drawingml/2006/main" r:embed="Re35658c8d058486c"/>
          <a:stretch xmlns:a="http://schemas.openxmlformats.org/drawingml/2006/main"/>
        </p:blipFill>
        <p:spPr>
          <a:xfrm xmlns:a="http://schemas.openxmlformats.org/drawingml/2006/main">
            <a:off x="1103100" y="2085975"/>
            <a:ext cx="2413425" cy="3457575"/>
          </a:xfrm>
          <a:prstGeom xmlns:a="http://schemas.openxmlformats.org/drawingml/2006/main" prst="rect">
            <a:avLst/>
          </a:prstGeom>
        </p:spPr>
      </p:pic>
      <p:sp>
        <p:nvSpPr>
          <p:cNvPr id="7" name="Identidades y gramos por alimento.">
            <a:extLst xmlns:a="http://schemas.openxmlformats.org/drawingml/2006/main">
              <a:ext uri="{FF2B5EF4-FFF2-40B4-BE49-F238E27FC236}">
                <a16:creationId xmlns:a16="http://schemas.microsoft.com/office/drawing/2014/main" id="{362EA6A6-1156-42DD-857F-3B508AFB9142}"/>
              </a:ext>
            </a:extLst>
          </p:cNvPr>
          <p:cNvSpPr>
            <a:spLocks xmlns:a="http://schemas.openxmlformats.org/drawingml/2006/main" noGrp="1"/>
          </p:cNvSpPr>
          <p:nvPr/>
        </p:nvSpPr>
        <p:spPr>
          <a:xfrm xmlns:a="http://schemas.openxmlformats.org/drawingml/2006/main">
            <a:off x="571500" y="5667375"/>
            <a:ext cx="34956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77161"/>
                </a:solidFill>
                <a:latin typeface="Arial"/>
                <a:ea typeface="Arial"/>
                <a:cs typeface="Arial"/>
              </a:defRPr>
            </a:defPPr>
          </a:lstStyle>
          <a:p xmlns:a="http://schemas.openxmlformats.org/drawingml/2006/main">
            <a:pPr>
              <a:defRPr sz="1725" b="0">
                <a:solidFill>
                  <a:srgbClr val="577161"/>
                </a:solidFill>
                <a:latin typeface="Arial"/>
                <a:ea typeface="Arial"/>
                <a:cs typeface="Arial"/>
              </a:defRPr>
            </a:pPr>
            <a:r>
              <a:rPr sz="1725" b="0">
                <a:solidFill>
                  <a:srgbClr val="577161"/>
                </a:solidFill>
                <a:latin typeface="Arial"/>
                <a:ea typeface="Arial"/>
                <a:cs typeface="Arial"/>
              </a:rPr>
              <a:t>Identidades y gramos por alimento.</a:t>
            </a:r>
          </a:p>
        </p:txBody>
      </p:sp>
      <p:sp>
        <p:nvSpPr>
          <p:cNvPr id="8" name="4 · Revisar y ajustar">
            <a:extLst xmlns:a="http://schemas.openxmlformats.org/drawingml/2006/main">
              <a:ext uri="{FF2B5EF4-FFF2-40B4-BE49-F238E27FC236}">
                <a16:creationId xmlns:a16="http://schemas.microsoft.com/office/drawing/2014/main" id="{4F9AC46D-F73E-40BA-8296-9D27D4258236}"/>
              </a:ext>
            </a:extLst>
          </p:cNvPr>
          <p:cNvSpPr>
            <a:spLocks xmlns:a="http://schemas.openxmlformats.org/drawingml/2006/main" noGrp="1"/>
          </p:cNvSpPr>
          <p:nvPr/>
        </p:nvSpPr>
        <p:spPr>
          <a:xfrm xmlns:a="http://schemas.openxmlformats.org/drawingml/2006/main">
            <a:off x="4343400" y="1647825"/>
            <a:ext cx="34956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4 · Revisar y ajustar</a:t>
            </a:r>
          </a:p>
        </p:txBody>
      </p:sp>
      <p:pic>
        <p:nvPicPr>
          <p:cNvPr id="9" name="">
            <a:extLst xmlns:a="http://schemas.openxmlformats.org/drawingml/2006/main">
              <a:ext uri="{FF2B5EF4-FFF2-40B4-BE49-F238E27FC236}">
                <a16:creationId xmlns:a16="http://schemas.microsoft.com/office/drawing/2014/main" id="{BE7D4242-A421-43B7-BDD8-247CAA3D51EE}"/>
              </a:ext>
            </a:extLst>
          </p:cNvPr>
          <p:cNvPicPr>
            <a:picLocks xmlns:a="http://schemas.openxmlformats.org/drawingml/2006/main" noChangeAspect="1"/>
          </p:cNvPicPr>
          <p:nvPr/>
        </p:nvPicPr>
        <p:blipFill>
          <a:blip xmlns:r="http://schemas.openxmlformats.org/officeDocument/2006/relationships" xmlns:a="http://schemas.openxmlformats.org/drawingml/2006/main" r:embed="Rd14e5586ca914aeb"/>
          <a:stretch xmlns:a="http://schemas.openxmlformats.org/drawingml/2006/main"/>
        </p:blipFill>
        <p:spPr>
          <a:xfrm xmlns:a="http://schemas.openxmlformats.org/drawingml/2006/main">
            <a:off x="5403550" y="2085975"/>
            <a:ext cx="1356325" cy="3457575"/>
          </a:xfrm>
          <a:prstGeom xmlns:a="http://schemas.openxmlformats.org/drawingml/2006/main" prst="rect">
            <a:avLst/>
          </a:prstGeom>
        </p:spPr>
      </p:pic>
      <p:sp>
        <p:nvSpPr>
          <p:cNvPr id="10" name="Editar alimentos o porciones; conservar el total.">
            <a:extLst xmlns:a="http://schemas.openxmlformats.org/drawingml/2006/main">
              <a:ext uri="{FF2B5EF4-FFF2-40B4-BE49-F238E27FC236}">
                <a16:creationId xmlns:a16="http://schemas.microsoft.com/office/drawing/2014/main" id="{946D8A1E-3EDA-4E53-A418-5129A4DD4700}"/>
              </a:ext>
            </a:extLst>
          </p:cNvPr>
          <p:cNvSpPr>
            <a:spLocks xmlns:a="http://schemas.openxmlformats.org/drawingml/2006/main" noGrp="1"/>
          </p:cNvSpPr>
          <p:nvPr/>
        </p:nvSpPr>
        <p:spPr>
          <a:xfrm xmlns:a="http://schemas.openxmlformats.org/drawingml/2006/main">
            <a:off x="4343400" y="5667375"/>
            <a:ext cx="34956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77161"/>
                </a:solidFill>
                <a:latin typeface="Arial"/>
                <a:ea typeface="Arial"/>
                <a:cs typeface="Arial"/>
              </a:defRPr>
            </a:defPPr>
          </a:lstStyle>
          <a:p xmlns:a="http://schemas.openxmlformats.org/drawingml/2006/main">
            <a:pPr>
              <a:defRPr sz="1725" b="0">
                <a:solidFill>
                  <a:srgbClr val="577161"/>
                </a:solidFill>
                <a:latin typeface="Arial"/>
                <a:ea typeface="Arial"/>
                <a:cs typeface="Arial"/>
              </a:defRPr>
            </a:pPr>
            <a:r>
              <a:rPr sz="1725" b="0">
                <a:solidFill>
                  <a:srgbClr val="577161"/>
                </a:solidFill>
                <a:latin typeface="Arial"/>
                <a:ea typeface="Arial"/>
                <a:cs typeface="Arial"/>
              </a:rPr>
              <a:t>Editar alimentos o porciones; conservar el total.</a:t>
            </a:r>
          </a:p>
        </p:txBody>
      </p:sp>
      <p:sp>
        <p:nvSpPr>
          <p:cNvPr id="11" name="5 · Guardar el plato">
            <a:extLst xmlns:a="http://schemas.openxmlformats.org/drawingml/2006/main">
              <a:ext uri="{FF2B5EF4-FFF2-40B4-BE49-F238E27FC236}">
                <a16:creationId xmlns:a16="http://schemas.microsoft.com/office/drawing/2014/main" id="{8D083B1B-0045-432B-A0DB-5E7DAA64EB55}"/>
              </a:ext>
            </a:extLst>
          </p:cNvPr>
          <p:cNvSpPr>
            <a:spLocks xmlns:a="http://schemas.openxmlformats.org/drawingml/2006/main" noGrp="1"/>
          </p:cNvSpPr>
          <p:nvPr/>
        </p:nvSpPr>
        <p:spPr>
          <a:xfrm xmlns:a="http://schemas.openxmlformats.org/drawingml/2006/main">
            <a:off x="8124825" y="1647825"/>
            <a:ext cx="34956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5 · Guardar el plato</a:t>
            </a:r>
          </a:p>
        </p:txBody>
      </p:sp>
      <p:pic>
        <p:nvPicPr>
          <p:cNvPr id="12" name="">
            <a:extLst xmlns:a="http://schemas.openxmlformats.org/drawingml/2006/main">
              <a:ext uri="{FF2B5EF4-FFF2-40B4-BE49-F238E27FC236}">
                <a16:creationId xmlns:a16="http://schemas.microsoft.com/office/drawing/2014/main" id="{56F641BC-D263-4AD2-A6A1-6B9C655EAE9A}"/>
              </a:ext>
            </a:extLst>
          </p:cNvPr>
          <p:cNvPicPr>
            <a:picLocks xmlns:a="http://schemas.openxmlformats.org/drawingml/2006/main" noChangeAspect="1"/>
          </p:cNvPicPr>
          <p:nvPr/>
        </p:nvPicPr>
        <p:blipFill>
          <a:blip xmlns:r="http://schemas.openxmlformats.org/officeDocument/2006/relationships" xmlns:a="http://schemas.openxmlformats.org/drawingml/2006/main" r:embed="Rb19676274c12435c"/>
          <a:stretch xmlns:a="http://schemas.openxmlformats.org/drawingml/2006/main"/>
        </p:blipFill>
        <p:spPr>
          <a:xfrm xmlns:a="http://schemas.openxmlformats.org/drawingml/2006/main">
            <a:off x="9065521" y="2085975"/>
            <a:ext cx="1595233" cy="3457575"/>
          </a:xfrm>
          <a:prstGeom xmlns:a="http://schemas.openxmlformats.org/drawingml/2006/main" prst="rect">
            <a:avLst/>
          </a:prstGeom>
        </p:spPr>
      </p:pic>
      <p:sp>
        <p:nvSpPr>
          <p:cNvPr id="13" name="Consultar Mi día e Historial local.">
            <a:extLst xmlns:a="http://schemas.openxmlformats.org/drawingml/2006/main">
              <a:ext uri="{FF2B5EF4-FFF2-40B4-BE49-F238E27FC236}">
                <a16:creationId xmlns:a16="http://schemas.microsoft.com/office/drawing/2014/main" id="{AC660926-2F52-4C94-874E-BC948A254CA6}"/>
              </a:ext>
            </a:extLst>
          </p:cNvPr>
          <p:cNvSpPr>
            <a:spLocks xmlns:a="http://schemas.openxmlformats.org/drawingml/2006/main" noGrp="1"/>
          </p:cNvSpPr>
          <p:nvPr/>
        </p:nvSpPr>
        <p:spPr>
          <a:xfrm xmlns:a="http://schemas.openxmlformats.org/drawingml/2006/main">
            <a:off x="8124825" y="5667375"/>
            <a:ext cx="34956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77161"/>
                </a:solidFill>
                <a:latin typeface="Arial"/>
                <a:ea typeface="Arial"/>
                <a:cs typeface="Arial"/>
              </a:defRPr>
            </a:defPPr>
          </a:lstStyle>
          <a:p xmlns:a="http://schemas.openxmlformats.org/drawingml/2006/main">
            <a:pPr>
              <a:defRPr sz="1725" b="0">
                <a:solidFill>
                  <a:srgbClr val="577161"/>
                </a:solidFill>
                <a:latin typeface="Arial"/>
                <a:ea typeface="Arial"/>
                <a:cs typeface="Arial"/>
              </a:defRPr>
            </a:pPr>
            <a:r>
              <a:rPr sz="1725" b="0">
                <a:solidFill>
                  <a:srgbClr val="577161"/>
                </a:solidFill>
                <a:latin typeface="Arial"/>
                <a:ea typeface="Arial"/>
                <a:cs typeface="Arial"/>
              </a:rPr>
              <a:t>Consultar Mi día e Historial local.</a:t>
            </a:r>
          </a:p>
        </p:txBody>
      </p:sp>
      <p:cxnSp>
        <p:nvCxnSpPr>
          <p:cNvPr id="14" name="">
            <a:extLst xmlns:a="http://schemas.openxmlformats.org/drawingml/2006/main">
              <a:ext uri="{FF2B5EF4-FFF2-40B4-BE49-F238E27FC236}">
                <a16:creationId xmlns:a16="http://schemas.microsoft.com/office/drawing/2014/main" id="{F3A29992-21FC-43F0-A3A4-81EBABC4F7BB}"/>
              </a:ext>
            </a:extLst>
          </p:cNvPr>
          <p:cNvCxnSpPr/>
          <p:nvPr/>
        </p:nvCxnSpPr>
        <p:spPr>
          <a:xfrm xmlns:a="http://schemas.openxmlformats.org/drawingml/2006/main">
            <a:off x="3876675" y="3743325"/>
            <a:ext cx="352425" cy="0"/>
          </a:xfrm>
          <a:prstGeom xmlns:a="http://schemas.openxmlformats.org/drawingml/2006/main" prst="straightConnector1">
            <a:avLst/>
          </a:prstGeom>
          <a:ln xmlns:a="http://schemas.openxmlformats.org/drawingml/2006/main" w="23813">
            <a:solidFill>
              <a:srgbClr val="577161"/>
            </a:solidFill>
            <a:tailEnd type="triangle" w="med" len="med"/>
          </a:ln>
        </p:spPr>
      </p:cxnSp>
      <p:cxnSp>
        <p:nvCxnSpPr>
          <p:cNvPr id="15" name="">
            <a:extLst xmlns:a="http://schemas.openxmlformats.org/drawingml/2006/main">
              <a:ext uri="{FF2B5EF4-FFF2-40B4-BE49-F238E27FC236}">
                <a16:creationId xmlns:a16="http://schemas.microsoft.com/office/drawing/2014/main" id="{D01CD62E-8F71-408D-A132-DCA9B390AE21}"/>
              </a:ext>
            </a:extLst>
          </p:cNvPr>
          <p:cNvCxnSpPr/>
          <p:nvPr/>
        </p:nvCxnSpPr>
        <p:spPr>
          <a:xfrm xmlns:a="http://schemas.openxmlformats.org/drawingml/2006/main">
            <a:off x="7658100" y="3743325"/>
            <a:ext cx="352425" cy="0"/>
          </a:xfrm>
          <a:prstGeom xmlns:a="http://schemas.openxmlformats.org/drawingml/2006/main" prst="straightConnector1">
            <a:avLst/>
          </a:prstGeom>
          <a:ln xmlns:a="http://schemas.openxmlformats.org/drawingml/2006/main" w="23813">
            <a:solidFill>
              <a:srgbClr val="577161"/>
            </a:solidFill>
            <a:tailEnd type="triangle" w="med" len="med"/>
          </a:ln>
        </p:spPr>
      </p:cxnSp>
      <p:sp>
        <p:nvSpPr>
          <p:cNvPr id="16" name="Capturas reales del modo Ejemplo">
            <a:extLst xmlns:a="http://schemas.openxmlformats.org/drawingml/2006/main">
              <a:ext uri="{FF2B5EF4-FFF2-40B4-BE49-F238E27FC236}">
                <a16:creationId xmlns:a16="http://schemas.microsoft.com/office/drawing/2014/main" id="{B7DA92CD-A13A-4B1E-8629-6745C544457B}"/>
              </a:ext>
            </a:extLst>
          </p:cNvPr>
          <p:cNvSpPr>
            <a:spLocks xmlns:a="http://schemas.openxmlformats.org/drawingml/2006/main" noGrp="1"/>
          </p:cNvSpPr>
          <p:nvPr/>
        </p:nvSpPr>
        <p:spPr>
          <a:xfrm xmlns:a="http://schemas.openxmlformats.org/drawingml/2006/main">
            <a:off x="571500" y="6238875"/>
            <a:ext cx="11049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AD6240"/>
                </a:solidFill>
                <a:latin typeface="Arial"/>
                <a:ea typeface="Arial"/>
                <a:cs typeface="Arial"/>
              </a:defRPr>
            </a:defPPr>
          </a:lstStyle>
          <a:p xmlns:a="http://schemas.openxmlformats.org/drawingml/2006/main">
            <a:pPr>
              <a:defRPr sz="1200" b="0">
                <a:solidFill>
                  <a:srgbClr val="AD6240"/>
                </a:solidFill>
                <a:latin typeface="Arial"/>
                <a:ea typeface="Arial"/>
                <a:cs typeface="Arial"/>
              </a:defRPr>
            </a:pPr>
            <a:r>
              <a:rPr sz="1200" b="0">
                <a:solidFill>
                  <a:srgbClr val="AD6240"/>
                </a:solidFill>
                <a:latin typeface="Arial"/>
                <a:ea typeface="Arial"/>
                <a:cs typeface="Arial"/>
              </a:rPr>
              <a:t>Capturas reales del modo Ejemplo</a:t>
            </a:r>
          </a:p>
        </p:txBody>
      </p:sp>
    </p:spTree>
    <p:extLst>
      <p:ext uri="{BB962C8B-B14F-4D97-AF65-F5344CB8AC3E}">
        <p14:creationId xmlns:p14="http://schemas.microsoft.com/office/powerpoint/2010/main" val="400365453"/>
      </p:ext>
    </p:extLst>
  </p:cSld>
</p:sld>
</file>

<file path=ppt/slides/slide23.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28" name="Estructura de funciones">
            <a:extLst xmlns:a="http://schemas.openxmlformats.org/drawingml/2006/main">
              <a:ext uri="{FF2B5EF4-FFF2-40B4-BE49-F238E27FC236}">
                <a16:creationId xmlns:a16="http://schemas.microsoft.com/office/drawing/2014/main" id="{FBFC457D-F56F-4493-A0AF-1F67BFC2306E}"/>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Estructura de funciones</a:t>
            </a:r>
          </a:p>
        </p:txBody>
      </p:sp>
      <p:sp>
        <p:nvSpPr>
          <p:cNvPr id="2" name="La identificación, la cantidad y el cálculo son operaci">
            <a:extLst xmlns:a="http://schemas.openxmlformats.org/drawingml/2006/main">
              <a:ext uri="{FF2B5EF4-FFF2-40B4-BE49-F238E27FC236}">
                <a16:creationId xmlns:a16="http://schemas.microsoft.com/office/drawing/2014/main" id="{23043D4E-651D-4B91-A2F6-DC9004DDB8F5}"/>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La identificación, la cantidad y el cálculo son operaciones distintas</a:t>
            </a:r>
          </a:p>
        </p:txBody>
      </p:sp>
      <p:sp>
        <p:nvSpPr>
          <p:cNvPr id="3" name="Fuentes [24] · Referencias al final">
            <a:extLst xmlns:a="http://schemas.openxmlformats.org/drawingml/2006/main">
              <a:ext uri="{FF2B5EF4-FFF2-40B4-BE49-F238E27FC236}">
                <a16:creationId xmlns:a16="http://schemas.microsoft.com/office/drawing/2014/main" id="{716736C6-BAF4-4842-A2AE-9F3D9D5223FD}"/>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[24] · Referencias al final</a:t>
            </a:r>
          </a:p>
        </p:txBody>
      </p:sp>
      <p:sp>
        <p:nvSpPr>
          <p:cNvPr id="4" name="23">
            <a:extLst xmlns:a="http://schemas.openxmlformats.org/drawingml/2006/main">
              <a:ext uri="{FF2B5EF4-FFF2-40B4-BE49-F238E27FC236}">
                <a16:creationId xmlns:a16="http://schemas.microsoft.com/office/drawing/2014/main" id="{A5037BBA-4077-4C5C-B9CD-E4254A7EF83E}"/>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23</a:t>
            </a:r>
          </a:p>
        </p:txBody>
      </p:sp>
      <p:sp>
        <p:nvSpPr>
          <p:cNvPr id="5" name="">
            <a:extLst xmlns:a="http://schemas.openxmlformats.org/drawingml/2006/main">
              <a:ext uri="{FF2B5EF4-FFF2-40B4-BE49-F238E27FC236}">
                <a16:creationId xmlns:a16="http://schemas.microsoft.com/office/drawing/2014/main" id="{7B2B00B3-47E4-4202-B165-104F7E01E149}"/>
              </a:ext>
            </a:extLst>
          </p:cNvPr>
          <p:cNvSpPr>
            <a:spLocks xmlns:a="http://schemas.openxmlformats.org/drawingml/2006/main" noGrp="1"/>
          </p:cNvSpPr>
          <p:nvPr/>
        </p:nvSpPr>
        <p:spPr>
          <a:xfrm xmlns:a="http://schemas.openxmlformats.org/drawingml/2006/main">
            <a:off x="571500" y="2076450"/>
            <a:ext cx="2047875" cy="1009650"/>
          </a:xfrm>
          <a:prstGeom xmlns:a="http://schemas.openxmlformats.org/drawingml/2006/main" prst="rect">
            <a:avLst/>
          </a:prstGeom>
          <a:solidFill xmlns:a="http://schemas.openxmlformats.org/drawingml/2006/main">
            <a:srgbClr val="DCE5D3"/>
          </a:solidFill>
          <a:ln xmlns:a="http://schemas.openxmlformats.org/drawingml/2006/main" w="9525">
            <a:solidFill>
              <a:srgbClr val="CED7C8"/>
            </a:solidFill>
          </a:ln>
        </p:spPr>
        <p:txBody>
          <a:bodyPr xmlns:a="http://schemas.openxmlformats.org/drawingml/2006/main" lIns="133350" tIns="133350" rIns="133350" bIns="13335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F1</a:t>
            </a:r>
          </a:p>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Energizar</a:t>
            </a:r>
          </a:p>
        </p:txBody>
      </p:sp>
      <p:cxnSp>
        <p:nvCxnSpPr>
          <p:cNvPr id="6" name="">
            <a:extLst xmlns:a="http://schemas.openxmlformats.org/drawingml/2006/main">
              <a:ext uri="{FF2B5EF4-FFF2-40B4-BE49-F238E27FC236}">
                <a16:creationId xmlns:a16="http://schemas.microsoft.com/office/drawing/2014/main" id="{FDCEC88A-82CB-4747-89B1-5FB6832554D5}"/>
              </a:ext>
            </a:extLst>
          </p:cNvPr>
          <p:cNvCxnSpPr/>
          <p:nvPr/>
        </p:nvCxnSpPr>
        <p:spPr>
          <a:xfrm xmlns:a="http://schemas.openxmlformats.org/drawingml/2006/main">
            <a:off x="2647950" y="2600325"/>
            <a:ext cx="114300" cy="0"/>
          </a:xfrm>
          <a:prstGeom xmlns:a="http://schemas.openxmlformats.org/drawingml/2006/main" prst="straightConnector1">
            <a:avLst/>
          </a:prstGeom>
          <a:ln xmlns:a="http://schemas.openxmlformats.org/drawingml/2006/main" w="23813">
            <a:solidFill>
              <a:srgbClr val="577161"/>
            </a:solidFill>
            <a:tailEnd type="triangle" w="med" len="med"/>
          </a:ln>
        </p:spPr>
      </p:cxnSp>
      <p:sp>
        <p:nvSpPr>
          <p:cNvPr id="7" name="">
            <a:extLst xmlns:a="http://schemas.openxmlformats.org/drawingml/2006/main">
              <a:ext uri="{FF2B5EF4-FFF2-40B4-BE49-F238E27FC236}">
                <a16:creationId xmlns:a16="http://schemas.microsoft.com/office/drawing/2014/main" id="{D030E8FF-C123-4ED2-AD37-7E62D68128D7}"/>
              </a:ext>
            </a:extLst>
          </p:cNvPr>
          <p:cNvSpPr>
            <a:spLocks xmlns:a="http://schemas.openxmlformats.org/drawingml/2006/main" noGrp="1"/>
          </p:cNvSpPr>
          <p:nvPr/>
        </p:nvSpPr>
        <p:spPr>
          <a:xfrm xmlns:a="http://schemas.openxmlformats.org/drawingml/2006/main">
            <a:off x="2809875" y="2076450"/>
            <a:ext cx="2047875" cy="1009650"/>
          </a:xfrm>
          <a:prstGeom xmlns:a="http://schemas.openxmlformats.org/drawingml/2006/main" prst="rect">
            <a:avLst/>
          </a:prstGeom>
          <a:solidFill xmlns:a="http://schemas.openxmlformats.org/drawingml/2006/main">
            <a:srgbClr val="DCE5D3"/>
          </a:solidFill>
          <a:ln xmlns:a="http://schemas.openxmlformats.org/drawingml/2006/main" w="9525">
            <a:solidFill>
              <a:srgbClr val="CED7C8"/>
            </a:solidFill>
          </a:ln>
        </p:spPr>
        <p:txBody>
          <a:bodyPr xmlns:a="http://schemas.openxmlformats.org/drawingml/2006/main" lIns="133350" tIns="133350" rIns="133350" bIns="13335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F2</a:t>
            </a:r>
          </a:p>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Conectar</a:t>
            </a:r>
          </a:p>
        </p:txBody>
      </p:sp>
      <p:cxnSp>
        <p:nvCxnSpPr>
          <p:cNvPr id="8" name="">
            <a:extLst xmlns:a="http://schemas.openxmlformats.org/drawingml/2006/main">
              <a:ext uri="{FF2B5EF4-FFF2-40B4-BE49-F238E27FC236}">
                <a16:creationId xmlns:a16="http://schemas.microsoft.com/office/drawing/2014/main" id="{0AFF67BD-9A6D-4FBE-A0AE-0824867FA86F}"/>
              </a:ext>
            </a:extLst>
          </p:cNvPr>
          <p:cNvCxnSpPr/>
          <p:nvPr/>
        </p:nvCxnSpPr>
        <p:spPr>
          <a:xfrm xmlns:a="http://schemas.openxmlformats.org/drawingml/2006/main">
            <a:off x="4886325" y="2600325"/>
            <a:ext cx="114300" cy="0"/>
          </a:xfrm>
          <a:prstGeom xmlns:a="http://schemas.openxmlformats.org/drawingml/2006/main" prst="straightConnector1">
            <a:avLst/>
          </a:prstGeom>
          <a:ln xmlns:a="http://schemas.openxmlformats.org/drawingml/2006/main" w="23813">
            <a:solidFill>
              <a:srgbClr val="577161"/>
            </a:solidFill>
            <a:tailEnd type="triangle" w="med" len="med"/>
          </a:ln>
        </p:spPr>
      </p:cxnSp>
      <p:sp>
        <p:nvSpPr>
          <p:cNvPr id="9" name="">
            <a:extLst xmlns:a="http://schemas.openxmlformats.org/drawingml/2006/main">
              <a:ext uri="{FF2B5EF4-FFF2-40B4-BE49-F238E27FC236}">
                <a16:creationId xmlns:a16="http://schemas.microsoft.com/office/drawing/2014/main" id="{D76EA12B-42EF-40B8-A56A-98350C28EBB9}"/>
              </a:ext>
            </a:extLst>
          </p:cNvPr>
          <p:cNvSpPr>
            <a:spLocks xmlns:a="http://schemas.openxmlformats.org/drawingml/2006/main" noGrp="1"/>
          </p:cNvSpPr>
          <p:nvPr/>
        </p:nvSpPr>
        <p:spPr>
          <a:xfrm xmlns:a="http://schemas.openxmlformats.org/drawingml/2006/main">
            <a:off x="5048250" y="2076450"/>
            <a:ext cx="2047875" cy="1009650"/>
          </a:xfrm>
          <a:prstGeom xmlns:a="http://schemas.openxmlformats.org/drawingml/2006/main" prst="rect">
            <a:avLst/>
          </a:prstGeom>
          <a:solidFill xmlns:a="http://schemas.openxmlformats.org/drawingml/2006/main">
            <a:srgbClr val="DCE5D3"/>
          </a:solidFill>
          <a:ln xmlns:a="http://schemas.openxmlformats.org/drawingml/2006/main" w="9525">
            <a:solidFill>
              <a:srgbClr val="CED7C8"/>
            </a:solidFill>
          </a:ln>
        </p:spPr>
        <p:txBody>
          <a:bodyPr xmlns:a="http://schemas.openxmlformats.org/drawingml/2006/main" lIns="133350" tIns="133350" rIns="133350" bIns="13335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F3</a:t>
            </a:r>
          </a:p>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Capturar</a:t>
            </a:r>
          </a:p>
        </p:txBody>
      </p:sp>
      <p:cxnSp>
        <p:nvCxnSpPr>
          <p:cNvPr id="10" name="">
            <a:extLst xmlns:a="http://schemas.openxmlformats.org/drawingml/2006/main">
              <a:ext uri="{FF2B5EF4-FFF2-40B4-BE49-F238E27FC236}">
                <a16:creationId xmlns:a16="http://schemas.microsoft.com/office/drawing/2014/main" id="{72ACD8C4-DC3B-473A-B727-A6A779DDE7B7}"/>
              </a:ext>
            </a:extLst>
          </p:cNvPr>
          <p:cNvCxnSpPr/>
          <p:nvPr/>
        </p:nvCxnSpPr>
        <p:spPr>
          <a:xfrm xmlns:a="http://schemas.openxmlformats.org/drawingml/2006/main">
            <a:off x="7124700" y="2600325"/>
            <a:ext cx="114300" cy="0"/>
          </a:xfrm>
          <a:prstGeom xmlns:a="http://schemas.openxmlformats.org/drawingml/2006/main" prst="straightConnector1">
            <a:avLst/>
          </a:prstGeom>
          <a:ln xmlns:a="http://schemas.openxmlformats.org/drawingml/2006/main" w="23813">
            <a:solidFill>
              <a:srgbClr val="577161"/>
            </a:solidFill>
            <a:tailEnd type="triangle" w="med" len="med"/>
          </a:ln>
        </p:spPr>
      </p:cxnSp>
      <p:sp>
        <p:nvSpPr>
          <p:cNvPr id="11" name="">
            <a:extLst xmlns:a="http://schemas.openxmlformats.org/drawingml/2006/main">
              <a:ext uri="{FF2B5EF4-FFF2-40B4-BE49-F238E27FC236}">
                <a16:creationId xmlns:a16="http://schemas.microsoft.com/office/drawing/2014/main" id="{81B005F3-735C-4DED-95EC-EA26E5867FF7}"/>
              </a:ext>
            </a:extLst>
          </p:cNvPr>
          <p:cNvSpPr>
            <a:spLocks xmlns:a="http://schemas.openxmlformats.org/drawingml/2006/main" noGrp="1"/>
          </p:cNvSpPr>
          <p:nvPr/>
        </p:nvSpPr>
        <p:spPr>
          <a:xfrm xmlns:a="http://schemas.openxmlformats.org/drawingml/2006/main">
            <a:off x="7286625" y="2076450"/>
            <a:ext cx="2047875" cy="1009650"/>
          </a:xfrm>
          <a:prstGeom xmlns:a="http://schemas.openxmlformats.org/drawingml/2006/main" prst="rect">
            <a:avLst/>
          </a:prstGeom>
          <a:solidFill xmlns:a="http://schemas.openxmlformats.org/drawingml/2006/main">
            <a:srgbClr val="DCE5D3"/>
          </a:solidFill>
          <a:ln xmlns:a="http://schemas.openxmlformats.org/drawingml/2006/main" w="9525">
            <a:solidFill>
              <a:srgbClr val="CED7C8"/>
            </a:solidFill>
          </a:ln>
        </p:spPr>
        <p:txBody>
          <a:bodyPr xmlns:a="http://schemas.openxmlformats.org/drawingml/2006/main" lIns="133350" tIns="133350" rIns="133350" bIns="13335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F4</a:t>
            </a:r>
          </a:p>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Transmitir</a:t>
            </a:r>
          </a:p>
        </p:txBody>
      </p:sp>
      <p:cxnSp>
        <p:nvCxnSpPr>
          <p:cNvPr id="12" name="">
            <a:extLst xmlns:a="http://schemas.openxmlformats.org/drawingml/2006/main">
              <a:ext uri="{FF2B5EF4-FFF2-40B4-BE49-F238E27FC236}">
                <a16:creationId xmlns:a16="http://schemas.microsoft.com/office/drawing/2014/main" id="{B53C2C32-BAAD-4E14-B8FD-AFE480F3E683}"/>
              </a:ext>
            </a:extLst>
          </p:cNvPr>
          <p:cNvCxnSpPr/>
          <p:nvPr/>
        </p:nvCxnSpPr>
        <p:spPr>
          <a:xfrm xmlns:a="http://schemas.openxmlformats.org/drawingml/2006/main">
            <a:off x="9363075" y="2600325"/>
            <a:ext cx="114300" cy="0"/>
          </a:xfrm>
          <a:prstGeom xmlns:a="http://schemas.openxmlformats.org/drawingml/2006/main" prst="straightConnector1">
            <a:avLst/>
          </a:prstGeom>
          <a:ln xmlns:a="http://schemas.openxmlformats.org/drawingml/2006/main" w="23813">
            <a:solidFill>
              <a:srgbClr val="577161"/>
            </a:solidFill>
            <a:tailEnd type="triangle" w="med" len="med"/>
          </a:ln>
        </p:spPr>
      </p:cxnSp>
      <p:sp>
        <p:nvSpPr>
          <p:cNvPr id="13" name="">
            <a:extLst xmlns:a="http://schemas.openxmlformats.org/drawingml/2006/main">
              <a:ext uri="{FF2B5EF4-FFF2-40B4-BE49-F238E27FC236}">
                <a16:creationId xmlns:a16="http://schemas.microsoft.com/office/drawing/2014/main" id="{884A9E1D-0A7A-4434-ACB2-6C1D53BC4B2F}"/>
              </a:ext>
            </a:extLst>
          </p:cNvPr>
          <p:cNvSpPr>
            <a:spLocks xmlns:a="http://schemas.openxmlformats.org/drawingml/2006/main" noGrp="1"/>
          </p:cNvSpPr>
          <p:nvPr/>
        </p:nvSpPr>
        <p:spPr>
          <a:xfrm xmlns:a="http://schemas.openxmlformats.org/drawingml/2006/main">
            <a:off x="9525000" y="2076450"/>
            <a:ext cx="2047875" cy="1009650"/>
          </a:xfrm>
          <a:prstGeom xmlns:a="http://schemas.openxmlformats.org/drawingml/2006/main" prst="rect">
            <a:avLst/>
          </a:prstGeom>
          <a:solidFill xmlns:a="http://schemas.openxmlformats.org/drawingml/2006/main">
            <a:srgbClr val="DCE5D3"/>
          </a:solidFill>
          <a:ln xmlns:a="http://schemas.openxmlformats.org/drawingml/2006/main" w="9525">
            <a:solidFill>
              <a:srgbClr val="CED7C8"/>
            </a:solidFill>
          </a:ln>
        </p:spPr>
        <p:txBody>
          <a:bodyPr xmlns:a="http://schemas.openxmlformats.org/drawingml/2006/main" lIns="133350" tIns="133350" rIns="133350" bIns="13335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F5</a:t>
            </a:r>
          </a:p>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Determinar cantidad</a:t>
            </a:r>
          </a:p>
        </p:txBody>
      </p:sp>
      <p:sp>
        <p:nvSpPr>
          <p:cNvPr id="14" name="">
            <a:extLst xmlns:a="http://schemas.openxmlformats.org/drawingml/2006/main">
              <a:ext uri="{FF2B5EF4-FFF2-40B4-BE49-F238E27FC236}">
                <a16:creationId xmlns:a16="http://schemas.microsoft.com/office/drawing/2014/main" id="{802F6CE8-C43D-406E-95EB-2A5699EDDB47}"/>
              </a:ext>
            </a:extLst>
          </p:cNvPr>
          <p:cNvSpPr>
            <a:spLocks xmlns:a="http://schemas.openxmlformats.org/drawingml/2006/main" noGrp="1"/>
          </p:cNvSpPr>
          <p:nvPr/>
        </p:nvSpPr>
        <p:spPr>
          <a:xfrm xmlns:a="http://schemas.openxmlformats.org/drawingml/2006/main">
            <a:off x="9525000" y="3790950"/>
            <a:ext cx="2047875" cy="1009650"/>
          </a:xfrm>
          <a:prstGeom xmlns:a="http://schemas.openxmlformats.org/drawingml/2006/main" prst="rect">
            <a:avLst/>
          </a:prstGeom>
          <a:solidFill xmlns:a="http://schemas.openxmlformats.org/drawingml/2006/main">
            <a:srgbClr val="E7EDDE"/>
          </a:solidFill>
          <a:ln xmlns:a="http://schemas.openxmlformats.org/drawingml/2006/main" w="9525">
            <a:solidFill>
              <a:srgbClr val="CED7C8"/>
            </a:solidFill>
          </a:ln>
        </p:spPr>
        <p:txBody>
          <a:bodyPr xmlns:a="http://schemas.openxmlformats.org/drawingml/2006/main" lIns="133350" tIns="133350" rIns="133350" bIns="13335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F6</a:t>
            </a:r>
          </a:p>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Identificar y corregir</a:t>
            </a:r>
          </a:p>
        </p:txBody>
      </p:sp>
      <p:cxnSp>
        <p:nvCxnSpPr>
          <p:cNvPr id="15" name="">
            <a:extLst xmlns:a="http://schemas.openxmlformats.org/drawingml/2006/main">
              <a:ext uri="{FF2B5EF4-FFF2-40B4-BE49-F238E27FC236}">
                <a16:creationId xmlns:a16="http://schemas.microsoft.com/office/drawing/2014/main" id="{72157CD1-CA84-4E89-A57C-6135D5CC8177}"/>
              </a:ext>
            </a:extLst>
          </p:cNvPr>
          <p:cNvCxnSpPr/>
          <p:nvPr/>
        </p:nvCxnSpPr>
        <p:spPr>
          <a:xfrm xmlns:a="http://schemas.openxmlformats.org/drawingml/2006/main">
            <a:off x="9363075" y="4314825"/>
            <a:ext cx="114300" cy="0"/>
          </a:xfrm>
          <a:prstGeom xmlns:a="http://schemas.openxmlformats.org/drawingml/2006/main" prst="straightConnector1">
            <a:avLst/>
          </a:prstGeom>
          <a:ln xmlns:a="http://schemas.openxmlformats.org/drawingml/2006/main" w="23813">
            <a:solidFill>
              <a:srgbClr val="577161"/>
            </a:solidFill>
            <a:headEnd type="triangle" w="med" len="med"/>
          </a:ln>
        </p:spPr>
      </p:cxnSp>
      <p:sp>
        <p:nvSpPr>
          <p:cNvPr id="16" name="">
            <a:extLst xmlns:a="http://schemas.openxmlformats.org/drawingml/2006/main">
              <a:ext uri="{FF2B5EF4-FFF2-40B4-BE49-F238E27FC236}">
                <a16:creationId xmlns:a16="http://schemas.microsoft.com/office/drawing/2014/main" id="{822FD89C-B236-4C0D-A4CD-199A718AE7B8}"/>
              </a:ext>
            </a:extLst>
          </p:cNvPr>
          <p:cNvSpPr>
            <a:spLocks xmlns:a="http://schemas.openxmlformats.org/drawingml/2006/main" noGrp="1"/>
          </p:cNvSpPr>
          <p:nvPr/>
        </p:nvSpPr>
        <p:spPr>
          <a:xfrm xmlns:a="http://schemas.openxmlformats.org/drawingml/2006/main">
            <a:off x="7286625" y="3790950"/>
            <a:ext cx="2047875" cy="1009650"/>
          </a:xfrm>
          <a:prstGeom xmlns:a="http://schemas.openxmlformats.org/drawingml/2006/main" prst="rect">
            <a:avLst/>
          </a:prstGeom>
          <a:solidFill xmlns:a="http://schemas.openxmlformats.org/drawingml/2006/main">
            <a:srgbClr val="E7EDDE"/>
          </a:solidFill>
          <a:ln xmlns:a="http://schemas.openxmlformats.org/drawingml/2006/main" w="9525">
            <a:solidFill>
              <a:srgbClr val="CED7C8"/>
            </a:solidFill>
          </a:ln>
        </p:spPr>
        <p:txBody>
          <a:bodyPr xmlns:a="http://schemas.openxmlformats.org/drawingml/2006/main" lIns="133350" tIns="133350" rIns="133350" bIns="13335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F7</a:t>
            </a:r>
          </a:p>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Consultar referencia</a:t>
            </a:r>
          </a:p>
        </p:txBody>
      </p:sp>
      <p:cxnSp>
        <p:nvCxnSpPr>
          <p:cNvPr id="17" name="">
            <a:extLst xmlns:a="http://schemas.openxmlformats.org/drawingml/2006/main">
              <a:ext uri="{FF2B5EF4-FFF2-40B4-BE49-F238E27FC236}">
                <a16:creationId xmlns:a16="http://schemas.microsoft.com/office/drawing/2014/main" id="{FE6FC15E-ACD1-452D-A1C2-0225FD2845BE}"/>
              </a:ext>
            </a:extLst>
          </p:cNvPr>
          <p:cNvCxnSpPr/>
          <p:nvPr/>
        </p:nvCxnSpPr>
        <p:spPr>
          <a:xfrm xmlns:a="http://schemas.openxmlformats.org/drawingml/2006/main">
            <a:off x="7124700" y="4314825"/>
            <a:ext cx="114300" cy="0"/>
          </a:xfrm>
          <a:prstGeom xmlns:a="http://schemas.openxmlformats.org/drawingml/2006/main" prst="straightConnector1">
            <a:avLst/>
          </a:prstGeom>
          <a:ln xmlns:a="http://schemas.openxmlformats.org/drawingml/2006/main" w="23813">
            <a:solidFill>
              <a:srgbClr val="577161"/>
            </a:solidFill>
            <a:headEnd type="triangle" w="med" len="med"/>
          </a:ln>
        </p:spPr>
      </p:cxnSp>
      <p:sp>
        <p:nvSpPr>
          <p:cNvPr id="18" name="">
            <a:extLst xmlns:a="http://schemas.openxmlformats.org/drawingml/2006/main">
              <a:ext uri="{FF2B5EF4-FFF2-40B4-BE49-F238E27FC236}">
                <a16:creationId xmlns:a16="http://schemas.microsoft.com/office/drawing/2014/main" id="{E58B2D79-08F7-4600-80A7-7D60E564BA75}"/>
              </a:ext>
            </a:extLst>
          </p:cNvPr>
          <p:cNvSpPr>
            <a:spLocks xmlns:a="http://schemas.openxmlformats.org/drawingml/2006/main" noGrp="1"/>
          </p:cNvSpPr>
          <p:nvPr/>
        </p:nvSpPr>
        <p:spPr>
          <a:xfrm xmlns:a="http://schemas.openxmlformats.org/drawingml/2006/main">
            <a:off x="5048250" y="3790950"/>
            <a:ext cx="2047875" cy="1009650"/>
          </a:xfrm>
          <a:prstGeom xmlns:a="http://schemas.openxmlformats.org/drawingml/2006/main" prst="rect">
            <a:avLst/>
          </a:prstGeom>
          <a:solidFill xmlns:a="http://schemas.openxmlformats.org/drawingml/2006/main">
            <a:srgbClr val="E7EDDE"/>
          </a:solidFill>
          <a:ln xmlns:a="http://schemas.openxmlformats.org/drawingml/2006/main" w="9525">
            <a:solidFill>
              <a:srgbClr val="CED7C8"/>
            </a:solidFill>
          </a:ln>
        </p:spPr>
        <p:txBody>
          <a:bodyPr xmlns:a="http://schemas.openxmlformats.org/drawingml/2006/main" lIns="133350" tIns="133350" rIns="133350" bIns="13335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F8</a:t>
            </a:r>
          </a:p>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Calcular</a:t>
            </a:r>
          </a:p>
        </p:txBody>
      </p:sp>
      <p:cxnSp>
        <p:nvCxnSpPr>
          <p:cNvPr id="19" name="">
            <a:extLst xmlns:a="http://schemas.openxmlformats.org/drawingml/2006/main">
              <a:ext uri="{FF2B5EF4-FFF2-40B4-BE49-F238E27FC236}">
                <a16:creationId xmlns:a16="http://schemas.microsoft.com/office/drawing/2014/main" id="{19C1137F-1DE5-4105-A5A2-7086DD76A2BC}"/>
              </a:ext>
            </a:extLst>
          </p:cNvPr>
          <p:cNvCxnSpPr/>
          <p:nvPr/>
        </p:nvCxnSpPr>
        <p:spPr>
          <a:xfrm xmlns:a="http://schemas.openxmlformats.org/drawingml/2006/main">
            <a:off x="4886325" y="4314825"/>
            <a:ext cx="114300" cy="0"/>
          </a:xfrm>
          <a:prstGeom xmlns:a="http://schemas.openxmlformats.org/drawingml/2006/main" prst="straightConnector1">
            <a:avLst/>
          </a:prstGeom>
          <a:ln xmlns:a="http://schemas.openxmlformats.org/drawingml/2006/main" w="23813">
            <a:solidFill>
              <a:srgbClr val="577161"/>
            </a:solidFill>
            <a:headEnd type="triangle" w="med" len="med"/>
          </a:ln>
        </p:spPr>
      </p:cxnSp>
      <p:sp>
        <p:nvSpPr>
          <p:cNvPr id="20" name="">
            <a:extLst xmlns:a="http://schemas.openxmlformats.org/drawingml/2006/main">
              <a:ext uri="{FF2B5EF4-FFF2-40B4-BE49-F238E27FC236}">
                <a16:creationId xmlns:a16="http://schemas.microsoft.com/office/drawing/2014/main" id="{FFA57CEA-C6AA-404F-9418-9C170458E6F8}"/>
              </a:ext>
            </a:extLst>
          </p:cNvPr>
          <p:cNvSpPr>
            <a:spLocks xmlns:a="http://schemas.openxmlformats.org/drawingml/2006/main" noGrp="1"/>
          </p:cNvSpPr>
          <p:nvPr/>
        </p:nvSpPr>
        <p:spPr>
          <a:xfrm xmlns:a="http://schemas.openxmlformats.org/drawingml/2006/main">
            <a:off x="2809875" y="3790950"/>
            <a:ext cx="2047875" cy="1009650"/>
          </a:xfrm>
          <a:prstGeom xmlns:a="http://schemas.openxmlformats.org/drawingml/2006/main" prst="rect">
            <a:avLst/>
          </a:prstGeom>
          <a:solidFill xmlns:a="http://schemas.openxmlformats.org/drawingml/2006/main">
            <a:srgbClr val="E7EDDE"/>
          </a:solidFill>
          <a:ln xmlns:a="http://schemas.openxmlformats.org/drawingml/2006/main" w="9525">
            <a:solidFill>
              <a:srgbClr val="CED7C8"/>
            </a:solidFill>
          </a:ln>
        </p:spPr>
        <p:txBody>
          <a:bodyPr xmlns:a="http://schemas.openxmlformats.org/drawingml/2006/main" lIns="133350" tIns="133350" rIns="133350" bIns="13335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F9</a:t>
            </a:r>
          </a:p>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Informar</a:t>
            </a:r>
          </a:p>
        </p:txBody>
      </p:sp>
      <p:cxnSp>
        <p:nvCxnSpPr>
          <p:cNvPr id="21" name="">
            <a:extLst xmlns:a="http://schemas.openxmlformats.org/drawingml/2006/main">
              <a:ext uri="{FF2B5EF4-FFF2-40B4-BE49-F238E27FC236}">
                <a16:creationId xmlns:a16="http://schemas.microsoft.com/office/drawing/2014/main" id="{1126297A-086C-483F-AF8B-5D7B2F68AC37}"/>
              </a:ext>
            </a:extLst>
          </p:cNvPr>
          <p:cNvCxnSpPr/>
          <p:nvPr/>
        </p:nvCxnSpPr>
        <p:spPr>
          <a:xfrm xmlns:a="http://schemas.openxmlformats.org/drawingml/2006/main">
            <a:off x="2647950" y="4314825"/>
            <a:ext cx="114300" cy="0"/>
          </a:xfrm>
          <a:prstGeom xmlns:a="http://schemas.openxmlformats.org/drawingml/2006/main" prst="straightConnector1">
            <a:avLst/>
          </a:prstGeom>
          <a:ln xmlns:a="http://schemas.openxmlformats.org/drawingml/2006/main" w="23813">
            <a:solidFill>
              <a:srgbClr val="577161"/>
            </a:solidFill>
            <a:headEnd type="triangle" w="med" len="med"/>
          </a:ln>
        </p:spPr>
      </p:cxnSp>
      <p:sp>
        <p:nvSpPr>
          <p:cNvPr id="22" name="">
            <a:extLst xmlns:a="http://schemas.openxmlformats.org/drawingml/2006/main">
              <a:ext uri="{FF2B5EF4-FFF2-40B4-BE49-F238E27FC236}">
                <a16:creationId xmlns:a16="http://schemas.microsoft.com/office/drawing/2014/main" id="{D8528600-208D-4298-87D4-89E64C9A6807}"/>
              </a:ext>
            </a:extLst>
          </p:cNvPr>
          <p:cNvSpPr>
            <a:spLocks xmlns:a="http://schemas.openxmlformats.org/drawingml/2006/main" noGrp="1"/>
          </p:cNvSpPr>
          <p:nvPr/>
        </p:nvSpPr>
        <p:spPr>
          <a:xfrm xmlns:a="http://schemas.openxmlformats.org/drawingml/2006/main">
            <a:off x="571500" y="3790950"/>
            <a:ext cx="2047875" cy="1009650"/>
          </a:xfrm>
          <a:prstGeom xmlns:a="http://schemas.openxmlformats.org/drawingml/2006/main" prst="rect">
            <a:avLst/>
          </a:prstGeom>
          <a:solidFill xmlns:a="http://schemas.openxmlformats.org/drawingml/2006/main">
            <a:srgbClr val="E7EDDE"/>
          </a:solidFill>
          <a:ln xmlns:a="http://schemas.openxmlformats.org/drawingml/2006/main" w="9525">
            <a:solidFill>
              <a:srgbClr val="CED7C8"/>
            </a:solidFill>
          </a:ln>
        </p:spPr>
        <p:txBody>
          <a:bodyPr xmlns:a="http://schemas.openxmlformats.org/drawingml/2006/main" lIns="133350" tIns="133350" rIns="133350" bIns="13335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F10</a:t>
            </a:r>
          </a:p>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Guardar</a:t>
            </a:r>
          </a:p>
        </p:txBody>
      </p:sp>
      <p:cxnSp>
        <p:nvCxnSpPr>
          <p:cNvPr id="23" name="">
            <a:extLst xmlns:a="http://schemas.openxmlformats.org/drawingml/2006/main">
              <a:ext uri="{FF2B5EF4-FFF2-40B4-BE49-F238E27FC236}">
                <a16:creationId xmlns:a16="http://schemas.microsoft.com/office/drawing/2014/main" id="{6BD4A1FD-0C1E-45FD-BE19-50C4B51C6D2D}"/>
              </a:ext>
            </a:extLst>
          </p:cNvPr>
          <p:cNvCxnSpPr/>
          <p:nvPr/>
        </p:nvCxnSpPr>
        <p:spPr>
          <a:xfrm xmlns:a="http://schemas.openxmlformats.org/drawingml/2006/main">
            <a:off x="10544175" y="3152775"/>
            <a:ext cx="0" cy="504825"/>
          </a:xfrm>
          <a:prstGeom xmlns:a="http://schemas.openxmlformats.org/drawingml/2006/main" prst="straightConnector1">
            <a:avLst/>
          </a:prstGeom>
          <a:ln xmlns:a="http://schemas.openxmlformats.org/drawingml/2006/main" w="23813">
            <a:solidFill>
              <a:srgbClr val="577161"/>
            </a:solidFill>
            <a:tailEnd type="triangle" w="med" len="med"/>
          </a:ln>
        </p:spPr>
      </p:cxnSp>
      <p:sp>
        <p:nvSpPr>
          <p:cNvPr id="24" name="Adquisición, comunicación y cantidad">
            <a:extLst xmlns:a="http://schemas.openxmlformats.org/drawingml/2006/main">
              <a:ext uri="{FF2B5EF4-FFF2-40B4-BE49-F238E27FC236}">
                <a16:creationId xmlns:a16="http://schemas.microsoft.com/office/drawing/2014/main" id="{D803CAD1-FD5A-4AB7-9A09-2322FFCED9C2}"/>
              </a:ext>
            </a:extLst>
          </p:cNvPr>
          <p:cNvSpPr>
            <a:spLocks xmlns:a="http://schemas.openxmlformats.org/drawingml/2006/main" noGrp="1"/>
          </p:cNvSpPr>
          <p:nvPr/>
        </p:nvSpPr>
        <p:spPr>
          <a:xfrm xmlns:a="http://schemas.openxmlformats.org/drawingml/2006/main">
            <a:off x="571500" y="1724025"/>
            <a:ext cx="11029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AD6240"/>
                </a:solidFill>
                <a:latin typeface="Arial"/>
                <a:ea typeface="Arial"/>
                <a:cs typeface="Arial"/>
              </a:defRPr>
            </a:defPPr>
          </a:lstStyle>
          <a:p xmlns:a="http://schemas.openxmlformats.org/drawingml/2006/main">
            <a:pPr>
              <a:defRPr sz="1875" b="1">
                <a:solidFill>
                  <a:srgbClr val="AD6240"/>
                </a:solidFill>
                <a:latin typeface="Arial"/>
                <a:ea typeface="Arial"/>
                <a:cs typeface="Arial"/>
              </a:defRPr>
            </a:pPr>
            <a:r>
              <a:rPr sz="1875" b="1">
                <a:solidFill>
                  <a:srgbClr val="AD6240"/>
                </a:solidFill>
                <a:latin typeface="Arial"/>
                <a:ea typeface="Arial"/>
                <a:cs typeface="Arial"/>
              </a:rPr>
              <a:t>Adquisición, comunicación y cantidad</a:t>
            </a:r>
          </a:p>
        </p:txBody>
      </p:sp>
      <p:sp>
        <p:nvSpPr>
          <p:cNvPr id="25" name="Procesamiento, referencia e interfaz">
            <a:extLst xmlns:a="http://schemas.openxmlformats.org/drawingml/2006/main">
              <a:ext uri="{FF2B5EF4-FFF2-40B4-BE49-F238E27FC236}">
                <a16:creationId xmlns:a16="http://schemas.microsoft.com/office/drawing/2014/main" id="{8CC1E448-52CF-454D-81E4-77C0D4466070}"/>
              </a:ext>
            </a:extLst>
          </p:cNvPr>
          <p:cNvSpPr>
            <a:spLocks xmlns:a="http://schemas.openxmlformats.org/drawingml/2006/main" noGrp="1"/>
          </p:cNvSpPr>
          <p:nvPr/>
        </p:nvSpPr>
        <p:spPr>
          <a:xfrm xmlns:a="http://schemas.openxmlformats.org/drawingml/2006/main">
            <a:off x="571500" y="3438525"/>
            <a:ext cx="11029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AD6240"/>
                </a:solidFill>
                <a:latin typeface="Arial"/>
                <a:ea typeface="Arial"/>
                <a:cs typeface="Arial"/>
              </a:defRPr>
            </a:defPPr>
          </a:lstStyle>
          <a:p xmlns:a="http://schemas.openxmlformats.org/drawingml/2006/main">
            <a:pPr>
              <a:defRPr sz="1875" b="1">
                <a:solidFill>
                  <a:srgbClr val="AD6240"/>
                </a:solidFill>
                <a:latin typeface="Arial"/>
                <a:ea typeface="Arial"/>
                <a:cs typeface="Arial"/>
              </a:defRPr>
            </a:pPr>
            <a:r>
              <a:rPr sz="1875" b="1">
                <a:solidFill>
                  <a:srgbClr val="AD6240"/>
                </a:solidFill>
                <a:latin typeface="Arial"/>
                <a:ea typeface="Arial"/>
                <a:cs typeface="Arial"/>
              </a:rPr>
              <a:t>Procesamiento, referencia e interfaz</a:t>
            </a:r>
          </a:p>
        </p:txBody>
      </p:sp>
      <p:sp>
        <p:nvSpPr>
          <p:cNvPr id="26" name="">
            <a:extLst xmlns:a="http://schemas.openxmlformats.org/drawingml/2006/main">
              <a:ext uri="{FF2B5EF4-FFF2-40B4-BE49-F238E27FC236}">
                <a16:creationId xmlns:a16="http://schemas.microsoft.com/office/drawing/2014/main" id="{7EEC5459-3878-412F-83D8-970AC65E5EAF}"/>
              </a:ext>
            </a:extLst>
          </p:cNvPr>
          <p:cNvSpPr>
            <a:spLocks xmlns:a="http://schemas.openxmlformats.org/drawingml/2006/main" noGrp="1"/>
          </p:cNvSpPr>
          <p:nvPr/>
        </p:nvSpPr>
        <p:spPr>
          <a:xfrm xmlns:a="http://schemas.openxmlformats.org/drawingml/2006/main">
            <a:off x="571500" y="5324475"/>
            <a:ext cx="11049000" cy="600075"/>
          </a:xfrm>
          <a:prstGeom xmlns:a="http://schemas.openxmlformats.org/drawingml/2006/main" prst="rect">
            <a:avLst/>
          </a:prstGeom>
          <a:solidFill xmlns:a="http://schemas.openxmlformats.org/drawingml/2006/main">
            <a:srgbClr val="FFFFFF"/>
          </a:solidFill>
          <a:ln xmlns:a="http://schemas.openxmlformats.org/drawingml/2006/main" w="9525">
            <a:solidFill>
              <a:srgbClr val="CED7C8"/>
            </a:solidFill>
          </a:ln>
        </p:spPr>
        <p:txBody>
          <a:bodyPr xmlns:a="http://schemas.openxmlformats.org/drawingml/2006/main" lIns="133350" tIns="133350" rIns="133350" bIns="13335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F11 · Sostener la porción y permitir limpieza</a:t>
            </a:r>
          </a:p>
        </p:txBody>
      </p:sp>
      <p:sp>
        <p:nvSpPr>
          <p:cNvPr id="27" name="Función mecánica transversal · alimento sin modificació">
            <a:extLst xmlns:a="http://schemas.openxmlformats.org/drawingml/2006/main">
              <a:ext uri="{FF2B5EF4-FFF2-40B4-BE49-F238E27FC236}">
                <a16:creationId xmlns:a16="http://schemas.microsoft.com/office/drawing/2014/main" id="{892DD068-B9E8-46C0-AB8D-B31CF0A28269}"/>
              </a:ext>
            </a:extLst>
          </p:cNvPr>
          <p:cNvSpPr>
            <a:spLocks xmlns:a="http://schemas.openxmlformats.org/drawingml/2006/main" noGrp="1"/>
          </p:cNvSpPr>
          <p:nvPr/>
        </p:nvSpPr>
        <p:spPr>
          <a:xfrm xmlns:a="http://schemas.openxmlformats.org/drawingml/2006/main">
            <a:off x="571500" y="60388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Función mecánica transversal · alimento sin modificación intencional</a:t>
            </a:r>
          </a:p>
        </p:txBody>
      </p:sp>
    </p:spTree>
    <p:extLst>
      <p:ext uri="{BB962C8B-B14F-4D97-AF65-F5344CB8AC3E}">
        <p14:creationId xmlns:p14="http://schemas.microsoft.com/office/powerpoint/2010/main" val="1092777579"/>
      </p:ext>
    </p:extLst>
  </p:cSld>
</p:sld>
</file>

<file path=ppt/slides/slide24.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40" name="Matriz morfológica · Energía y adquisición">
            <a:extLst xmlns:a="http://schemas.openxmlformats.org/drawingml/2006/main">
              <a:ext uri="{FF2B5EF4-FFF2-40B4-BE49-F238E27FC236}">
                <a16:creationId xmlns:a16="http://schemas.microsoft.com/office/drawing/2014/main" id="{DD1E345E-6F34-4826-B357-1E70A3B592EF}"/>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Matriz morfológica · Energía y adquisición</a:t>
            </a:r>
          </a:p>
        </p:txBody>
      </p:sp>
      <p:sp>
        <p:nvSpPr>
          <p:cNvPr id="2" name="Dominios de energía, comunicación y entrada. Cada flech">
            <a:extLst xmlns:a="http://schemas.openxmlformats.org/drawingml/2006/main">
              <a:ext uri="{FF2B5EF4-FFF2-40B4-BE49-F238E27FC236}">
                <a16:creationId xmlns:a16="http://schemas.microsoft.com/office/drawing/2014/main" id="{D5135237-8EA6-40E4-AC0C-3D4FC92379E3}"/>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Dominios de energía, comunicación y entrada. Cada flecha conecta una opción por función.</a:t>
            </a:r>
          </a:p>
        </p:txBody>
      </p:sp>
      <p:sp>
        <p:nvSpPr>
          <p:cNvPr id="3" name="Fuentes [16], [17], [18], [19], [20], [24] · Referencia">
            <a:extLst xmlns:a="http://schemas.openxmlformats.org/drawingml/2006/main">
              <a:ext uri="{FF2B5EF4-FFF2-40B4-BE49-F238E27FC236}">
                <a16:creationId xmlns:a16="http://schemas.microsoft.com/office/drawing/2014/main" id="{D5C0FCE3-11BA-4D1C-ADDC-78386AD3987B}"/>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[16], [17], [18], [19], [20], [24] · Referencias al final</a:t>
            </a:r>
          </a:p>
        </p:txBody>
      </p:sp>
      <p:sp>
        <p:nvSpPr>
          <p:cNvPr id="4" name="24">
            <a:extLst xmlns:a="http://schemas.openxmlformats.org/drawingml/2006/main">
              <a:ext uri="{FF2B5EF4-FFF2-40B4-BE49-F238E27FC236}">
                <a16:creationId xmlns:a16="http://schemas.microsoft.com/office/drawing/2014/main" id="{B49C6927-786C-4A49-AF5B-D6C7541E5719}"/>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24</a:t>
            </a:r>
          </a:p>
        </p:txBody>
      </p:sp>
      <p:graphicFrame>
        <p:nvGraphicFramePr>
          <p:cNvPr id="5" name="">
            <a:extLst xmlns:a="http://schemas.openxmlformats.org/drawingml/2006/main">
              <a:ext uri="{FF2B5EF4-FFF2-40B4-BE49-F238E27FC236}">
                <a16:creationId xmlns:a16="http://schemas.microsoft.com/office/drawing/2014/main" id="{4175B4B2-E29F-43A4-A917-E4E7F36AFE49}"/>
              </a:ext>
            </a:extLst>
          </p:cNvPr>
          <p:cNvGraphicFramePr/>
          <p:nvPr/>
        </p:nvGraphicFramePr>
        <p:xfrm>
          <a:off xmlns:a="http://schemas.openxmlformats.org/drawingml/2006/main" x="571500" y="2019300"/>
          <a:ext xmlns:a="http://schemas.openxmlformats.org/drawingml/2006/main" cx="11049000" cy="3886200"/>
        </p:xfrm>
        <a:graphic xmlns:a="http://schemas.openxmlformats.org/drawingml/2006/main">
          <a:graphicData uri="http://schemas.openxmlformats.org/drawingml/2006/table">
            <a:tbl>
              <a:tblPr/>
              <a:tblGrid>
                <a:gridCol w="2076450"/>
                <a:gridCol w="2990850"/>
                <a:gridCol w="2990850"/>
                <a:gridCol w="2990850"/>
              </a:tblGrid>
              <a:tr h="457200">
                <a:tc>
                  <a:txBody>
                    <a:bodyPr/>
                    <a:lstStyle/>
                    <a:p>
                      <a:r>
                        <a:rPr sz="1725" b="1">
                          <a:solidFill>
                            <a:srgbClr val="FFFFFF"/>
                          </a:solidFill>
                          <a:latin typeface="Arial"/>
                          <a:ea typeface="Arial"/>
                          <a:cs typeface="Arial"/>
                        </a:rPr>
                        <a:t>Función</a:t>
                      </a:r>
                    </a:p>
                  </a:txBody>
                  <a:tcPr marL="114300" marR="114300" marT="19050" marB="19050" anchor="ctr">
                    <a:solidFill>
                      <a:srgbClr val="173F2F"/>
                    </a:solidFill>
                  </a:tcPr>
                </a:tc>
                <a:tc>
                  <a:txBody>
                    <a:bodyPr/>
                    <a:lstStyle/>
                    <a:p>
                      <a:r>
                        <a:rPr sz="1725" b="1">
                          <a:solidFill>
                            <a:srgbClr val="FFFFFF"/>
                          </a:solidFill>
                          <a:latin typeface="Arial"/>
                          <a:ea typeface="Arial"/>
                          <a:cs typeface="Arial"/>
                        </a:rPr>
                        <a:t>A · Visual</a:t>
                      </a:r>
                    </a:p>
                  </a:txBody>
                  <a:tcPr marL="114300" marR="114300" marT="19050" marB="19050" anchor="ctr">
                    <a:solidFill>
                      <a:srgbClr val="173F2F"/>
                    </a:solidFill>
                  </a:tcPr>
                </a:tc>
                <a:tc>
                  <a:txBody>
                    <a:bodyPr/>
                    <a:lstStyle/>
                    <a:p>
                      <a:r>
                        <a:rPr sz="1725" b="1">
                          <a:solidFill>
                            <a:srgbClr val="FFFFFF"/>
                          </a:solidFill>
                          <a:latin typeface="Arial"/>
                          <a:ea typeface="Arial"/>
                          <a:cs typeface="Arial"/>
                        </a:rPr>
                        <a:t>B · Avance actual</a:t>
                      </a:r>
                    </a:p>
                  </a:txBody>
                  <a:tcPr marL="114300" marR="114300" marT="19050" marB="19050" anchor="ctr">
                    <a:solidFill>
                      <a:srgbClr val="173F2F"/>
                    </a:solidFill>
                  </a:tcPr>
                </a:tc>
                <a:tc>
                  <a:txBody>
                    <a:bodyPr/>
                    <a:lstStyle/>
                    <a:p>
                      <a:r>
                        <a:rPr sz="1725" b="1">
                          <a:solidFill>
                            <a:srgbClr val="FFFFFF"/>
                          </a:solidFill>
                          <a:latin typeface="Arial"/>
                          <a:ea typeface="Arial"/>
                          <a:cs typeface="Arial"/>
                        </a:rPr>
                        <a:t>C · Caja integrada</a:t>
                      </a:r>
                    </a:p>
                  </a:txBody>
                  <a:tcPr marL="114300" marR="114300" marT="19050" marB="19050" anchor="ctr">
                    <a:solidFill>
                      <a:srgbClr val="173F2F"/>
                    </a:solidFill>
                  </a:tcPr>
                </a:tc>
              </a:tr>
              <a:tr h="857250">
                <a:tc>
                  <a:txBody>
                    <a:bodyPr/>
                    <a:lstStyle/>
                    <a:p>
                      <a:r>
                        <a:rPr sz="1725">
                          <a:solidFill>
                            <a:srgbClr val="173F2F"/>
                          </a:solidFill>
                          <a:latin typeface="Arial"/>
                          <a:ea typeface="Arial"/>
                          <a:cs typeface="Arial"/>
                        </a:rPr>
                        <a:t>F1 Energizar</a:t>
                      </a:r>
                    </a:p>
                  </a:txBody>
                  <a:tcPr marL="114300" marR="114300" marT="19050" marB="19050" anchor="ctr">
                    <a:solidFill>
                      <a:srgbClr val="FFFFFF"/>
                    </a:solidFill>
                  </a:tcPr>
                </a:tc>
                <a:tc>
                  <a:txBody>
                    <a:bodyPr/>
                    <a:lstStyle/>
                    <a:p>
                      <a:r>
                        <a:rPr sz="1725">
                          <a:solidFill>
                            <a:srgbClr val="173F2F"/>
                          </a:solidFill>
                          <a:latin typeface="Arial"/>
                          <a:ea typeface="Arial"/>
                          <a:cs typeface="Arial"/>
                        </a:rPr>
                        <a:t/>
                      </a:r>
                    </a:p>
                  </a:txBody>
                  <a:tcPr marL="114300" marR="114300" marT="19050" marB="19050" anchor="ctr">
                    <a:solidFill>
                      <a:srgbClr val="FFFFFF"/>
                    </a:solidFill>
                  </a:tcPr>
                </a:tc>
                <a:tc>
                  <a:txBody>
                    <a:bodyPr/>
                    <a:lstStyle/>
                    <a:p>
                      <a:r>
                        <a:rPr sz="1725">
                          <a:solidFill>
                            <a:srgbClr val="173F2F"/>
                          </a:solidFill>
                          <a:latin typeface="Arial"/>
                          <a:ea typeface="Arial"/>
                          <a:cs typeface="Arial"/>
                        </a:rPr>
                        <a:t/>
                      </a:r>
                    </a:p>
                  </a:txBody>
                  <a:tcPr marL="114300" marR="114300" marT="19050" marB="19050" anchor="ctr">
                    <a:solidFill>
                      <a:srgbClr val="FFFFFF"/>
                    </a:solidFill>
                  </a:tcPr>
                </a:tc>
                <a:tc>
                  <a:txBody>
                    <a:bodyPr/>
                    <a:lstStyle/>
                    <a:p>
                      <a:r>
                        <a:rPr sz="1725">
                          <a:solidFill>
                            <a:srgbClr val="173F2F"/>
                          </a:solidFill>
                          <a:latin typeface="Arial"/>
                          <a:ea typeface="Arial"/>
                          <a:cs typeface="Arial"/>
                        </a:rPr>
                        <a:t/>
                      </a:r>
                    </a:p>
                  </a:txBody>
                  <a:tcPr marL="114300" marR="114300" marT="19050" marB="19050" anchor="ctr">
                    <a:solidFill>
                      <a:srgbClr val="FFFFFF"/>
                    </a:solidFill>
                  </a:tcPr>
                </a:tc>
              </a:tr>
              <a:tr h="857250">
                <a:tc>
                  <a:txBody>
                    <a:bodyPr/>
                    <a:lstStyle/>
                    <a:p>
                      <a:r>
                        <a:rPr sz="1725">
                          <a:solidFill>
                            <a:srgbClr val="173F2F"/>
                          </a:solidFill>
                          <a:latin typeface="Arial"/>
                          <a:ea typeface="Arial"/>
                          <a:cs typeface="Arial"/>
                        </a:rPr>
                        <a:t>F2 Conectar</a:t>
                      </a:r>
                    </a:p>
                  </a:txBody>
                  <a:tcPr marL="114300" marR="114300" marT="19050" marB="19050" anchor="ctr">
                    <a:solidFill>
                      <a:srgbClr val="EFF2E8"/>
                    </a:solidFill>
                  </a:tcPr>
                </a:tc>
                <a:tc>
                  <a:txBody>
                    <a:bodyPr/>
                    <a:lstStyle/>
                    <a:p>
                      <a:r>
                        <a:rPr sz="1725">
                          <a:solidFill>
                            <a:srgbClr val="173F2F"/>
                          </a:solidFill>
                          <a:latin typeface="Arial"/>
                          <a:ea typeface="Arial"/>
                          <a:cs typeface="Arial"/>
                        </a:rPr>
                        <a:t/>
                      </a:r>
                    </a:p>
                  </a:txBody>
                  <a:tcPr marL="114300" marR="114300" marT="19050" marB="19050" anchor="ctr">
                    <a:solidFill>
                      <a:srgbClr val="EFF2E8"/>
                    </a:solidFill>
                  </a:tcPr>
                </a:tc>
                <a:tc>
                  <a:txBody>
                    <a:bodyPr/>
                    <a:lstStyle/>
                    <a:p>
                      <a:r>
                        <a:rPr sz="1725">
                          <a:solidFill>
                            <a:srgbClr val="173F2F"/>
                          </a:solidFill>
                          <a:latin typeface="Arial"/>
                          <a:ea typeface="Arial"/>
                          <a:cs typeface="Arial"/>
                        </a:rPr>
                        <a:t/>
                      </a:r>
                    </a:p>
                  </a:txBody>
                  <a:tcPr marL="114300" marR="114300" marT="19050" marB="19050" anchor="ctr">
                    <a:solidFill>
                      <a:srgbClr val="EFF2E8"/>
                    </a:solidFill>
                  </a:tcPr>
                </a:tc>
                <a:tc>
                  <a:txBody>
                    <a:bodyPr/>
                    <a:lstStyle/>
                    <a:p>
                      <a:r>
                        <a:rPr sz="1725">
                          <a:solidFill>
                            <a:srgbClr val="173F2F"/>
                          </a:solidFill>
                          <a:latin typeface="Arial"/>
                          <a:ea typeface="Arial"/>
                          <a:cs typeface="Arial"/>
                        </a:rPr>
                        <a:t/>
                      </a:r>
                    </a:p>
                  </a:txBody>
                  <a:tcPr marL="114300" marR="114300" marT="19050" marB="19050" anchor="ctr">
                    <a:solidFill>
                      <a:srgbClr val="EFF2E8"/>
                    </a:solidFill>
                  </a:tcPr>
                </a:tc>
              </a:tr>
              <a:tr h="857250">
                <a:tc>
                  <a:txBody>
                    <a:bodyPr/>
                    <a:lstStyle/>
                    <a:p>
                      <a:r>
                        <a:rPr sz="1725">
                          <a:solidFill>
                            <a:srgbClr val="173F2F"/>
                          </a:solidFill>
                          <a:latin typeface="Arial"/>
                          <a:ea typeface="Arial"/>
                          <a:cs typeface="Arial"/>
                        </a:rPr>
                        <a:t>F3 Capturar</a:t>
                      </a:r>
                    </a:p>
                  </a:txBody>
                  <a:tcPr marL="114300" marR="114300" marT="19050" marB="19050" anchor="ctr">
                    <a:solidFill>
                      <a:srgbClr val="FFFFFF"/>
                    </a:solidFill>
                  </a:tcPr>
                </a:tc>
                <a:tc>
                  <a:txBody>
                    <a:bodyPr/>
                    <a:lstStyle/>
                    <a:p>
                      <a:r>
                        <a:rPr sz="1725">
                          <a:solidFill>
                            <a:srgbClr val="173F2F"/>
                          </a:solidFill>
                          <a:latin typeface="Arial"/>
                          <a:ea typeface="Arial"/>
                          <a:cs typeface="Arial"/>
                        </a:rPr>
                        <a:t/>
                      </a:r>
                    </a:p>
                  </a:txBody>
                  <a:tcPr marL="114300" marR="114300" marT="19050" marB="19050" anchor="ctr">
                    <a:solidFill>
                      <a:srgbClr val="FFFFFF"/>
                    </a:solidFill>
                  </a:tcPr>
                </a:tc>
                <a:tc>
                  <a:txBody>
                    <a:bodyPr/>
                    <a:lstStyle/>
                    <a:p>
                      <a:r>
                        <a:rPr sz="1725">
                          <a:solidFill>
                            <a:srgbClr val="173F2F"/>
                          </a:solidFill>
                          <a:latin typeface="Arial"/>
                          <a:ea typeface="Arial"/>
                          <a:cs typeface="Arial"/>
                        </a:rPr>
                        <a:t/>
                      </a:r>
                    </a:p>
                  </a:txBody>
                  <a:tcPr marL="114300" marR="114300" marT="19050" marB="19050" anchor="ctr">
                    <a:solidFill>
                      <a:srgbClr val="FFFFFF"/>
                    </a:solidFill>
                  </a:tcPr>
                </a:tc>
                <a:tc>
                  <a:txBody>
                    <a:bodyPr/>
                    <a:lstStyle/>
                    <a:p>
                      <a:r>
                        <a:rPr sz="1725">
                          <a:solidFill>
                            <a:srgbClr val="173F2F"/>
                          </a:solidFill>
                          <a:latin typeface="Arial"/>
                          <a:ea typeface="Arial"/>
                          <a:cs typeface="Arial"/>
                        </a:rPr>
                        <a:t/>
                      </a:r>
                    </a:p>
                  </a:txBody>
                  <a:tcPr marL="114300" marR="114300" marT="19050" marB="19050" anchor="ctr">
                    <a:solidFill>
                      <a:srgbClr val="FFFFFF"/>
                    </a:solidFill>
                  </a:tcPr>
                </a:tc>
              </a:tr>
              <a:tr h="857250">
                <a:tc>
                  <a:txBody>
                    <a:bodyPr/>
                    <a:lstStyle/>
                    <a:p>
                      <a:r>
                        <a:rPr sz="1725">
                          <a:solidFill>
                            <a:srgbClr val="173F2F"/>
                          </a:solidFill>
                          <a:latin typeface="Arial"/>
                          <a:ea typeface="Arial"/>
                          <a:cs typeface="Arial"/>
                        </a:rPr>
                        <a:t>F4 Transmitir</a:t>
                      </a:r>
                    </a:p>
                  </a:txBody>
                  <a:tcPr marL="114300" marR="114300" marT="19050" marB="19050" anchor="ctr">
                    <a:solidFill>
                      <a:srgbClr val="EFF2E8"/>
                    </a:solidFill>
                  </a:tcPr>
                </a:tc>
                <a:tc>
                  <a:txBody>
                    <a:bodyPr/>
                    <a:lstStyle/>
                    <a:p>
                      <a:r>
                        <a:rPr sz="1725">
                          <a:solidFill>
                            <a:srgbClr val="173F2F"/>
                          </a:solidFill>
                          <a:latin typeface="Arial"/>
                          <a:ea typeface="Arial"/>
                          <a:cs typeface="Arial"/>
                        </a:rPr>
                        <a:t/>
                      </a:r>
                    </a:p>
                  </a:txBody>
                  <a:tcPr marL="114300" marR="114300" marT="19050" marB="19050" anchor="ctr">
                    <a:solidFill>
                      <a:srgbClr val="EFF2E8"/>
                    </a:solidFill>
                  </a:tcPr>
                </a:tc>
                <a:tc>
                  <a:txBody>
                    <a:bodyPr/>
                    <a:lstStyle/>
                    <a:p>
                      <a:r>
                        <a:rPr sz="1725">
                          <a:solidFill>
                            <a:srgbClr val="173F2F"/>
                          </a:solidFill>
                          <a:latin typeface="Arial"/>
                          <a:ea typeface="Arial"/>
                          <a:cs typeface="Arial"/>
                        </a:rPr>
                        <a:t/>
                      </a:r>
                    </a:p>
                  </a:txBody>
                  <a:tcPr marL="114300" marR="114300" marT="19050" marB="19050" anchor="ctr">
                    <a:solidFill>
                      <a:srgbClr val="EFF2E8"/>
                    </a:solidFill>
                  </a:tcPr>
                </a:tc>
                <a:tc>
                  <a:txBody>
                    <a:bodyPr/>
                    <a:lstStyle/>
                    <a:p>
                      <a:r>
                        <a:rPr sz="1725">
                          <a:solidFill>
                            <a:srgbClr val="173F2F"/>
                          </a:solidFill>
                          <a:latin typeface="Arial"/>
                          <a:ea typeface="Arial"/>
                          <a:cs typeface="Arial"/>
                        </a:rPr>
                        <a:t/>
                      </a:r>
                    </a:p>
                  </a:txBody>
                  <a:tcPr marL="114300" marR="114300" marT="19050" marB="19050" anchor="ctr">
                    <a:solidFill>
                      <a:srgbClr val="EFF2E8"/>
                    </a:solidFill>
                  </a:tcPr>
                </a:tc>
              </a:tr>
            </a:tbl>
          </a:graphicData>
        </a:graphic>
      </p:graphicFrame>
      <p:pic>
        <p:nvPicPr>
          <p:cNvPr id="6" name="">
            <a:extLst xmlns:a="http://schemas.openxmlformats.org/drawingml/2006/main">
              <a:ext uri="{FF2B5EF4-FFF2-40B4-BE49-F238E27FC236}">
                <a16:creationId xmlns:a16="http://schemas.microsoft.com/office/drawing/2014/main" id="{2F9D66F7-4E53-4356-9A7F-1AD13465A497}"/>
              </a:ext>
            </a:extLst>
          </p:cNvPr>
          <p:cNvPicPr>
            <a:picLocks xmlns:a="http://schemas.openxmlformats.org/drawingml/2006/main" noChangeAspect="1"/>
          </p:cNvPicPr>
          <p:nvPr/>
        </p:nvPicPr>
        <p:blipFill>
          <a:blip xmlns:r="http://schemas.openxmlformats.org/officeDocument/2006/relationships" xmlns:a="http://schemas.openxmlformats.org/drawingml/2006/main" r:embed="R34beb2b186034e83"/>
          <a:stretch xmlns:a="http://schemas.openxmlformats.org/drawingml/2006/main"/>
        </p:blipFill>
        <p:spPr>
          <a:xfrm xmlns:a="http://schemas.openxmlformats.org/drawingml/2006/main">
            <a:off x="3046958" y="2552700"/>
            <a:ext cx="316410" cy="685800"/>
          </a:xfrm>
          <a:prstGeom xmlns:a="http://schemas.openxmlformats.org/drawingml/2006/main" prst="rect">
            <a:avLst/>
          </a:prstGeom>
        </p:spPr>
      </p:pic>
      <p:sp>
        <p:nvSpPr>
          <p:cNvPr id="7" name="Batería del celular">
            <a:extLst xmlns:a="http://schemas.openxmlformats.org/drawingml/2006/main">
              <a:ext uri="{FF2B5EF4-FFF2-40B4-BE49-F238E27FC236}">
                <a16:creationId xmlns:a16="http://schemas.microsoft.com/office/drawing/2014/main" id="{E6AC0FC5-E8FF-4042-A43C-10969B98F8A2}"/>
              </a:ext>
            </a:extLst>
          </p:cNvPr>
          <p:cNvSpPr>
            <a:spLocks xmlns:a="http://schemas.openxmlformats.org/drawingml/2006/main" noGrp="1"/>
          </p:cNvSpPr>
          <p:nvPr/>
        </p:nvSpPr>
        <p:spPr>
          <a:xfrm xmlns:a="http://schemas.openxmlformats.org/drawingml/2006/main">
            <a:off x="3743325" y="2628900"/>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Batería del celular</a:t>
            </a:r>
          </a:p>
        </p:txBody>
      </p:sp>
      <p:pic>
        <p:nvPicPr>
          <p:cNvPr id="8" name="">
            <a:extLst xmlns:a="http://schemas.openxmlformats.org/drawingml/2006/main">
              <a:ext uri="{FF2B5EF4-FFF2-40B4-BE49-F238E27FC236}">
                <a16:creationId xmlns:a16="http://schemas.microsoft.com/office/drawing/2014/main" id="{6B117847-3C8E-4664-A5D4-5687D98D046D}"/>
              </a:ext>
            </a:extLst>
          </p:cNvPr>
          <p:cNvPicPr>
            <a:picLocks xmlns:a="http://schemas.openxmlformats.org/drawingml/2006/main" noChangeAspect="1"/>
          </p:cNvPicPr>
          <p:nvPr/>
        </p:nvPicPr>
        <p:blipFill>
          <a:blip xmlns:r="http://schemas.openxmlformats.org/officeDocument/2006/relationships" xmlns:a="http://schemas.openxmlformats.org/drawingml/2006/main" r:embed="Rc8f72511d83e44d5"/>
          <a:stretch xmlns:a="http://schemas.openxmlformats.org/drawingml/2006/main"/>
        </p:blipFill>
        <p:spPr>
          <a:xfrm xmlns:a="http://schemas.openxmlformats.org/drawingml/2006/main">
            <a:off x="5990353" y="2552700"/>
            <a:ext cx="411319" cy="685800"/>
          </a:xfrm>
          <a:prstGeom xmlns:a="http://schemas.openxmlformats.org/drawingml/2006/main" prst="rect">
            <a:avLst/>
          </a:prstGeom>
        </p:spPr>
      </p:pic>
      <p:sp>
        <p:nvSpPr>
          <p:cNvPr id="9" name="Celular + balanza externa">
            <a:extLst xmlns:a="http://schemas.openxmlformats.org/drawingml/2006/main">
              <a:ext uri="{FF2B5EF4-FFF2-40B4-BE49-F238E27FC236}">
                <a16:creationId xmlns:a16="http://schemas.microsoft.com/office/drawing/2014/main" id="{490F2F79-3EDD-4BDA-BBCB-134DD4FEF109}"/>
              </a:ext>
            </a:extLst>
          </p:cNvPr>
          <p:cNvSpPr>
            <a:spLocks xmlns:a="http://schemas.openxmlformats.org/drawingml/2006/main" noGrp="1"/>
          </p:cNvSpPr>
          <p:nvPr/>
        </p:nvSpPr>
        <p:spPr>
          <a:xfrm xmlns:a="http://schemas.openxmlformats.org/drawingml/2006/main">
            <a:off x="6734175" y="2628900"/>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Celular + balanza externa</a:t>
            </a:r>
          </a:p>
        </p:txBody>
      </p:sp>
      <p:pic>
        <p:nvPicPr>
          <p:cNvPr id="10" name="">
            <a:extLst xmlns:a="http://schemas.openxmlformats.org/drawingml/2006/main">
              <a:ext uri="{FF2B5EF4-FFF2-40B4-BE49-F238E27FC236}">
                <a16:creationId xmlns:a16="http://schemas.microsoft.com/office/drawing/2014/main" id="{E7CA1C5C-82BD-433C-99F2-38CCA02889A0}"/>
              </a:ext>
            </a:extLst>
          </p:cNvPr>
          <p:cNvPicPr>
            <a:picLocks xmlns:a="http://schemas.openxmlformats.org/drawingml/2006/main" noChangeAspect="1"/>
          </p:cNvPicPr>
          <p:nvPr/>
        </p:nvPicPr>
        <p:blipFill>
          <a:blip xmlns:r="http://schemas.openxmlformats.org/officeDocument/2006/relationships" xmlns:a="http://schemas.openxmlformats.org/drawingml/2006/main" r:embed="Rf59762d095854328"/>
          <a:stretch xmlns:a="http://schemas.openxmlformats.org/drawingml/2006/main"/>
        </p:blipFill>
        <p:spPr>
          <a:xfrm xmlns:a="http://schemas.openxmlformats.org/drawingml/2006/main">
            <a:off x="8843963" y="2552700"/>
            <a:ext cx="685800" cy="685800"/>
          </a:xfrm>
          <a:prstGeom xmlns:a="http://schemas.openxmlformats.org/drawingml/2006/main" prst="rect">
            <a:avLst/>
          </a:prstGeom>
        </p:spPr>
      </p:pic>
      <p:sp>
        <p:nvSpPr>
          <p:cNvPr id="11" name="WODE&#10;5 V · 2,4 A">
            <a:extLst xmlns:a="http://schemas.openxmlformats.org/drawingml/2006/main">
              <a:ext uri="{FF2B5EF4-FFF2-40B4-BE49-F238E27FC236}">
                <a16:creationId xmlns:a16="http://schemas.microsoft.com/office/drawing/2014/main" id="{BAE713E2-9116-4270-A09F-91CB984C6B43}"/>
              </a:ext>
            </a:extLst>
          </p:cNvPr>
          <p:cNvSpPr>
            <a:spLocks xmlns:a="http://schemas.openxmlformats.org/drawingml/2006/main" noGrp="1"/>
          </p:cNvSpPr>
          <p:nvPr/>
        </p:nvSpPr>
        <p:spPr>
          <a:xfrm xmlns:a="http://schemas.openxmlformats.org/drawingml/2006/main">
            <a:off x="9725025" y="2628900"/>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WODE</a:t>
            </a:r>
          </a:p>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5 V · 2,4 A</a:t>
            </a:r>
          </a:p>
        </p:txBody>
      </p:sp>
      <p:pic>
        <p:nvPicPr>
          <p:cNvPr id="12" name="">
            <a:extLst xmlns:a="http://schemas.openxmlformats.org/drawingml/2006/main">
              <a:ext uri="{FF2B5EF4-FFF2-40B4-BE49-F238E27FC236}">
                <a16:creationId xmlns:a16="http://schemas.microsoft.com/office/drawing/2014/main" id="{B7C38A5A-1A99-4874-800A-D72ED072D420}"/>
              </a:ext>
            </a:extLst>
          </p:cNvPr>
          <p:cNvPicPr>
            <a:picLocks xmlns:a="http://schemas.openxmlformats.org/drawingml/2006/main" noChangeAspect="1"/>
          </p:cNvPicPr>
          <p:nvPr/>
        </p:nvPicPr>
        <p:blipFill>
          <a:blip xmlns:r="http://schemas.openxmlformats.org/officeDocument/2006/relationships" xmlns:a="http://schemas.openxmlformats.org/drawingml/2006/main" r:embed="R6e2c31b2cd504ece"/>
          <a:stretch xmlns:a="http://schemas.openxmlformats.org/drawingml/2006/main"/>
        </p:blipFill>
        <p:spPr>
          <a:xfrm xmlns:a="http://schemas.openxmlformats.org/drawingml/2006/main">
            <a:off x="3046958" y="3409950"/>
            <a:ext cx="316410" cy="685800"/>
          </a:xfrm>
          <a:prstGeom xmlns:a="http://schemas.openxmlformats.org/drawingml/2006/main" prst="rect">
            <a:avLst/>
          </a:prstGeom>
        </p:spPr>
      </p:pic>
      <p:sp>
        <p:nvSpPr>
          <p:cNvPr id="13" name="Internet / HTTPS">
            <a:extLst xmlns:a="http://schemas.openxmlformats.org/drawingml/2006/main">
              <a:ext uri="{FF2B5EF4-FFF2-40B4-BE49-F238E27FC236}">
                <a16:creationId xmlns:a16="http://schemas.microsoft.com/office/drawing/2014/main" id="{72FC93F1-18B8-4F05-9D62-4901F6F5D989}"/>
              </a:ext>
            </a:extLst>
          </p:cNvPr>
          <p:cNvSpPr>
            <a:spLocks xmlns:a="http://schemas.openxmlformats.org/drawingml/2006/main" noGrp="1"/>
          </p:cNvSpPr>
          <p:nvPr/>
        </p:nvSpPr>
        <p:spPr>
          <a:xfrm xmlns:a="http://schemas.openxmlformats.org/drawingml/2006/main">
            <a:off x="3743325" y="3486150"/>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Internet / HTTPS</a:t>
            </a:r>
          </a:p>
        </p:txBody>
      </p:sp>
      <p:pic>
        <p:nvPicPr>
          <p:cNvPr id="14" name="">
            <a:extLst xmlns:a="http://schemas.openxmlformats.org/drawingml/2006/main">
              <a:ext uri="{FF2B5EF4-FFF2-40B4-BE49-F238E27FC236}">
                <a16:creationId xmlns:a16="http://schemas.microsoft.com/office/drawing/2014/main" id="{95D5FFAA-0ED6-4589-B8EA-32EEE7CCF125}"/>
              </a:ext>
            </a:extLst>
          </p:cNvPr>
          <p:cNvPicPr>
            <a:picLocks xmlns:a="http://schemas.openxmlformats.org/drawingml/2006/main" noChangeAspect="1"/>
          </p:cNvPicPr>
          <p:nvPr/>
        </p:nvPicPr>
        <p:blipFill>
          <a:blip xmlns:r="http://schemas.openxmlformats.org/officeDocument/2006/relationships" xmlns:a="http://schemas.openxmlformats.org/drawingml/2006/main" r:embed="R9510855de03a4be5"/>
          <a:stretch xmlns:a="http://schemas.openxmlformats.org/drawingml/2006/main"/>
        </p:blipFill>
        <p:spPr>
          <a:xfrm xmlns:a="http://schemas.openxmlformats.org/drawingml/2006/main">
            <a:off x="6037808" y="3409950"/>
            <a:ext cx="316410" cy="685800"/>
          </a:xfrm>
          <a:prstGeom xmlns:a="http://schemas.openxmlformats.org/drawingml/2006/main" prst="rect">
            <a:avLst/>
          </a:prstGeom>
        </p:spPr>
      </p:pic>
      <p:sp>
        <p:nvSpPr>
          <p:cNvPr id="15" name="Internet / HTTPS">
            <a:extLst xmlns:a="http://schemas.openxmlformats.org/drawingml/2006/main">
              <a:ext uri="{FF2B5EF4-FFF2-40B4-BE49-F238E27FC236}">
                <a16:creationId xmlns:a16="http://schemas.microsoft.com/office/drawing/2014/main" id="{73511880-5BBC-4065-85A3-F512DD063699}"/>
              </a:ext>
            </a:extLst>
          </p:cNvPr>
          <p:cNvSpPr>
            <a:spLocks xmlns:a="http://schemas.openxmlformats.org/drawingml/2006/main" noGrp="1"/>
          </p:cNvSpPr>
          <p:nvPr/>
        </p:nvSpPr>
        <p:spPr>
          <a:xfrm xmlns:a="http://schemas.openxmlformats.org/drawingml/2006/main">
            <a:off x="6734175" y="3486150"/>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Internet / HTTPS</a:t>
            </a:r>
          </a:p>
        </p:txBody>
      </p:sp>
      <p:pic>
        <p:nvPicPr>
          <p:cNvPr id="16" name="">
            <a:extLst xmlns:a="http://schemas.openxmlformats.org/drawingml/2006/main">
              <a:ext uri="{FF2B5EF4-FFF2-40B4-BE49-F238E27FC236}">
                <a16:creationId xmlns:a16="http://schemas.microsoft.com/office/drawing/2014/main" id="{EFBAFA12-A794-4B2E-B5A6-4EEFA0268564}"/>
              </a:ext>
            </a:extLst>
          </p:cNvPr>
          <p:cNvPicPr>
            <a:picLocks xmlns:a="http://schemas.openxmlformats.org/drawingml/2006/main" noChangeAspect="1"/>
          </p:cNvPicPr>
          <p:nvPr/>
        </p:nvPicPr>
        <p:blipFill>
          <a:blip xmlns:r="http://schemas.openxmlformats.org/officeDocument/2006/relationships" xmlns:a="http://schemas.openxmlformats.org/drawingml/2006/main" r:embed="Rdbd9876e903d4490"/>
          <a:stretch xmlns:a="http://schemas.openxmlformats.org/drawingml/2006/main"/>
        </p:blipFill>
        <p:spPr>
          <a:xfrm xmlns:a="http://schemas.openxmlformats.org/drawingml/2006/main">
            <a:off x="8843963" y="3409950"/>
            <a:ext cx="685800" cy="685800"/>
          </a:xfrm>
          <a:prstGeom xmlns:a="http://schemas.openxmlformats.org/drawingml/2006/main" prst="rect">
            <a:avLst/>
          </a:prstGeom>
        </p:spPr>
      </p:pic>
      <p:sp>
        <p:nvSpPr>
          <p:cNvPr id="17" name="Wi-Fi 2,4 GHz / HTTP">
            <a:extLst xmlns:a="http://schemas.openxmlformats.org/drawingml/2006/main">
              <a:ext uri="{FF2B5EF4-FFF2-40B4-BE49-F238E27FC236}">
                <a16:creationId xmlns:a16="http://schemas.microsoft.com/office/drawing/2014/main" id="{A36545E1-B816-4E4F-B24F-E11BA28285DF}"/>
              </a:ext>
            </a:extLst>
          </p:cNvPr>
          <p:cNvSpPr>
            <a:spLocks xmlns:a="http://schemas.openxmlformats.org/drawingml/2006/main" noGrp="1"/>
          </p:cNvSpPr>
          <p:nvPr/>
        </p:nvSpPr>
        <p:spPr>
          <a:xfrm xmlns:a="http://schemas.openxmlformats.org/drawingml/2006/main">
            <a:off x="9725025" y="3486150"/>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Wi-Fi 2,4 GHz / HTTP</a:t>
            </a:r>
          </a:p>
        </p:txBody>
      </p:sp>
      <p:pic>
        <p:nvPicPr>
          <p:cNvPr id="18" name="">
            <a:extLst xmlns:a="http://schemas.openxmlformats.org/drawingml/2006/main">
              <a:ext uri="{FF2B5EF4-FFF2-40B4-BE49-F238E27FC236}">
                <a16:creationId xmlns:a16="http://schemas.microsoft.com/office/drawing/2014/main" id="{CDFBAD9B-9952-45E2-ADDE-B10F88B72806}"/>
              </a:ext>
            </a:extLst>
          </p:cNvPr>
          <p:cNvPicPr>
            <a:picLocks xmlns:a="http://schemas.openxmlformats.org/drawingml/2006/main" noChangeAspect="1"/>
          </p:cNvPicPr>
          <p:nvPr/>
        </p:nvPicPr>
        <p:blipFill>
          <a:blip xmlns:r="http://schemas.openxmlformats.org/officeDocument/2006/relationships" xmlns:a="http://schemas.openxmlformats.org/drawingml/2006/main" r:embed="R8cd415005ccf432c"/>
          <a:stretch xmlns:a="http://schemas.openxmlformats.org/drawingml/2006/main"/>
        </p:blipFill>
        <p:spPr>
          <a:xfrm xmlns:a="http://schemas.openxmlformats.org/drawingml/2006/main">
            <a:off x="3046958" y="4267200"/>
            <a:ext cx="316410" cy="685800"/>
          </a:xfrm>
          <a:prstGeom xmlns:a="http://schemas.openxmlformats.org/drawingml/2006/main" prst="rect">
            <a:avLst/>
          </a:prstGeom>
        </p:spPr>
      </p:pic>
      <p:sp>
        <p:nvSpPr>
          <p:cNvPr id="19" name="Cámara o galería">
            <a:extLst xmlns:a="http://schemas.openxmlformats.org/drawingml/2006/main">
              <a:ext uri="{FF2B5EF4-FFF2-40B4-BE49-F238E27FC236}">
                <a16:creationId xmlns:a16="http://schemas.microsoft.com/office/drawing/2014/main" id="{91BCC7D6-8ABF-441E-926E-76385A16E625}"/>
              </a:ext>
            </a:extLst>
          </p:cNvPr>
          <p:cNvSpPr>
            <a:spLocks xmlns:a="http://schemas.openxmlformats.org/drawingml/2006/main" noGrp="1"/>
          </p:cNvSpPr>
          <p:nvPr/>
        </p:nvSpPr>
        <p:spPr>
          <a:xfrm xmlns:a="http://schemas.openxmlformats.org/drawingml/2006/main">
            <a:off x="3743325" y="4343400"/>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Cámara o galería</a:t>
            </a:r>
          </a:p>
        </p:txBody>
      </p:sp>
      <p:pic>
        <p:nvPicPr>
          <p:cNvPr id="20" name="">
            <a:extLst xmlns:a="http://schemas.openxmlformats.org/drawingml/2006/main">
              <a:ext uri="{FF2B5EF4-FFF2-40B4-BE49-F238E27FC236}">
                <a16:creationId xmlns:a16="http://schemas.microsoft.com/office/drawing/2014/main" id="{548B5295-E634-41F9-BCAE-28EB47E13404}"/>
              </a:ext>
            </a:extLst>
          </p:cNvPr>
          <p:cNvPicPr>
            <a:picLocks xmlns:a="http://schemas.openxmlformats.org/drawingml/2006/main" noChangeAspect="1"/>
          </p:cNvPicPr>
          <p:nvPr/>
        </p:nvPicPr>
        <p:blipFill>
          <a:blip xmlns:r="http://schemas.openxmlformats.org/officeDocument/2006/relationships" xmlns:a="http://schemas.openxmlformats.org/drawingml/2006/main" r:embed="R252158787ac8478b"/>
          <a:stretch xmlns:a="http://schemas.openxmlformats.org/drawingml/2006/main"/>
        </p:blipFill>
        <p:spPr>
          <a:xfrm xmlns:a="http://schemas.openxmlformats.org/drawingml/2006/main">
            <a:off x="6037808" y="4267200"/>
            <a:ext cx="316410" cy="685800"/>
          </a:xfrm>
          <a:prstGeom xmlns:a="http://schemas.openxmlformats.org/drawingml/2006/main" prst="rect">
            <a:avLst/>
          </a:prstGeom>
        </p:spPr>
      </p:pic>
      <p:sp>
        <p:nvSpPr>
          <p:cNvPr id="21" name="Cámara o galería">
            <a:extLst xmlns:a="http://schemas.openxmlformats.org/drawingml/2006/main">
              <a:ext uri="{FF2B5EF4-FFF2-40B4-BE49-F238E27FC236}">
                <a16:creationId xmlns:a16="http://schemas.microsoft.com/office/drawing/2014/main" id="{FC7215B0-AFFA-44BE-9A9B-099FA32A4683}"/>
              </a:ext>
            </a:extLst>
          </p:cNvPr>
          <p:cNvSpPr>
            <a:spLocks xmlns:a="http://schemas.openxmlformats.org/drawingml/2006/main" noGrp="1"/>
          </p:cNvSpPr>
          <p:nvPr/>
        </p:nvSpPr>
        <p:spPr>
          <a:xfrm xmlns:a="http://schemas.openxmlformats.org/drawingml/2006/main">
            <a:off x="6734175" y="4343400"/>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Cámara o galería</a:t>
            </a:r>
          </a:p>
        </p:txBody>
      </p:sp>
      <p:pic>
        <p:nvPicPr>
          <p:cNvPr id="22" name="">
            <a:extLst xmlns:a="http://schemas.openxmlformats.org/drawingml/2006/main">
              <a:ext uri="{FF2B5EF4-FFF2-40B4-BE49-F238E27FC236}">
                <a16:creationId xmlns:a16="http://schemas.microsoft.com/office/drawing/2014/main" id="{7AE15F42-3BFF-4025-B220-4FDA8D48C16B}"/>
              </a:ext>
            </a:extLst>
          </p:cNvPr>
          <p:cNvPicPr>
            <a:picLocks xmlns:a="http://schemas.openxmlformats.org/drawingml/2006/main" noChangeAspect="1"/>
          </p:cNvPicPr>
          <p:nvPr/>
        </p:nvPicPr>
        <p:blipFill>
          <a:blip xmlns:r="http://schemas.openxmlformats.org/officeDocument/2006/relationships" xmlns:a="http://schemas.openxmlformats.org/drawingml/2006/main" r:embed="R1e5860836eb24f2b"/>
          <a:stretch xmlns:a="http://schemas.openxmlformats.org/drawingml/2006/main"/>
        </p:blipFill>
        <p:spPr>
          <a:xfrm xmlns:a="http://schemas.openxmlformats.org/drawingml/2006/main">
            <a:off x="8843963" y="4267200"/>
            <a:ext cx="685800" cy="685800"/>
          </a:xfrm>
          <a:prstGeom xmlns:a="http://schemas.openxmlformats.org/drawingml/2006/main" prst="rect">
            <a:avLst/>
          </a:prstGeom>
        </p:spPr>
      </p:pic>
      <p:sp>
        <p:nvSpPr>
          <p:cNvPr id="23" name="OV2640&#10;2 MP">
            <a:extLst xmlns:a="http://schemas.openxmlformats.org/drawingml/2006/main">
              <a:ext uri="{FF2B5EF4-FFF2-40B4-BE49-F238E27FC236}">
                <a16:creationId xmlns:a16="http://schemas.microsoft.com/office/drawing/2014/main" id="{C5985C67-E4F8-4DCB-8311-6D36BFF6DF7C}"/>
              </a:ext>
            </a:extLst>
          </p:cNvPr>
          <p:cNvSpPr>
            <a:spLocks xmlns:a="http://schemas.openxmlformats.org/drawingml/2006/main" noGrp="1"/>
          </p:cNvSpPr>
          <p:nvPr/>
        </p:nvSpPr>
        <p:spPr>
          <a:xfrm xmlns:a="http://schemas.openxmlformats.org/drawingml/2006/main">
            <a:off x="9725025" y="4343400"/>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OV2640</a:t>
            </a:r>
          </a:p>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2 MP</a:t>
            </a:r>
          </a:p>
        </p:txBody>
      </p:sp>
      <p:pic>
        <p:nvPicPr>
          <p:cNvPr id="24" name="">
            <a:extLst xmlns:a="http://schemas.openxmlformats.org/drawingml/2006/main">
              <a:ext uri="{FF2B5EF4-FFF2-40B4-BE49-F238E27FC236}">
                <a16:creationId xmlns:a16="http://schemas.microsoft.com/office/drawing/2014/main" id="{D352C378-456D-46DD-821A-0D53F2AA1794}"/>
              </a:ext>
            </a:extLst>
          </p:cNvPr>
          <p:cNvPicPr>
            <a:picLocks xmlns:a="http://schemas.openxmlformats.org/drawingml/2006/main" noChangeAspect="1"/>
          </p:cNvPicPr>
          <p:nvPr/>
        </p:nvPicPr>
        <p:blipFill>
          <a:blip xmlns:r="http://schemas.openxmlformats.org/officeDocument/2006/relationships" xmlns:a="http://schemas.openxmlformats.org/drawingml/2006/main" r:embed="R30fcb56a3c0d48c5"/>
          <a:stretch xmlns:a="http://schemas.openxmlformats.org/drawingml/2006/main"/>
        </p:blipFill>
        <p:spPr>
          <a:xfrm xmlns:a="http://schemas.openxmlformats.org/drawingml/2006/main">
            <a:off x="2993048" y="5124450"/>
            <a:ext cx="424229" cy="685800"/>
          </a:xfrm>
          <a:prstGeom xmlns:a="http://schemas.openxmlformats.org/drawingml/2006/main" prst="rect">
            <a:avLst/>
          </a:prstGeom>
        </p:spPr>
      </p:pic>
      <p:sp>
        <p:nvSpPr>
          <p:cNvPr id="25" name="Imagen al servidor">
            <a:extLst xmlns:a="http://schemas.openxmlformats.org/drawingml/2006/main">
              <a:ext uri="{FF2B5EF4-FFF2-40B4-BE49-F238E27FC236}">
                <a16:creationId xmlns:a16="http://schemas.microsoft.com/office/drawing/2014/main" id="{03792111-8675-4C5E-9056-A9FBBB4A528F}"/>
              </a:ext>
            </a:extLst>
          </p:cNvPr>
          <p:cNvSpPr>
            <a:spLocks xmlns:a="http://schemas.openxmlformats.org/drawingml/2006/main" noGrp="1"/>
          </p:cNvSpPr>
          <p:nvPr/>
        </p:nvSpPr>
        <p:spPr>
          <a:xfrm xmlns:a="http://schemas.openxmlformats.org/drawingml/2006/main">
            <a:off x="3743325" y="5200650"/>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Imagen al servidor</a:t>
            </a:r>
          </a:p>
        </p:txBody>
      </p:sp>
      <p:pic>
        <p:nvPicPr>
          <p:cNvPr id="26" name="">
            <a:extLst xmlns:a="http://schemas.openxmlformats.org/drawingml/2006/main">
              <a:ext uri="{FF2B5EF4-FFF2-40B4-BE49-F238E27FC236}">
                <a16:creationId xmlns:a16="http://schemas.microsoft.com/office/drawing/2014/main" id="{7C7D6351-1E3C-486B-90E5-A631DF8A3650}"/>
              </a:ext>
            </a:extLst>
          </p:cNvPr>
          <p:cNvPicPr>
            <a:picLocks xmlns:a="http://schemas.openxmlformats.org/drawingml/2006/main" noChangeAspect="1"/>
          </p:cNvPicPr>
          <p:nvPr/>
        </p:nvPicPr>
        <p:blipFill>
          <a:blip xmlns:r="http://schemas.openxmlformats.org/officeDocument/2006/relationships" xmlns:a="http://schemas.openxmlformats.org/drawingml/2006/main" r:embed="Rb55e498a655441e4"/>
          <a:stretch xmlns:a="http://schemas.openxmlformats.org/drawingml/2006/main"/>
        </p:blipFill>
        <p:spPr>
          <a:xfrm xmlns:a="http://schemas.openxmlformats.org/drawingml/2006/main">
            <a:off x="5983898" y="5124450"/>
            <a:ext cx="424229" cy="685800"/>
          </a:xfrm>
          <a:prstGeom xmlns:a="http://schemas.openxmlformats.org/drawingml/2006/main" prst="rect">
            <a:avLst/>
          </a:prstGeom>
        </p:spPr>
      </p:pic>
      <p:sp>
        <p:nvSpPr>
          <p:cNvPr id="27" name="Imagen + peso manual">
            <a:extLst xmlns:a="http://schemas.openxmlformats.org/drawingml/2006/main">
              <a:ext uri="{FF2B5EF4-FFF2-40B4-BE49-F238E27FC236}">
                <a16:creationId xmlns:a16="http://schemas.microsoft.com/office/drawing/2014/main" id="{B01CC842-B664-4DD3-A9F9-046196603413}"/>
              </a:ext>
            </a:extLst>
          </p:cNvPr>
          <p:cNvSpPr>
            <a:spLocks xmlns:a="http://schemas.openxmlformats.org/drawingml/2006/main" noGrp="1"/>
          </p:cNvSpPr>
          <p:nvPr/>
        </p:nvSpPr>
        <p:spPr>
          <a:xfrm xmlns:a="http://schemas.openxmlformats.org/drawingml/2006/main">
            <a:off x="6734175" y="5200650"/>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Imagen + peso manual</a:t>
            </a:r>
          </a:p>
        </p:txBody>
      </p:sp>
      <p:pic>
        <p:nvPicPr>
          <p:cNvPr id="28" name="">
            <a:extLst xmlns:a="http://schemas.openxmlformats.org/drawingml/2006/main">
              <a:ext uri="{FF2B5EF4-FFF2-40B4-BE49-F238E27FC236}">
                <a16:creationId xmlns:a16="http://schemas.microsoft.com/office/drawing/2014/main" id="{A110DA7D-6B0E-4D47-A38A-29E27797056F}"/>
              </a:ext>
            </a:extLst>
          </p:cNvPr>
          <p:cNvPicPr>
            <a:picLocks xmlns:a="http://schemas.openxmlformats.org/drawingml/2006/main" noChangeAspect="1"/>
          </p:cNvPicPr>
          <p:nvPr/>
        </p:nvPicPr>
        <p:blipFill>
          <a:blip xmlns:r="http://schemas.openxmlformats.org/officeDocument/2006/relationships" xmlns:a="http://schemas.openxmlformats.org/drawingml/2006/main" r:embed="R67b32ca56fd34282"/>
          <a:stretch xmlns:a="http://schemas.openxmlformats.org/drawingml/2006/main"/>
        </p:blipFill>
        <p:spPr>
          <a:xfrm xmlns:a="http://schemas.openxmlformats.org/drawingml/2006/main">
            <a:off x="8843963" y="5124450"/>
            <a:ext cx="685800" cy="685800"/>
          </a:xfrm>
          <a:prstGeom xmlns:a="http://schemas.openxmlformats.org/drawingml/2006/main" prst="rect">
            <a:avLst/>
          </a:prstGeom>
        </p:spPr>
      </p:pic>
      <p:sp>
        <p:nvSpPr>
          <p:cNvPr id="29" name="Foto, masa y estado">
            <a:extLst xmlns:a="http://schemas.openxmlformats.org/drawingml/2006/main">
              <a:ext uri="{FF2B5EF4-FFF2-40B4-BE49-F238E27FC236}">
                <a16:creationId xmlns:a16="http://schemas.microsoft.com/office/drawing/2014/main" id="{F0AECD5F-B926-44F3-BE6A-4B31C3CE89B0}"/>
              </a:ext>
            </a:extLst>
          </p:cNvPr>
          <p:cNvSpPr>
            <a:spLocks xmlns:a="http://schemas.openxmlformats.org/drawingml/2006/main" noGrp="1"/>
          </p:cNvSpPr>
          <p:nvPr/>
        </p:nvSpPr>
        <p:spPr>
          <a:xfrm xmlns:a="http://schemas.openxmlformats.org/drawingml/2006/main">
            <a:off x="9725025" y="5200650"/>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Foto, masa y estado</a:t>
            </a:r>
          </a:p>
        </p:txBody>
      </p:sp>
      <p:cxnSp>
        <p:nvCxnSpPr>
          <p:cNvPr id="30" name="">
            <a:extLst xmlns:a="http://schemas.openxmlformats.org/drawingml/2006/main">
              <a:ext uri="{FF2B5EF4-FFF2-40B4-BE49-F238E27FC236}">
                <a16:creationId xmlns:a16="http://schemas.microsoft.com/office/drawing/2014/main" id="{3A079606-D366-4F14-A97C-6566BD816C77}"/>
              </a:ext>
            </a:extLst>
          </p:cNvPr>
          <p:cNvCxnSpPr/>
          <p:nvPr/>
        </p:nvCxnSpPr>
        <p:spPr>
          <a:xfrm xmlns:a="http://schemas.openxmlformats.org/drawingml/2006/main">
            <a:off x="5524500" y="2905125"/>
            <a:ext cx="0" cy="857250"/>
          </a:xfrm>
          <a:prstGeom xmlns:a="http://schemas.openxmlformats.org/drawingml/2006/main" prst="straightConnector1">
            <a:avLst/>
          </a:prstGeom>
          <a:ln xmlns:a="http://schemas.openxmlformats.org/drawingml/2006/main" w="23813">
            <a:solidFill>
              <a:srgbClr val="486D88"/>
            </a:solidFill>
            <a:tailEnd type="triangle" w="med" len="med"/>
          </a:ln>
        </p:spPr>
      </p:cxnSp>
      <p:cxnSp>
        <p:nvCxnSpPr>
          <p:cNvPr id="31" name="">
            <a:extLst xmlns:a="http://schemas.openxmlformats.org/drawingml/2006/main">
              <a:ext uri="{FF2B5EF4-FFF2-40B4-BE49-F238E27FC236}">
                <a16:creationId xmlns:a16="http://schemas.microsoft.com/office/drawing/2014/main" id="{F5992880-3066-432E-BD63-53570FFCB1DD}"/>
              </a:ext>
            </a:extLst>
          </p:cNvPr>
          <p:cNvCxnSpPr/>
          <p:nvPr/>
        </p:nvCxnSpPr>
        <p:spPr>
          <a:xfrm xmlns:a="http://schemas.openxmlformats.org/drawingml/2006/main">
            <a:off x="5524500" y="3762375"/>
            <a:ext cx="0" cy="857250"/>
          </a:xfrm>
          <a:prstGeom xmlns:a="http://schemas.openxmlformats.org/drawingml/2006/main" prst="straightConnector1">
            <a:avLst/>
          </a:prstGeom>
          <a:ln xmlns:a="http://schemas.openxmlformats.org/drawingml/2006/main" w="23813">
            <a:solidFill>
              <a:srgbClr val="486D88"/>
            </a:solidFill>
            <a:tailEnd type="triangle" w="med" len="med"/>
          </a:ln>
        </p:spPr>
      </p:cxnSp>
      <p:cxnSp>
        <p:nvCxnSpPr>
          <p:cNvPr id="32" name="">
            <a:extLst xmlns:a="http://schemas.openxmlformats.org/drawingml/2006/main">
              <a:ext uri="{FF2B5EF4-FFF2-40B4-BE49-F238E27FC236}">
                <a16:creationId xmlns:a16="http://schemas.microsoft.com/office/drawing/2014/main" id="{9256506A-7B76-4709-89D5-640D1F403CBD}"/>
              </a:ext>
            </a:extLst>
          </p:cNvPr>
          <p:cNvCxnSpPr/>
          <p:nvPr/>
        </p:nvCxnSpPr>
        <p:spPr>
          <a:xfrm xmlns:a="http://schemas.openxmlformats.org/drawingml/2006/main">
            <a:off x="5524500" y="4619625"/>
            <a:ext cx="0" cy="857250"/>
          </a:xfrm>
          <a:prstGeom xmlns:a="http://schemas.openxmlformats.org/drawingml/2006/main" prst="straightConnector1">
            <a:avLst/>
          </a:prstGeom>
          <a:ln xmlns:a="http://schemas.openxmlformats.org/drawingml/2006/main" w="23813">
            <a:solidFill>
              <a:srgbClr val="486D88"/>
            </a:solidFill>
            <a:tailEnd type="triangle" w="med" len="med"/>
          </a:ln>
        </p:spPr>
      </p:cxnSp>
      <p:cxnSp>
        <p:nvCxnSpPr>
          <p:cNvPr id="33" name="">
            <a:extLst xmlns:a="http://schemas.openxmlformats.org/drawingml/2006/main">
              <a:ext uri="{FF2B5EF4-FFF2-40B4-BE49-F238E27FC236}">
                <a16:creationId xmlns:a16="http://schemas.microsoft.com/office/drawing/2014/main" id="{702A92B8-99C1-4DA4-9F0D-1844D038CD2C}"/>
              </a:ext>
            </a:extLst>
          </p:cNvPr>
          <p:cNvCxnSpPr/>
          <p:nvPr/>
        </p:nvCxnSpPr>
        <p:spPr>
          <a:xfrm xmlns:a="http://schemas.openxmlformats.org/drawingml/2006/main">
            <a:off x="8515350" y="2905125"/>
            <a:ext cx="0" cy="857250"/>
          </a:xfrm>
          <a:prstGeom xmlns:a="http://schemas.openxmlformats.org/drawingml/2006/main" prst="straightConnector1">
            <a:avLst/>
          </a:prstGeom>
          <a:ln xmlns:a="http://schemas.openxmlformats.org/drawingml/2006/main" w="23813">
            <a:solidFill>
              <a:srgbClr val="AD6240"/>
            </a:solidFill>
            <a:tailEnd type="triangle" w="med" len="med"/>
          </a:ln>
        </p:spPr>
      </p:cxnSp>
      <p:cxnSp>
        <p:nvCxnSpPr>
          <p:cNvPr id="34" name="">
            <a:extLst xmlns:a="http://schemas.openxmlformats.org/drawingml/2006/main">
              <a:ext uri="{FF2B5EF4-FFF2-40B4-BE49-F238E27FC236}">
                <a16:creationId xmlns:a16="http://schemas.microsoft.com/office/drawing/2014/main" id="{3E0854CB-D86B-473E-B456-D16CBE75CD90}"/>
              </a:ext>
            </a:extLst>
          </p:cNvPr>
          <p:cNvCxnSpPr/>
          <p:nvPr/>
        </p:nvCxnSpPr>
        <p:spPr>
          <a:xfrm xmlns:a="http://schemas.openxmlformats.org/drawingml/2006/main">
            <a:off x="8515350" y="3762375"/>
            <a:ext cx="0" cy="857250"/>
          </a:xfrm>
          <a:prstGeom xmlns:a="http://schemas.openxmlformats.org/drawingml/2006/main" prst="straightConnector1">
            <a:avLst/>
          </a:prstGeom>
          <a:ln xmlns:a="http://schemas.openxmlformats.org/drawingml/2006/main" w="23813">
            <a:solidFill>
              <a:srgbClr val="AD6240"/>
            </a:solidFill>
            <a:tailEnd type="triangle" w="med" len="med"/>
          </a:ln>
        </p:spPr>
      </p:cxnSp>
      <p:cxnSp>
        <p:nvCxnSpPr>
          <p:cNvPr id="35" name="">
            <a:extLst xmlns:a="http://schemas.openxmlformats.org/drawingml/2006/main">
              <a:ext uri="{FF2B5EF4-FFF2-40B4-BE49-F238E27FC236}">
                <a16:creationId xmlns:a16="http://schemas.microsoft.com/office/drawing/2014/main" id="{F8968A96-48CF-473C-B9C1-18E9624DBA08}"/>
              </a:ext>
            </a:extLst>
          </p:cNvPr>
          <p:cNvCxnSpPr/>
          <p:nvPr/>
        </p:nvCxnSpPr>
        <p:spPr>
          <a:xfrm xmlns:a="http://schemas.openxmlformats.org/drawingml/2006/main">
            <a:off x="8515350" y="4619625"/>
            <a:ext cx="0" cy="857250"/>
          </a:xfrm>
          <a:prstGeom xmlns:a="http://schemas.openxmlformats.org/drawingml/2006/main" prst="straightConnector1">
            <a:avLst/>
          </a:prstGeom>
          <a:ln xmlns:a="http://schemas.openxmlformats.org/drawingml/2006/main" w="23813">
            <a:solidFill>
              <a:srgbClr val="AD6240"/>
            </a:solidFill>
            <a:tailEnd type="triangle" w="med" len="med"/>
          </a:ln>
        </p:spPr>
      </p:cxnSp>
      <p:cxnSp>
        <p:nvCxnSpPr>
          <p:cNvPr id="36" name="">
            <a:extLst xmlns:a="http://schemas.openxmlformats.org/drawingml/2006/main">
              <a:ext uri="{FF2B5EF4-FFF2-40B4-BE49-F238E27FC236}">
                <a16:creationId xmlns:a16="http://schemas.microsoft.com/office/drawing/2014/main" id="{77E542E5-D72E-48DF-8245-924A5518797F}"/>
              </a:ext>
            </a:extLst>
          </p:cNvPr>
          <p:cNvCxnSpPr/>
          <p:nvPr/>
        </p:nvCxnSpPr>
        <p:spPr>
          <a:xfrm xmlns:a="http://schemas.openxmlformats.org/drawingml/2006/main">
            <a:off x="11506200" y="2905125"/>
            <a:ext cx="0" cy="857250"/>
          </a:xfrm>
          <a:prstGeom xmlns:a="http://schemas.openxmlformats.org/drawingml/2006/main" prst="straightConnector1">
            <a:avLst/>
          </a:prstGeom>
          <a:ln xmlns:a="http://schemas.openxmlformats.org/drawingml/2006/main" w="23813">
            <a:solidFill>
              <a:srgbClr val="173F2F"/>
            </a:solidFill>
            <a:tailEnd type="triangle" w="med" len="med"/>
          </a:ln>
        </p:spPr>
      </p:cxnSp>
      <p:cxnSp>
        <p:nvCxnSpPr>
          <p:cNvPr id="37" name="">
            <a:extLst xmlns:a="http://schemas.openxmlformats.org/drawingml/2006/main">
              <a:ext uri="{FF2B5EF4-FFF2-40B4-BE49-F238E27FC236}">
                <a16:creationId xmlns:a16="http://schemas.microsoft.com/office/drawing/2014/main" id="{3DA847D8-7165-4AF5-B554-CD2B221F8B63}"/>
              </a:ext>
            </a:extLst>
          </p:cNvPr>
          <p:cNvCxnSpPr/>
          <p:nvPr/>
        </p:nvCxnSpPr>
        <p:spPr>
          <a:xfrm xmlns:a="http://schemas.openxmlformats.org/drawingml/2006/main">
            <a:off x="11506200" y="3762375"/>
            <a:ext cx="0" cy="857250"/>
          </a:xfrm>
          <a:prstGeom xmlns:a="http://schemas.openxmlformats.org/drawingml/2006/main" prst="straightConnector1">
            <a:avLst/>
          </a:prstGeom>
          <a:ln xmlns:a="http://schemas.openxmlformats.org/drawingml/2006/main" w="23813">
            <a:solidFill>
              <a:srgbClr val="173F2F"/>
            </a:solidFill>
            <a:tailEnd type="triangle" w="med" len="med"/>
          </a:ln>
        </p:spPr>
      </p:cxnSp>
      <p:cxnSp>
        <p:nvCxnSpPr>
          <p:cNvPr id="38" name="">
            <a:extLst xmlns:a="http://schemas.openxmlformats.org/drawingml/2006/main">
              <a:ext uri="{FF2B5EF4-FFF2-40B4-BE49-F238E27FC236}">
                <a16:creationId xmlns:a16="http://schemas.microsoft.com/office/drawing/2014/main" id="{E51948BD-BE19-4135-91B6-8E26B6B4DDEB}"/>
              </a:ext>
            </a:extLst>
          </p:cNvPr>
          <p:cNvCxnSpPr/>
          <p:nvPr/>
        </p:nvCxnSpPr>
        <p:spPr>
          <a:xfrm xmlns:a="http://schemas.openxmlformats.org/drawingml/2006/main">
            <a:off x="11506200" y="4619625"/>
            <a:ext cx="0" cy="857250"/>
          </a:xfrm>
          <a:prstGeom xmlns:a="http://schemas.openxmlformats.org/drawingml/2006/main" prst="straightConnector1">
            <a:avLst/>
          </a:prstGeom>
          <a:ln xmlns:a="http://schemas.openxmlformats.org/drawingml/2006/main" w="23813">
            <a:solidFill>
              <a:srgbClr val="173F2F"/>
            </a:solidFill>
            <a:tailEnd type="triangle" w="med" len="med"/>
          </a:ln>
        </p:spPr>
      </p:cxnSp>
      <p:sp>
        <p:nvSpPr>
          <p:cNvPr id="39" name="Ruta C: enlace físico y adaptación a la app pendientes.">
            <a:extLst xmlns:a="http://schemas.openxmlformats.org/drawingml/2006/main">
              <a:ext uri="{FF2B5EF4-FFF2-40B4-BE49-F238E27FC236}">
                <a16:creationId xmlns:a16="http://schemas.microsoft.com/office/drawing/2014/main" id="{F3BDBEA7-0DDC-4D68-A8AE-739D13F3E3F4}"/>
              </a:ext>
            </a:extLst>
          </p:cNvPr>
          <p:cNvSpPr>
            <a:spLocks xmlns:a="http://schemas.openxmlformats.org/drawingml/2006/main" noGrp="1"/>
          </p:cNvSpPr>
          <p:nvPr/>
        </p:nvSpPr>
        <p:spPr>
          <a:xfrm xmlns:a="http://schemas.openxmlformats.org/drawingml/2006/main">
            <a:off x="571500" y="601980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77161"/>
                </a:solidFill>
                <a:latin typeface="Arial"/>
                <a:ea typeface="Arial"/>
                <a:cs typeface="Arial"/>
              </a:defRPr>
            </a:defPPr>
          </a:lstStyle>
          <a:p xmlns:a="http://schemas.openxmlformats.org/drawingml/2006/main">
            <a:pPr>
              <a:defRPr sz="1425" b="0">
                <a:solidFill>
                  <a:srgbClr val="577161"/>
                </a:solidFill>
                <a:latin typeface="Arial"/>
                <a:ea typeface="Arial"/>
                <a:cs typeface="Arial"/>
              </a:defRPr>
            </a:pPr>
            <a:r>
              <a:rPr sz="1425" b="0">
                <a:solidFill>
                  <a:srgbClr val="577161"/>
                </a:solidFill>
                <a:latin typeface="Arial"/>
                <a:ea typeface="Arial"/>
                <a:cs typeface="Arial"/>
              </a:rPr>
              <a:t>Ruta C: enlace físico y adaptación a la app pendientes. El reconocimiento actual usa Internet.</a:t>
            </a:r>
          </a:p>
        </p:txBody>
      </p:sp>
    </p:spTree>
    <p:extLst>
      <p:ext uri="{BB962C8B-B14F-4D97-AF65-F5344CB8AC3E}">
        <p14:creationId xmlns:p14="http://schemas.microsoft.com/office/powerpoint/2010/main" val="1691793507"/>
      </p:ext>
    </p:extLst>
  </p:cSld>
</p:sld>
</file>

<file path=ppt/slides/slide25.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40" name="Matriz morfológica · Cantidad y cálculo">
            <a:extLst xmlns:a="http://schemas.openxmlformats.org/drawingml/2006/main">
              <a:ext uri="{FF2B5EF4-FFF2-40B4-BE49-F238E27FC236}">
                <a16:creationId xmlns:a16="http://schemas.microsoft.com/office/drawing/2014/main" id="{C2B10CFE-D11C-4B35-A5C4-263AFDD61E6D}"/>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Matriz morfológica · Cantidad y cálculo</a:t>
            </a:r>
          </a:p>
        </p:txBody>
      </p:sp>
      <p:sp>
        <p:nvSpPr>
          <p:cNvPr id="2" name="Dominio de procesamiento y datos. La cantidad total cam">
            <a:extLst xmlns:a="http://schemas.openxmlformats.org/drawingml/2006/main">
              <a:ext uri="{FF2B5EF4-FFF2-40B4-BE49-F238E27FC236}">
                <a16:creationId xmlns:a16="http://schemas.microsoft.com/office/drawing/2014/main" id="{431B3F02-BCD6-4D7E-B1D8-FB77A9EFDE2A}"/>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Dominio de procesamiento y datos. La cantidad total cambia entre conceptos.</a:t>
            </a:r>
          </a:p>
        </p:txBody>
      </p:sp>
      <p:sp>
        <p:nvSpPr>
          <p:cNvPr id="3" name="Fuentes [16], [17], [18], [19], [20], [24] · Referencia">
            <a:extLst xmlns:a="http://schemas.openxmlformats.org/drawingml/2006/main">
              <a:ext uri="{FF2B5EF4-FFF2-40B4-BE49-F238E27FC236}">
                <a16:creationId xmlns:a16="http://schemas.microsoft.com/office/drawing/2014/main" id="{5B2FA9B9-4C6A-44CC-B0DD-90073990D53F}"/>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[16], [17], [18], [19], [20], [24] · Referencias al final</a:t>
            </a:r>
          </a:p>
        </p:txBody>
      </p:sp>
      <p:sp>
        <p:nvSpPr>
          <p:cNvPr id="4" name="25">
            <a:extLst xmlns:a="http://schemas.openxmlformats.org/drawingml/2006/main">
              <a:ext uri="{FF2B5EF4-FFF2-40B4-BE49-F238E27FC236}">
                <a16:creationId xmlns:a16="http://schemas.microsoft.com/office/drawing/2014/main" id="{89F6150E-8ADD-4B0E-8C4C-B5A5CD43F9FD}"/>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25</a:t>
            </a:r>
          </a:p>
        </p:txBody>
      </p:sp>
      <p:graphicFrame>
        <p:nvGraphicFramePr>
          <p:cNvPr id="5" name="">
            <a:extLst xmlns:a="http://schemas.openxmlformats.org/drawingml/2006/main">
              <a:ext uri="{FF2B5EF4-FFF2-40B4-BE49-F238E27FC236}">
                <a16:creationId xmlns:a16="http://schemas.microsoft.com/office/drawing/2014/main" id="{02BEFF71-3F81-4979-9DEB-23FF69AF75BD}"/>
              </a:ext>
            </a:extLst>
          </p:cNvPr>
          <p:cNvGraphicFramePr/>
          <p:nvPr/>
        </p:nvGraphicFramePr>
        <p:xfrm>
          <a:off xmlns:a="http://schemas.openxmlformats.org/drawingml/2006/main" x="571500" y="2019300"/>
          <a:ext xmlns:a="http://schemas.openxmlformats.org/drawingml/2006/main" cx="11049000" cy="3886200"/>
        </p:xfrm>
        <a:graphic xmlns:a="http://schemas.openxmlformats.org/drawingml/2006/main">
          <a:graphicData uri="http://schemas.openxmlformats.org/drawingml/2006/table">
            <a:tbl>
              <a:tblPr/>
              <a:tblGrid>
                <a:gridCol w="2076450"/>
                <a:gridCol w="2990850"/>
                <a:gridCol w="2990850"/>
                <a:gridCol w="2990850"/>
              </a:tblGrid>
              <a:tr h="457200">
                <a:tc>
                  <a:txBody>
                    <a:bodyPr/>
                    <a:lstStyle/>
                    <a:p>
                      <a:r>
                        <a:rPr sz="1725" b="1">
                          <a:solidFill>
                            <a:srgbClr val="FFFFFF"/>
                          </a:solidFill>
                          <a:latin typeface="Arial"/>
                          <a:ea typeface="Arial"/>
                          <a:cs typeface="Arial"/>
                        </a:rPr>
                        <a:t>Función</a:t>
                      </a:r>
                    </a:p>
                  </a:txBody>
                  <a:tcPr marL="114300" marR="114300" marT="19050" marB="19050" anchor="ctr">
                    <a:solidFill>
                      <a:srgbClr val="173F2F"/>
                    </a:solidFill>
                  </a:tcPr>
                </a:tc>
                <a:tc>
                  <a:txBody>
                    <a:bodyPr/>
                    <a:lstStyle/>
                    <a:p>
                      <a:r>
                        <a:rPr sz="1725" b="1">
                          <a:solidFill>
                            <a:srgbClr val="FFFFFF"/>
                          </a:solidFill>
                          <a:latin typeface="Arial"/>
                          <a:ea typeface="Arial"/>
                          <a:cs typeface="Arial"/>
                        </a:rPr>
                        <a:t>A · Visual</a:t>
                      </a:r>
                    </a:p>
                  </a:txBody>
                  <a:tcPr marL="114300" marR="114300" marT="19050" marB="19050" anchor="ctr">
                    <a:solidFill>
                      <a:srgbClr val="173F2F"/>
                    </a:solidFill>
                  </a:tcPr>
                </a:tc>
                <a:tc>
                  <a:txBody>
                    <a:bodyPr/>
                    <a:lstStyle/>
                    <a:p>
                      <a:r>
                        <a:rPr sz="1725" b="1">
                          <a:solidFill>
                            <a:srgbClr val="FFFFFF"/>
                          </a:solidFill>
                          <a:latin typeface="Arial"/>
                          <a:ea typeface="Arial"/>
                          <a:cs typeface="Arial"/>
                        </a:rPr>
                        <a:t>B · Avance actual</a:t>
                      </a:r>
                    </a:p>
                  </a:txBody>
                  <a:tcPr marL="114300" marR="114300" marT="19050" marB="19050" anchor="ctr">
                    <a:solidFill>
                      <a:srgbClr val="173F2F"/>
                    </a:solidFill>
                  </a:tcPr>
                </a:tc>
                <a:tc>
                  <a:txBody>
                    <a:bodyPr/>
                    <a:lstStyle/>
                    <a:p>
                      <a:r>
                        <a:rPr sz="1725" b="1">
                          <a:solidFill>
                            <a:srgbClr val="FFFFFF"/>
                          </a:solidFill>
                          <a:latin typeface="Arial"/>
                          <a:ea typeface="Arial"/>
                          <a:cs typeface="Arial"/>
                        </a:rPr>
                        <a:t>C · Caja integrada</a:t>
                      </a:r>
                    </a:p>
                  </a:txBody>
                  <a:tcPr marL="114300" marR="114300" marT="19050" marB="19050" anchor="ctr">
                    <a:solidFill>
                      <a:srgbClr val="173F2F"/>
                    </a:solidFill>
                  </a:tcPr>
                </a:tc>
              </a:tr>
              <a:tr h="857250">
                <a:tc>
                  <a:txBody>
                    <a:bodyPr/>
                    <a:lstStyle/>
                    <a:p>
                      <a:r>
                        <a:rPr sz="1725">
                          <a:solidFill>
                            <a:srgbClr val="173F2F"/>
                          </a:solidFill>
                          <a:latin typeface="Arial"/>
                          <a:ea typeface="Arial"/>
                          <a:cs typeface="Arial"/>
                        </a:rPr>
                        <a:t>F5 Cantidad</a:t>
                      </a:r>
                    </a:p>
                  </a:txBody>
                  <a:tcPr marL="114300" marR="114300" marT="19050" marB="19050" anchor="ctr">
                    <a:solidFill>
                      <a:srgbClr val="FFFFFF"/>
                    </a:solidFill>
                  </a:tcPr>
                </a:tc>
                <a:tc>
                  <a:txBody>
                    <a:bodyPr/>
                    <a:lstStyle/>
                    <a:p>
                      <a:r>
                        <a:rPr sz="1725">
                          <a:solidFill>
                            <a:srgbClr val="173F2F"/>
                          </a:solidFill>
                          <a:latin typeface="Arial"/>
                          <a:ea typeface="Arial"/>
                          <a:cs typeface="Arial"/>
                        </a:rPr>
                        <a:t/>
                      </a:r>
                    </a:p>
                  </a:txBody>
                  <a:tcPr marL="114300" marR="114300" marT="19050" marB="19050" anchor="ctr">
                    <a:solidFill>
                      <a:srgbClr val="FFFFFF"/>
                    </a:solidFill>
                  </a:tcPr>
                </a:tc>
                <a:tc>
                  <a:txBody>
                    <a:bodyPr/>
                    <a:lstStyle/>
                    <a:p>
                      <a:r>
                        <a:rPr sz="1725">
                          <a:solidFill>
                            <a:srgbClr val="173F2F"/>
                          </a:solidFill>
                          <a:latin typeface="Arial"/>
                          <a:ea typeface="Arial"/>
                          <a:cs typeface="Arial"/>
                        </a:rPr>
                        <a:t/>
                      </a:r>
                    </a:p>
                  </a:txBody>
                  <a:tcPr marL="114300" marR="114300" marT="19050" marB="19050" anchor="ctr">
                    <a:solidFill>
                      <a:srgbClr val="FFFFFF"/>
                    </a:solidFill>
                  </a:tcPr>
                </a:tc>
                <a:tc>
                  <a:txBody>
                    <a:bodyPr/>
                    <a:lstStyle/>
                    <a:p>
                      <a:r>
                        <a:rPr sz="1725">
                          <a:solidFill>
                            <a:srgbClr val="173F2F"/>
                          </a:solidFill>
                          <a:latin typeface="Arial"/>
                          <a:ea typeface="Arial"/>
                          <a:cs typeface="Arial"/>
                        </a:rPr>
                        <a:t/>
                      </a:r>
                    </a:p>
                  </a:txBody>
                  <a:tcPr marL="114300" marR="114300" marT="19050" marB="19050" anchor="ctr">
                    <a:solidFill>
                      <a:srgbClr val="FFFFFF"/>
                    </a:solidFill>
                  </a:tcPr>
                </a:tc>
              </a:tr>
              <a:tr h="857250">
                <a:tc>
                  <a:txBody>
                    <a:bodyPr/>
                    <a:lstStyle/>
                    <a:p>
                      <a:r>
                        <a:rPr sz="1725">
                          <a:solidFill>
                            <a:srgbClr val="173F2F"/>
                          </a:solidFill>
                          <a:latin typeface="Arial"/>
                          <a:ea typeface="Arial"/>
                          <a:cs typeface="Arial"/>
                        </a:rPr>
                        <a:t>F6 Identificar</a:t>
                      </a:r>
                    </a:p>
                  </a:txBody>
                  <a:tcPr marL="114300" marR="114300" marT="19050" marB="19050" anchor="ctr">
                    <a:solidFill>
                      <a:srgbClr val="EFF2E8"/>
                    </a:solidFill>
                  </a:tcPr>
                </a:tc>
                <a:tc>
                  <a:txBody>
                    <a:bodyPr/>
                    <a:lstStyle/>
                    <a:p>
                      <a:r>
                        <a:rPr sz="1725">
                          <a:solidFill>
                            <a:srgbClr val="173F2F"/>
                          </a:solidFill>
                          <a:latin typeface="Arial"/>
                          <a:ea typeface="Arial"/>
                          <a:cs typeface="Arial"/>
                        </a:rPr>
                        <a:t/>
                      </a:r>
                    </a:p>
                  </a:txBody>
                  <a:tcPr marL="114300" marR="114300" marT="19050" marB="19050" anchor="ctr">
                    <a:solidFill>
                      <a:srgbClr val="EFF2E8"/>
                    </a:solidFill>
                  </a:tcPr>
                </a:tc>
                <a:tc>
                  <a:txBody>
                    <a:bodyPr/>
                    <a:lstStyle/>
                    <a:p>
                      <a:r>
                        <a:rPr sz="1725">
                          <a:solidFill>
                            <a:srgbClr val="173F2F"/>
                          </a:solidFill>
                          <a:latin typeface="Arial"/>
                          <a:ea typeface="Arial"/>
                          <a:cs typeface="Arial"/>
                        </a:rPr>
                        <a:t/>
                      </a:r>
                    </a:p>
                  </a:txBody>
                  <a:tcPr marL="114300" marR="114300" marT="19050" marB="19050" anchor="ctr">
                    <a:solidFill>
                      <a:srgbClr val="EFF2E8"/>
                    </a:solidFill>
                  </a:tcPr>
                </a:tc>
                <a:tc>
                  <a:txBody>
                    <a:bodyPr/>
                    <a:lstStyle/>
                    <a:p>
                      <a:r>
                        <a:rPr sz="1725">
                          <a:solidFill>
                            <a:srgbClr val="173F2F"/>
                          </a:solidFill>
                          <a:latin typeface="Arial"/>
                          <a:ea typeface="Arial"/>
                          <a:cs typeface="Arial"/>
                        </a:rPr>
                        <a:t/>
                      </a:r>
                    </a:p>
                  </a:txBody>
                  <a:tcPr marL="114300" marR="114300" marT="19050" marB="19050" anchor="ctr">
                    <a:solidFill>
                      <a:srgbClr val="EFF2E8"/>
                    </a:solidFill>
                  </a:tcPr>
                </a:tc>
              </a:tr>
              <a:tr h="857250">
                <a:tc>
                  <a:txBody>
                    <a:bodyPr/>
                    <a:lstStyle/>
                    <a:p>
                      <a:r>
                        <a:rPr sz="1725">
                          <a:solidFill>
                            <a:srgbClr val="173F2F"/>
                          </a:solidFill>
                          <a:latin typeface="Arial"/>
                          <a:ea typeface="Arial"/>
                          <a:cs typeface="Arial"/>
                        </a:rPr>
                        <a:t>F7 Referencia</a:t>
                      </a:r>
                    </a:p>
                  </a:txBody>
                  <a:tcPr marL="114300" marR="114300" marT="19050" marB="19050" anchor="ctr">
                    <a:solidFill>
                      <a:srgbClr val="FFFFFF"/>
                    </a:solidFill>
                  </a:tcPr>
                </a:tc>
                <a:tc>
                  <a:txBody>
                    <a:bodyPr/>
                    <a:lstStyle/>
                    <a:p>
                      <a:r>
                        <a:rPr sz="1725">
                          <a:solidFill>
                            <a:srgbClr val="173F2F"/>
                          </a:solidFill>
                          <a:latin typeface="Arial"/>
                          <a:ea typeface="Arial"/>
                          <a:cs typeface="Arial"/>
                        </a:rPr>
                        <a:t/>
                      </a:r>
                    </a:p>
                  </a:txBody>
                  <a:tcPr marL="114300" marR="114300" marT="19050" marB="19050" anchor="ctr">
                    <a:solidFill>
                      <a:srgbClr val="FFFFFF"/>
                    </a:solidFill>
                  </a:tcPr>
                </a:tc>
                <a:tc>
                  <a:txBody>
                    <a:bodyPr/>
                    <a:lstStyle/>
                    <a:p>
                      <a:r>
                        <a:rPr sz="1725">
                          <a:solidFill>
                            <a:srgbClr val="173F2F"/>
                          </a:solidFill>
                          <a:latin typeface="Arial"/>
                          <a:ea typeface="Arial"/>
                          <a:cs typeface="Arial"/>
                        </a:rPr>
                        <a:t/>
                      </a:r>
                    </a:p>
                  </a:txBody>
                  <a:tcPr marL="114300" marR="114300" marT="19050" marB="19050" anchor="ctr">
                    <a:solidFill>
                      <a:srgbClr val="FFFFFF"/>
                    </a:solidFill>
                  </a:tcPr>
                </a:tc>
                <a:tc>
                  <a:txBody>
                    <a:bodyPr/>
                    <a:lstStyle/>
                    <a:p>
                      <a:r>
                        <a:rPr sz="1725">
                          <a:solidFill>
                            <a:srgbClr val="173F2F"/>
                          </a:solidFill>
                          <a:latin typeface="Arial"/>
                          <a:ea typeface="Arial"/>
                          <a:cs typeface="Arial"/>
                        </a:rPr>
                        <a:t/>
                      </a:r>
                    </a:p>
                  </a:txBody>
                  <a:tcPr marL="114300" marR="114300" marT="19050" marB="19050" anchor="ctr">
                    <a:solidFill>
                      <a:srgbClr val="FFFFFF"/>
                    </a:solidFill>
                  </a:tcPr>
                </a:tc>
              </a:tr>
              <a:tr h="857250">
                <a:tc>
                  <a:txBody>
                    <a:bodyPr/>
                    <a:lstStyle/>
                    <a:p>
                      <a:r>
                        <a:rPr sz="1725">
                          <a:solidFill>
                            <a:srgbClr val="173F2F"/>
                          </a:solidFill>
                          <a:latin typeface="Arial"/>
                          <a:ea typeface="Arial"/>
                          <a:cs typeface="Arial"/>
                        </a:rPr>
                        <a:t>F8 Calcular</a:t>
                      </a:r>
                    </a:p>
                  </a:txBody>
                  <a:tcPr marL="114300" marR="114300" marT="19050" marB="19050" anchor="ctr">
                    <a:solidFill>
                      <a:srgbClr val="EFF2E8"/>
                    </a:solidFill>
                  </a:tcPr>
                </a:tc>
                <a:tc>
                  <a:txBody>
                    <a:bodyPr/>
                    <a:lstStyle/>
                    <a:p>
                      <a:r>
                        <a:rPr sz="1725">
                          <a:solidFill>
                            <a:srgbClr val="173F2F"/>
                          </a:solidFill>
                          <a:latin typeface="Arial"/>
                          <a:ea typeface="Arial"/>
                          <a:cs typeface="Arial"/>
                        </a:rPr>
                        <a:t/>
                      </a:r>
                    </a:p>
                  </a:txBody>
                  <a:tcPr marL="114300" marR="114300" marT="19050" marB="19050" anchor="ctr">
                    <a:solidFill>
                      <a:srgbClr val="EFF2E8"/>
                    </a:solidFill>
                  </a:tcPr>
                </a:tc>
                <a:tc>
                  <a:txBody>
                    <a:bodyPr/>
                    <a:lstStyle/>
                    <a:p>
                      <a:r>
                        <a:rPr sz="1725">
                          <a:solidFill>
                            <a:srgbClr val="173F2F"/>
                          </a:solidFill>
                          <a:latin typeface="Arial"/>
                          <a:ea typeface="Arial"/>
                          <a:cs typeface="Arial"/>
                        </a:rPr>
                        <a:t/>
                      </a:r>
                    </a:p>
                  </a:txBody>
                  <a:tcPr marL="114300" marR="114300" marT="19050" marB="19050" anchor="ctr">
                    <a:solidFill>
                      <a:srgbClr val="EFF2E8"/>
                    </a:solidFill>
                  </a:tcPr>
                </a:tc>
                <a:tc>
                  <a:txBody>
                    <a:bodyPr/>
                    <a:lstStyle/>
                    <a:p>
                      <a:r>
                        <a:rPr sz="1725">
                          <a:solidFill>
                            <a:srgbClr val="173F2F"/>
                          </a:solidFill>
                          <a:latin typeface="Arial"/>
                          <a:ea typeface="Arial"/>
                          <a:cs typeface="Arial"/>
                        </a:rPr>
                        <a:t/>
                      </a:r>
                    </a:p>
                  </a:txBody>
                  <a:tcPr marL="114300" marR="114300" marT="19050" marB="19050" anchor="ctr">
                    <a:solidFill>
                      <a:srgbClr val="EFF2E8"/>
                    </a:solidFill>
                  </a:tcPr>
                </a:tc>
              </a:tr>
            </a:tbl>
          </a:graphicData>
        </a:graphic>
      </p:graphicFrame>
      <p:pic>
        <p:nvPicPr>
          <p:cNvPr id="6" name="">
            <a:extLst xmlns:a="http://schemas.openxmlformats.org/drawingml/2006/main">
              <a:ext uri="{FF2B5EF4-FFF2-40B4-BE49-F238E27FC236}">
                <a16:creationId xmlns:a16="http://schemas.microsoft.com/office/drawing/2014/main" id="{E7CB873A-1763-47BC-9300-0A713B6560CF}"/>
              </a:ext>
            </a:extLst>
          </p:cNvPr>
          <p:cNvPicPr>
            <a:picLocks xmlns:a="http://schemas.openxmlformats.org/drawingml/2006/main" noChangeAspect="1"/>
          </p:cNvPicPr>
          <p:nvPr/>
        </p:nvPicPr>
        <p:blipFill>
          <a:blip xmlns:r="http://schemas.openxmlformats.org/officeDocument/2006/relationships" xmlns:a="http://schemas.openxmlformats.org/drawingml/2006/main" r:embed="Ra2ac5a9765854b68"/>
          <a:stretch xmlns:a="http://schemas.openxmlformats.org/drawingml/2006/main"/>
        </p:blipFill>
        <p:spPr>
          <a:xfrm xmlns:a="http://schemas.openxmlformats.org/drawingml/2006/main">
            <a:off x="3005138" y="2552700"/>
            <a:ext cx="400050" cy="685800"/>
          </a:xfrm>
          <a:prstGeom xmlns:a="http://schemas.openxmlformats.org/drawingml/2006/main" prst="rect">
            <a:avLst/>
          </a:prstGeom>
        </p:spPr>
      </p:pic>
      <p:sp>
        <p:nvSpPr>
          <p:cNvPr id="7" name="Estimación visual total">
            <a:extLst xmlns:a="http://schemas.openxmlformats.org/drawingml/2006/main">
              <a:ext uri="{FF2B5EF4-FFF2-40B4-BE49-F238E27FC236}">
                <a16:creationId xmlns:a16="http://schemas.microsoft.com/office/drawing/2014/main" id="{06D4114A-A754-4C7B-ADC2-E4581B1A3A96}"/>
              </a:ext>
            </a:extLst>
          </p:cNvPr>
          <p:cNvSpPr>
            <a:spLocks xmlns:a="http://schemas.openxmlformats.org/drawingml/2006/main" noGrp="1"/>
          </p:cNvSpPr>
          <p:nvPr/>
        </p:nvSpPr>
        <p:spPr>
          <a:xfrm xmlns:a="http://schemas.openxmlformats.org/drawingml/2006/main">
            <a:off x="3743325" y="2628900"/>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Estimación visual total</a:t>
            </a:r>
          </a:p>
        </p:txBody>
      </p:sp>
      <p:pic>
        <p:nvPicPr>
          <p:cNvPr id="8" name="">
            <a:extLst xmlns:a="http://schemas.openxmlformats.org/drawingml/2006/main">
              <a:ext uri="{FF2B5EF4-FFF2-40B4-BE49-F238E27FC236}">
                <a16:creationId xmlns:a16="http://schemas.microsoft.com/office/drawing/2014/main" id="{8F59D16B-2EBF-49D4-825D-5ADCBE5EE8C4}"/>
              </a:ext>
            </a:extLst>
          </p:cNvPr>
          <p:cNvPicPr>
            <a:picLocks xmlns:a="http://schemas.openxmlformats.org/drawingml/2006/main" noChangeAspect="1"/>
          </p:cNvPicPr>
          <p:nvPr/>
        </p:nvPicPr>
        <p:blipFill>
          <a:blip xmlns:r="http://schemas.openxmlformats.org/officeDocument/2006/relationships" xmlns:a="http://schemas.openxmlformats.org/drawingml/2006/main" r:embed="R9642c7d727874909"/>
          <a:stretch xmlns:a="http://schemas.openxmlformats.org/drawingml/2006/main"/>
        </p:blipFill>
        <p:spPr>
          <a:xfrm xmlns:a="http://schemas.openxmlformats.org/drawingml/2006/main">
            <a:off x="5990353" y="2552700"/>
            <a:ext cx="411319" cy="685800"/>
          </a:xfrm>
          <a:prstGeom xmlns:a="http://schemas.openxmlformats.org/drawingml/2006/main" prst="rect">
            <a:avLst/>
          </a:prstGeom>
        </p:spPr>
      </p:pic>
      <p:sp>
        <p:nvSpPr>
          <p:cNvPr id="9" name="Balanza externa de 5 kg">
            <a:extLst xmlns:a="http://schemas.openxmlformats.org/drawingml/2006/main">
              <a:ext uri="{FF2B5EF4-FFF2-40B4-BE49-F238E27FC236}">
                <a16:creationId xmlns:a16="http://schemas.microsoft.com/office/drawing/2014/main" id="{B1B1106E-C77C-4A15-A531-FB1454F1DCA7}"/>
              </a:ext>
            </a:extLst>
          </p:cNvPr>
          <p:cNvSpPr>
            <a:spLocks xmlns:a="http://schemas.openxmlformats.org/drawingml/2006/main" noGrp="1"/>
          </p:cNvSpPr>
          <p:nvPr/>
        </p:nvSpPr>
        <p:spPr>
          <a:xfrm xmlns:a="http://schemas.openxmlformats.org/drawingml/2006/main">
            <a:off x="6734175" y="2628900"/>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Balanza externa de 5 kg</a:t>
            </a:r>
          </a:p>
        </p:txBody>
      </p:sp>
      <p:pic>
        <p:nvPicPr>
          <p:cNvPr id="10" name="">
            <a:extLst xmlns:a="http://schemas.openxmlformats.org/drawingml/2006/main">
              <a:ext uri="{FF2B5EF4-FFF2-40B4-BE49-F238E27FC236}">
                <a16:creationId xmlns:a16="http://schemas.microsoft.com/office/drawing/2014/main" id="{5E315EFD-7DBB-4DD7-A6C3-A8CCA7040E30}"/>
              </a:ext>
            </a:extLst>
          </p:cNvPr>
          <p:cNvPicPr>
            <a:picLocks xmlns:a="http://schemas.openxmlformats.org/drawingml/2006/main" noChangeAspect="1"/>
          </p:cNvPicPr>
          <p:nvPr/>
        </p:nvPicPr>
        <p:blipFill>
          <a:blip xmlns:r="http://schemas.openxmlformats.org/officeDocument/2006/relationships" xmlns:a="http://schemas.openxmlformats.org/drawingml/2006/main" r:embed="R51b0dc56167a4182"/>
          <a:stretch xmlns:a="http://schemas.openxmlformats.org/drawingml/2006/main"/>
        </p:blipFill>
        <p:spPr>
          <a:xfrm xmlns:a="http://schemas.openxmlformats.org/drawingml/2006/main">
            <a:off x="8843963" y="2552700"/>
            <a:ext cx="685800" cy="685800"/>
          </a:xfrm>
          <a:prstGeom xmlns:a="http://schemas.openxmlformats.org/drawingml/2006/main" prst="rect">
            <a:avLst/>
          </a:prstGeom>
        </p:spPr>
      </p:pic>
      <p:sp>
        <p:nvSpPr>
          <p:cNvPr id="11" name="Celda 5 kg + HX711">
            <a:extLst xmlns:a="http://schemas.openxmlformats.org/drawingml/2006/main">
              <a:ext uri="{FF2B5EF4-FFF2-40B4-BE49-F238E27FC236}">
                <a16:creationId xmlns:a16="http://schemas.microsoft.com/office/drawing/2014/main" id="{25EABD70-D93A-4724-9D2F-9564B0B2A877}"/>
              </a:ext>
            </a:extLst>
          </p:cNvPr>
          <p:cNvSpPr>
            <a:spLocks xmlns:a="http://schemas.openxmlformats.org/drawingml/2006/main" noGrp="1"/>
          </p:cNvSpPr>
          <p:nvPr/>
        </p:nvSpPr>
        <p:spPr>
          <a:xfrm xmlns:a="http://schemas.openxmlformats.org/drawingml/2006/main">
            <a:off x="9725025" y="2628900"/>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Celda 5 kg + HX711</a:t>
            </a:r>
          </a:p>
        </p:txBody>
      </p:sp>
      <p:pic>
        <p:nvPicPr>
          <p:cNvPr id="12" name="">
            <a:extLst xmlns:a="http://schemas.openxmlformats.org/drawingml/2006/main">
              <a:ext uri="{FF2B5EF4-FFF2-40B4-BE49-F238E27FC236}">
                <a16:creationId xmlns:a16="http://schemas.microsoft.com/office/drawing/2014/main" id="{336C2572-F2CF-4617-8F00-8C9304F2B417}"/>
              </a:ext>
            </a:extLst>
          </p:cNvPr>
          <p:cNvPicPr>
            <a:picLocks xmlns:a="http://schemas.openxmlformats.org/drawingml/2006/main" noChangeAspect="1"/>
          </p:cNvPicPr>
          <p:nvPr/>
        </p:nvPicPr>
        <p:blipFill>
          <a:blip xmlns:r="http://schemas.openxmlformats.org/officeDocument/2006/relationships" xmlns:a="http://schemas.openxmlformats.org/drawingml/2006/main" r:embed="Rdc22462d23c04024"/>
          <a:stretch xmlns:a="http://schemas.openxmlformats.org/drawingml/2006/main"/>
        </p:blipFill>
        <p:spPr>
          <a:xfrm xmlns:a="http://schemas.openxmlformats.org/drawingml/2006/main">
            <a:off x="3070651" y="3409950"/>
            <a:ext cx="269023" cy="685800"/>
          </a:xfrm>
          <a:prstGeom xmlns:a="http://schemas.openxmlformats.org/drawingml/2006/main" prst="rect">
            <a:avLst/>
          </a:prstGeom>
        </p:spPr>
      </p:pic>
      <p:sp>
        <p:nvSpPr>
          <p:cNvPr id="13" name="Gemini + revisión">
            <a:extLst xmlns:a="http://schemas.openxmlformats.org/drawingml/2006/main">
              <a:ext uri="{FF2B5EF4-FFF2-40B4-BE49-F238E27FC236}">
                <a16:creationId xmlns:a16="http://schemas.microsoft.com/office/drawing/2014/main" id="{403D5B3D-2CB0-4795-A71B-52F6FAB0EA17}"/>
              </a:ext>
            </a:extLst>
          </p:cNvPr>
          <p:cNvSpPr>
            <a:spLocks xmlns:a="http://schemas.openxmlformats.org/drawingml/2006/main" noGrp="1"/>
          </p:cNvSpPr>
          <p:nvPr/>
        </p:nvSpPr>
        <p:spPr>
          <a:xfrm xmlns:a="http://schemas.openxmlformats.org/drawingml/2006/main">
            <a:off x="3743325" y="3486150"/>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Gemini + revisión</a:t>
            </a:r>
          </a:p>
        </p:txBody>
      </p:sp>
      <p:pic>
        <p:nvPicPr>
          <p:cNvPr id="14" name="">
            <a:extLst xmlns:a="http://schemas.openxmlformats.org/drawingml/2006/main">
              <a:ext uri="{FF2B5EF4-FFF2-40B4-BE49-F238E27FC236}">
                <a16:creationId xmlns:a16="http://schemas.microsoft.com/office/drawing/2014/main" id="{B7C4CEEF-7C44-42AC-9A8A-B1C78208F888}"/>
              </a:ext>
            </a:extLst>
          </p:cNvPr>
          <p:cNvPicPr>
            <a:picLocks xmlns:a="http://schemas.openxmlformats.org/drawingml/2006/main" noChangeAspect="1"/>
          </p:cNvPicPr>
          <p:nvPr/>
        </p:nvPicPr>
        <p:blipFill>
          <a:blip xmlns:r="http://schemas.openxmlformats.org/officeDocument/2006/relationships" xmlns:a="http://schemas.openxmlformats.org/drawingml/2006/main" r:embed="R4e02df73fca84161"/>
          <a:stretch xmlns:a="http://schemas.openxmlformats.org/drawingml/2006/main"/>
        </p:blipFill>
        <p:spPr>
          <a:xfrm xmlns:a="http://schemas.openxmlformats.org/drawingml/2006/main">
            <a:off x="6061501" y="3409950"/>
            <a:ext cx="269023" cy="685800"/>
          </a:xfrm>
          <a:prstGeom xmlns:a="http://schemas.openxmlformats.org/drawingml/2006/main" prst="rect">
            <a:avLst/>
          </a:prstGeom>
        </p:spPr>
      </p:pic>
      <p:sp>
        <p:nvSpPr>
          <p:cNvPr id="15" name="Gemini + revisión">
            <a:extLst xmlns:a="http://schemas.openxmlformats.org/drawingml/2006/main">
              <a:ext uri="{FF2B5EF4-FFF2-40B4-BE49-F238E27FC236}">
                <a16:creationId xmlns:a16="http://schemas.microsoft.com/office/drawing/2014/main" id="{AF517DA2-87BC-4C42-855E-BE388FC52343}"/>
              </a:ext>
            </a:extLst>
          </p:cNvPr>
          <p:cNvSpPr>
            <a:spLocks xmlns:a="http://schemas.openxmlformats.org/drawingml/2006/main" noGrp="1"/>
          </p:cNvSpPr>
          <p:nvPr/>
        </p:nvSpPr>
        <p:spPr>
          <a:xfrm xmlns:a="http://schemas.openxmlformats.org/drawingml/2006/main">
            <a:off x="6734175" y="3486150"/>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Gemini + revisión</a:t>
            </a:r>
          </a:p>
        </p:txBody>
      </p:sp>
      <p:pic>
        <p:nvPicPr>
          <p:cNvPr id="16" name="">
            <a:extLst xmlns:a="http://schemas.openxmlformats.org/drawingml/2006/main">
              <a:ext uri="{FF2B5EF4-FFF2-40B4-BE49-F238E27FC236}">
                <a16:creationId xmlns:a16="http://schemas.microsoft.com/office/drawing/2014/main" id="{B655A072-F639-42F9-8472-A8C34178E825}"/>
              </a:ext>
            </a:extLst>
          </p:cNvPr>
          <p:cNvPicPr>
            <a:picLocks xmlns:a="http://schemas.openxmlformats.org/drawingml/2006/main" noChangeAspect="1"/>
          </p:cNvPicPr>
          <p:nvPr/>
        </p:nvPicPr>
        <p:blipFill>
          <a:blip xmlns:r="http://schemas.openxmlformats.org/officeDocument/2006/relationships" xmlns:a="http://schemas.openxmlformats.org/drawingml/2006/main" r:embed="R86cdd7b4ef904343"/>
          <a:stretch xmlns:a="http://schemas.openxmlformats.org/drawingml/2006/main"/>
        </p:blipFill>
        <p:spPr>
          <a:xfrm xmlns:a="http://schemas.openxmlformats.org/drawingml/2006/main">
            <a:off x="9052351" y="3409950"/>
            <a:ext cx="269023" cy="685800"/>
          </a:xfrm>
          <a:prstGeom xmlns:a="http://schemas.openxmlformats.org/drawingml/2006/main" prst="rect">
            <a:avLst/>
          </a:prstGeom>
        </p:spPr>
      </p:pic>
      <p:sp>
        <p:nvSpPr>
          <p:cNvPr id="17" name="Gemini + revisión">
            <a:extLst xmlns:a="http://schemas.openxmlformats.org/drawingml/2006/main">
              <a:ext uri="{FF2B5EF4-FFF2-40B4-BE49-F238E27FC236}">
                <a16:creationId xmlns:a16="http://schemas.microsoft.com/office/drawing/2014/main" id="{1B7AF3CA-0484-4C7B-B967-4BEFFF9291DA}"/>
              </a:ext>
            </a:extLst>
          </p:cNvPr>
          <p:cNvSpPr>
            <a:spLocks xmlns:a="http://schemas.openxmlformats.org/drawingml/2006/main" noGrp="1"/>
          </p:cNvSpPr>
          <p:nvPr/>
        </p:nvSpPr>
        <p:spPr>
          <a:xfrm xmlns:a="http://schemas.openxmlformats.org/drawingml/2006/main">
            <a:off x="9725025" y="3486150"/>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Gemini + revisión</a:t>
            </a:r>
          </a:p>
        </p:txBody>
      </p:sp>
      <p:pic>
        <p:nvPicPr>
          <p:cNvPr id="18" name="">
            <a:extLst xmlns:a="http://schemas.openxmlformats.org/drawingml/2006/main">
              <a:ext uri="{FF2B5EF4-FFF2-40B4-BE49-F238E27FC236}">
                <a16:creationId xmlns:a16="http://schemas.microsoft.com/office/drawing/2014/main" id="{78C0B15C-83E8-4BB1-818D-99E06B87EC00}"/>
              </a:ext>
            </a:extLst>
          </p:cNvPr>
          <p:cNvPicPr>
            <a:picLocks xmlns:a="http://schemas.openxmlformats.org/drawingml/2006/main" noChangeAspect="1"/>
          </p:cNvPicPr>
          <p:nvPr/>
        </p:nvPicPr>
        <p:blipFill>
          <a:blip xmlns:r="http://schemas.openxmlformats.org/officeDocument/2006/relationships" xmlns:a="http://schemas.openxmlformats.org/drawingml/2006/main" r:embed="Re222ec797d354997"/>
          <a:stretch xmlns:a="http://schemas.openxmlformats.org/drawingml/2006/main"/>
        </p:blipFill>
        <p:spPr>
          <a:xfrm xmlns:a="http://schemas.openxmlformats.org/drawingml/2006/main">
            <a:off x="2762250" y="4285445"/>
            <a:ext cx="885825" cy="649310"/>
          </a:xfrm>
          <a:prstGeom xmlns:a="http://schemas.openxmlformats.org/drawingml/2006/main" prst="rect">
            <a:avLst/>
          </a:prstGeom>
        </p:spPr>
      </p:pic>
      <p:sp>
        <p:nvSpPr>
          <p:cNvPr id="19" name="TPCA INS, 2017">
            <a:extLst xmlns:a="http://schemas.openxmlformats.org/drawingml/2006/main">
              <a:ext uri="{FF2B5EF4-FFF2-40B4-BE49-F238E27FC236}">
                <a16:creationId xmlns:a16="http://schemas.microsoft.com/office/drawing/2014/main" id="{5C80BD31-0F4B-4EF0-ABF1-453269E5E1DD}"/>
              </a:ext>
            </a:extLst>
          </p:cNvPr>
          <p:cNvSpPr>
            <a:spLocks xmlns:a="http://schemas.openxmlformats.org/drawingml/2006/main" noGrp="1"/>
          </p:cNvSpPr>
          <p:nvPr/>
        </p:nvSpPr>
        <p:spPr>
          <a:xfrm xmlns:a="http://schemas.openxmlformats.org/drawingml/2006/main">
            <a:off x="3743325" y="4343400"/>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TPCA INS, 2017</a:t>
            </a:r>
          </a:p>
        </p:txBody>
      </p:sp>
      <p:pic>
        <p:nvPicPr>
          <p:cNvPr id="20" name="">
            <a:extLst xmlns:a="http://schemas.openxmlformats.org/drawingml/2006/main">
              <a:ext uri="{FF2B5EF4-FFF2-40B4-BE49-F238E27FC236}">
                <a16:creationId xmlns:a16="http://schemas.microsoft.com/office/drawing/2014/main" id="{F750BA34-B270-400C-8486-73D4F7DDF6A8}"/>
              </a:ext>
            </a:extLst>
          </p:cNvPr>
          <p:cNvPicPr>
            <a:picLocks xmlns:a="http://schemas.openxmlformats.org/drawingml/2006/main" noChangeAspect="1"/>
          </p:cNvPicPr>
          <p:nvPr/>
        </p:nvPicPr>
        <p:blipFill>
          <a:blip xmlns:r="http://schemas.openxmlformats.org/officeDocument/2006/relationships" xmlns:a="http://schemas.openxmlformats.org/drawingml/2006/main" r:embed="Raeb01f7821424756"/>
          <a:stretch xmlns:a="http://schemas.openxmlformats.org/drawingml/2006/main"/>
        </p:blipFill>
        <p:spPr>
          <a:xfrm xmlns:a="http://schemas.openxmlformats.org/drawingml/2006/main">
            <a:off x="5753100" y="4285445"/>
            <a:ext cx="885825" cy="649310"/>
          </a:xfrm>
          <a:prstGeom xmlns:a="http://schemas.openxmlformats.org/drawingml/2006/main" prst="rect">
            <a:avLst/>
          </a:prstGeom>
        </p:spPr>
      </p:pic>
      <p:sp>
        <p:nvSpPr>
          <p:cNvPr id="21" name="TPCA INS, 2017">
            <a:extLst xmlns:a="http://schemas.openxmlformats.org/drawingml/2006/main">
              <a:ext uri="{FF2B5EF4-FFF2-40B4-BE49-F238E27FC236}">
                <a16:creationId xmlns:a16="http://schemas.microsoft.com/office/drawing/2014/main" id="{8A8C6C73-FB13-49F5-A302-69299B0A36E5}"/>
              </a:ext>
            </a:extLst>
          </p:cNvPr>
          <p:cNvSpPr>
            <a:spLocks xmlns:a="http://schemas.openxmlformats.org/drawingml/2006/main" noGrp="1"/>
          </p:cNvSpPr>
          <p:nvPr/>
        </p:nvSpPr>
        <p:spPr>
          <a:xfrm xmlns:a="http://schemas.openxmlformats.org/drawingml/2006/main">
            <a:off x="6734175" y="4343400"/>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TPCA INS, 2017</a:t>
            </a:r>
          </a:p>
        </p:txBody>
      </p:sp>
      <p:pic>
        <p:nvPicPr>
          <p:cNvPr id="22" name="">
            <a:extLst xmlns:a="http://schemas.openxmlformats.org/drawingml/2006/main">
              <a:ext uri="{FF2B5EF4-FFF2-40B4-BE49-F238E27FC236}">
                <a16:creationId xmlns:a16="http://schemas.microsoft.com/office/drawing/2014/main" id="{CA30110C-C2D3-4DBD-ACEA-0FBE2F2E7048}"/>
              </a:ext>
            </a:extLst>
          </p:cNvPr>
          <p:cNvPicPr>
            <a:picLocks xmlns:a="http://schemas.openxmlformats.org/drawingml/2006/main" noChangeAspect="1"/>
          </p:cNvPicPr>
          <p:nvPr/>
        </p:nvPicPr>
        <p:blipFill>
          <a:blip xmlns:r="http://schemas.openxmlformats.org/officeDocument/2006/relationships" xmlns:a="http://schemas.openxmlformats.org/drawingml/2006/main" r:embed="R27c266cff57a48cf"/>
          <a:stretch xmlns:a="http://schemas.openxmlformats.org/drawingml/2006/main"/>
        </p:blipFill>
        <p:spPr>
          <a:xfrm xmlns:a="http://schemas.openxmlformats.org/drawingml/2006/main">
            <a:off x="8743950" y="4285445"/>
            <a:ext cx="885825" cy="649310"/>
          </a:xfrm>
          <a:prstGeom xmlns:a="http://schemas.openxmlformats.org/drawingml/2006/main" prst="rect">
            <a:avLst/>
          </a:prstGeom>
        </p:spPr>
      </p:pic>
      <p:sp>
        <p:nvSpPr>
          <p:cNvPr id="23" name="TPCA INS, 2017">
            <a:extLst xmlns:a="http://schemas.openxmlformats.org/drawingml/2006/main">
              <a:ext uri="{FF2B5EF4-FFF2-40B4-BE49-F238E27FC236}">
                <a16:creationId xmlns:a16="http://schemas.microsoft.com/office/drawing/2014/main" id="{776D2BA3-094C-4331-B4D3-9877C380E2BC}"/>
              </a:ext>
            </a:extLst>
          </p:cNvPr>
          <p:cNvSpPr>
            <a:spLocks xmlns:a="http://schemas.openxmlformats.org/drawingml/2006/main" noGrp="1"/>
          </p:cNvSpPr>
          <p:nvPr/>
        </p:nvSpPr>
        <p:spPr>
          <a:xfrm xmlns:a="http://schemas.openxmlformats.org/drawingml/2006/main">
            <a:off x="9725025" y="4343400"/>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TPCA INS, 2017</a:t>
            </a:r>
          </a:p>
        </p:txBody>
      </p:sp>
      <p:pic>
        <p:nvPicPr>
          <p:cNvPr id="24" name="">
            <a:extLst xmlns:a="http://schemas.openxmlformats.org/drawingml/2006/main">
              <a:ext uri="{FF2B5EF4-FFF2-40B4-BE49-F238E27FC236}">
                <a16:creationId xmlns:a16="http://schemas.microsoft.com/office/drawing/2014/main" id="{5903B9C2-0503-4B84-B6BE-D8E872CE6CB7}"/>
              </a:ext>
            </a:extLst>
          </p:cNvPr>
          <p:cNvPicPr>
            <a:picLocks xmlns:a="http://schemas.openxmlformats.org/drawingml/2006/main" noChangeAspect="1"/>
          </p:cNvPicPr>
          <p:nvPr/>
        </p:nvPicPr>
        <p:blipFill>
          <a:blip xmlns:r="http://schemas.openxmlformats.org/officeDocument/2006/relationships" xmlns:a="http://schemas.openxmlformats.org/drawingml/2006/main" r:embed="Rfe5942936d3f4a04"/>
          <a:stretch xmlns:a="http://schemas.openxmlformats.org/drawingml/2006/main"/>
        </p:blipFill>
        <p:spPr>
          <a:xfrm xmlns:a="http://schemas.openxmlformats.org/drawingml/2006/main">
            <a:off x="2965815" y="5124450"/>
            <a:ext cx="478696" cy="685800"/>
          </a:xfrm>
          <a:prstGeom xmlns:a="http://schemas.openxmlformats.org/drawingml/2006/main" prst="rect">
            <a:avLst/>
          </a:prstGeom>
        </p:spPr>
      </p:pic>
      <p:sp>
        <p:nvSpPr>
          <p:cNvPr id="25" name="m × n / 100">
            <a:extLst xmlns:a="http://schemas.openxmlformats.org/drawingml/2006/main">
              <a:ext uri="{FF2B5EF4-FFF2-40B4-BE49-F238E27FC236}">
                <a16:creationId xmlns:a16="http://schemas.microsoft.com/office/drawing/2014/main" id="{8A21CE35-8402-465C-8370-0D0FE06DF7C6}"/>
              </a:ext>
            </a:extLst>
          </p:cNvPr>
          <p:cNvSpPr>
            <a:spLocks xmlns:a="http://schemas.openxmlformats.org/drawingml/2006/main" noGrp="1"/>
          </p:cNvSpPr>
          <p:nvPr/>
        </p:nvSpPr>
        <p:spPr>
          <a:xfrm xmlns:a="http://schemas.openxmlformats.org/drawingml/2006/main">
            <a:off x="3743325" y="5200650"/>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m × n / 100</a:t>
            </a:r>
          </a:p>
        </p:txBody>
      </p:sp>
      <p:pic>
        <p:nvPicPr>
          <p:cNvPr id="26" name="">
            <a:extLst xmlns:a="http://schemas.openxmlformats.org/drawingml/2006/main">
              <a:ext uri="{FF2B5EF4-FFF2-40B4-BE49-F238E27FC236}">
                <a16:creationId xmlns:a16="http://schemas.microsoft.com/office/drawing/2014/main" id="{AFFC35DE-3277-4D61-AB41-E71D771E474A}"/>
              </a:ext>
            </a:extLst>
          </p:cNvPr>
          <p:cNvPicPr>
            <a:picLocks xmlns:a="http://schemas.openxmlformats.org/drawingml/2006/main" noChangeAspect="1"/>
          </p:cNvPicPr>
          <p:nvPr/>
        </p:nvPicPr>
        <p:blipFill>
          <a:blip xmlns:r="http://schemas.openxmlformats.org/officeDocument/2006/relationships" xmlns:a="http://schemas.openxmlformats.org/drawingml/2006/main" r:embed="R35da3f3160c44bd4"/>
          <a:stretch xmlns:a="http://schemas.openxmlformats.org/drawingml/2006/main"/>
        </p:blipFill>
        <p:spPr>
          <a:xfrm xmlns:a="http://schemas.openxmlformats.org/drawingml/2006/main">
            <a:off x="5956665" y="5124450"/>
            <a:ext cx="478696" cy="685800"/>
          </a:xfrm>
          <a:prstGeom xmlns:a="http://schemas.openxmlformats.org/drawingml/2006/main" prst="rect">
            <a:avLst/>
          </a:prstGeom>
        </p:spPr>
      </p:pic>
      <p:sp>
        <p:nvSpPr>
          <p:cNvPr id="27" name="m × n / 100">
            <a:extLst xmlns:a="http://schemas.openxmlformats.org/drawingml/2006/main">
              <a:ext uri="{FF2B5EF4-FFF2-40B4-BE49-F238E27FC236}">
                <a16:creationId xmlns:a16="http://schemas.microsoft.com/office/drawing/2014/main" id="{E7D436C3-B57B-4ED9-8370-0D0B54E3BB1F}"/>
              </a:ext>
            </a:extLst>
          </p:cNvPr>
          <p:cNvSpPr>
            <a:spLocks xmlns:a="http://schemas.openxmlformats.org/drawingml/2006/main" noGrp="1"/>
          </p:cNvSpPr>
          <p:nvPr/>
        </p:nvSpPr>
        <p:spPr>
          <a:xfrm xmlns:a="http://schemas.openxmlformats.org/drawingml/2006/main">
            <a:off x="6734175" y="5200650"/>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m × n / 100</a:t>
            </a:r>
          </a:p>
        </p:txBody>
      </p:sp>
      <p:pic>
        <p:nvPicPr>
          <p:cNvPr id="28" name="">
            <a:extLst xmlns:a="http://schemas.openxmlformats.org/drawingml/2006/main">
              <a:ext uri="{FF2B5EF4-FFF2-40B4-BE49-F238E27FC236}">
                <a16:creationId xmlns:a16="http://schemas.microsoft.com/office/drawing/2014/main" id="{EBB89C1A-96AC-4219-966A-56F77302505A}"/>
              </a:ext>
            </a:extLst>
          </p:cNvPr>
          <p:cNvPicPr>
            <a:picLocks xmlns:a="http://schemas.openxmlformats.org/drawingml/2006/main" noChangeAspect="1"/>
          </p:cNvPicPr>
          <p:nvPr/>
        </p:nvPicPr>
        <p:blipFill>
          <a:blip xmlns:r="http://schemas.openxmlformats.org/officeDocument/2006/relationships" xmlns:a="http://schemas.openxmlformats.org/drawingml/2006/main" r:embed="R7e877d581ea24928"/>
          <a:stretch xmlns:a="http://schemas.openxmlformats.org/drawingml/2006/main"/>
        </p:blipFill>
        <p:spPr>
          <a:xfrm xmlns:a="http://schemas.openxmlformats.org/drawingml/2006/main">
            <a:off x="8947515" y="5124450"/>
            <a:ext cx="478696" cy="685800"/>
          </a:xfrm>
          <a:prstGeom xmlns:a="http://schemas.openxmlformats.org/drawingml/2006/main" prst="rect">
            <a:avLst/>
          </a:prstGeom>
        </p:spPr>
      </p:pic>
      <p:sp>
        <p:nvSpPr>
          <p:cNvPr id="29" name="m × n / 100">
            <a:extLst xmlns:a="http://schemas.openxmlformats.org/drawingml/2006/main">
              <a:ext uri="{FF2B5EF4-FFF2-40B4-BE49-F238E27FC236}">
                <a16:creationId xmlns:a16="http://schemas.microsoft.com/office/drawing/2014/main" id="{62389CAE-0274-4A2A-82AC-69ED83AB9219}"/>
              </a:ext>
            </a:extLst>
          </p:cNvPr>
          <p:cNvSpPr>
            <a:spLocks xmlns:a="http://schemas.openxmlformats.org/drawingml/2006/main" noGrp="1"/>
          </p:cNvSpPr>
          <p:nvPr/>
        </p:nvSpPr>
        <p:spPr>
          <a:xfrm xmlns:a="http://schemas.openxmlformats.org/drawingml/2006/main">
            <a:off x="9725025" y="5200650"/>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m × n / 100</a:t>
            </a:r>
          </a:p>
        </p:txBody>
      </p:sp>
      <p:cxnSp>
        <p:nvCxnSpPr>
          <p:cNvPr id="30" name="">
            <a:extLst xmlns:a="http://schemas.openxmlformats.org/drawingml/2006/main">
              <a:ext uri="{FF2B5EF4-FFF2-40B4-BE49-F238E27FC236}">
                <a16:creationId xmlns:a16="http://schemas.microsoft.com/office/drawing/2014/main" id="{B60EF7BB-C2A7-47FA-B480-11391B992F0C}"/>
              </a:ext>
            </a:extLst>
          </p:cNvPr>
          <p:cNvCxnSpPr/>
          <p:nvPr/>
        </p:nvCxnSpPr>
        <p:spPr>
          <a:xfrm xmlns:a="http://schemas.openxmlformats.org/drawingml/2006/main">
            <a:off x="5524500" y="2905125"/>
            <a:ext cx="0" cy="857250"/>
          </a:xfrm>
          <a:prstGeom xmlns:a="http://schemas.openxmlformats.org/drawingml/2006/main" prst="straightConnector1">
            <a:avLst/>
          </a:prstGeom>
          <a:ln xmlns:a="http://schemas.openxmlformats.org/drawingml/2006/main" w="23813">
            <a:solidFill>
              <a:srgbClr val="486D88"/>
            </a:solidFill>
            <a:tailEnd type="triangle" w="med" len="med"/>
          </a:ln>
        </p:spPr>
      </p:cxnSp>
      <p:cxnSp>
        <p:nvCxnSpPr>
          <p:cNvPr id="31" name="">
            <a:extLst xmlns:a="http://schemas.openxmlformats.org/drawingml/2006/main">
              <a:ext uri="{FF2B5EF4-FFF2-40B4-BE49-F238E27FC236}">
                <a16:creationId xmlns:a16="http://schemas.microsoft.com/office/drawing/2014/main" id="{81BAE3C7-1C20-4C45-9B07-3FE3523C76EA}"/>
              </a:ext>
            </a:extLst>
          </p:cNvPr>
          <p:cNvCxnSpPr/>
          <p:nvPr/>
        </p:nvCxnSpPr>
        <p:spPr>
          <a:xfrm xmlns:a="http://schemas.openxmlformats.org/drawingml/2006/main">
            <a:off x="5524500" y="3762375"/>
            <a:ext cx="0" cy="857250"/>
          </a:xfrm>
          <a:prstGeom xmlns:a="http://schemas.openxmlformats.org/drawingml/2006/main" prst="straightConnector1">
            <a:avLst/>
          </a:prstGeom>
          <a:ln xmlns:a="http://schemas.openxmlformats.org/drawingml/2006/main" w="23813">
            <a:solidFill>
              <a:srgbClr val="486D88"/>
            </a:solidFill>
            <a:tailEnd type="triangle" w="med" len="med"/>
          </a:ln>
        </p:spPr>
      </p:cxnSp>
      <p:cxnSp>
        <p:nvCxnSpPr>
          <p:cNvPr id="32" name="">
            <a:extLst xmlns:a="http://schemas.openxmlformats.org/drawingml/2006/main">
              <a:ext uri="{FF2B5EF4-FFF2-40B4-BE49-F238E27FC236}">
                <a16:creationId xmlns:a16="http://schemas.microsoft.com/office/drawing/2014/main" id="{115160B1-AB40-4916-B9BF-3D0A77F2038C}"/>
              </a:ext>
            </a:extLst>
          </p:cNvPr>
          <p:cNvCxnSpPr/>
          <p:nvPr/>
        </p:nvCxnSpPr>
        <p:spPr>
          <a:xfrm xmlns:a="http://schemas.openxmlformats.org/drawingml/2006/main">
            <a:off x="5524500" y="4619625"/>
            <a:ext cx="0" cy="857250"/>
          </a:xfrm>
          <a:prstGeom xmlns:a="http://schemas.openxmlformats.org/drawingml/2006/main" prst="straightConnector1">
            <a:avLst/>
          </a:prstGeom>
          <a:ln xmlns:a="http://schemas.openxmlformats.org/drawingml/2006/main" w="23813">
            <a:solidFill>
              <a:srgbClr val="486D88"/>
            </a:solidFill>
            <a:tailEnd type="triangle" w="med" len="med"/>
          </a:ln>
        </p:spPr>
      </p:cxnSp>
      <p:cxnSp>
        <p:nvCxnSpPr>
          <p:cNvPr id="33" name="">
            <a:extLst xmlns:a="http://schemas.openxmlformats.org/drawingml/2006/main">
              <a:ext uri="{FF2B5EF4-FFF2-40B4-BE49-F238E27FC236}">
                <a16:creationId xmlns:a16="http://schemas.microsoft.com/office/drawing/2014/main" id="{C71E4413-DD40-414C-8BA0-A9AD940BDA64}"/>
              </a:ext>
            </a:extLst>
          </p:cNvPr>
          <p:cNvCxnSpPr/>
          <p:nvPr/>
        </p:nvCxnSpPr>
        <p:spPr>
          <a:xfrm xmlns:a="http://schemas.openxmlformats.org/drawingml/2006/main">
            <a:off x="8515350" y="2905125"/>
            <a:ext cx="0" cy="857250"/>
          </a:xfrm>
          <a:prstGeom xmlns:a="http://schemas.openxmlformats.org/drawingml/2006/main" prst="straightConnector1">
            <a:avLst/>
          </a:prstGeom>
          <a:ln xmlns:a="http://schemas.openxmlformats.org/drawingml/2006/main" w="23813">
            <a:solidFill>
              <a:srgbClr val="AD6240"/>
            </a:solidFill>
            <a:tailEnd type="triangle" w="med" len="med"/>
          </a:ln>
        </p:spPr>
      </p:cxnSp>
      <p:cxnSp>
        <p:nvCxnSpPr>
          <p:cNvPr id="34" name="">
            <a:extLst xmlns:a="http://schemas.openxmlformats.org/drawingml/2006/main">
              <a:ext uri="{FF2B5EF4-FFF2-40B4-BE49-F238E27FC236}">
                <a16:creationId xmlns:a16="http://schemas.microsoft.com/office/drawing/2014/main" id="{ACBB99A2-2C80-4F5A-BEFB-F723074411A8}"/>
              </a:ext>
            </a:extLst>
          </p:cNvPr>
          <p:cNvCxnSpPr/>
          <p:nvPr/>
        </p:nvCxnSpPr>
        <p:spPr>
          <a:xfrm xmlns:a="http://schemas.openxmlformats.org/drawingml/2006/main">
            <a:off x="8515350" y="3762375"/>
            <a:ext cx="0" cy="857250"/>
          </a:xfrm>
          <a:prstGeom xmlns:a="http://schemas.openxmlformats.org/drawingml/2006/main" prst="straightConnector1">
            <a:avLst/>
          </a:prstGeom>
          <a:ln xmlns:a="http://schemas.openxmlformats.org/drawingml/2006/main" w="23813">
            <a:solidFill>
              <a:srgbClr val="AD6240"/>
            </a:solidFill>
            <a:tailEnd type="triangle" w="med" len="med"/>
          </a:ln>
        </p:spPr>
      </p:cxnSp>
      <p:cxnSp>
        <p:nvCxnSpPr>
          <p:cNvPr id="35" name="">
            <a:extLst xmlns:a="http://schemas.openxmlformats.org/drawingml/2006/main">
              <a:ext uri="{FF2B5EF4-FFF2-40B4-BE49-F238E27FC236}">
                <a16:creationId xmlns:a16="http://schemas.microsoft.com/office/drawing/2014/main" id="{674D3E3B-D4AB-4CAC-B6FD-57DADC06CB63}"/>
              </a:ext>
            </a:extLst>
          </p:cNvPr>
          <p:cNvCxnSpPr/>
          <p:nvPr/>
        </p:nvCxnSpPr>
        <p:spPr>
          <a:xfrm xmlns:a="http://schemas.openxmlformats.org/drawingml/2006/main">
            <a:off x="8515350" y="4619625"/>
            <a:ext cx="0" cy="857250"/>
          </a:xfrm>
          <a:prstGeom xmlns:a="http://schemas.openxmlformats.org/drawingml/2006/main" prst="straightConnector1">
            <a:avLst/>
          </a:prstGeom>
          <a:ln xmlns:a="http://schemas.openxmlformats.org/drawingml/2006/main" w="23813">
            <a:solidFill>
              <a:srgbClr val="AD6240"/>
            </a:solidFill>
            <a:tailEnd type="triangle" w="med" len="med"/>
          </a:ln>
        </p:spPr>
      </p:cxnSp>
      <p:cxnSp>
        <p:nvCxnSpPr>
          <p:cNvPr id="36" name="">
            <a:extLst xmlns:a="http://schemas.openxmlformats.org/drawingml/2006/main">
              <a:ext uri="{FF2B5EF4-FFF2-40B4-BE49-F238E27FC236}">
                <a16:creationId xmlns:a16="http://schemas.microsoft.com/office/drawing/2014/main" id="{3AE83099-D82E-423C-8E79-A012B1B6268E}"/>
              </a:ext>
            </a:extLst>
          </p:cNvPr>
          <p:cNvCxnSpPr/>
          <p:nvPr/>
        </p:nvCxnSpPr>
        <p:spPr>
          <a:xfrm xmlns:a="http://schemas.openxmlformats.org/drawingml/2006/main">
            <a:off x="11506200" y="2905125"/>
            <a:ext cx="0" cy="857250"/>
          </a:xfrm>
          <a:prstGeom xmlns:a="http://schemas.openxmlformats.org/drawingml/2006/main" prst="straightConnector1">
            <a:avLst/>
          </a:prstGeom>
          <a:ln xmlns:a="http://schemas.openxmlformats.org/drawingml/2006/main" w="23813">
            <a:solidFill>
              <a:srgbClr val="173F2F"/>
            </a:solidFill>
            <a:tailEnd type="triangle" w="med" len="med"/>
          </a:ln>
        </p:spPr>
      </p:cxnSp>
      <p:cxnSp>
        <p:nvCxnSpPr>
          <p:cNvPr id="37" name="">
            <a:extLst xmlns:a="http://schemas.openxmlformats.org/drawingml/2006/main">
              <a:ext uri="{FF2B5EF4-FFF2-40B4-BE49-F238E27FC236}">
                <a16:creationId xmlns:a16="http://schemas.microsoft.com/office/drawing/2014/main" id="{4E2C7565-B2A3-437C-9E27-002296647E55}"/>
              </a:ext>
            </a:extLst>
          </p:cNvPr>
          <p:cNvCxnSpPr/>
          <p:nvPr/>
        </p:nvCxnSpPr>
        <p:spPr>
          <a:xfrm xmlns:a="http://schemas.openxmlformats.org/drawingml/2006/main">
            <a:off x="11506200" y="3762375"/>
            <a:ext cx="0" cy="857250"/>
          </a:xfrm>
          <a:prstGeom xmlns:a="http://schemas.openxmlformats.org/drawingml/2006/main" prst="straightConnector1">
            <a:avLst/>
          </a:prstGeom>
          <a:ln xmlns:a="http://schemas.openxmlformats.org/drawingml/2006/main" w="23813">
            <a:solidFill>
              <a:srgbClr val="173F2F"/>
            </a:solidFill>
            <a:tailEnd type="triangle" w="med" len="med"/>
          </a:ln>
        </p:spPr>
      </p:cxnSp>
      <p:cxnSp>
        <p:nvCxnSpPr>
          <p:cNvPr id="38" name="">
            <a:extLst xmlns:a="http://schemas.openxmlformats.org/drawingml/2006/main">
              <a:ext uri="{FF2B5EF4-FFF2-40B4-BE49-F238E27FC236}">
                <a16:creationId xmlns:a16="http://schemas.microsoft.com/office/drawing/2014/main" id="{3CAA700E-E631-4062-924A-FBC80F6B9274}"/>
              </a:ext>
            </a:extLst>
          </p:cNvPr>
          <p:cNvCxnSpPr/>
          <p:nvPr/>
        </p:nvCxnSpPr>
        <p:spPr>
          <a:xfrm xmlns:a="http://schemas.openxmlformats.org/drawingml/2006/main">
            <a:off x="11506200" y="4619625"/>
            <a:ext cx="0" cy="857250"/>
          </a:xfrm>
          <a:prstGeom xmlns:a="http://schemas.openxmlformats.org/drawingml/2006/main" prst="straightConnector1">
            <a:avLst/>
          </a:prstGeom>
          <a:ln xmlns:a="http://schemas.openxmlformats.org/drawingml/2006/main" w="23813">
            <a:solidFill>
              <a:srgbClr val="173F2F"/>
            </a:solidFill>
            <a:tailEnd type="triangle" w="med" len="med"/>
          </a:ln>
        </p:spPr>
      </p:cxnSp>
      <p:sp>
        <p:nvSpPr>
          <p:cNvPr id="39" name="A es una alternativa conceptual pendiente. B funciona c">
            <a:extLst xmlns:a="http://schemas.openxmlformats.org/drawingml/2006/main">
              <a:ext uri="{FF2B5EF4-FFF2-40B4-BE49-F238E27FC236}">
                <a16:creationId xmlns:a16="http://schemas.microsoft.com/office/drawing/2014/main" id="{33424D11-E19D-4C86-8346-D2D6EE7BB08D}"/>
              </a:ext>
            </a:extLst>
          </p:cNvPr>
          <p:cNvSpPr>
            <a:spLocks xmlns:a="http://schemas.openxmlformats.org/drawingml/2006/main" noGrp="1"/>
          </p:cNvSpPr>
          <p:nvPr/>
        </p:nvSpPr>
        <p:spPr>
          <a:xfrm xmlns:a="http://schemas.openxmlformats.org/drawingml/2006/main">
            <a:off x="571500" y="601980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77161"/>
                </a:solidFill>
                <a:latin typeface="Arial"/>
                <a:ea typeface="Arial"/>
                <a:cs typeface="Arial"/>
              </a:defRPr>
            </a:defPPr>
          </a:lstStyle>
          <a:p xmlns:a="http://schemas.openxmlformats.org/drawingml/2006/main">
            <a:pPr>
              <a:defRPr sz="1425" b="0">
                <a:solidFill>
                  <a:srgbClr val="577161"/>
                </a:solidFill>
                <a:latin typeface="Arial"/>
                <a:ea typeface="Arial"/>
                <a:cs typeface="Arial"/>
              </a:defRPr>
            </a:pPr>
            <a:r>
              <a:rPr sz="1425" b="0">
                <a:solidFill>
                  <a:srgbClr val="577161"/>
                </a:solidFill>
                <a:latin typeface="Arial"/>
                <a:ea typeface="Arial"/>
                <a:cs typeface="Arial"/>
              </a:rPr>
              <a:t>A es una alternativa conceptual pendiente. B funciona con peso ingresado. C recibirá el peso del hardware.</a:t>
            </a:r>
          </a:p>
        </p:txBody>
      </p:sp>
    </p:spTree>
    <p:extLst>
      <p:ext uri="{BB962C8B-B14F-4D97-AF65-F5344CB8AC3E}">
        <p14:creationId xmlns:p14="http://schemas.microsoft.com/office/powerpoint/2010/main" val="2011110563"/>
      </p:ext>
    </p:extLst>
  </p:cSld>
</p:sld>
</file>

<file path=ppt/slides/slide26.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31" name="Matriz morfológica · Interfaz y soporte">
            <a:extLst xmlns:a="http://schemas.openxmlformats.org/drawingml/2006/main">
              <a:ext uri="{FF2B5EF4-FFF2-40B4-BE49-F238E27FC236}">
                <a16:creationId xmlns:a16="http://schemas.microsoft.com/office/drawing/2014/main" id="{E930901A-E7D8-4251-A334-FC5BC2B667E5}"/>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Matriz morfológica · Interfaz y soporte</a:t>
            </a:r>
          </a:p>
        </p:txBody>
      </p:sp>
      <p:sp>
        <p:nvSpPr>
          <p:cNvPr id="2" name="Dominios de interfaz, registro y mecánica. F1 a F11 que">
            <a:extLst xmlns:a="http://schemas.openxmlformats.org/drawingml/2006/main">
              <a:ext uri="{FF2B5EF4-FFF2-40B4-BE49-F238E27FC236}">
                <a16:creationId xmlns:a16="http://schemas.microsoft.com/office/drawing/2014/main" id="{A65DD40F-3388-4A4B-B161-36E04AC5C719}"/>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Dominios de interfaz, registro y mecánica. F1 a F11 quedan cubiertas.</a:t>
            </a:r>
          </a:p>
        </p:txBody>
      </p:sp>
      <p:sp>
        <p:nvSpPr>
          <p:cNvPr id="3" name="Fuentes [16], [17], [18], [19], [20], [24] · Referencia">
            <a:extLst xmlns:a="http://schemas.openxmlformats.org/drawingml/2006/main">
              <a:ext uri="{FF2B5EF4-FFF2-40B4-BE49-F238E27FC236}">
                <a16:creationId xmlns:a16="http://schemas.microsoft.com/office/drawing/2014/main" id="{E3C532AA-DACD-4C77-A82E-16F2A949C918}"/>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[16], [17], [18], [19], [20], [24] · Referencias al final</a:t>
            </a:r>
          </a:p>
        </p:txBody>
      </p:sp>
      <p:sp>
        <p:nvSpPr>
          <p:cNvPr id="4" name="26">
            <a:extLst xmlns:a="http://schemas.openxmlformats.org/drawingml/2006/main">
              <a:ext uri="{FF2B5EF4-FFF2-40B4-BE49-F238E27FC236}">
                <a16:creationId xmlns:a16="http://schemas.microsoft.com/office/drawing/2014/main" id="{B7C989AC-06B8-4041-9B0B-AFE85E5D2BA1}"/>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26</a:t>
            </a:r>
          </a:p>
        </p:txBody>
      </p:sp>
      <p:graphicFrame>
        <p:nvGraphicFramePr>
          <p:cNvPr id="5" name="">
            <a:extLst xmlns:a="http://schemas.openxmlformats.org/drawingml/2006/main">
              <a:ext uri="{FF2B5EF4-FFF2-40B4-BE49-F238E27FC236}">
                <a16:creationId xmlns:a16="http://schemas.microsoft.com/office/drawing/2014/main" id="{525DE5CE-CB4F-41DF-8BFB-25532D5BFEA1}"/>
              </a:ext>
            </a:extLst>
          </p:cNvPr>
          <p:cNvGraphicFramePr/>
          <p:nvPr/>
        </p:nvGraphicFramePr>
        <p:xfrm>
          <a:off xmlns:a="http://schemas.openxmlformats.org/drawingml/2006/main" x="571500" y="2019300"/>
          <a:ext xmlns:a="http://schemas.openxmlformats.org/drawingml/2006/main" cx="11049000" cy="3886200"/>
        </p:xfrm>
        <a:graphic xmlns:a="http://schemas.openxmlformats.org/drawingml/2006/main">
          <a:graphicData uri="http://schemas.openxmlformats.org/drawingml/2006/table">
            <a:tbl>
              <a:tblPr/>
              <a:tblGrid>
                <a:gridCol w="2076450"/>
                <a:gridCol w="2990850"/>
                <a:gridCol w="2990850"/>
                <a:gridCol w="2990850"/>
              </a:tblGrid>
              <a:tr h="457200">
                <a:tc>
                  <a:txBody>
                    <a:bodyPr/>
                    <a:lstStyle/>
                    <a:p>
                      <a:r>
                        <a:rPr sz="1725" b="1">
                          <a:solidFill>
                            <a:srgbClr val="FFFFFF"/>
                          </a:solidFill>
                          <a:latin typeface="Arial"/>
                          <a:ea typeface="Arial"/>
                          <a:cs typeface="Arial"/>
                        </a:rPr>
                        <a:t>Función</a:t>
                      </a:r>
                    </a:p>
                  </a:txBody>
                  <a:tcPr marL="114300" marR="114300" marT="19050" marB="19050" anchor="ctr">
                    <a:solidFill>
                      <a:srgbClr val="173F2F"/>
                    </a:solidFill>
                  </a:tcPr>
                </a:tc>
                <a:tc>
                  <a:txBody>
                    <a:bodyPr/>
                    <a:lstStyle/>
                    <a:p>
                      <a:r>
                        <a:rPr sz="1725" b="1">
                          <a:solidFill>
                            <a:srgbClr val="FFFFFF"/>
                          </a:solidFill>
                          <a:latin typeface="Arial"/>
                          <a:ea typeface="Arial"/>
                          <a:cs typeface="Arial"/>
                        </a:rPr>
                        <a:t>A · Visual</a:t>
                      </a:r>
                    </a:p>
                  </a:txBody>
                  <a:tcPr marL="114300" marR="114300" marT="19050" marB="19050" anchor="ctr">
                    <a:solidFill>
                      <a:srgbClr val="173F2F"/>
                    </a:solidFill>
                  </a:tcPr>
                </a:tc>
                <a:tc>
                  <a:txBody>
                    <a:bodyPr/>
                    <a:lstStyle/>
                    <a:p>
                      <a:r>
                        <a:rPr sz="1725" b="1">
                          <a:solidFill>
                            <a:srgbClr val="FFFFFF"/>
                          </a:solidFill>
                          <a:latin typeface="Arial"/>
                          <a:ea typeface="Arial"/>
                          <a:cs typeface="Arial"/>
                        </a:rPr>
                        <a:t>B · Avance actual</a:t>
                      </a:r>
                    </a:p>
                  </a:txBody>
                  <a:tcPr marL="114300" marR="114300" marT="19050" marB="19050" anchor="ctr">
                    <a:solidFill>
                      <a:srgbClr val="173F2F"/>
                    </a:solidFill>
                  </a:tcPr>
                </a:tc>
                <a:tc>
                  <a:txBody>
                    <a:bodyPr/>
                    <a:lstStyle/>
                    <a:p>
                      <a:r>
                        <a:rPr sz="1725" b="1">
                          <a:solidFill>
                            <a:srgbClr val="FFFFFF"/>
                          </a:solidFill>
                          <a:latin typeface="Arial"/>
                          <a:ea typeface="Arial"/>
                          <a:cs typeface="Arial"/>
                        </a:rPr>
                        <a:t>C · Caja integrada</a:t>
                      </a:r>
                    </a:p>
                  </a:txBody>
                  <a:tcPr marL="114300" marR="114300" marT="19050" marB="19050" anchor="ctr">
                    <a:solidFill>
                      <a:srgbClr val="173F2F"/>
                    </a:solidFill>
                  </a:tcPr>
                </a:tc>
              </a:tr>
              <a:tr h="1143000">
                <a:tc>
                  <a:txBody>
                    <a:bodyPr/>
                    <a:lstStyle/>
                    <a:p>
                      <a:r>
                        <a:rPr sz="1725">
                          <a:solidFill>
                            <a:srgbClr val="173F2F"/>
                          </a:solidFill>
                          <a:latin typeface="Arial"/>
                          <a:ea typeface="Arial"/>
                          <a:cs typeface="Arial"/>
                        </a:rPr>
                        <a:t>F9 Informar</a:t>
                      </a:r>
                    </a:p>
                  </a:txBody>
                  <a:tcPr marL="114300" marR="114300" marT="19050" marB="19050" anchor="ctr">
                    <a:solidFill>
                      <a:srgbClr val="FFFFFF"/>
                    </a:solidFill>
                  </a:tcPr>
                </a:tc>
                <a:tc>
                  <a:txBody>
                    <a:bodyPr/>
                    <a:lstStyle/>
                    <a:p>
                      <a:r>
                        <a:rPr sz="1725">
                          <a:solidFill>
                            <a:srgbClr val="173F2F"/>
                          </a:solidFill>
                          <a:latin typeface="Arial"/>
                          <a:ea typeface="Arial"/>
                          <a:cs typeface="Arial"/>
                        </a:rPr>
                        <a:t/>
                      </a:r>
                    </a:p>
                  </a:txBody>
                  <a:tcPr marL="114300" marR="114300" marT="19050" marB="19050" anchor="ctr">
                    <a:solidFill>
                      <a:srgbClr val="FFFFFF"/>
                    </a:solidFill>
                  </a:tcPr>
                </a:tc>
                <a:tc>
                  <a:txBody>
                    <a:bodyPr/>
                    <a:lstStyle/>
                    <a:p>
                      <a:r>
                        <a:rPr sz="1725">
                          <a:solidFill>
                            <a:srgbClr val="173F2F"/>
                          </a:solidFill>
                          <a:latin typeface="Arial"/>
                          <a:ea typeface="Arial"/>
                          <a:cs typeface="Arial"/>
                        </a:rPr>
                        <a:t/>
                      </a:r>
                    </a:p>
                  </a:txBody>
                  <a:tcPr marL="114300" marR="114300" marT="19050" marB="19050" anchor="ctr">
                    <a:solidFill>
                      <a:srgbClr val="FFFFFF"/>
                    </a:solidFill>
                  </a:tcPr>
                </a:tc>
                <a:tc>
                  <a:txBody>
                    <a:bodyPr/>
                    <a:lstStyle/>
                    <a:p>
                      <a:r>
                        <a:rPr sz="1725">
                          <a:solidFill>
                            <a:srgbClr val="173F2F"/>
                          </a:solidFill>
                          <a:latin typeface="Arial"/>
                          <a:ea typeface="Arial"/>
                          <a:cs typeface="Arial"/>
                        </a:rPr>
                        <a:t/>
                      </a:r>
                    </a:p>
                  </a:txBody>
                  <a:tcPr marL="114300" marR="114300" marT="19050" marB="19050" anchor="ctr">
                    <a:solidFill>
                      <a:srgbClr val="FFFFFF"/>
                    </a:solidFill>
                  </a:tcPr>
                </a:tc>
              </a:tr>
              <a:tr h="1143000">
                <a:tc>
                  <a:txBody>
                    <a:bodyPr/>
                    <a:lstStyle/>
                    <a:p>
                      <a:r>
                        <a:rPr sz="1725">
                          <a:solidFill>
                            <a:srgbClr val="173F2F"/>
                          </a:solidFill>
                          <a:latin typeface="Arial"/>
                          <a:ea typeface="Arial"/>
                          <a:cs typeface="Arial"/>
                        </a:rPr>
                        <a:t>F10 Guardar</a:t>
                      </a:r>
                    </a:p>
                  </a:txBody>
                  <a:tcPr marL="114300" marR="114300" marT="19050" marB="19050" anchor="ctr">
                    <a:solidFill>
                      <a:srgbClr val="EFF2E8"/>
                    </a:solidFill>
                  </a:tcPr>
                </a:tc>
                <a:tc>
                  <a:txBody>
                    <a:bodyPr/>
                    <a:lstStyle/>
                    <a:p>
                      <a:r>
                        <a:rPr sz="1725">
                          <a:solidFill>
                            <a:srgbClr val="173F2F"/>
                          </a:solidFill>
                          <a:latin typeface="Arial"/>
                          <a:ea typeface="Arial"/>
                          <a:cs typeface="Arial"/>
                        </a:rPr>
                        <a:t/>
                      </a:r>
                    </a:p>
                  </a:txBody>
                  <a:tcPr marL="114300" marR="114300" marT="19050" marB="19050" anchor="ctr">
                    <a:solidFill>
                      <a:srgbClr val="EFF2E8"/>
                    </a:solidFill>
                  </a:tcPr>
                </a:tc>
                <a:tc>
                  <a:txBody>
                    <a:bodyPr/>
                    <a:lstStyle/>
                    <a:p>
                      <a:r>
                        <a:rPr sz="1725">
                          <a:solidFill>
                            <a:srgbClr val="173F2F"/>
                          </a:solidFill>
                          <a:latin typeface="Arial"/>
                          <a:ea typeface="Arial"/>
                          <a:cs typeface="Arial"/>
                        </a:rPr>
                        <a:t/>
                      </a:r>
                    </a:p>
                  </a:txBody>
                  <a:tcPr marL="114300" marR="114300" marT="19050" marB="19050" anchor="ctr">
                    <a:solidFill>
                      <a:srgbClr val="EFF2E8"/>
                    </a:solidFill>
                  </a:tcPr>
                </a:tc>
                <a:tc>
                  <a:txBody>
                    <a:bodyPr/>
                    <a:lstStyle/>
                    <a:p>
                      <a:r>
                        <a:rPr sz="1725">
                          <a:solidFill>
                            <a:srgbClr val="173F2F"/>
                          </a:solidFill>
                          <a:latin typeface="Arial"/>
                          <a:ea typeface="Arial"/>
                          <a:cs typeface="Arial"/>
                        </a:rPr>
                        <a:t/>
                      </a:r>
                    </a:p>
                  </a:txBody>
                  <a:tcPr marL="114300" marR="114300" marT="19050" marB="19050" anchor="ctr">
                    <a:solidFill>
                      <a:srgbClr val="EFF2E8"/>
                    </a:solidFill>
                  </a:tcPr>
                </a:tc>
              </a:tr>
              <a:tr h="1143000">
                <a:tc>
                  <a:txBody>
                    <a:bodyPr/>
                    <a:lstStyle/>
                    <a:p>
                      <a:r>
                        <a:rPr sz="1725">
                          <a:solidFill>
                            <a:srgbClr val="173F2F"/>
                          </a:solidFill>
                          <a:latin typeface="Arial"/>
                          <a:ea typeface="Arial"/>
                          <a:cs typeface="Arial"/>
                        </a:rPr>
                        <a:t>F11 Sostener</a:t>
                      </a:r>
                    </a:p>
                  </a:txBody>
                  <a:tcPr marL="114300" marR="114300" marT="19050" marB="19050" anchor="ctr">
                    <a:solidFill>
                      <a:srgbClr val="FFFFFF"/>
                    </a:solidFill>
                  </a:tcPr>
                </a:tc>
                <a:tc>
                  <a:txBody>
                    <a:bodyPr/>
                    <a:lstStyle/>
                    <a:p>
                      <a:r>
                        <a:rPr sz="1725">
                          <a:solidFill>
                            <a:srgbClr val="173F2F"/>
                          </a:solidFill>
                          <a:latin typeface="Arial"/>
                          <a:ea typeface="Arial"/>
                          <a:cs typeface="Arial"/>
                        </a:rPr>
                        <a:t/>
                      </a:r>
                    </a:p>
                  </a:txBody>
                  <a:tcPr marL="114300" marR="114300" marT="19050" marB="19050" anchor="ctr">
                    <a:solidFill>
                      <a:srgbClr val="FFFFFF"/>
                    </a:solidFill>
                  </a:tcPr>
                </a:tc>
                <a:tc>
                  <a:txBody>
                    <a:bodyPr/>
                    <a:lstStyle/>
                    <a:p>
                      <a:r>
                        <a:rPr sz="1725">
                          <a:solidFill>
                            <a:srgbClr val="173F2F"/>
                          </a:solidFill>
                          <a:latin typeface="Arial"/>
                          <a:ea typeface="Arial"/>
                          <a:cs typeface="Arial"/>
                        </a:rPr>
                        <a:t/>
                      </a:r>
                    </a:p>
                  </a:txBody>
                  <a:tcPr marL="114300" marR="114300" marT="19050" marB="19050" anchor="ctr">
                    <a:solidFill>
                      <a:srgbClr val="FFFFFF"/>
                    </a:solidFill>
                  </a:tcPr>
                </a:tc>
                <a:tc>
                  <a:txBody>
                    <a:bodyPr/>
                    <a:lstStyle/>
                    <a:p>
                      <a:r>
                        <a:rPr sz="1725">
                          <a:solidFill>
                            <a:srgbClr val="173F2F"/>
                          </a:solidFill>
                          <a:latin typeface="Arial"/>
                          <a:ea typeface="Arial"/>
                          <a:cs typeface="Arial"/>
                        </a:rPr>
                        <a:t/>
                      </a:r>
                    </a:p>
                  </a:txBody>
                  <a:tcPr marL="114300" marR="114300" marT="19050" marB="19050" anchor="ctr">
                    <a:solidFill>
                      <a:srgbClr val="FFFFFF"/>
                    </a:solidFill>
                  </a:tcPr>
                </a:tc>
              </a:tr>
            </a:tbl>
          </a:graphicData>
        </a:graphic>
      </p:graphicFrame>
      <p:pic>
        <p:nvPicPr>
          <p:cNvPr id="6" name="">
            <a:extLst xmlns:a="http://schemas.openxmlformats.org/drawingml/2006/main">
              <a:ext uri="{FF2B5EF4-FFF2-40B4-BE49-F238E27FC236}">
                <a16:creationId xmlns:a16="http://schemas.microsoft.com/office/drawing/2014/main" id="{891503F2-443B-4A53-A154-630B6D3058D4}"/>
              </a:ext>
            </a:extLst>
          </p:cNvPr>
          <p:cNvPicPr>
            <a:picLocks xmlns:a="http://schemas.openxmlformats.org/drawingml/2006/main" noChangeAspect="1"/>
          </p:cNvPicPr>
          <p:nvPr/>
        </p:nvPicPr>
        <p:blipFill>
          <a:blip xmlns:r="http://schemas.openxmlformats.org/officeDocument/2006/relationships" xmlns:a="http://schemas.openxmlformats.org/drawingml/2006/main" r:embed="Rb48f3795f586402b"/>
          <a:stretch xmlns:a="http://schemas.openxmlformats.org/drawingml/2006/main"/>
        </p:blipFill>
        <p:spPr>
          <a:xfrm xmlns:a="http://schemas.openxmlformats.org/drawingml/2006/main">
            <a:off x="2866086" y="2552700"/>
            <a:ext cx="678152" cy="971550"/>
          </a:xfrm>
          <a:prstGeom xmlns:a="http://schemas.openxmlformats.org/drawingml/2006/main" prst="rect">
            <a:avLst/>
          </a:prstGeom>
        </p:spPr>
      </p:pic>
      <p:sp>
        <p:nvSpPr>
          <p:cNvPr id="7" name="Pantalla del celular">
            <a:extLst xmlns:a="http://schemas.openxmlformats.org/drawingml/2006/main">
              <a:ext uri="{FF2B5EF4-FFF2-40B4-BE49-F238E27FC236}">
                <a16:creationId xmlns:a16="http://schemas.microsoft.com/office/drawing/2014/main" id="{832730EA-7184-4FBF-8286-4B96E1F07A91}"/>
              </a:ext>
            </a:extLst>
          </p:cNvPr>
          <p:cNvSpPr>
            <a:spLocks xmlns:a="http://schemas.openxmlformats.org/drawingml/2006/main" noGrp="1"/>
          </p:cNvSpPr>
          <p:nvPr/>
        </p:nvSpPr>
        <p:spPr>
          <a:xfrm xmlns:a="http://schemas.openxmlformats.org/drawingml/2006/main">
            <a:off x="3743325" y="2771775"/>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Pantalla del celular</a:t>
            </a:r>
          </a:p>
        </p:txBody>
      </p:sp>
      <p:pic>
        <p:nvPicPr>
          <p:cNvPr id="8" name="">
            <a:extLst xmlns:a="http://schemas.openxmlformats.org/drawingml/2006/main">
              <a:ext uri="{FF2B5EF4-FFF2-40B4-BE49-F238E27FC236}">
                <a16:creationId xmlns:a16="http://schemas.microsoft.com/office/drawing/2014/main" id="{A9D3592F-4470-4224-A4C8-EAB2196E1DC9}"/>
              </a:ext>
            </a:extLst>
          </p:cNvPr>
          <p:cNvPicPr>
            <a:picLocks xmlns:a="http://schemas.openxmlformats.org/drawingml/2006/main" noChangeAspect="1"/>
          </p:cNvPicPr>
          <p:nvPr/>
        </p:nvPicPr>
        <p:blipFill>
          <a:blip xmlns:r="http://schemas.openxmlformats.org/officeDocument/2006/relationships" xmlns:a="http://schemas.openxmlformats.org/drawingml/2006/main" r:embed="R747a1df13a6d4cf5"/>
          <a:stretch xmlns:a="http://schemas.openxmlformats.org/drawingml/2006/main"/>
        </p:blipFill>
        <p:spPr>
          <a:xfrm xmlns:a="http://schemas.openxmlformats.org/drawingml/2006/main">
            <a:off x="5856936" y="2552700"/>
            <a:ext cx="678152" cy="971550"/>
          </a:xfrm>
          <a:prstGeom xmlns:a="http://schemas.openxmlformats.org/drawingml/2006/main" prst="rect">
            <a:avLst/>
          </a:prstGeom>
        </p:spPr>
      </p:pic>
      <p:sp>
        <p:nvSpPr>
          <p:cNvPr id="9" name="Pantalla del celular">
            <a:extLst xmlns:a="http://schemas.openxmlformats.org/drawingml/2006/main">
              <a:ext uri="{FF2B5EF4-FFF2-40B4-BE49-F238E27FC236}">
                <a16:creationId xmlns:a16="http://schemas.microsoft.com/office/drawing/2014/main" id="{404D65B4-F061-499C-AF87-190EF4AE3683}"/>
              </a:ext>
            </a:extLst>
          </p:cNvPr>
          <p:cNvSpPr>
            <a:spLocks xmlns:a="http://schemas.openxmlformats.org/drawingml/2006/main" noGrp="1"/>
          </p:cNvSpPr>
          <p:nvPr/>
        </p:nvSpPr>
        <p:spPr>
          <a:xfrm xmlns:a="http://schemas.openxmlformats.org/drawingml/2006/main">
            <a:off x="6734175" y="2771775"/>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Pantalla del celular</a:t>
            </a:r>
          </a:p>
        </p:txBody>
      </p:sp>
      <p:pic>
        <p:nvPicPr>
          <p:cNvPr id="10" name="">
            <a:extLst xmlns:a="http://schemas.openxmlformats.org/drawingml/2006/main">
              <a:ext uri="{FF2B5EF4-FFF2-40B4-BE49-F238E27FC236}">
                <a16:creationId xmlns:a16="http://schemas.microsoft.com/office/drawing/2014/main" id="{F9F3F72D-67E2-4BCF-AC04-0ABE25C2FDD1}"/>
              </a:ext>
            </a:extLst>
          </p:cNvPr>
          <p:cNvPicPr>
            <a:picLocks xmlns:a="http://schemas.openxmlformats.org/drawingml/2006/main" noChangeAspect="1"/>
          </p:cNvPicPr>
          <p:nvPr/>
        </p:nvPicPr>
        <p:blipFill>
          <a:blip xmlns:r="http://schemas.openxmlformats.org/officeDocument/2006/relationships" xmlns:a="http://schemas.openxmlformats.org/drawingml/2006/main" r:embed="R11b981d9dd094c3d"/>
          <a:stretch xmlns:a="http://schemas.openxmlformats.org/drawingml/2006/main"/>
        </p:blipFill>
        <p:spPr>
          <a:xfrm xmlns:a="http://schemas.openxmlformats.org/drawingml/2006/main">
            <a:off x="8847786" y="2552700"/>
            <a:ext cx="678152" cy="971550"/>
          </a:xfrm>
          <a:prstGeom xmlns:a="http://schemas.openxmlformats.org/drawingml/2006/main" prst="rect">
            <a:avLst/>
          </a:prstGeom>
        </p:spPr>
      </p:pic>
      <p:sp>
        <p:nvSpPr>
          <p:cNvPr id="11" name="Pantalla del celular">
            <a:extLst xmlns:a="http://schemas.openxmlformats.org/drawingml/2006/main">
              <a:ext uri="{FF2B5EF4-FFF2-40B4-BE49-F238E27FC236}">
                <a16:creationId xmlns:a16="http://schemas.microsoft.com/office/drawing/2014/main" id="{4B7DFCB8-8BE3-4F00-AD7E-A7E81E9516DA}"/>
              </a:ext>
            </a:extLst>
          </p:cNvPr>
          <p:cNvSpPr>
            <a:spLocks xmlns:a="http://schemas.openxmlformats.org/drawingml/2006/main" noGrp="1"/>
          </p:cNvSpPr>
          <p:nvPr/>
        </p:nvSpPr>
        <p:spPr>
          <a:xfrm xmlns:a="http://schemas.openxmlformats.org/drawingml/2006/main">
            <a:off x="9725025" y="2771775"/>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Pantalla del celular</a:t>
            </a:r>
          </a:p>
        </p:txBody>
      </p:sp>
      <p:pic>
        <p:nvPicPr>
          <p:cNvPr id="12" name="">
            <a:extLst xmlns:a="http://schemas.openxmlformats.org/drawingml/2006/main">
              <a:ext uri="{FF2B5EF4-FFF2-40B4-BE49-F238E27FC236}">
                <a16:creationId xmlns:a16="http://schemas.microsoft.com/office/drawing/2014/main" id="{098F4684-9CB1-4EB9-9F83-12072BF38E60}"/>
              </a:ext>
            </a:extLst>
          </p:cNvPr>
          <p:cNvPicPr>
            <a:picLocks xmlns:a="http://schemas.openxmlformats.org/drawingml/2006/main" noChangeAspect="1"/>
          </p:cNvPicPr>
          <p:nvPr/>
        </p:nvPicPr>
        <p:blipFill>
          <a:blip xmlns:r="http://schemas.openxmlformats.org/officeDocument/2006/relationships" xmlns:a="http://schemas.openxmlformats.org/drawingml/2006/main" r:embed="Rff64d1e1dabf40d6"/>
          <a:stretch xmlns:a="http://schemas.openxmlformats.org/drawingml/2006/main"/>
        </p:blipFill>
        <p:spPr>
          <a:xfrm xmlns:a="http://schemas.openxmlformats.org/drawingml/2006/main">
            <a:off x="2981039" y="3695700"/>
            <a:ext cx="448247" cy="971550"/>
          </a:xfrm>
          <a:prstGeom xmlns:a="http://schemas.openxmlformats.org/drawingml/2006/main" prst="rect">
            <a:avLst/>
          </a:prstGeom>
        </p:spPr>
      </p:pic>
      <p:sp>
        <p:nvSpPr>
          <p:cNvPr id="13" name="Historial local">
            <a:extLst xmlns:a="http://schemas.openxmlformats.org/drawingml/2006/main">
              <a:ext uri="{FF2B5EF4-FFF2-40B4-BE49-F238E27FC236}">
                <a16:creationId xmlns:a16="http://schemas.microsoft.com/office/drawing/2014/main" id="{B43CEDD2-1307-4D87-8641-A388CA1BF17A}"/>
              </a:ext>
            </a:extLst>
          </p:cNvPr>
          <p:cNvSpPr>
            <a:spLocks xmlns:a="http://schemas.openxmlformats.org/drawingml/2006/main" noGrp="1"/>
          </p:cNvSpPr>
          <p:nvPr/>
        </p:nvSpPr>
        <p:spPr>
          <a:xfrm xmlns:a="http://schemas.openxmlformats.org/drawingml/2006/main">
            <a:off x="3743325" y="3914775"/>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Historial local</a:t>
            </a:r>
          </a:p>
        </p:txBody>
      </p:sp>
      <p:pic>
        <p:nvPicPr>
          <p:cNvPr id="14" name="">
            <a:extLst xmlns:a="http://schemas.openxmlformats.org/drawingml/2006/main">
              <a:ext uri="{FF2B5EF4-FFF2-40B4-BE49-F238E27FC236}">
                <a16:creationId xmlns:a16="http://schemas.microsoft.com/office/drawing/2014/main" id="{8BDDC06A-90BC-4A9A-85FF-63A9E281C1E7}"/>
              </a:ext>
            </a:extLst>
          </p:cNvPr>
          <p:cNvPicPr>
            <a:picLocks xmlns:a="http://schemas.openxmlformats.org/drawingml/2006/main" noChangeAspect="1"/>
          </p:cNvPicPr>
          <p:nvPr/>
        </p:nvPicPr>
        <p:blipFill>
          <a:blip xmlns:r="http://schemas.openxmlformats.org/officeDocument/2006/relationships" xmlns:a="http://schemas.openxmlformats.org/drawingml/2006/main" r:embed="Radd69e3cca55456e"/>
          <a:stretch xmlns:a="http://schemas.openxmlformats.org/drawingml/2006/main"/>
        </p:blipFill>
        <p:spPr>
          <a:xfrm xmlns:a="http://schemas.openxmlformats.org/drawingml/2006/main">
            <a:off x="5971889" y="3695700"/>
            <a:ext cx="448247" cy="971550"/>
          </a:xfrm>
          <a:prstGeom xmlns:a="http://schemas.openxmlformats.org/drawingml/2006/main" prst="rect">
            <a:avLst/>
          </a:prstGeom>
        </p:spPr>
      </p:pic>
      <p:sp>
        <p:nvSpPr>
          <p:cNvPr id="15" name="Historial local">
            <a:extLst xmlns:a="http://schemas.openxmlformats.org/drawingml/2006/main">
              <a:ext uri="{FF2B5EF4-FFF2-40B4-BE49-F238E27FC236}">
                <a16:creationId xmlns:a16="http://schemas.microsoft.com/office/drawing/2014/main" id="{4B9C0779-2220-4EE6-BC7B-6AFD96EA7E85}"/>
              </a:ext>
            </a:extLst>
          </p:cNvPr>
          <p:cNvSpPr>
            <a:spLocks xmlns:a="http://schemas.openxmlformats.org/drawingml/2006/main" noGrp="1"/>
          </p:cNvSpPr>
          <p:nvPr/>
        </p:nvSpPr>
        <p:spPr>
          <a:xfrm xmlns:a="http://schemas.openxmlformats.org/drawingml/2006/main">
            <a:off x="6734175" y="3914775"/>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Historial local</a:t>
            </a:r>
          </a:p>
        </p:txBody>
      </p:sp>
      <p:pic>
        <p:nvPicPr>
          <p:cNvPr id="16" name="">
            <a:extLst xmlns:a="http://schemas.openxmlformats.org/drawingml/2006/main">
              <a:ext uri="{FF2B5EF4-FFF2-40B4-BE49-F238E27FC236}">
                <a16:creationId xmlns:a16="http://schemas.microsoft.com/office/drawing/2014/main" id="{91EEED9F-D64C-4C3D-BE92-7694B5C9CB5B}"/>
              </a:ext>
            </a:extLst>
          </p:cNvPr>
          <p:cNvPicPr>
            <a:picLocks xmlns:a="http://schemas.openxmlformats.org/drawingml/2006/main" noChangeAspect="1"/>
          </p:cNvPicPr>
          <p:nvPr/>
        </p:nvPicPr>
        <p:blipFill>
          <a:blip xmlns:r="http://schemas.openxmlformats.org/officeDocument/2006/relationships" xmlns:a="http://schemas.openxmlformats.org/drawingml/2006/main" r:embed="Rdd3ffa3aec154691"/>
          <a:stretch xmlns:a="http://schemas.openxmlformats.org/drawingml/2006/main"/>
        </p:blipFill>
        <p:spPr>
          <a:xfrm xmlns:a="http://schemas.openxmlformats.org/drawingml/2006/main">
            <a:off x="8962739" y="3695700"/>
            <a:ext cx="448247" cy="971550"/>
          </a:xfrm>
          <a:prstGeom xmlns:a="http://schemas.openxmlformats.org/drawingml/2006/main" prst="rect">
            <a:avLst/>
          </a:prstGeom>
        </p:spPr>
      </p:pic>
      <p:sp>
        <p:nvSpPr>
          <p:cNvPr id="17" name="Historial local previsto">
            <a:extLst xmlns:a="http://schemas.openxmlformats.org/drawingml/2006/main">
              <a:ext uri="{FF2B5EF4-FFF2-40B4-BE49-F238E27FC236}">
                <a16:creationId xmlns:a16="http://schemas.microsoft.com/office/drawing/2014/main" id="{C489331B-7FF6-49E5-B411-B3E313A2B0E4}"/>
              </a:ext>
            </a:extLst>
          </p:cNvPr>
          <p:cNvSpPr>
            <a:spLocks xmlns:a="http://schemas.openxmlformats.org/drawingml/2006/main" noGrp="1"/>
          </p:cNvSpPr>
          <p:nvPr/>
        </p:nvSpPr>
        <p:spPr>
          <a:xfrm xmlns:a="http://schemas.openxmlformats.org/drawingml/2006/main">
            <a:off x="9725025" y="3914775"/>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Historial local previsto</a:t>
            </a:r>
          </a:p>
        </p:txBody>
      </p:sp>
      <p:pic>
        <p:nvPicPr>
          <p:cNvPr id="18" name="">
            <a:extLst xmlns:a="http://schemas.openxmlformats.org/drawingml/2006/main">
              <a:ext uri="{FF2B5EF4-FFF2-40B4-BE49-F238E27FC236}">
                <a16:creationId xmlns:a16="http://schemas.microsoft.com/office/drawing/2014/main" id="{53A1D4B3-3154-4406-A6E4-FF04065A8DFB}"/>
              </a:ext>
            </a:extLst>
          </p:cNvPr>
          <p:cNvPicPr>
            <a:picLocks xmlns:a="http://schemas.openxmlformats.org/drawingml/2006/main" noChangeAspect="1"/>
          </p:cNvPicPr>
          <p:nvPr/>
        </p:nvPicPr>
        <p:blipFill>
          <a:blip xmlns:r="http://schemas.openxmlformats.org/officeDocument/2006/relationships" xmlns:a="http://schemas.openxmlformats.org/drawingml/2006/main" r:embed="R95268c1ee0f54127"/>
          <a:stretch xmlns:a="http://schemas.openxmlformats.org/drawingml/2006/main"/>
        </p:blipFill>
        <p:spPr>
          <a:xfrm xmlns:a="http://schemas.openxmlformats.org/drawingml/2006/main">
            <a:off x="2921794" y="4838700"/>
            <a:ext cx="566738" cy="971550"/>
          </a:xfrm>
          <a:prstGeom xmlns:a="http://schemas.openxmlformats.org/drawingml/2006/main" prst="rect">
            <a:avLst/>
          </a:prstGeom>
        </p:spPr>
      </p:pic>
      <p:sp>
        <p:nvSpPr>
          <p:cNvPr id="19" name="Plato sobre mesa">
            <a:extLst xmlns:a="http://schemas.openxmlformats.org/drawingml/2006/main">
              <a:ext uri="{FF2B5EF4-FFF2-40B4-BE49-F238E27FC236}">
                <a16:creationId xmlns:a16="http://schemas.microsoft.com/office/drawing/2014/main" id="{805DAE2F-5016-44E7-B05E-18807FDF4271}"/>
              </a:ext>
            </a:extLst>
          </p:cNvPr>
          <p:cNvSpPr>
            <a:spLocks xmlns:a="http://schemas.openxmlformats.org/drawingml/2006/main" noGrp="1"/>
          </p:cNvSpPr>
          <p:nvPr/>
        </p:nvSpPr>
        <p:spPr>
          <a:xfrm xmlns:a="http://schemas.openxmlformats.org/drawingml/2006/main">
            <a:off x="3743325" y="5057775"/>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Plato sobre mesa</a:t>
            </a:r>
          </a:p>
        </p:txBody>
      </p:sp>
      <p:pic>
        <p:nvPicPr>
          <p:cNvPr id="20" name="">
            <a:extLst xmlns:a="http://schemas.openxmlformats.org/drawingml/2006/main">
              <a:ext uri="{FF2B5EF4-FFF2-40B4-BE49-F238E27FC236}">
                <a16:creationId xmlns:a16="http://schemas.microsoft.com/office/drawing/2014/main" id="{2A07BA4C-A0AD-46EC-B99F-94105D3CF7C2}"/>
              </a:ext>
            </a:extLst>
          </p:cNvPr>
          <p:cNvPicPr>
            <a:picLocks xmlns:a="http://schemas.openxmlformats.org/drawingml/2006/main" noChangeAspect="1"/>
          </p:cNvPicPr>
          <p:nvPr/>
        </p:nvPicPr>
        <p:blipFill>
          <a:blip xmlns:r="http://schemas.openxmlformats.org/officeDocument/2006/relationships" xmlns:a="http://schemas.openxmlformats.org/drawingml/2006/main" r:embed="R900d160d8b924c66"/>
          <a:stretch xmlns:a="http://schemas.openxmlformats.org/drawingml/2006/main"/>
        </p:blipFill>
        <p:spPr>
          <a:xfrm xmlns:a="http://schemas.openxmlformats.org/drawingml/2006/main">
            <a:off x="5904662" y="4838700"/>
            <a:ext cx="582702" cy="971550"/>
          </a:xfrm>
          <a:prstGeom xmlns:a="http://schemas.openxmlformats.org/drawingml/2006/main" prst="rect">
            <a:avLst/>
          </a:prstGeom>
        </p:spPr>
      </p:pic>
      <p:sp>
        <p:nvSpPr>
          <p:cNvPr id="21" name="Plato sobre balanza">
            <a:extLst xmlns:a="http://schemas.openxmlformats.org/drawingml/2006/main">
              <a:ext uri="{FF2B5EF4-FFF2-40B4-BE49-F238E27FC236}">
                <a16:creationId xmlns:a16="http://schemas.microsoft.com/office/drawing/2014/main" id="{300A032E-270B-4FF8-A4AF-1FEE4D9958E9}"/>
              </a:ext>
            </a:extLst>
          </p:cNvPr>
          <p:cNvSpPr>
            <a:spLocks xmlns:a="http://schemas.openxmlformats.org/drawingml/2006/main" noGrp="1"/>
          </p:cNvSpPr>
          <p:nvPr/>
        </p:nvSpPr>
        <p:spPr>
          <a:xfrm xmlns:a="http://schemas.openxmlformats.org/drawingml/2006/main">
            <a:off x="6734175" y="5057775"/>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Plato sobre balanza</a:t>
            </a:r>
          </a:p>
        </p:txBody>
      </p:sp>
      <p:pic>
        <p:nvPicPr>
          <p:cNvPr id="22" name="">
            <a:extLst xmlns:a="http://schemas.openxmlformats.org/drawingml/2006/main">
              <a:ext uri="{FF2B5EF4-FFF2-40B4-BE49-F238E27FC236}">
                <a16:creationId xmlns:a16="http://schemas.microsoft.com/office/drawing/2014/main" id="{465AB3A5-B687-4450-BB4B-AC5FDC8A9260}"/>
              </a:ext>
            </a:extLst>
          </p:cNvPr>
          <p:cNvPicPr>
            <a:picLocks xmlns:a="http://schemas.openxmlformats.org/drawingml/2006/main" noChangeAspect="1"/>
          </p:cNvPicPr>
          <p:nvPr/>
        </p:nvPicPr>
        <p:blipFill>
          <a:blip xmlns:r="http://schemas.openxmlformats.org/officeDocument/2006/relationships" xmlns:a="http://schemas.openxmlformats.org/drawingml/2006/main" r:embed="Rac55304e16c944c4"/>
          <a:stretch xmlns:a="http://schemas.openxmlformats.org/drawingml/2006/main"/>
        </p:blipFill>
        <p:spPr>
          <a:xfrm xmlns:a="http://schemas.openxmlformats.org/drawingml/2006/main">
            <a:off x="8743950" y="4874700"/>
            <a:ext cx="885825" cy="899551"/>
          </a:xfrm>
          <a:prstGeom xmlns:a="http://schemas.openxmlformats.org/drawingml/2006/main" prst="rect">
            <a:avLst/>
          </a:prstGeom>
        </p:spPr>
      </p:pic>
      <p:sp>
        <p:nvSpPr>
          <p:cNvPr id="23" name="Plataforma flotante">
            <a:extLst xmlns:a="http://schemas.openxmlformats.org/drawingml/2006/main">
              <a:ext uri="{FF2B5EF4-FFF2-40B4-BE49-F238E27FC236}">
                <a16:creationId xmlns:a16="http://schemas.microsoft.com/office/drawing/2014/main" id="{5F798F50-2C6E-4A4F-9749-F0DF8FA35568}"/>
              </a:ext>
            </a:extLst>
          </p:cNvPr>
          <p:cNvSpPr>
            <a:spLocks xmlns:a="http://schemas.openxmlformats.org/drawingml/2006/main" noGrp="1"/>
          </p:cNvSpPr>
          <p:nvPr/>
        </p:nvSpPr>
        <p:spPr>
          <a:xfrm xmlns:a="http://schemas.openxmlformats.org/drawingml/2006/main">
            <a:off x="9725025" y="5057775"/>
            <a:ext cx="15906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F2F"/>
                </a:solidFill>
                <a:latin typeface="Arial"/>
                <a:ea typeface="Arial"/>
                <a:cs typeface="Arial"/>
              </a:defRPr>
            </a:defPPr>
          </a:lstStyle>
          <a:p xmlns:a="http://schemas.openxmlformats.org/drawingml/2006/main">
            <a:pPr>
              <a:defRPr sz="1650" b="1">
                <a:solidFill>
                  <a:srgbClr val="173F2F"/>
                </a:solidFill>
                <a:latin typeface="Arial"/>
                <a:ea typeface="Arial"/>
                <a:cs typeface="Arial"/>
              </a:defRPr>
            </a:pPr>
            <a:r>
              <a:rPr sz="1650" b="1">
                <a:solidFill>
                  <a:srgbClr val="173F2F"/>
                </a:solidFill>
                <a:latin typeface="Arial"/>
                <a:ea typeface="Arial"/>
                <a:cs typeface="Arial"/>
              </a:rPr>
              <a:t>Plataforma flotante</a:t>
            </a:r>
          </a:p>
        </p:txBody>
      </p:sp>
      <p:cxnSp>
        <p:nvCxnSpPr>
          <p:cNvPr id="24" name="">
            <a:extLst xmlns:a="http://schemas.openxmlformats.org/drawingml/2006/main">
              <a:ext uri="{FF2B5EF4-FFF2-40B4-BE49-F238E27FC236}">
                <a16:creationId xmlns:a16="http://schemas.microsoft.com/office/drawing/2014/main" id="{53749C6D-E5BC-4B39-8C99-0003ECE7C339}"/>
              </a:ext>
            </a:extLst>
          </p:cNvPr>
          <p:cNvCxnSpPr/>
          <p:nvPr/>
        </p:nvCxnSpPr>
        <p:spPr>
          <a:xfrm xmlns:a="http://schemas.openxmlformats.org/drawingml/2006/main">
            <a:off x="5524500" y="3048000"/>
            <a:ext cx="0" cy="1143000"/>
          </a:xfrm>
          <a:prstGeom xmlns:a="http://schemas.openxmlformats.org/drawingml/2006/main" prst="straightConnector1">
            <a:avLst/>
          </a:prstGeom>
          <a:ln xmlns:a="http://schemas.openxmlformats.org/drawingml/2006/main" w="23813">
            <a:solidFill>
              <a:srgbClr val="486D88"/>
            </a:solidFill>
            <a:tailEnd type="triangle" w="med" len="med"/>
          </a:ln>
        </p:spPr>
      </p:cxnSp>
      <p:cxnSp>
        <p:nvCxnSpPr>
          <p:cNvPr id="25" name="">
            <a:extLst xmlns:a="http://schemas.openxmlformats.org/drawingml/2006/main">
              <a:ext uri="{FF2B5EF4-FFF2-40B4-BE49-F238E27FC236}">
                <a16:creationId xmlns:a16="http://schemas.microsoft.com/office/drawing/2014/main" id="{17829151-B816-4BCD-8B38-192C662785CB}"/>
              </a:ext>
            </a:extLst>
          </p:cNvPr>
          <p:cNvCxnSpPr/>
          <p:nvPr/>
        </p:nvCxnSpPr>
        <p:spPr>
          <a:xfrm xmlns:a="http://schemas.openxmlformats.org/drawingml/2006/main">
            <a:off x="5524500" y="4191000"/>
            <a:ext cx="0" cy="1143000"/>
          </a:xfrm>
          <a:prstGeom xmlns:a="http://schemas.openxmlformats.org/drawingml/2006/main" prst="straightConnector1">
            <a:avLst/>
          </a:prstGeom>
          <a:ln xmlns:a="http://schemas.openxmlformats.org/drawingml/2006/main" w="23813">
            <a:solidFill>
              <a:srgbClr val="486D88"/>
            </a:solidFill>
            <a:tailEnd type="triangle" w="med" len="med"/>
          </a:ln>
        </p:spPr>
      </p:cxnSp>
      <p:cxnSp>
        <p:nvCxnSpPr>
          <p:cNvPr id="26" name="">
            <a:extLst xmlns:a="http://schemas.openxmlformats.org/drawingml/2006/main">
              <a:ext uri="{FF2B5EF4-FFF2-40B4-BE49-F238E27FC236}">
                <a16:creationId xmlns:a16="http://schemas.microsoft.com/office/drawing/2014/main" id="{E61EB7BF-7D40-46BC-B07C-505961D67773}"/>
              </a:ext>
            </a:extLst>
          </p:cNvPr>
          <p:cNvCxnSpPr/>
          <p:nvPr/>
        </p:nvCxnSpPr>
        <p:spPr>
          <a:xfrm xmlns:a="http://schemas.openxmlformats.org/drawingml/2006/main">
            <a:off x="8515350" y="3048000"/>
            <a:ext cx="0" cy="1143000"/>
          </a:xfrm>
          <a:prstGeom xmlns:a="http://schemas.openxmlformats.org/drawingml/2006/main" prst="straightConnector1">
            <a:avLst/>
          </a:prstGeom>
          <a:ln xmlns:a="http://schemas.openxmlformats.org/drawingml/2006/main" w="23813">
            <a:solidFill>
              <a:srgbClr val="AD6240"/>
            </a:solidFill>
            <a:tailEnd type="triangle" w="med" len="med"/>
          </a:ln>
        </p:spPr>
      </p:cxnSp>
      <p:cxnSp>
        <p:nvCxnSpPr>
          <p:cNvPr id="27" name="">
            <a:extLst xmlns:a="http://schemas.openxmlformats.org/drawingml/2006/main">
              <a:ext uri="{FF2B5EF4-FFF2-40B4-BE49-F238E27FC236}">
                <a16:creationId xmlns:a16="http://schemas.microsoft.com/office/drawing/2014/main" id="{3E4F2E61-E2E2-405D-9A88-3FE2F3AAFD88}"/>
              </a:ext>
            </a:extLst>
          </p:cNvPr>
          <p:cNvCxnSpPr/>
          <p:nvPr/>
        </p:nvCxnSpPr>
        <p:spPr>
          <a:xfrm xmlns:a="http://schemas.openxmlformats.org/drawingml/2006/main">
            <a:off x="8515350" y="4191000"/>
            <a:ext cx="0" cy="1143000"/>
          </a:xfrm>
          <a:prstGeom xmlns:a="http://schemas.openxmlformats.org/drawingml/2006/main" prst="straightConnector1">
            <a:avLst/>
          </a:prstGeom>
          <a:ln xmlns:a="http://schemas.openxmlformats.org/drawingml/2006/main" w="23813">
            <a:solidFill>
              <a:srgbClr val="AD6240"/>
            </a:solidFill>
            <a:tailEnd type="triangle" w="med" len="med"/>
          </a:ln>
        </p:spPr>
      </p:cxnSp>
      <p:cxnSp>
        <p:nvCxnSpPr>
          <p:cNvPr id="28" name="">
            <a:extLst xmlns:a="http://schemas.openxmlformats.org/drawingml/2006/main">
              <a:ext uri="{FF2B5EF4-FFF2-40B4-BE49-F238E27FC236}">
                <a16:creationId xmlns:a16="http://schemas.microsoft.com/office/drawing/2014/main" id="{9521365B-27AC-49BB-8C19-F6E6BB389CC4}"/>
              </a:ext>
            </a:extLst>
          </p:cNvPr>
          <p:cNvCxnSpPr/>
          <p:nvPr/>
        </p:nvCxnSpPr>
        <p:spPr>
          <a:xfrm xmlns:a="http://schemas.openxmlformats.org/drawingml/2006/main">
            <a:off x="11506200" y="3048000"/>
            <a:ext cx="0" cy="1143000"/>
          </a:xfrm>
          <a:prstGeom xmlns:a="http://schemas.openxmlformats.org/drawingml/2006/main" prst="straightConnector1">
            <a:avLst/>
          </a:prstGeom>
          <a:ln xmlns:a="http://schemas.openxmlformats.org/drawingml/2006/main" w="23813">
            <a:solidFill>
              <a:srgbClr val="173F2F"/>
            </a:solidFill>
            <a:tailEnd type="triangle" w="med" len="med"/>
          </a:ln>
        </p:spPr>
      </p:cxnSp>
      <p:cxnSp>
        <p:nvCxnSpPr>
          <p:cNvPr id="29" name="">
            <a:extLst xmlns:a="http://schemas.openxmlformats.org/drawingml/2006/main">
              <a:ext uri="{FF2B5EF4-FFF2-40B4-BE49-F238E27FC236}">
                <a16:creationId xmlns:a16="http://schemas.microsoft.com/office/drawing/2014/main" id="{2AE1549E-6E4A-40D0-BC95-3DCF30FA1C60}"/>
              </a:ext>
            </a:extLst>
          </p:cNvPr>
          <p:cNvCxnSpPr/>
          <p:nvPr/>
        </p:nvCxnSpPr>
        <p:spPr>
          <a:xfrm xmlns:a="http://schemas.openxmlformats.org/drawingml/2006/main">
            <a:off x="11506200" y="4191000"/>
            <a:ext cx="0" cy="1143000"/>
          </a:xfrm>
          <a:prstGeom xmlns:a="http://schemas.openxmlformats.org/drawingml/2006/main" prst="straightConnector1">
            <a:avLst/>
          </a:prstGeom>
          <a:ln xmlns:a="http://schemas.openxmlformats.org/drawingml/2006/main" w="23813">
            <a:solidFill>
              <a:srgbClr val="173F2F"/>
            </a:solidFill>
            <a:tailEnd type="triangle" w="med" len="med"/>
          </a:ln>
        </p:spPr>
      </p:cxnSp>
      <p:sp>
        <p:nvSpPr>
          <p:cNvPr id="30" name="A: visual. B: avance actual. C: caja integrada seleccio">
            <a:extLst xmlns:a="http://schemas.openxmlformats.org/drawingml/2006/main">
              <a:ext uri="{FF2B5EF4-FFF2-40B4-BE49-F238E27FC236}">
                <a16:creationId xmlns:a16="http://schemas.microsoft.com/office/drawing/2014/main" id="{EA71AF06-68AA-472F-82FD-AD229D44279C}"/>
              </a:ext>
            </a:extLst>
          </p:cNvPr>
          <p:cNvSpPr>
            <a:spLocks xmlns:a="http://schemas.openxmlformats.org/drawingml/2006/main" noGrp="1"/>
          </p:cNvSpPr>
          <p:nvPr/>
        </p:nvSpPr>
        <p:spPr>
          <a:xfrm xmlns:a="http://schemas.openxmlformats.org/drawingml/2006/main">
            <a:off x="571500" y="601980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77161"/>
                </a:solidFill>
                <a:latin typeface="Arial"/>
                <a:ea typeface="Arial"/>
                <a:cs typeface="Arial"/>
              </a:defRPr>
            </a:defPPr>
          </a:lstStyle>
          <a:p xmlns:a="http://schemas.openxmlformats.org/drawingml/2006/main">
            <a:pPr>
              <a:defRPr sz="1425" b="0">
                <a:solidFill>
                  <a:srgbClr val="577161"/>
                </a:solidFill>
                <a:latin typeface="Arial"/>
                <a:ea typeface="Arial"/>
                <a:cs typeface="Arial"/>
              </a:defRPr>
            </a:pPr>
            <a:r>
              <a:rPr sz="1425" b="0">
                <a:solidFill>
                  <a:srgbClr val="577161"/>
                </a:solidFill>
                <a:latin typeface="Arial"/>
                <a:ea typeface="Arial"/>
                <a:cs typeface="Arial"/>
              </a:rPr>
              <a:t>A: visual. B: avance actual. C: caja integrada seleccionada como objetivo de diseño.</a:t>
            </a:r>
          </a:p>
        </p:txBody>
      </p:sp>
    </p:spTree>
    <p:extLst>
      <p:ext uri="{BB962C8B-B14F-4D97-AF65-F5344CB8AC3E}">
        <p14:creationId xmlns:p14="http://schemas.microsoft.com/office/powerpoint/2010/main" val="63097377"/>
      </p:ext>
    </p:extLst>
  </p:cSld>
</p:sld>
</file>

<file path=ppt/slides/slide27.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2" name="Tres conceptos de solución">
            <a:extLst xmlns:a="http://schemas.openxmlformats.org/drawingml/2006/main">
              <a:ext uri="{FF2B5EF4-FFF2-40B4-BE49-F238E27FC236}">
                <a16:creationId xmlns:a16="http://schemas.microsoft.com/office/drawing/2014/main" id="{76E3DF82-AE0C-48A1-A85A-D98180A1A363}"/>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Tres conceptos de solución</a:t>
            </a:r>
          </a:p>
        </p:txBody>
      </p:sp>
      <p:sp>
        <p:nvSpPr>
          <p:cNvPr id="2" name="Bocetos conceptuales. B es el avance del parcial; C es ">
            <a:extLst xmlns:a="http://schemas.openxmlformats.org/drawingml/2006/main">
              <a:ext uri="{FF2B5EF4-FFF2-40B4-BE49-F238E27FC236}">
                <a16:creationId xmlns:a16="http://schemas.microsoft.com/office/drawing/2014/main" id="{7D8EEA66-1E3A-4EDA-9D30-26D99C7FA584}"/>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Bocetos conceptuales. B es el avance del parcial; C es el objetivo de construcción.</a:t>
            </a:r>
          </a:p>
        </p:txBody>
      </p:sp>
      <p:sp>
        <p:nvSpPr>
          <p:cNvPr id="3" name="Fuentes [24] · Referencias al final">
            <a:extLst xmlns:a="http://schemas.openxmlformats.org/drawingml/2006/main">
              <a:ext uri="{FF2B5EF4-FFF2-40B4-BE49-F238E27FC236}">
                <a16:creationId xmlns:a16="http://schemas.microsoft.com/office/drawing/2014/main" id="{8A04447D-241E-43B9-A6D3-C16E60AFAC2E}"/>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[24] · Referencias al final</a:t>
            </a:r>
          </a:p>
        </p:txBody>
      </p:sp>
      <p:sp>
        <p:nvSpPr>
          <p:cNvPr id="4" name="27">
            <a:extLst xmlns:a="http://schemas.openxmlformats.org/drawingml/2006/main">
              <a:ext uri="{FF2B5EF4-FFF2-40B4-BE49-F238E27FC236}">
                <a16:creationId xmlns:a16="http://schemas.microsoft.com/office/drawing/2014/main" id="{401700D6-F20E-4EA6-A4D7-42C878F48ED7}"/>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27</a:t>
            </a:r>
          </a:p>
        </p:txBody>
      </p:sp>
      <p:pic>
        <p:nvPicPr>
          <p:cNvPr id="5" name="">
            <a:extLst xmlns:a="http://schemas.openxmlformats.org/drawingml/2006/main">
              <a:ext uri="{FF2B5EF4-FFF2-40B4-BE49-F238E27FC236}">
                <a16:creationId xmlns:a16="http://schemas.microsoft.com/office/drawing/2014/main" id="{336BCB1B-5985-4239-89F1-28D8A3633BB5}"/>
              </a:ext>
            </a:extLst>
          </p:cNvPr>
          <p:cNvPicPr>
            <a:picLocks xmlns:a="http://schemas.openxmlformats.org/drawingml/2006/main" noChangeAspect="1"/>
          </p:cNvPicPr>
          <p:nvPr/>
        </p:nvPicPr>
        <p:blipFill>
          <a:blip xmlns:r="http://schemas.openxmlformats.org/officeDocument/2006/relationships" xmlns:a="http://schemas.openxmlformats.org/drawingml/2006/main" r:embed="R9e4063f9970a4f3f"/>
          <a:stretch xmlns:a="http://schemas.openxmlformats.org/drawingml/2006/main"/>
        </p:blipFill>
        <p:spPr>
          <a:xfrm xmlns:a="http://schemas.openxmlformats.org/drawingml/2006/main">
            <a:off x="2596049" y="1724025"/>
            <a:ext cx="6999902" cy="3228975"/>
          </a:xfrm>
          <a:prstGeom xmlns:a="http://schemas.openxmlformats.org/drawingml/2006/main" prst="rect">
            <a:avLst/>
          </a:prstGeom>
        </p:spPr>
      </p:pic>
      <p:sp>
        <p:nvSpPr>
          <p:cNvPr id="6" name="A · App visual">
            <a:extLst xmlns:a="http://schemas.openxmlformats.org/drawingml/2006/main">
              <a:ext uri="{FF2B5EF4-FFF2-40B4-BE49-F238E27FC236}">
                <a16:creationId xmlns:a16="http://schemas.microsoft.com/office/drawing/2014/main" id="{BA7DB0F0-C44B-4761-9D04-B2557DCC46B6}"/>
              </a:ext>
            </a:extLst>
          </p:cNvPr>
          <p:cNvSpPr>
            <a:spLocks xmlns:a="http://schemas.openxmlformats.org/drawingml/2006/main" noGrp="1"/>
          </p:cNvSpPr>
          <p:nvPr/>
        </p:nvSpPr>
        <p:spPr>
          <a:xfrm xmlns:a="http://schemas.openxmlformats.org/drawingml/2006/main">
            <a:off x="571500" y="513397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3F2F"/>
                </a:solidFill>
                <a:latin typeface="Arial"/>
                <a:ea typeface="Arial"/>
                <a:cs typeface="Arial"/>
              </a:defRPr>
            </a:defPPr>
          </a:lstStyle>
          <a:p xmlns:a="http://schemas.openxmlformats.org/drawingml/2006/main">
            <a:pPr>
              <a:defRPr sz="2025" b="1">
                <a:solidFill>
                  <a:srgbClr val="173F2F"/>
                </a:solidFill>
                <a:latin typeface="Arial"/>
                <a:ea typeface="Arial"/>
                <a:cs typeface="Arial"/>
              </a:defRPr>
            </a:pPr>
            <a:r>
              <a:rPr sz="2025" b="1">
                <a:solidFill>
                  <a:srgbClr val="173F2F"/>
                </a:solidFill>
                <a:latin typeface="Arial"/>
                <a:ea typeface="Arial"/>
                <a:cs typeface="Arial"/>
              </a:rPr>
              <a:t>A · App visual</a:t>
            </a:r>
          </a:p>
        </p:txBody>
      </p:sp>
      <p:sp>
        <p:nvSpPr>
          <p:cNvPr id="7" name="Celular + foto&#10;Masa total estimada&#10;Sin pesaje directo">
            <a:extLst xmlns:a="http://schemas.openxmlformats.org/drawingml/2006/main">
              <a:ext uri="{FF2B5EF4-FFF2-40B4-BE49-F238E27FC236}">
                <a16:creationId xmlns:a16="http://schemas.microsoft.com/office/drawing/2014/main" id="{82062D46-154F-4EDE-AC08-F1D9B7EFA241}"/>
              </a:ext>
            </a:extLst>
          </p:cNvPr>
          <p:cNvSpPr>
            <a:spLocks xmlns:a="http://schemas.openxmlformats.org/drawingml/2006/main" noGrp="1"/>
          </p:cNvSpPr>
          <p:nvPr/>
        </p:nvSpPr>
        <p:spPr>
          <a:xfrm xmlns:a="http://schemas.openxmlformats.org/drawingml/2006/main">
            <a:off x="571500" y="5610225"/>
            <a:ext cx="3476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Celular + foto</a:t>
            </a:r>
          </a:p>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Masa total estimada</a:t>
            </a:r>
          </a:p>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Sin pesaje directo</a:t>
            </a:r>
          </a:p>
        </p:txBody>
      </p:sp>
      <p:sp>
        <p:nvSpPr>
          <p:cNvPr id="8" name="B · App + balanza externa">
            <a:extLst xmlns:a="http://schemas.openxmlformats.org/drawingml/2006/main">
              <a:ext uri="{FF2B5EF4-FFF2-40B4-BE49-F238E27FC236}">
                <a16:creationId xmlns:a16="http://schemas.microsoft.com/office/drawing/2014/main" id="{D3549559-33CF-4D03-BB56-15D488DDD22B}"/>
              </a:ext>
            </a:extLst>
          </p:cNvPr>
          <p:cNvSpPr>
            <a:spLocks xmlns:a="http://schemas.openxmlformats.org/drawingml/2006/main" noGrp="1"/>
          </p:cNvSpPr>
          <p:nvPr/>
        </p:nvSpPr>
        <p:spPr>
          <a:xfrm xmlns:a="http://schemas.openxmlformats.org/drawingml/2006/main">
            <a:off x="4352925" y="513397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3F2F"/>
                </a:solidFill>
                <a:latin typeface="Arial"/>
                <a:ea typeface="Arial"/>
                <a:cs typeface="Arial"/>
              </a:defRPr>
            </a:defPPr>
          </a:lstStyle>
          <a:p xmlns:a="http://schemas.openxmlformats.org/drawingml/2006/main">
            <a:pPr>
              <a:defRPr sz="2025" b="1">
                <a:solidFill>
                  <a:srgbClr val="173F2F"/>
                </a:solidFill>
                <a:latin typeface="Arial"/>
                <a:ea typeface="Arial"/>
                <a:cs typeface="Arial"/>
              </a:defRPr>
            </a:pPr>
            <a:r>
              <a:rPr sz="2025" b="1">
                <a:solidFill>
                  <a:srgbClr val="173F2F"/>
                </a:solidFill>
                <a:latin typeface="Arial"/>
                <a:ea typeface="Arial"/>
                <a:cs typeface="Arial"/>
              </a:rPr>
              <a:t>B · App + balanza externa</a:t>
            </a:r>
          </a:p>
        </p:txBody>
      </p:sp>
      <p:sp>
        <p:nvSpPr>
          <p:cNvPr id="9" name="Foto desde el celular&#10;Peso neto ingresado&#10;Implementació">
            <a:extLst xmlns:a="http://schemas.openxmlformats.org/drawingml/2006/main">
              <a:ext uri="{FF2B5EF4-FFF2-40B4-BE49-F238E27FC236}">
                <a16:creationId xmlns:a16="http://schemas.microsoft.com/office/drawing/2014/main" id="{97AB9213-D15A-4B4F-9215-39161430884F}"/>
              </a:ext>
            </a:extLst>
          </p:cNvPr>
          <p:cNvSpPr>
            <a:spLocks xmlns:a="http://schemas.openxmlformats.org/drawingml/2006/main" noGrp="1"/>
          </p:cNvSpPr>
          <p:nvPr/>
        </p:nvSpPr>
        <p:spPr>
          <a:xfrm xmlns:a="http://schemas.openxmlformats.org/drawingml/2006/main">
            <a:off x="4352925" y="5610225"/>
            <a:ext cx="3476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Foto desde el celular</a:t>
            </a:r>
          </a:p>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Peso neto ingresado</a:t>
            </a:r>
          </a:p>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Implementación actual</a:t>
            </a:r>
          </a:p>
        </p:txBody>
      </p:sp>
      <p:sp>
        <p:nvSpPr>
          <p:cNvPr id="10" name="C · Caja integrada">
            <a:extLst xmlns:a="http://schemas.openxmlformats.org/drawingml/2006/main">
              <a:ext uri="{FF2B5EF4-FFF2-40B4-BE49-F238E27FC236}">
                <a16:creationId xmlns:a16="http://schemas.microsoft.com/office/drawing/2014/main" id="{54F6224B-CF39-4CF3-B260-4D7FABC48234}"/>
              </a:ext>
            </a:extLst>
          </p:cNvPr>
          <p:cNvSpPr>
            <a:spLocks xmlns:a="http://schemas.openxmlformats.org/drawingml/2006/main" noGrp="1"/>
          </p:cNvSpPr>
          <p:nvPr/>
        </p:nvSpPr>
        <p:spPr>
          <a:xfrm xmlns:a="http://schemas.openxmlformats.org/drawingml/2006/main">
            <a:off x="8134350" y="513397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73F2F"/>
                </a:solidFill>
                <a:latin typeface="Arial"/>
                <a:ea typeface="Arial"/>
                <a:cs typeface="Arial"/>
              </a:defRPr>
            </a:defPPr>
          </a:lstStyle>
          <a:p xmlns:a="http://schemas.openxmlformats.org/drawingml/2006/main">
            <a:pPr>
              <a:defRPr sz="2025" b="1">
                <a:solidFill>
                  <a:srgbClr val="173F2F"/>
                </a:solidFill>
                <a:latin typeface="Arial"/>
                <a:ea typeface="Arial"/>
                <a:cs typeface="Arial"/>
              </a:defRPr>
            </a:pPr>
            <a:r>
              <a:rPr sz="2025" b="1">
                <a:solidFill>
                  <a:srgbClr val="173F2F"/>
                </a:solidFill>
                <a:latin typeface="Arial"/>
                <a:ea typeface="Arial"/>
                <a:cs typeface="Arial"/>
              </a:rPr>
              <a:t>C · Caja integrada</a:t>
            </a:r>
          </a:p>
        </p:txBody>
      </p:sp>
      <p:sp>
        <p:nvSpPr>
          <p:cNvPr id="11" name="OV2640 + celda + HX711&#10;Captura y pesaje por Wi-Fi&#10;Const">
            <a:extLst xmlns:a="http://schemas.openxmlformats.org/drawingml/2006/main">
              <a:ext uri="{FF2B5EF4-FFF2-40B4-BE49-F238E27FC236}">
                <a16:creationId xmlns:a16="http://schemas.microsoft.com/office/drawing/2014/main" id="{B6DC797E-4CC2-4B8B-BBF3-43815D438540}"/>
              </a:ext>
            </a:extLst>
          </p:cNvPr>
          <p:cNvSpPr>
            <a:spLocks xmlns:a="http://schemas.openxmlformats.org/drawingml/2006/main" noGrp="1"/>
          </p:cNvSpPr>
          <p:nvPr/>
        </p:nvSpPr>
        <p:spPr>
          <a:xfrm xmlns:a="http://schemas.openxmlformats.org/drawingml/2006/main">
            <a:off x="8134350" y="5610225"/>
            <a:ext cx="3476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OV2640 + celda + HX711</a:t>
            </a:r>
          </a:p>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Captura y pesaje por Wi-Fi</a:t>
            </a:r>
          </a:p>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Construcción pendiente</a:t>
            </a:r>
          </a:p>
        </p:txBody>
      </p:sp>
    </p:spTree>
    <p:extLst>
      <p:ext uri="{BB962C8B-B14F-4D97-AF65-F5344CB8AC3E}">
        <p14:creationId xmlns:p14="http://schemas.microsoft.com/office/powerpoint/2010/main" val="1932308493"/>
      </p:ext>
    </p:extLst>
  </p:cSld>
</p:sld>
</file>

<file path=ppt/slides/slide28.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3" name="Matriz de Pugh: evaluación técnica y económica">
            <a:extLst xmlns:a="http://schemas.openxmlformats.org/drawingml/2006/main">
              <a:ext uri="{FF2B5EF4-FFF2-40B4-BE49-F238E27FC236}">
                <a16:creationId xmlns:a16="http://schemas.microsoft.com/office/drawing/2014/main" id="{409AAADC-FB5B-4D0D-90DD-6E58B15301AD}"/>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Matriz de Pugh: evaluación técnica y económica</a:t>
            </a:r>
          </a:p>
        </p:txBody>
      </p:sp>
      <p:sp>
        <p:nvSpPr>
          <p:cNvPr id="2" name="Referencia A. + = ventaja · 0 = comparable · − = desven">
            <a:extLst xmlns:a="http://schemas.openxmlformats.org/drawingml/2006/main">
              <a:ext uri="{FF2B5EF4-FFF2-40B4-BE49-F238E27FC236}">
                <a16:creationId xmlns:a16="http://schemas.microsoft.com/office/drawing/2014/main" id="{673036C4-4CFA-4F9C-AFE0-E3BDF7C9903D}"/>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Referencia A. + = ventaja · 0 = comparable · − = desventaja respecto a A</a:t>
            </a:r>
          </a:p>
        </p:txBody>
      </p:sp>
      <p:sp>
        <p:nvSpPr>
          <p:cNvPr id="3" name="Fuentes [24] · Referencias al final">
            <a:extLst xmlns:a="http://schemas.openxmlformats.org/drawingml/2006/main">
              <a:ext uri="{FF2B5EF4-FFF2-40B4-BE49-F238E27FC236}">
                <a16:creationId xmlns:a16="http://schemas.microsoft.com/office/drawing/2014/main" id="{7F47A2D1-DF32-4E9C-A837-37BF2E8BDE3A}"/>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[24] · Referencias al final</a:t>
            </a:r>
          </a:p>
        </p:txBody>
      </p:sp>
      <p:sp>
        <p:nvSpPr>
          <p:cNvPr id="4" name="28">
            <a:extLst xmlns:a="http://schemas.openxmlformats.org/drawingml/2006/main">
              <a:ext uri="{FF2B5EF4-FFF2-40B4-BE49-F238E27FC236}">
                <a16:creationId xmlns:a16="http://schemas.microsoft.com/office/drawing/2014/main" id="{A10CB271-82C6-46DE-B0A2-1B01A39D2D84}"/>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28</a:t>
            </a:r>
          </a:p>
        </p:txBody>
      </p:sp>
      <p:pic>
        <p:nvPicPr>
          <p:cNvPr id="5" name="">
            <a:extLst xmlns:a="http://schemas.openxmlformats.org/drawingml/2006/main">
              <a:ext uri="{FF2B5EF4-FFF2-40B4-BE49-F238E27FC236}">
                <a16:creationId xmlns:a16="http://schemas.microsoft.com/office/drawing/2014/main" id="{A1622516-8EFF-424D-B618-9A3FAD979FFD}"/>
              </a:ext>
            </a:extLst>
          </p:cNvPr>
          <p:cNvPicPr>
            <a:picLocks xmlns:a="http://schemas.openxmlformats.org/drawingml/2006/main" noChangeAspect="1"/>
          </p:cNvPicPr>
          <p:nvPr/>
        </p:nvPicPr>
        <p:blipFill>
          <a:blip xmlns:r="http://schemas.openxmlformats.org/officeDocument/2006/relationships" xmlns:a="http://schemas.openxmlformats.org/drawingml/2006/main" r:embed="R2fe147ed351c4145"/>
          <a:stretch xmlns:a="http://schemas.openxmlformats.org/drawingml/2006/main"/>
        </p:blipFill>
        <p:spPr>
          <a:xfrm xmlns:a="http://schemas.openxmlformats.org/drawingml/2006/main">
            <a:off x="7919244" y="1457325"/>
            <a:ext cx="411163" cy="704850"/>
          </a:xfrm>
          <a:prstGeom xmlns:a="http://schemas.openxmlformats.org/drawingml/2006/main" prst="rect">
            <a:avLst/>
          </a:prstGeom>
        </p:spPr>
      </p:pic>
      <p:sp>
        <p:nvSpPr>
          <p:cNvPr id="6" name="A · referencia">
            <a:extLst xmlns:a="http://schemas.openxmlformats.org/drawingml/2006/main">
              <a:ext uri="{FF2B5EF4-FFF2-40B4-BE49-F238E27FC236}">
                <a16:creationId xmlns:a16="http://schemas.microsoft.com/office/drawing/2014/main" id="{7BF7AEB2-C3AA-49AB-8945-FBD335F728BA}"/>
              </a:ext>
            </a:extLst>
          </p:cNvPr>
          <p:cNvSpPr>
            <a:spLocks xmlns:a="http://schemas.openxmlformats.org/drawingml/2006/main" noGrp="1"/>
          </p:cNvSpPr>
          <p:nvPr/>
        </p:nvSpPr>
        <p:spPr>
          <a:xfrm xmlns:a="http://schemas.openxmlformats.org/drawingml/2006/main">
            <a:off x="7467600" y="2190750"/>
            <a:ext cx="1333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A · referencia</a:t>
            </a:r>
          </a:p>
        </p:txBody>
      </p:sp>
      <p:pic>
        <p:nvPicPr>
          <p:cNvPr id="7" name="">
            <a:extLst xmlns:a="http://schemas.openxmlformats.org/drawingml/2006/main">
              <a:ext uri="{FF2B5EF4-FFF2-40B4-BE49-F238E27FC236}">
                <a16:creationId xmlns:a16="http://schemas.microsoft.com/office/drawing/2014/main" id="{E28ABDFA-92A9-45B7-9B05-7C44B15EC845}"/>
              </a:ext>
            </a:extLst>
          </p:cNvPr>
          <p:cNvPicPr>
            <a:picLocks xmlns:a="http://schemas.openxmlformats.org/drawingml/2006/main" noChangeAspect="1"/>
          </p:cNvPicPr>
          <p:nvPr/>
        </p:nvPicPr>
        <p:blipFill>
          <a:blip xmlns:r="http://schemas.openxmlformats.org/officeDocument/2006/relationships" xmlns:a="http://schemas.openxmlformats.org/drawingml/2006/main" r:embed="R03825c2db2954a25"/>
          <a:stretch xmlns:a="http://schemas.openxmlformats.org/drawingml/2006/main"/>
        </p:blipFill>
        <p:spPr>
          <a:xfrm xmlns:a="http://schemas.openxmlformats.org/drawingml/2006/main">
            <a:off x="9304103" y="1457325"/>
            <a:ext cx="422745" cy="704850"/>
          </a:xfrm>
          <a:prstGeom xmlns:a="http://schemas.openxmlformats.org/drawingml/2006/main" prst="rect">
            <a:avLst/>
          </a:prstGeom>
        </p:spPr>
      </p:pic>
      <p:sp>
        <p:nvSpPr>
          <p:cNvPr id="8" name="B">
            <a:extLst xmlns:a="http://schemas.openxmlformats.org/drawingml/2006/main">
              <a:ext uri="{FF2B5EF4-FFF2-40B4-BE49-F238E27FC236}">
                <a16:creationId xmlns:a16="http://schemas.microsoft.com/office/drawing/2014/main" id="{A074895E-5919-4678-8EED-38B1D21713A7}"/>
              </a:ext>
            </a:extLst>
          </p:cNvPr>
          <p:cNvSpPr>
            <a:spLocks xmlns:a="http://schemas.openxmlformats.org/drawingml/2006/main" noGrp="1"/>
          </p:cNvSpPr>
          <p:nvPr/>
        </p:nvSpPr>
        <p:spPr>
          <a:xfrm xmlns:a="http://schemas.openxmlformats.org/drawingml/2006/main">
            <a:off x="8858250" y="2190750"/>
            <a:ext cx="1333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B</a:t>
            </a:r>
          </a:p>
        </p:txBody>
      </p:sp>
      <p:pic>
        <p:nvPicPr>
          <p:cNvPr id="9" name="">
            <a:extLst xmlns:a="http://schemas.openxmlformats.org/drawingml/2006/main">
              <a:ext uri="{FF2B5EF4-FFF2-40B4-BE49-F238E27FC236}">
                <a16:creationId xmlns:a16="http://schemas.microsoft.com/office/drawing/2014/main" id="{DFD294E2-8830-4764-8E37-1CF2983A1F69}"/>
              </a:ext>
            </a:extLst>
          </p:cNvPr>
          <p:cNvPicPr>
            <a:picLocks xmlns:a="http://schemas.openxmlformats.org/drawingml/2006/main" noChangeAspect="1"/>
          </p:cNvPicPr>
          <p:nvPr/>
        </p:nvPicPr>
        <p:blipFill>
          <a:blip xmlns:r="http://schemas.openxmlformats.org/officeDocument/2006/relationships" xmlns:a="http://schemas.openxmlformats.org/drawingml/2006/main" r:embed="R15ef8dbbd45c4097"/>
          <a:stretch xmlns:a="http://schemas.openxmlformats.org/drawingml/2006/main"/>
        </p:blipFill>
        <p:spPr>
          <a:xfrm xmlns:a="http://schemas.openxmlformats.org/drawingml/2006/main">
            <a:off x="10568602" y="1457325"/>
            <a:ext cx="694095" cy="704850"/>
          </a:xfrm>
          <a:prstGeom xmlns:a="http://schemas.openxmlformats.org/drawingml/2006/main" prst="rect">
            <a:avLst/>
          </a:prstGeom>
        </p:spPr>
      </p:pic>
      <p:sp>
        <p:nvSpPr>
          <p:cNvPr id="10" name="C">
            <a:extLst xmlns:a="http://schemas.openxmlformats.org/drawingml/2006/main">
              <a:ext uri="{FF2B5EF4-FFF2-40B4-BE49-F238E27FC236}">
                <a16:creationId xmlns:a16="http://schemas.microsoft.com/office/drawing/2014/main" id="{CAD5F299-84CE-4676-A708-0B04D4D49A42}"/>
              </a:ext>
            </a:extLst>
          </p:cNvPr>
          <p:cNvSpPr>
            <a:spLocks xmlns:a="http://schemas.openxmlformats.org/drawingml/2006/main" noGrp="1"/>
          </p:cNvSpPr>
          <p:nvPr/>
        </p:nvSpPr>
        <p:spPr>
          <a:xfrm xmlns:a="http://schemas.openxmlformats.org/drawingml/2006/main">
            <a:off x="10258425" y="2190750"/>
            <a:ext cx="1333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3F2F"/>
                </a:solidFill>
                <a:latin typeface="Arial"/>
                <a:ea typeface="Arial"/>
                <a:cs typeface="Arial"/>
              </a:defRPr>
            </a:defPPr>
          </a:lstStyle>
          <a:p xmlns:a="http://schemas.openxmlformats.org/drawingml/2006/main">
            <a:pPr>
              <a:defRPr sz="1500" b="1">
                <a:solidFill>
                  <a:srgbClr val="173F2F"/>
                </a:solidFill>
                <a:latin typeface="Arial"/>
                <a:ea typeface="Arial"/>
                <a:cs typeface="Arial"/>
              </a:defRPr>
            </a:pPr>
            <a:r>
              <a:rPr sz="1500" b="1">
                <a:solidFill>
                  <a:srgbClr val="173F2F"/>
                </a:solidFill>
                <a:latin typeface="Arial"/>
                <a:ea typeface="Arial"/>
                <a:cs typeface="Arial"/>
              </a:rPr>
              <a:t>C</a:t>
            </a:r>
          </a:p>
        </p:txBody>
      </p:sp>
      <p:graphicFrame>
        <p:nvGraphicFramePr>
          <p:cNvPr id="11" name="">
            <a:extLst xmlns:a="http://schemas.openxmlformats.org/drawingml/2006/main">
              <a:ext uri="{FF2B5EF4-FFF2-40B4-BE49-F238E27FC236}">
                <a16:creationId xmlns:a16="http://schemas.microsoft.com/office/drawing/2014/main" id="{74D6765F-3C23-4878-A1F6-8E95D94299F5}"/>
              </a:ext>
            </a:extLst>
          </p:cNvPr>
          <p:cNvGraphicFramePr/>
          <p:nvPr/>
        </p:nvGraphicFramePr>
        <p:xfrm>
          <a:off xmlns:a="http://schemas.openxmlformats.org/drawingml/2006/main" x="571500" y="2562225"/>
          <a:ext xmlns:a="http://schemas.openxmlformats.org/drawingml/2006/main" cx="11049000" cy="3429000"/>
        </p:xfrm>
        <a:graphic xmlns:a="http://schemas.openxmlformats.org/drawingml/2006/main">
          <a:graphicData uri="http://schemas.openxmlformats.org/drawingml/2006/table">
            <a:tbl>
              <a:tblPr/>
              <a:tblGrid>
                <a:gridCol w="6858000"/>
                <a:gridCol w="1390650"/>
                <a:gridCol w="1400175"/>
                <a:gridCol w="1400175"/>
              </a:tblGrid>
              <a:tr h="311727">
                <a:tc>
                  <a:txBody>
                    <a:bodyPr/>
                    <a:lstStyle/>
                    <a:p>
                      <a:r>
                        <a:rPr sz="1650" b="1">
                          <a:solidFill>
                            <a:srgbClr val="FFFFFF"/>
                          </a:solidFill>
                          <a:latin typeface="Arial"/>
                          <a:ea typeface="Arial"/>
                          <a:cs typeface="Arial"/>
                        </a:rPr>
                        <a:t>Criterio</a:t>
                      </a:r>
                    </a:p>
                  </a:txBody>
                  <a:tcPr marL="114300" marR="114300" marT="19050" marB="19050" anchor="ctr">
                    <a:solidFill>
                      <a:srgbClr val="173F2F"/>
                    </a:solidFill>
                  </a:tcPr>
                </a:tc>
                <a:tc>
                  <a:txBody>
                    <a:bodyPr/>
                    <a:lstStyle/>
                    <a:p>
                      <a:r>
                        <a:rPr sz="1650" b="1">
                          <a:solidFill>
                            <a:srgbClr val="FFFFFF"/>
                          </a:solidFill>
                          <a:latin typeface="Arial"/>
                          <a:ea typeface="Arial"/>
                          <a:cs typeface="Arial"/>
                        </a:rPr>
                        <a:t>A</a:t>
                      </a:r>
                    </a:p>
                  </a:txBody>
                  <a:tcPr marL="114300" marR="114300" marT="19050" marB="19050" anchor="ctr">
                    <a:solidFill>
                      <a:srgbClr val="173F2F"/>
                    </a:solidFill>
                  </a:tcPr>
                </a:tc>
                <a:tc>
                  <a:txBody>
                    <a:bodyPr/>
                    <a:lstStyle/>
                    <a:p>
                      <a:r>
                        <a:rPr sz="1650" b="1">
                          <a:solidFill>
                            <a:srgbClr val="FFFFFF"/>
                          </a:solidFill>
                          <a:latin typeface="Arial"/>
                          <a:ea typeface="Arial"/>
                          <a:cs typeface="Arial"/>
                        </a:rPr>
                        <a:t>B</a:t>
                      </a:r>
                    </a:p>
                  </a:txBody>
                  <a:tcPr marL="114300" marR="114300" marT="19050" marB="19050" anchor="ctr">
                    <a:solidFill>
                      <a:srgbClr val="173F2F"/>
                    </a:solidFill>
                  </a:tcPr>
                </a:tc>
                <a:tc>
                  <a:txBody>
                    <a:bodyPr/>
                    <a:lstStyle/>
                    <a:p>
                      <a:r>
                        <a:rPr sz="1650" b="1">
                          <a:solidFill>
                            <a:srgbClr val="FFFFFF"/>
                          </a:solidFill>
                          <a:latin typeface="Arial"/>
                          <a:ea typeface="Arial"/>
                          <a:cs typeface="Arial"/>
                        </a:rPr>
                        <a:t>C</a:t>
                      </a:r>
                    </a:p>
                  </a:txBody>
                  <a:tcPr marL="114300" marR="114300" marT="19050" marB="19050" anchor="ctr">
                    <a:solidFill>
                      <a:srgbClr val="173F2F"/>
                    </a:solidFill>
                  </a:tcPr>
                </a:tc>
              </a:tr>
              <a:tr h="311727">
                <a:tc>
                  <a:txBody>
                    <a:bodyPr/>
                    <a:lstStyle/>
                    <a:p>
                      <a:r>
                        <a:rPr sz="1650">
                          <a:solidFill>
                            <a:srgbClr val="173F2F"/>
                          </a:solidFill>
                          <a:latin typeface="Arial"/>
                          <a:ea typeface="Arial"/>
                          <a:cs typeface="Arial"/>
                        </a:rPr>
                        <a:t>Masa total medida directamente</a:t>
                      </a:r>
                    </a:p>
                  </a:txBody>
                  <a:tcPr marL="114300" marR="114300" marT="19050" marB="19050" anchor="ctr">
                    <a:solidFill>
                      <a:srgbClr val="FFFFFF"/>
                    </a:solidFill>
                  </a:tcPr>
                </a:tc>
                <a:tc>
                  <a:txBody>
                    <a:bodyPr/>
                    <a:lstStyle/>
                    <a:p>
                      <a:r>
                        <a:rPr sz="1650" b="1">
                          <a:solidFill>
                            <a:srgbClr val="577161"/>
                          </a:solidFill>
                          <a:latin typeface="Arial"/>
                          <a:ea typeface="Arial"/>
                          <a:cs typeface="Arial"/>
                        </a:rPr>
                        <a:t>0</a:t>
                      </a:r>
                    </a:p>
                  </a:txBody>
                  <a:tcPr marL="114300" marR="114300" marT="19050" marB="19050" anchor="ctr">
                    <a:solidFill>
                      <a:srgbClr val="FFFFFF"/>
                    </a:solidFill>
                  </a:tcPr>
                </a:tc>
                <a:tc>
                  <a:txBody>
                    <a:bodyPr/>
                    <a:lstStyle/>
                    <a:p>
                      <a:r>
                        <a:rPr sz="1650" b="1">
                          <a:solidFill>
                            <a:srgbClr val="577161"/>
                          </a:solidFill>
                          <a:latin typeface="Arial"/>
                          <a:ea typeface="Arial"/>
                          <a:cs typeface="Arial"/>
                        </a:rPr>
                        <a:t>+</a:t>
                      </a:r>
                    </a:p>
                  </a:txBody>
                  <a:tcPr marL="114300" marR="114300" marT="19050" marB="19050" anchor="ctr">
                    <a:solidFill>
                      <a:srgbClr val="FFFFFF"/>
                    </a:solidFill>
                  </a:tcPr>
                </a:tc>
                <a:tc>
                  <a:txBody>
                    <a:bodyPr/>
                    <a:lstStyle/>
                    <a:p>
                      <a:r>
                        <a:rPr sz="1650" b="1">
                          <a:solidFill>
                            <a:srgbClr val="173F2F"/>
                          </a:solidFill>
                          <a:latin typeface="Arial"/>
                          <a:ea typeface="Arial"/>
                          <a:cs typeface="Arial"/>
                        </a:rPr>
                        <a:t>+</a:t>
                      </a:r>
                    </a:p>
                  </a:txBody>
                  <a:tcPr marL="114300" marR="114300" marT="19050" marB="19050" anchor="ctr">
                    <a:solidFill>
                      <a:srgbClr val="E7EDDE"/>
                    </a:solidFill>
                  </a:tcPr>
                </a:tc>
              </a:tr>
              <a:tr h="311727">
                <a:tc>
                  <a:txBody>
                    <a:bodyPr/>
                    <a:lstStyle/>
                    <a:p>
                      <a:r>
                        <a:rPr sz="1650">
                          <a:solidFill>
                            <a:srgbClr val="173F2F"/>
                          </a:solidFill>
                          <a:latin typeface="Arial"/>
                          <a:ea typeface="Arial"/>
                          <a:cs typeface="Arial"/>
                        </a:rPr>
                        <a:t>Iluminación controlada</a:t>
                      </a:r>
                    </a:p>
                  </a:txBody>
                  <a:tcPr marL="114300" marR="114300" marT="19050" marB="19050" anchor="ctr">
                    <a:solidFill>
                      <a:srgbClr val="EFF2E8"/>
                    </a:solidFill>
                  </a:tcPr>
                </a:tc>
                <a:tc>
                  <a:txBody>
                    <a:bodyPr/>
                    <a:lstStyle/>
                    <a:p>
                      <a:r>
                        <a:rPr sz="1650" b="1">
                          <a:solidFill>
                            <a:srgbClr val="577161"/>
                          </a:solidFill>
                          <a:latin typeface="Arial"/>
                          <a:ea typeface="Arial"/>
                          <a:cs typeface="Arial"/>
                        </a:rPr>
                        <a:t>0</a:t>
                      </a:r>
                    </a:p>
                  </a:txBody>
                  <a:tcPr marL="114300" marR="114300" marT="19050" marB="19050" anchor="ctr">
                    <a:solidFill>
                      <a:srgbClr val="EFF2E8"/>
                    </a:solidFill>
                  </a:tcPr>
                </a:tc>
                <a:tc>
                  <a:txBody>
                    <a:bodyPr/>
                    <a:lstStyle/>
                    <a:p>
                      <a:r>
                        <a:rPr sz="1650" b="1">
                          <a:solidFill>
                            <a:srgbClr val="577161"/>
                          </a:solidFill>
                          <a:latin typeface="Arial"/>
                          <a:ea typeface="Arial"/>
                          <a:cs typeface="Arial"/>
                        </a:rPr>
                        <a:t>0</a:t>
                      </a:r>
                    </a:p>
                  </a:txBody>
                  <a:tcPr marL="114300" marR="114300" marT="19050" marB="19050" anchor="ctr">
                    <a:solidFill>
                      <a:srgbClr val="EFF2E8"/>
                    </a:solidFill>
                  </a:tcPr>
                </a:tc>
                <a:tc>
                  <a:txBody>
                    <a:bodyPr/>
                    <a:lstStyle/>
                    <a:p>
                      <a:r>
                        <a:rPr sz="1650" b="1">
                          <a:solidFill>
                            <a:srgbClr val="173F2F"/>
                          </a:solidFill>
                          <a:latin typeface="Arial"/>
                          <a:ea typeface="Arial"/>
                          <a:cs typeface="Arial"/>
                        </a:rPr>
                        <a:t>+</a:t>
                      </a:r>
                    </a:p>
                  </a:txBody>
                  <a:tcPr marL="114300" marR="114300" marT="19050" marB="19050" anchor="ctr">
                    <a:solidFill>
                      <a:srgbClr val="E7EDDE"/>
                    </a:solidFill>
                  </a:tcPr>
                </a:tc>
              </a:tr>
              <a:tr h="311727">
                <a:tc>
                  <a:txBody>
                    <a:bodyPr/>
                    <a:lstStyle/>
                    <a:p>
                      <a:r>
                        <a:rPr sz="1650">
                          <a:solidFill>
                            <a:srgbClr val="173F2F"/>
                          </a:solidFill>
                          <a:latin typeface="Arial"/>
                          <a:ea typeface="Arial"/>
                          <a:cs typeface="Arial"/>
                        </a:rPr>
                        <a:t>Encuadre fijo de la cámara</a:t>
                      </a:r>
                    </a:p>
                  </a:txBody>
                  <a:tcPr marL="114300" marR="114300" marT="19050" marB="19050" anchor="ctr">
                    <a:solidFill>
                      <a:srgbClr val="FFFFFF"/>
                    </a:solidFill>
                  </a:tcPr>
                </a:tc>
                <a:tc>
                  <a:txBody>
                    <a:bodyPr/>
                    <a:lstStyle/>
                    <a:p>
                      <a:r>
                        <a:rPr sz="1650" b="1">
                          <a:solidFill>
                            <a:srgbClr val="577161"/>
                          </a:solidFill>
                          <a:latin typeface="Arial"/>
                          <a:ea typeface="Arial"/>
                          <a:cs typeface="Arial"/>
                        </a:rPr>
                        <a:t>0</a:t>
                      </a:r>
                    </a:p>
                  </a:txBody>
                  <a:tcPr marL="114300" marR="114300" marT="19050" marB="19050" anchor="ctr">
                    <a:solidFill>
                      <a:srgbClr val="FFFFFF"/>
                    </a:solidFill>
                  </a:tcPr>
                </a:tc>
                <a:tc>
                  <a:txBody>
                    <a:bodyPr/>
                    <a:lstStyle/>
                    <a:p>
                      <a:r>
                        <a:rPr sz="1650" b="1">
                          <a:solidFill>
                            <a:srgbClr val="577161"/>
                          </a:solidFill>
                          <a:latin typeface="Arial"/>
                          <a:ea typeface="Arial"/>
                          <a:cs typeface="Arial"/>
                        </a:rPr>
                        <a:t>0</a:t>
                      </a:r>
                    </a:p>
                  </a:txBody>
                  <a:tcPr marL="114300" marR="114300" marT="19050" marB="19050" anchor="ctr">
                    <a:solidFill>
                      <a:srgbClr val="FFFFFF"/>
                    </a:solidFill>
                  </a:tcPr>
                </a:tc>
                <a:tc>
                  <a:txBody>
                    <a:bodyPr/>
                    <a:lstStyle/>
                    <a:p>
                      <a:r>
                        <a:rPr sz="1650" b="1">
                          <a:solidFill>
                            <a:srgbClr val="173F2F"/>
                          </a:solidFill>
                          <a:latin typeface="Arial"/>
                          <a:ea typeface="Arial"/>
                          <a:cs typeface="Arial"/>
                        </a:rPr>
                        <a:t>+</a:t>
                      </a:r>
                    </a:p>
                  </a:txBody>
                  <a:tcPr marL="114300" marR="114300" marT="19050" marB="19050" anchor="ctr">
                    <a:solidFill>
                      <a:srgbClr val="E7EDDE"/>
                    </a:solidFill>
                  </a:tcPr>
                </a:tc>
              </a:tr>
              <a:tr h="311727">
                <a:tc>
                  <a:txBody>
                    <a:bodyPr/>
                    <a:lstStyle/>
                    <a:p>
                      <a:r>
                        <a:rPr sz="1650">
                          <a:solidFill>
                            <a:srgbClr val="173F2F"/>
                          </a:solidFill>
                          <a:latin typeface="Arial"/>
                          <a:ea typeface="Arial"/>
                          <a:cs typeface="Arial"/>
                        </a:rPr>
                        <a:t>Ingreso automático de masa y foto</a:t>
                      </a:r>
                    </a:p>
                  </a:txBody>
                  <a:tcPr marL="114300" marR="114300" marT="19050" marB="19050" anchor="ctr">
                    <a:solidFill>
                      <a:srgbClr val="EFF2E8"/>
                    </a:solidFill>
                  </a:tcPr>
                </a:tc>
                <a:tc>
                  <a:txBody>
                    <a:bodyPr/>
                    <a:lstStyle/>
                    <a:p>
                      <a:r>
                        <a:rPr sz="1650" b="1">
                          <a:solidFill>
                            <a:srgbClr val="577161"/>
                          </a:solidFill>
                          <a:latin typeface="Arial"/>
                          <a:ea typeface="Arial"/>
                          <a:cs typeface="Arial"/>
                        </a:rPr>
                        <a:t>0</a:t>
                      </a:r>
                    </a:p>
                  </a:txBody>
                  <a:tcPr marL="114300" marR="114300" marT="19050" marB="19050" anchor="ctr">
                    <a:solidFill>
                      <a:srgbClr val="EFF2E8"/>
                    </a:solidFill>
                  </a:tcPr>
                </a:tc>
                <a:tc>
                  <a:txBody>
                    <a:bodyPr/>
                    <a:lstStyle/>
                    <a:p>
                      <a:r>
                        <a:rPr sz="1650" b="1">
                          <a:solidFill>
                            <a:srgbClr val="577161"/>
                          </a:solidFill>
                          <a:latin typeface="Arial"/>
                          <a:ea typeface="Arial"/>
                          <a:cs typeface="Arial"/>
                        </a:rPr>
                        <a:t>0</a:t>
                      </a:r>
                    </a:p>
                  </a:txBody>
                  <a:tcPr marL="114300" marR="114300" marT="19050" marB="19050" anchor="ctr">
                    <a:solidFill>
                      <a:srgbClr val="EFF2E8"/>
                    </a:solidFill>
                  </a:tcPr>
                </a:tc>
                <a:tc>
                  <a:txBody>
                    <a:bodyPr/>
                    <a:lstStyle/>
                    <a:p>
                      <a:r>
                        <a:rPr sz="1650" b="1">
                          <a:solidFill>
                            <a:srgbClr val="173F2F"/>
                          </a:solidFill>
                          <a:latin typeface="Arial"/>
                          <a:ea typeface="Arial"/>
                          <a:cs typeface="Arial"/>
                        </a:rPr>
                        <a:t>+</a:t>
                      </a:r>
                    </a:p>
                  </a:txBody>
                  <a:tcPr marL="114300" marR="114300" marT="19050" marB="19050" anchor="ctr">
                    <a:solidFill>
                      <a:srgbClr val="E7EDDE"/>
                    </a:solidFill>
                  </a:tcPr>
                </a:tc>
              </a:tr>
              <a:tr h="311727">
                <a:tc>
                  <a:txBody>
                    <a:bodyPr/>
                    <a:lstStyle/>
                    <a:p>
                      <a:r>
                        <a:rPr sz="1650">
                          <a:solidFill>
                            <a:srgbClr val="173F2F"/>
                          </a:solidFill>
                          <a:latin typeface="Arial"/>
                          <a:ea typeface="Arial"/>
                          <a:cs typeface="Arial"/>
                        </a:rPr>
                        <a:t>Corrección y datos trazables</a:t>
                      </a:r>
                    </a:p>
                  </a:txBody>
                  <a:tcPr marL="114300" marR="114300" marT="19050" marB="19050" anchor="ctr">
                    <a:solidFill>
                      <a:srgbClr val="FFFFFF"/>
                    </a:solidFill>
                  </a:tcPr>
                </a:tc>
                <a:tc>
                  <a:txBody>
                    <a:bodyPr/>
                    <a:lstStyle/>
                    <a:p>
                      <a:r>
                        <a:rPr sz="1650" b="1">
                          <a:solidFill>
                            <a:srgbClr val="577161"/>
                          </a:solidFill>
                          <a:latin typeface="Arial"/>
                          <a:ea typeface="Arial"/>
                          <a:cs typeface="Arial"/>
                        </a:rPr>
                        <a:t>0</a:t>
                      </a:r>
                    </a:p>
                  </a:txBody>
                  <a:tcPr marL="114300" marR="114300" marT="19050" marB="19050" anchor="ctr">
                    <a:solidFill>
                      <a:srgbClr val="FFFFFF"/>
                    </a:solidFill>
                  </a:tcPr>
                </a:tc>
                <a:tc>
                  <a:txBody>
                    <a:bodyPr/>
                    <a:lstStyle/>
                    <a:p>
                      <a:r>
                        <a:rPr sz="1650" b="1">
                          <a:solidFill>
                            <a:srgbClr val="577161"/>
                          </a:solidFill>
                          <a:latin typeface="Arial"/>
                          <a:ea typeface="Arial"/>
                          <a:cs typeface="Arial"/>
                        </a:rPr>
                        <a:t>0</a:t>
                      </a:r>
                    </a:p>
                  </a:txBody>
                  <a:tcPr marL="114300" marR="114300" marT="19050" marB="19050" anchor="ctr">
                    <a:solidFill>
                      <a:srgbClr val="FFFFFF"/>
                    </a:solidFill>
                  </a:tcPr>
                </a:tc>
                <a:tc>
                  <a:txBody>
                    <a:bodyPr/>
                    <a:lstStyle/>
                    <a:p>
                      <a:r>
                        <a:rPr sz="1650" b="1">
                          <a:solidFill>
                            <a:srgbClr val="173F2F"/>
                          </a:solidFill>
                          <a:latin typeface="Arial"/>
                          <a:ea typeface="Arial"/>
                          <a:cs typeface="Arial"/>
                        </a:rPr>
                        <a:t>0</a:t>
                      </a:r>
                    </a:p>
                  </a:txBody>
                  <a:tcPr marL="114300" marR="114300" marT="19050" marB="19050" anchor="ctr">
                    <a:solidFill>
                      <a:srgbClr val="E7EDDE"/>
                    </a:solidFill>
                  </a:tcPr>
                </a:tc>
              </a:tr>
              <a:tr h="311727">
                <a:tc>
                  <a:txBody>
                    <a:bodyPr/>
                    <a:lstStyle/>
                    <a:p>
                      <a:r>
                        <a:rPr sz="1650">
                          <a:solidFill>
                            <a:srgbClr val="173F2F"/>
                          </a:solidFill>
                          <a:latin typeface="Arial"/>
                          <a:ea typeface="Arial"/>
                          <a:cs typeface="Arial"/>
                        </a:rPr>
                        <a:t>Recipiente lavable</a:t>
                      </a:r>
                    </a:p>
                  </a:txBody>
                  <a:tcPr marL="114300" marR="114300" marT="19050" marB="19050" anchor="ctr">
                    <a:solidFill>
                      <a:srgbClr val="EFF2E8"/>
                    </a:solidFill>
                  </a:tcPr>
                </a:tc>
                <a:tc>
                  <a:txBody>
                    <a:bodyPr/>
                    <a:lstStyle/>
                    <a:p>
                      <a:r>
                        <a:rPr sz="1650" b="1">
                          <a:solidFill>
                            <a:srgbClr val="577161"/>
                          </a:solidFill>
                          <a:latin typeface="Arial"/>
                          <a:ea typeface="Arial"/>
                          <a:cs typeface="Arial"/>
                        </a:rPr>
                        <a:t>0</a:t>
                      </a:r>
                    </a:p>
                  </a:txBody>
                  <a:tcPr marL="114300" marR="114300" marT="19050" marB="19050" anchor="ctr">
                    <a:solidFill>
                      <a:srgbClr val="EFF2E8"/>
                    </a:solidFill>
                  </a:tcPr>
                </a:tc>
                <a:tc>
                  <a:txBody>
                    <a:bodyPr/>
                    <a:lstStyle/>
                    <a:p>
                      <a:r>
                        <a:rPr sz="1650" b="1">
                          <a:solidFill>
                            <a:srgbClr val="577161"/>
                          </a:solidFill>
                          <a:latin typeface="Arial"/>
                          <a:ea typeface="Arial"/>
                          <a:cs typeface="Arial"/>
                        </a:rPr>
                        <a:t>0</a:t>
                      </a:r>
                    </a:p>
                  </a:txBody>
                  <a:tcPr marL="114300" marR="114300" marT="19050" marB="19050" anchor="ctr">
                    <a:solidFill>
                      <a:srgbClr val="EFF2E8"/>
                    </a:solidFill>
                  </a:tcPr>
                </a:tc>
                <a:tc>
                  <a:txBody>
                    <a:bodyPr/>
                    <a:lstStyle/>
                    <a:p>
                      <a:r>
                        <a:rPr sz="1650" b="1">
                          <a:solidFill>
                            <a:srgbClr val="173F2F"/>
                          </a:solidFill>
                          <a:latin typeface="Arial"/>
                          <a:ea typeface="Arial"/>
                          <a:cs typeface="Arial"/>
                        </a:rPr>
                        <a:t>0</a:t>
                      </a:r>
                    </a:p>
                  </a:txBody>
                  <a:tcPr marL="114300" marR="114300" marT="19050" marB="19050" anchor="ctr">
                    <a:solidFill>
                      <a:srgbClr val="E7EDDE"/>
                    </a:solidFill>
                  </a:tcPr>
                </a:tc>
              </a:tr>
              <a:tr h="311727">
                <a:tc>
                  <a:txBody>
                    <a:bodyPr/>
                    <a:lstStyle/>
                    <a:p>
                      <a:r>
                        <a:rPr sz="1650">
                          <a:solidFill>
                            <a:srgbClr val="173F2F"/>
                          </a:solidFill>
                          <a:latin typeface="Arial"/>
                          <a:ea typeface="Arial"/>
                          <a:cs typeface="Arial"/>
                        </a:rPr>
                        <a:t>Facilidad de transporte</a:t>
                      </a:r>
                    </a:p>
                  </a:txBody>
                  <a:tcPr marL="114300" marR="114300" marT="19050" marB="19050" anchor="ctr">
                    <a:solidFill>
                      <a:srgbClr val="FFFFFF"/>
                    </a:solidFill>
                  </a:tcPr>
                </a:tc>
                <a:tc>
                  <a:txBody>
                    <a:bodyPr/>
                    <a:lstStyle/>
                    <a:p>
                      <a:r>
                        <a:rPr sz="1650" b="1">
                          <a:solidFill>
                            <a:srgbClr val="577161"/>
                          </a:solidFill>
                          <a:latin typeface="Arial"/>
                          <a:ea typeface="Arial"/>
                          <a:cs typeface="Arial"/>
                        </a:rPr>
                        <a:t>0</a:t>
                      </a:r>
                    </a:p>
                  </a:txBody>
                  <a:tcPr marL="114300" marR="114300" marT="19050" marB="19050" anchor="ctr">
                    <a:solidFill>
                      <a:srgbClr val="FFFFFF"/>
                    </a:solidFill>
                  </a:tcPr>
                </a:tc>
                <a:tc>
                  <a:txBody>
                    <a:bodyPr/>
                    <a:lstStyle/>
                    <a:p>
                      <a:r>
                        <a:rPr sz="1650" b="1">
                          <a:solidFill>
                            <a:srgbClr val="577161"/>
                          </a:solidFill>
                          <a:latin typeface="Arial"/>
                          <a:ea typeface="Arial"/>
                          <a:cs typeface="Arial"/>
                        </a:rPr>
                        <a:t>−</a:t>
                      </a:r>
                    </a:p>
                  </a:txBody>
                  <a:tcPr marL="114300" marR="114300" marT="19050" marB="19050" anchor="ctr">
                    <a:solidFill>
                      <a:srgbClr val="FFFFFF"/>
                    </a:solidFill>
                  </a:tcPr>
                </a:tc>
                <a:tc>
                  <a:txBody>
                    <a:bodyPr/>
                    <a:lstStyle/>
                    <a:p>
                      <a:r>
                        <a:rPr sz="1650" b="1">
                          <a:solidFill>
                            <a:srgbClr val="173F2F"/>
                          </a:solidFill>
                          <a:latin typeface="Arial"/>
                          <a:ea typeface="Arial"/>
                          <a:cs typeface="Arial"/>
                        </a:rPr>
                        <a:t>−</a:t>
                      </a:r>
                    </a:p>
                  </a:txBody>
                  <a:tcPr marL="114300" marR="114300" marT="19050" marB="19050" anchor="ctr">
                    <a:solidFill>
                      <a:srgbClr val="E7EDDE"/>
                    </a:solidFill>
                  </a:tcPr>
                </a:tc>
              </a:tr>
              <a:tr h="311727">
                <a:tc>
                  <a:txBody>
                    <a:bodyPr/>
                    <a:lstStyle/>
                    <a:p>
                      <a:r>
                        <a:rPr sz="1650">
                          <a:solidFill>
                            <a:srgbClr val="173F2F"/>
                          </a:solidFill>
                          <a:latin typeface="Arial"/>
                          <a:ea typeface="Arial"/>
                          <a:cs typeface="Arial"/>
                        </a:rPr>
                        <a:t>Costo con recursos disponibles</a:t>
                      </a:r>
                    </a:p>
                  </a:txBody>
                  <a:tcPr marL="114300" marR="114300" marT="19050" marB="19050" anchor="ctr">
                    <a:solidFill>
                      <a:srgbClr val="EFF2E8"/>
                    </a:solidFill>
                  </a:tcPr>
                </a:tc>
                <a:tc>
                  <a:txBody>
                    <a:bodyPr/>
                    <a:lstStyle/>
                    <a:p>
                      <a:r>
                        <a:rPr sz="1650" b="1">
                          <a:solidFill>
                            <a:srgbClr val="577161"/>
                          </a:solidFill>
                          <a:latin typeface="Arial"/>
                          <a:ea typeface="Arial"/>
                          <a:cs typeface="Arial"/>
                        </a:rPr>
                        <a:t>0</a:t>
                      </a:r>
                    </a:p>
                  </a:txBody>
                  <a:tcPr marL="114300" marR="114300" marT="19050" marB="19050" anchor="ctr">
                    <a:solidFill>
                      <a:srgbClr val="EFF2E8"/>
                    </a:solidFill>
                  </a:tcPr>
                </a:tc>
                <a:tc>
                  <a:txBody>
                    <a:bodyPr/>
                    <a:lstStyle/>
                    <a:p>
                      <a:r>
                        <a:rPr sz="1650" b="1">
                          <a:solidFill>
                            <a:srgbClr val="577161"/>
                          </a:solidFill>
                          <a:latin typeface="Arial"/>
                          <a:ea typeface="Arial"/>
                          <a:cs typeface="Arial"/>
                        </a:rPr>
                        <a:t>0</a:t>
                      </a:r>
                    </a:p>
                  </a:txBody>
                  <a:tcPr marL="114300" marR="114300" marT="19050" marB="19050" anchor="ctr">
                    <a:solidFill>
                      <a:srgbClr val="EFF2E8"/>
                    </a:solidFill>
                  </a:tcPr>
                </a:tc>
                <a:tc>
                  <a:txBody>
                    <a:bodyPr/>
                    <a:lstStyle/>
                    <a:p>
                      <a:r>
                        <a:rPr sz="1650" b="1">
                          <a:solidFill>
                            <a:srgbClr val="173F2F"/>
                          </a:solidFill>
                          <a:latin typeface="Arial"/>
                          <a:ea typeface="Arial"/>
                          <a:cs typeface="Arial"/>
                        </a:rPr>
                        <a:t>−</a:t>
                      </a:r>
                    </a:p>
                  </a:txBody>
                  <a:tcPr marL="114300" marR="114300" marT="19050" marB="19050" anchor="ctr">
                    <a:solidFill>
                      <a:srgbClr val="E7EDDE"/>
                    </a:solidFill>
                  </a:tcPr>
                </a:tc>
              </a:tr>
              <a:tr h="311727">
                <a:tc>
                  <a:txBody>
                    <a:bodyPr/>
                    <a:lstStyle/>
                    <a:p>
                      <a:r>
                        <a:rPr sz="1650">
                          <a:solidFill>
                            <a:srgbClr val="173F2F"/>
                          </a:solidFill>
                          <a:latin typeface="Arial"/>
                          <a:ea typeface="Arial"/>
                          <a:cs typeface="Arial"/>
                        </a:rPr>
                        <a:t>Esfuerzo de fabricación</a:t>
                      </a:r>
                    </a:p>
                  </a:txBody>
                  <a:tcPr marL="114300" marR="114300" marT="19050" marB="19050" anchor="ctr">
                    <a:solidFill>
                      <a:srgbClr val="FFFFFF"/>
                    </a:solidFill>
                  </a:tcPr>
                </a:tc>
                <a:tc>
                  <a:txBody>
                    <a:bodyPr/>
                    <a:lstStyle/>
                    <a:p>
                      <a:r>
                        <a:rPr sz="1650" b="1">
                          <a:solidFill>
                            <a:srgbClr val="577161"/>
                          </a:solidFill>
                          <a:latin typeface="Arial"/>
                          <a:ea typeface="Arial"/>
                          <a:cs typeface="Arial"/>
                        </a:rPr>
                        <a:t>0</a:t>
                      </a:r>
                    </a:p>
                  </a:txBody>
                  <a:tcPr marL="114300" marR="114300" marT="19050" marB="19050" anchor="ctr">
                    <a:solidFill>
                      <a:srgbClr val="FFFFFF"/>
                    </a:solidFill>
                  </a:tcPr>
                </a:tc>
                <a:tc>
                  <a:txBody>
                    <a:bodyPr/>
                    <a:lstStyle/>
                    <a:p>
                      <a:r>
                        <a:rPr sz="1650" b="1">
                          <a:solidFill>
                            <a:srgbClr val="577161"/>
                          </a:solidFill>
                          <a:latin typeface="Arial"/>
                          <a:ea typeface="Arial"/>
                          <a:cs typeface="Arial"/>
                        </a:rPr>
                        <a:t>0</a:t>
                      </a:r>
                    </a:p>
                  </a:txBody>
                  <a:tcPr marL="114300" marR="114300" marT="19050" marB="19050" anchor="ctr">
                    <a:solidFill>
                      <a:srgbClr val="FFFFFF"/>
                    </a:solidFill>
                  </a:tcPr>
                </a:tc>
                <a:tc>
                  <a:txBody>
                    <a:bodyPr/>
                    <a:lstStyle/>
                    <a:p>
                      <a:r>
                        <a:rPr sz="1650" b="1">
                          <a:solidFill>
                            <a:srgbClr val="173F2F"/>
                          </a:solidFill>
                          <a:latin typeface="Arial"/>
                          <a:ea typeface="Arial"/>
                          <a:cs typeface="Arial"/>
                        </a:rPr>
                        <a:t>−</a:t>
                      </a:r>
                    </a:p>
                  </a:txBody>
                  <a:tcPr marL="114300" marR="114300" marT="19050" marB="19050" anchor="ctr">
                    <a:solidFill>
                      <a:srgbClr val="E7EDDE"/>
                    </a:solidFill>
                  </a:tcPr>
                </a:tc>
              </a:tr>
              <a:tr h="311727">
                <a:tc>
                  <a:txBody>
                    <a:bodyPr/>
                    <a:lstStyle/>
                    <a:p>
                      <a:r>
                        <a:rPr sz="1650">
                          <a:solidFill>
                            <a:srgbClr val="173F2F"/>
                          </a:solidFill>
                          <a:latin typeface="Arial"/>
                          <a:ea typeface="Arial"/>
                          <a:cs typeface="Arial"/>
                        </a:rPr>
                        <a:t>Total (+) − total (−)</a:t>
                      </a:r>
                    </a:p>
                  </a:txBody>
                  <a:tcPr marL="114300" marR="114300" marT="19050" marB="19050" anchor="ctr">
                    <a:solidFill>
                      <a:srgbClr val="EFF2E8"/>
                    </a:solidFill>
                  </a:tcPr>
                </a:tc>
                <a:tc>
                  <a:txBody>
                    <a:bodyPr/>
                    <a:lstStyle/>
                    <a:p>
                      <a:r>
                        <a:rPr sz="1650" b="1">
                          <a:solidFill>
                            <a:srgbClr val="577161"/>
                          </a:solidFill>
                          <a:latin typeface="Arial"/>
                          <a:ea typeface="Arial"/>
                          <a:cs typeface="Arial"/>
                        </a:rPr>
                        <a:t>0</a:t>
                      </a:r>
                    </a:p>
                  </a:txBody>
                  <a:tcPr marL="114300" marR="114300" marT="19050" marB="19050" anchor="ctr">
                    <a:solidFill>
                      <a:srgbClr val="EFF2E8"/>
                    </a:solidFill>
                  </a:tcPr>
                </a:tc>
                <a:tc>
                  <a:txBody>
                    <a:bodyPr/>
                    <a:lstStyle/>
                    <a:p>
                      <a:r>
                        <a:rPr sz="1650" b="1">
                          <a:solidFill>
                            <a:srgbClr val="577161"/>
                          </a:solidFill>
                          <a:latin typeface="Arial"/>
                          <a:ea typeface="Arial"/>
                          <a:cs typeface="Arial"/>
                        </a:rPr>
                        <a:t>0</a:t>
                      </a:r>
                    </a:p>
                  </a:txBody>
                  <a:tcPr marL="114300" marR="114300" marT="19050" marB="19050" anchor="ctr">
                    <a:solidFill>
                      <a:srgbClr val="EFF2E8"/>
                    </a:solidFill>
                  </a:tcPr>
                </a:tc>
                <a:tc>
                  <a:txBody>
                    <a:bodyPr/>
                    <a:lstStyle/>
                    <a:p>
                      <a:r>
                        <a:rPr sz="1650" b="1">
                          <a:solidFill>
                            <a:srgbClr val="173F2F"/>
                          </a:solidFill>
                          <a:latin typeface="Arial"/>
                          <a:ea typeface="Arial"/>
                          <a:cs typeface="Arial"/>
                        </a:rPr>
                        <a:t>+1</a:t>
                      </a:r>
                    </a:p>
                  </a:txBody>
                  <a:tcPr marL="114300" marR="114300" marT="19050" marB="19050" anchor="ctr">
                    <a:solidFill>
                      <a:srgbClr val="E7EDDE"/>
                    </a:solidFill>
                  </a:tcPr>
                </a:tc>
              </a:tr>
            </a:tbl>
          </a:graphicData>
        </a:graphic>
      </p:graphicFrame>
      <p:sp>
        <p:nvSpPr>
          <p:cNvPr id="12" name="C: 4 ventajas y 3 desventajas. Selección preliminar; re">
            <a:extLst xmlns:a="http://schemas.openxmlformats.org/drawingml/2006/main">
              <a:ext uri="{FF2B5EF4-FFF2-40B4-BE49-F238E27FC236}">
                <a16:creationId xmlns:a16="http://schemas.microsoft.com/office/drawing/2014/main" id="{A0B2BA09-EA00-4A96-B0F2-7531AE01397F}"/>
              </a:ext>
            </a:extLst>
          </p:cNvPr>
          <p:cNvSpPr>
            <a:spLocks xmlns:a="http://schemas.openxmlformats.org/drawingml/2006/main" noGrp="1"/>
          </p:cNvSpPr>
          <p:nvPr/>
        </p:nvSpPr>
        <p:spPr>
          <a:xfrm xmlns:a="http://schemas.openxmlformats.org/drawingml/2006/main">
            <a:off x="571500" y="609600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C: 4 ventajas y 3 desventajas. Selección preliminar; requiere construcción y validación.</a:t>
            </a:r>
          </a:p>
        </p:txBody>
      </p:sp>
    </p:spTree>
    <p:extLst>
      <p:ext uri="{BB962C8B-B14F-4D97-AF65-F5344CB8AC3E}">
        <p14:creationId xmlns:p14="http://schemas.microsoft.com/office/powerpoint/2010/main" val="792927934"/>
      </p:ext>
    </p:extLst>
  </p:cSld>
</p:sld>
</file>

<file path=ppt/slides/slide29.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24" name="Componentes definidos de la caja">
            <a:extLst xmlns:a="http://schemas.openxmlformats.org/drawingml/2006/main">
              <a:ext uri="{FF2B5EF4-FFF2-40B4-BE49-F238E27FC236}">
                <a16:creationId xmlns:a16="http://schemas.microsoft.com/office/drawing/2014/main" id="{E69E03BA-D844-4E60-AD6E-C0F3630607D3}"/>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Componentes definidos de la caja</a:t>
            </a:r>
          </a:p>
        </p:txBody>
      </p:sp>
      <p:sp>
        <p:nvSpPr>
          <p:cNvPr id="2" name="Diseño objetivo: hardware seleccionado, todavía sin mon">
            <a:extLst xmlns:a="http://schemas.openxmlformats.org/drawingml/2006/main">
              <a:ext uri="{FF2B5EF4-FFF2-40B4-BE49-F238E27FC236}">
                <a16:creationId xmlns:a16="http://schemas.microsoft.com/office/drawing/2014/main" id="{76764C68-4E2B-4D77-A9B0-69EA11F367A9}"/>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Diseño objetivo: hardware seleccionado, todavía sin montar ni integrar</a:t>
            </a:r>
          </a:p>
        </p:txBody>
      </p:sp>
      <p:sp>
        <p:nvSpPr>
          <p:cNvPr id="3" name="Fuentes [17], [18], [19], [20], [21], [24] · Referencia">
            <a:extLst xmlns:a="http://schemas.openxmlformats.org/drawingml/2006/main">
              <a:ext uri="{FF2B5EF4-FFF2-40B4-BE49-F238E27FC236}">
                <a16:creationId xmlns:a16="http://schemas.microsoft.com/office/drawing/2014/main" id="{D57382ED-AAF0-4077-ABFE-DCA774105D67}"/>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[17], [18], [19], [20], [21], [24] · Referencias al final</a:t>
            </a:r>
          </a:p>
        </p:txBody>
      </p:sp>
      <p:sp>
        <p:nvSpPr>
          <p:cNvPr id="4" name="29">
            <a:extLst xmlns:a="http://schemas.openxmlformats.org/drawingml/2006/main">
              <a:ext uri="{FF2B5EF4-FFF2-40B4-BE49-F238E27FC236}">
                <a16:creationId xmlns:a16="http://schemas.microsoft.com/office/drawing/2014/main" id="{6C8E4892-D8B0-4DC5-A504-E0C5CB69BD46}"/>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29</a:t>
            </a:r>
          </a:p>
        </p:txBody>
      </p:sp>
      <p:pic>
        <p:nvPicPr>
          <p:cNvPr id="5" name="">
            <a:extLst xmlns:a="http://schemas.openxmlformats.org/drawingml/2006/main">
              <a:ext uri="{FF2B5EF4-FFF2-40B4-BE49-F238E27FC236}">
                <a16:creationId xmlns:a16="http://schemas.microsoft.com/office/drawing/2014/main" id="{F0C5B171-4088-48F9-BDEE-A6DB80DCC93C}"/>
              </a:ext>
            </a:extLst>
          </p:cNvPr>
          <p:cNvPicPr>
            <a:picLocks xmlns:a="http://schemas.openxmlformats.org/drawingml/2006/main" noChangeAspect="1"/>
          </p:cNvPicPr>
          <p:nvPr/>
        </p:nvPicPr>
        <p:blipFill>
          <a:blip xmlns:r="http://schemas.openxmlformats.org/officeDocument/2006/relationships" xmlns:a="http://schemas.openxmlformats.org/drawingml/2006/main" r:embed="Re4aab61afb494663"/>
          <a:stretch xmlns:a="http://schemas.openxmlformats.org/drawingml/2006/main"/>
        </p:blipFill>
        <p:spPr>
          <a:xfrm xmlns:a="http://schemas.openxmlformats.org/drawingml/2006/main">
            <a:off x="1624013" y="1762125"/>
            <a:ext cx="1343025" cy="1343025"/>
          </a:xfrm>
          <a:prstGeom xmlns:a="http://schemas.openxmlformats.org/drawingml/2006/main" prst="rect">
            <a:avLst/>
          </a:prstGeom>
        </p:spPr>
      </p:pic>
      <p:sp>
        <p:nvSpPr>
          <p:cNvPr id="6" name="ESP32-CAM + OV2640">
            <a:extLst xmlns:a="http://schemas.openxmlformats.org/drawingml/2006/main">
              <a:ext uri="{FF2B5EF4-FFF2-40B4-BE49-F238E27FC236}">
                <a16:creationId xmlns:a16="http://schemas.microsoft.com/office/drawing/2014/main" id="{A423EEBD-9178-4160-ACA0-8C303A4A994E}"/>
              </a:ext>
            </a:extLst>
          </p:cNvPr>
          <p:cNvSpPr>
            <a:spLocks xmlns:a="http://schemas.openxmlformats.org/drawingml/2006/main" noGrp="1"/>
          </p:cNvSpPr>
          <p:nvPr/>
        </p:nvSpPr>
        <p:spPr>
          <a:xfrm xmlns:a="http://schemas.openxmlformats.org/drawingml/2006/main">
            <a:off x="571500" y="3143250"/>
            <a:ext cx="34956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ESP32-CAM + OV2640</a:t>
            </a:r>
          </a:p>
        </p:txBody>
      </p:sp>
      <p:sp>
        <p:nvSpPr>
          <p:cNvPr id="7" name="Captura de 2 MP y Wi-Fi 2,4 GHz">
            <a:extLst xmlns:a="http://schemas.openxmlformats.org/drawingml/2006/main">
              <a:ext uri="{FF2B5EF4-FFF2-40B4-BE49-F238E27FC236}">
                <a16:creationId xmlns:a16="http://schemas.microsoft.com/office/drawing/2014/main" id="{FE86D378-4E6D-45EE-BB32-1A88E9DAAF89}"/>
              </a:ext>
            </a:extLst>
          </p:cNvPr>
          <p:cNvSpPr>
            <a:spLocks xmlns:a="http://schemas.openxmlformats.org/drawingml/2006/main" noGrp="1"/>
          </p:cNvSpPr>
          <p:nvPr/>
        </p:nvSpPr>
        <p:spPr>
          <a:xfrm xmlns:a="http://schemas.openxmlformats.org/drawingml/2006/main">
            <a:off x="571500" y="3505200"/>
            <a:ext cx="34956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77161"/>
                </a:solidFill>
                <a:latin typeface="Arial"/>
                <a:ea typeface="Arial"/>
                <a:cs typeface="Arial"/>
              </a:defRPr>
            </a:defPPr>
          </a:lstStyle>
          <a:p xmlns:a="http://schemas.openxmlformats.org/drawingml/2006/main">
            <a:pPr>
              <a:defRPr sz="1500" b="0">
                <a:solidFill>
                  <a:srgbClr val="577161"/>
                </a:solidFill>
                <a:latin typeface="Arial"/>
                <a:ea typeface="Arial"/>
                <a:cs typeface="Arial"/>
              </a:defRPr>
            </a:pPr>
            <a:r>
              <a:rPr sz="1500" b="0">
                <a:solidFill>
                  <a:srgbClr val="577161"/>
                </a:solidFill>
                <a:latin typeface="Arial"/>
                <a:ea typeface="Arial"/>
                <a:cs typeface="Arial"/>
              </a:rPr>
              <a:t>Captura de 2 MP y Wi-Fi 2,4 GHz</a:t>
            </a:r>
          </a:p>
        </p:txBody>
      </p:sp>
      <p:pic>
        <p:nvPicPr>
          <p:cNvPr id="8" name="">
            <a:extLst xmlns:a="http://schemas.openxmlformats.org/drawingml/2006/main">
              <a:ext uri="{FF2B5EF4-FFF2-40B4-BE49-F238E27FC236}">
                <a16:creationId xmlns:a16="http://schemas.microsoft.com/office/drawing/2014/main" id="{FF6ABE19-8BC0-47C0-BB45-8AC63D8B8B54}"/>
              </a:ext>
            </a:extLst>
          </p:cNvPr>
          <p:cNvPicPr>
            <a:picLocks xmlns:a="http://schemas.openxmlformats.org/drawingml/2006/main" noChangeAspect="1"/>
          </p:cNvPicPr>
          <p:nvPr/>
        </p:nvPicPr>
        <p:blipFill>
          <a:blip xmlns:r="http://schemas.openxmlformats.org/officeDocument/2006/relationships" xmlns:a="http://schemas.openxmlformats.org/drawingml/2006/main" r:embed="R8e49607cdfaa4907"/>
          <a:stretch xmlns:a="http://schemas.openxmlformats.org/drawingml/2006/main"/>
        </p:blipFill>
        <p:spPr>
          <a:xfrm xmlns:a="http://schemas.openxmlformats.org/drawingml/2006/main">
            <a:off x="5405438" y="1762125"/>
            <a:ext cx="1343025" cy="1343025"/>
          </a:xfrm>
          <a:prstGeom xmlns:a="http://schemas.openxmlformats.org/drawingml/2006/main" prst="rect">
            <a:avLst/>
          </a:prstGeom>
        </p:spPr>
      </p:pic>
      <p:sp>
        <p:nvSpPr>
          <p:cNvPr id="9" name="Celda de carga de 5 kg">
            <a:extLst xmlns:a="http://schemas.openxmlformats.org/drawingml/2006/main">
              <a:ext uri="{FF2B5EF4-FFF2-40B4-BE49-F238E27FC236}">
                <a16:creationId xmlns:a16="http://schemas.microsoft.com/office/drawing/2014/main" id="{531727BD-EB12-4476-B7F3-486DCD1558CF}"/>
              </a:ext>
            </a:extLst>
          </p:cNvPr>
          <p:cNvSpPr>
            <a:spLocks xmlns:a="http://schemas.openxmlformats.org/drawingml/2006/main" noGrp="1"/>
          </p:cNvSpPr>
          <p:nvPr/>
        </p:nvSpPr>
        <p:spPr>
          <a:xfrm xmlns:a="http://schemas.openxmlformats.org/drawingml/2006/main">
            <a:off x="4352925" y="3143250"/>
            <a:ext cx="34956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Celda de carga de 5 kg</a:t>
            </a:r>
          </a:p>
        </p:txBody>
      </p:sp>
      <p:sp>
        <p:nvSpPr>
          <p:cNvPr id="10" name="Barra de aluminio, cuatro hilos">
            <a:extLst xmlns:a="http://schemas.openxmlformats.org/drawingml/2006/main">
              <a:ext uri="{FF2B5EF4-FFF2-40B4-BE49-F238E27FC236}">
                <a16:creationId xmlns:a16="http://schemas.microsoft.com/office/drawing/2014/main" id="{E97D1287-919D-4FFA-AB6F-39A8FCB1DFDA}"/>
              </a:ext>
            </a:extLst>
          </p:cNvPr>
          <p:cNvSpPr>
            <a:spLocks xmlns:a="http://schemas.openxmlformats.org/drawingml/2006/main" noGrp="1"/>
          </p:cNvSpPr>
          <p:nvPr/>
        </p:nvSpPr>
        <p:spPr>
          <a:xfrm xmlns:a="http://schemas.openxmlformats.org/drawingml/2006/main">
            <a:off x="4352925" y="3505200"/>
            <a:ext cx="34956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77161"/>
                </a:solidFill>
                <a:latin typeface="Arial"/>
                <a:ea typeface="Arial"/>
                <a:cs typeface="Arial"/>
              </a:defRPr>
            </a:defPPr>
          </a:lstStyle>
          <a:p xmlns:a="http://schemas.openxmlformats.org/drawingml/2006/main">
            <a:pPr>
              <a:defRPr sz="1500" b="0">
                <a:solidFill>
                  <a:srgbClr val="577161"/>
                </a:solidFill>
                <a:latin typeface="Arial"/>
                <a:ea typeface="Arial"/>
                <a:cs typeface="Arial"/>
              </a:defRPr>
            </a:pPr>
            <a:r>
              <a:rPr sz="1500" b="0">
                <a:solidFill>
                  <a:srgbClr val="577161"/>
                </a:solidFill>
                <a:latin typeface="Arial"/>
                <a:ea typeface="Arial"/>
                <a:cs typeface="Arial"/>
              </a:rPr>
              <a:t>Barra de aluminio, cuatro hilos</a:t>
            </a:r>
          </a:p>
        </p:txBody>
      </p:sp>
      <p:pic>
        <p:nvPicPr>
          <p:cNvPr id="11" name="">
            <a:extLst xmlns:a="http://schemas.openxmlformats.org/drawingml/2006/main">
              <a:ext uri="{FF2B5EF4-FFF2-40B4-BE49-F238E27FC236}">
                <a16:creationId xmlns:a16="http://schemas.microsoft.com/office/drawing/2014/main" id="{8654938B-95EF-4FA4-A4BB-09B3CC267A6E}"/>
              </a:ext>
            </a:extLst>
          </p:cNvPr>
          <p:cNvPicPr>
            <a:picLocks xmlns:a="http://schemas.openxmlformats.org/drawingml/2006/main" noChangeAspect="1"/>
          </p:cNvPicPr>
          <p:nvPr/>
        </p:nvPicPr>
        <p:blipFill>
          <a:blip xmlns:r="http://schemas.openxmlformats.org/officeDocument/2006/relationships" xmlns:a="http://schemas.openxmlformats.org/drawingml/2006/main" r:embed="R56b430e7f11f4dfa"/>
          <a:stretch xmlns:a="http://schemas.openxmlformats.org/drawingml/2006/main"/>
        </p:blipFill>
        <p:spPr>
          <a:xfrm xmlns:a="http://schemas.openxmlformats.org/drawingml/2006/main">
            <a:off x="9186863" y="1762125"/>
            <a:ext cx="1343025" cy="1343025"/>
          </a:xfrm>
          <a:prstGeom xmlns:a="http://schemas.openxmlformats.org/drawingml/2006/main" prst="rect">
            <a:avLst/>
          </a:prstGeom>
        </p:spPr>
      </p:pic>
      <p:sp>
        <p:nvSpPr>
          <p:cNvPr id="12" name="HX711">
            <a:extLst xmlns:a="http://schemas.openxmlformats.org/drawingml/2006/main">
              <a:ext uri="{FF2B5EF4-FFF2-40B4-BE49-F238E27FC236}">
                <a16:creationId xmlns:a16="http://schemas.microsoft.com/office/drawing/2014/main" id="{FA2DBDFC-1F91-4375-8E9C-9C761EC4F3D3}"/>
              </a:ext>
            </a:extLst>
          </p:cNvPr>
          <p:cNvSpPr>
            <a:spLocks xmlns:a="http://schemas.openxmlformats.org/drawingml/2006/main" noGrp="1"/>
          </p:cNvSpPr>
          <p:nvPr/>
        </p:nvSpPr>
        <p:spPr>
          <a:xfrm xmlns:a="http://schemas.openxmlformats.org/drawingml/2006/main">
            <a:off x="8134350" y="3143250"/>
            <a:ext cx="34956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HX711</a:t>
            </a:r>
          </a:p>
        </p:txBody>
      </p:sp>
      <p:sp>
        <p:nvSpPr>
          <p:cNvPr id="13" name="Convierte la señal de carga a digital">
            <a:extLst xmlns:a="http://schemas.openxmlformats.org/drawingml/2006/main">
              <a:ext uri="{FF2B5EF4-FFF2-40B4-BE49-F238E27FC236}">
                <a16:creationId xmlns:a16="http://schemas.microsoft.com/office/drawing/2014/main" id="{5BD9C1E3-207C-40ED-8BC0-D69F5A81D84E}"/>
              </a:ext>
            </a:extLst>
          </p:cNvPr>
          <p:cNvSpPr>
            <a:spLocks xmlns:a="http://schemas.openxmlformats.org/drawingml/2006/main" noGrp="1"/>
          </p:cNvSpPr>
          <p:nvPr/>
        </p:nvSpPr>
        <p:spPr>
          <a:xfrm xmlns:a="http://schemas.openxmlformats.org/drawingml/2006/main">
            <a:off x="8134350" y="3505200"/>
            <a:ext cx="34956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77161"/>
                </a:solidFill>
                <a:latin typeface="Arial"/>
                <a:ea typeface="Arial"/>
                <a:cs typeface="Arial"/>
              </a:defRPr>
            </a:defPPr>
          </a:lstStyle>
          <a:p xmlns:a="http://schemas.openxmlformats.org/drawingml/2006/main">
            <a:pPr>
              <a:defRPr sz="1500" b="0">
                <a:solidFill>
                  <a:srgbClr val="577161"/>
                </a:solidFill>
                <a:latin typeface="Arial"/>
                <a:ea typeface="Arial"/>
                <a:cs typeface="Arial"/>
              </a:defRPr>
            </a:pPr>
            <a:r>
              <a:rPr sz="1500" b="0">
                <a:solidFill>
                  <a:srgbClr val="577161"/>
                </a:solidFill>
                <a:latin typeface="Arial"/>
                <a:ea typeface="Arial"/>
                <a:cs typeface="Arial"/>
              </a:rPr>
              <a:t>Convierte la señal de carga a digital</a:t>
            </a:r>
          </a:p>
        </p:txBody>
      </p:sp>
      <p:pic>
        <p:nvPicPr>
          <p:cNvPr id="14" name="">
            <a:extLst xmlns:a="http://schemas.openxmlformats.org/drawingml/2006/main">
              <a:ext uri="{FF2B5EF4-FFF2-40B4-BE49-F238E27FC236}">
                <a16:creationId xmlns:a16="http://schemas.microsoft.com/office/drawing/2014/main" id="{13CBEB88-2569-45B0-8EA2-4A4654D60E04}"/>
              </a:ext>
            </a:extLst>
          </p:cNvPr>
          <p:cNvPicPr>
            <a:picLocks xmlns:a="http://schemas.openxmlformats.org/drawingml/2006/main" noChangeAspect="1"/>
          </p:cNvPicPr>
          <p:nvPr/>
        </p:nvPicPr>
        <p:blipFill>
          <a:blip xmlns:r="http://schemas.openxmlformats.org/officeDocument/2006/relationships" xmlns:a="http://schemas.openxmlformats.org/drawingml/2006/main" r:embed="Rf5564980beed4a1e"/>
          <a:stretch xmlns:a="http://schemas.openxmlformats.org/drawingml/2006/main"/>
        </p:blipFill>
        <p:spPr>
          <a:xfrm xmlns:a="http://schemas.openxmlformats.org/drawingml/2006/main">
            <a:off x="1314450" y="4071611"/>
            <a:ext cx="1962150" cy="1143653"/>
          </a:xfrm>
          <a:prstGeom xmlns:a="http://schemas.openxmlformats.org/drawingml/2006/main" prst="rect">
            <a:avLst/>
          </a:prstGeom>
        </p:spPr>
      </p:pic>
      <p:sp>
        <p:nvSpPr>
          <p:cNvPr id="15" name="KW11-3Z-3F">
            <a:extLst xmlns:a="http://schemas.openxmlformats.org/drawingml/2006/main">
              <a:ext uri="{FF2B5EF4-FFF2-40B4-BE49-F238E27FC236}">
                <a16:creationId xmlns:a16="http://schemas.microsoft.com/office/drawing/2014/main" id="{05D9FB93-DE48-4E69-A618-01AEC1D41E44}"/>
              </a:ext>
            </a:extLst>
          </p:cNvPr>
          <p:cNvSpPr>
            <a:spLocks xmlns:a="http://schemas.openxmlformats.org/drawingml/2006/main" noGrp="1"/>
          </p:cNvSpPr>
          <p:nvPr/>
        </p:nvSpPr>
        <p:spPr>
          <a:xfrm xmlns:a="http://schemas.openxmlformats.org/drawingml/2006/main">
            <a:off x="571500" y="5353050"/>
            <a:ext cx="34956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KW11-3Z-3F</a:t>
            </a:r>
          </a:p>
        </p:txBody>
      </p:sp>
      <p:sp>
        <p:nvSpPr>
          <p:cNvPr id="16" name="Puerta abierta/cerrada">
            <a:extLst xmlns:a="http://schemas.openxmlformats.org/drawingml/2006/main">
              <a:ext uri="{FF2B5EF4-FFF2-40B4-BE49-F238E27FC236}">
                <a16:creationId xmlns:a16="http://schemas.microsoft.com/office/drawing/2014/main" id="{86FDCE3D-0D51-4D95-8A72-40F7D028C788}"/>
              </a:ext>
            </a:extLst>
          </p:cNvPr>
          <p:cNvSpPr>
            <a:spLocks xmlns:a="http://schemas.openxmlformats.org/drawingml/2006/main" noGrp="1"/>
          </p:cNvSpPr>
          <p:nvPr/>
        </p:nvSpPr>
        <p:spPr>
          <a:xfrm xmlns:a="http://schemas.openxmlformats.org/drawingml/2006/main">
            <a:off x="571500" y="5715000"/>
            <a:ext cx="34956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77161"/>
                </a:solidFill>
                <a:latin typeface="Arial"/>
                <a:ea typeface="Arial"/>
                <a:cs typeface="Arial"/>
              </a:defRPr>
            </a:defPPr>
          </a:lstStyle>
          <a:p xmlns:a="http://schemas.openxmlformats.org/drawingml/2006/main">
            <a:pPr>
              <a:defRPr sz="1500" b="0">
                <a:solidFill>
                  <a:srgbClr val="577161"/>
                </a:solidFill>
                <a:latin typeface="Arial"/>
                <a:ea typeface="Arial"/>
                <a:cs typeface="Arial"/>
              </a:defRPr>
            </a:pPr>
            <a:r>
              <a:rPr sz="1500" b="0">
                <a:solidFill>
                  <a:srgbClr val="577161"/>
                </a:solidFill>
                <a:latin typeface="Arial"/>
                <a:ea typeface="Arial"/>
                <a:cs typeface="Arial"/>
              </a:rPr>
              <a:t>Puerta abierta/cerrada</a:t>
            </a:r>
          </a:p>
        </p:txBody>
      </p:sp>
      <p:pic>
        <p:nvPicPr>
          <p:cNvPr id="17" name="">
            <a:extLst xmlns:a="http://schemas.openxmlformats.org/drawingml/2006/main">
              <a:ext uri="{FF2B5EF4-FFF2-40B4-BE49-F238E27FC236}">
                <a16:creationId xmlns:a16="http://schemas.microsoft.com/office/drawing/2014/main" id="{F2CDCBC9-EAA7-4A34-B3EA-AC96446A69EA}"/>
              </a:ext>
            </a:extLst>
          </p:cNvPr>
          <p:cNvPicPr>
            <a:picLocks xmlns:a="http://schemas.openxmlformats.org/drawingml/2006/main" noChangeAspect="1"/>
          </p:cNvPicPr>
          <p:nvPr/>
        </p:nvPicPr>
        <p:blipFill>
          <a:blip xmlns:r="http://schemas.openxmlformats.org/officeDocument/2006/relationships" xmlns:a="http://schemas.openxmlformats.org/drawingml/2006/main" r:embed="R2ee250ac930643e3"/>
          <a:stretch xmlns:a="http://schemas.openxmlformats.org/drawingml/2006/main"/>
        </p:blipFill>
        <p:spPr>
          <a:xfrm xmlns:a="http://schemas.openxmlformats.org/drawingml/2006/main">
            <a:off x="5405438" y="3971925"/>
            <a:ext cx="1343025" cy="1343025"/>
          </a:xfrm>
          <a:prstGeom xmlns:a="http://schemas.openxmlformats.org/drawingml/2006/main" prst="rect">
            <a:avLst/>
          </a:prstGeom>
        </p:spPr>
      </p:pic>
      <p:sp>
        <p:nvSpPr>
          <p:cNvPr id="18" name="WODE WA-12-5">
            <a:extLst xmlns:a="http://schemas.openxmlformats.org/drawingml/2006/main">
              <a:ext uri="{FF2B5EF4-FFF2-40B4-BE49-F238E27FC236}">
                <a16:creationId xmlns:a16="http://schemas.microsoft.com/office/drawing/2014/main" id="{42EC0C0E-372D-479D-B429-F7D361523B8C}"/>
              </a:ext>
            </a:extLst>
          </p:cNvPr>
          <p:cNvSpPr>
            <a:spLocks xmlns:a="http://schemas.openxmlformats.org/drawingml/2006/main" noGrp="1"/>
          </p:cNvSpPr>
          <p:nvPr/>
        </p:nvSpPr>
        <p:spPr>
          <a:xfrm xmlns:a="http://schemas.openxmlformats.org/drawingml/2006/main">
            <a:off x="4352925" y="5353050"/>
            <a:ext cx="34956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WODE WA-12-5</a:t>
            </a:r>
          </a:p>
        </p:txBody>
      </p:sp>
      <p:sp>
        <p:nvSpPr>
          <p:cNvPr id="19" name="5 V DC / 2,4 A">
            <a:extLst xmlns:a="http://schemas.openxmlformats.org/drawingml/2006/main">
              <a:ext uri="{FF2B5EF4-FFF2-40B4-BE49-F238E27FC236}">
                <a16:creationId xmlns:a16="http://schemas.microsoft.com/office/drawing/2014/main" id="{F75A9335-DDCE-4F09-87C6-76C10DB29907}"/>
              </a:ext>
            </a:extLst>
          </p:cNvPr>
          <p:cNvSpPr>
            <a:spLocks xmlns:a="http://schemas.openxmlformats.org/drawingml/2006/main" noGrp="1"/>
          </p:cNvSpPr>
          <p:nvPr/>
        </p:nvSpPr>
        <p:spPr>
          <a:xfrm xmlns:a="http://schemas.openxmlformats.org/drawingml/2006/main">
            <a:off x="4352925" y="5715000"/>
            <a:ext cx="34956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77161"/>
                </a:solidFill>
                <a:latin typeface="Arial"/>
                <a:ea typeface="Arial"/>
                <a:cs typeface="Arial"/>
              </a:defRPr>
            </a:defPPr>
          </a:lstStyle>
          <a:p xmlns:a="http://schemas.openxmlformats.org/drawingml/2006/main">
            <a:pPr>
              <a:defRPr sz="1500" b="0">
                <a:solidFill>
                  <a:srgbClr val="577161"/>
                </a:solidFill>
                <a:latin typeface="Arial"/>
                <a:ea typeface="Arial"/>
                <a:cs typeface="Arial"/>
              </a:defRPr>
            </a:pPr>
            <a:r>
              <a:rPr sz="1500" b="0">
                <a:solidFill>
                  <a:srgbClr val="577161"/>
                </a:solidFill>
                <a:latin typeface="Arial"/>
                <a:ea typeface="Arial"/>
                <a:cs typeface="Arial"/>
              </a:rPr>
              <a:t>5 V DC / 2,4 A</a:t>
            </a:r>
          </a:p>
        </p:txBody>
      </p:sp>
      <p:pic>
        <p:nvPicPr>
          <p:cNvPr id="20" name="">
            <a:extLst xmlns:a="http://schemas.openxmlformats.org/drawingml/2006/main">
              <a:ext uri="{FF2B5EF4-FFF2-40B4-BE49-F238E27FC236}">
                <a16:creationId xmlns:a16="http://schemas.microsoft.com/office/drawing/2014/main" id="{69C6EB7D-40CB-4A2B-8C24-99FF7BC2A8BF}"/>
              </a:ext>
            </a:extLst>
          </p:cNvPr>
          <p:cNvPicPr>
            <a:picLocks xmlns:a="http://schemas.openxmlformats.org/drawingml/2006/main" noChangeAspect="1"/>
          </p:cNvPicPr>
          <p:nvPr/>
        </p:nvPicPr>
        <p:blipFill>
          <a:blip xmlns:r="http://schemas.openxmlformats.org/officeDocument/2006/relationships" xmlns:a="http://schemas.openxmlformats.org/drawingml/2006/main" r:embed="R017bc247e8df40d1"/>
          <a:stretch xmlns:a="http://schemas.openxmlformats.org/drawingml/2006/main"/>
        </p:blipFill>
        <p:spPr>
          <a:xfrm xmlns:a="http://schemas.openxmlformats.org/drawingml/2006/main">
            <a:off x="9197109" y="3971925"/>
            <a:ext cx="1322533" cy="1343025"/>
          </a:xfrm>
          <a:prstGeom xmlns:a="http://schemas.openxmlformats.org/drawingml/2006/main" prst="rect">
            <a:avLst/>
          </a:prstGeom>
        </p:spPr>
      </p:pic>
      <p:sp>
        <p:nvSpPr>
          <p:cNvPr id="21" name="MDF + piezas PLA+">
            <a:extLst xmlns:a="http://schemas.openxmlformats.org/drawingml/2006/main">
              <a:ext uri="{FF2B5EF4-FFF2-40B4-BE49-F238E27FC236}">
                <a16:creationId xmlns:a16="http://schemas.microsoft.com/office/drawing/2014/main" id="{6CE66F04-08FA-4391-BE6C-16D1199FC451}"/>
              </a:ext>
            </a:extLst>
          </p:cNvPr>
          <p:cNvSpPr>
            <a:spLocks xmlns:a="http://schemas.openxmlformats.org/drawingml/2006/main" noGrp="1"/>
          </p:cNvSpPr>
          <p:nvPr/>
        </p:nvSpPr>
        <p:spPr>
          <a:xfrm xmlns:a="http://schemas.openxmlformats.org/drawingml/2006/main">
            <a:off x="8134350" y="5353050"/>
            <a:ext cx="34956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MDF + piezas PLA+</a:t>
            </a:r>
          </a:p>
        </p:txBody>
      </p:sp>
      <p:sp>
        <p:nvSpPr>
          <p:cNvPr id="22" name="Plataforma flotante y soporte fijo">
            <a:extLst xmlns:a="http://schemas.openxmlformats.org/drawingml/2006/main">
              <a:ext uri="{FF2B5EF4-FFF2-40B4-BE49-F238E27FC236}">
                <a16:creationId xmlns:a16="http://schemas.microsoft.com/office/drawing/2014/main" id="{2CACB4A2-7C3B-4171-988E-B90F927AEF0E}"/>
              </a:ext>
            </a:extLst>
          </p:cNvPr>
          <p:cNvSpPr>
            <a:spLocks xmlns:a="http://schemas.openxmlformats.org/drawingml/2006/main" noGrp="1"/>
          </p:cNvSpPr>
          <p:nvPr/>
        </p:nvSpPr>
        <p:spPr>
          <a:xfrm xmlns:a="http://schemas.openxmlformats.org/drawingml/2006/main">
            <a:off x="8134350" y="5715000"/>
            <a:ext cx="34956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77161"/>
                </a:solidFill>
                <a:latin typeface="Arial"/>
                <a:ea typeface="Arial"/>
                <a:cs typeface="Arial"/>
              </a:defRPr>
            </a:defPPr>
          </a:lstStyle>
          <a:p xmlns:a="http://schemas.openxmlformats.org/drawingml/2006/main">
            <a:pPr>
              <a:defRPr sz="1500" b="0">
                <a:solidFill>
                  <a:srgbClr val="577161"/>
                </a:solidFill>
                <a:latin typeface="Arial"/>
                <a:ea typeface="Arial"/>
                <a:cs typeface="Arial"/>
              </a:defRPr>
            </a:pPr>
            <a:r>
              <a:rPr sz="1500" b="0">
                <a:solidFill>
                  <a:srgbClr val="577161"/>
                </a:solidFill>
                <a:latin typeface="Arial"/>
                <a:ea typeface="Arial"/>
                <a:cs typeface="Arial"/>
              </a:rPr>
              <a:t>Plataforma flotante y soporte fijo</a:t>
            </a:r>
          </a:p>
        </p:txBody>
      </p:sp>
      <p:sp>
        <p:nvSpPr>
          <p:cNvPr id="23" name="12 LED blancos + 100 Ω por LED · pantalla y controles e">
            <a:extLst xmlns:a="http://schemas.openxmlformats.org/drawingml/2006/main">
              <a:ext uri="{FF2B5EF4-FFF2-40B4-BE49-F238E27FC236}">
                <a16:creationId xmlns:a16="http://schemas.microsoft.com/office/drawing/2014/main" id="{B5F57932-5EF3-4041-8C84-CDB7174107C9}"/>
              </a:ext>
            </a:extLst>
          </p:cNvPr>
          <p:cNvSpPr>
            <a:spLocks xmlns:a="http://schemas.openxmlformats.org/drawingml/2006/main" noGrp="1"/>
          </p:cNvSpPr>
          <p:nvPr/>
        </p:nvSpPr>
        <p:spPr>
          <a:xfrm xmlns:a="http://schemas.openxmlformats.org/drawingml/2006/main">
            <a:off x="571500" y="6181725"/>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12 LED blancos + 100 Ω por LED · pantalla y controles en el celular · reserva: S/ 410</a:t>
            </a:r>
          </a:p>
        </p:txBody>
      </p:sp>
    </p:spTree>
    <p:extLst>
      <p:ext uri="{BB962C8B-B14F-4D97-AF65-F5344CB8AC3E}">
        <p14:creationId xmlns:p14="http://schemas.microsoft.com/office/powerpoint/2010/main" val="1802412141"/>
      </p:ext>
    </p:extLst>
  </p:cSld>
</p:sld>
</file>

<file path=ppt/slides/slide30.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20" name="Energía eléctrica del prototipo">
            <a:extLst xmlns:a="http://schemas.openxmlformats.org/drawingml/2006/main">
              <a:ext uri="{FF2B5EF4-FFF2-40B4-BE49-F238E27FC236}">
                <a16:creationId xmlns:a16="http://schemas.microsoft.com/office/drawing/2014/main" id="{EC94C9DB-1F66-48CC-9047-E8DDA9291D61}"/>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Energía eléctrica del prototipo</a:t>
            </a:r>
          </a:p>
        </p:txBody>
      </p:sp>
      <p:sp>
        <p:nvSpPr>
          <p:cNvPr id="2" name="La fuente alimenta el equipo. Las kcal se calculan para">
            <a:extLst xmlns:a="http://schemas.openxmlformats.org/drawingml/2006/main">
              <a:ext uri="{FF2B5EF4-FFF2-40B4-BE49-F238E27FC236}">
                <a16:creationId xmlns:a16="http://schemas.microsoft.com/office/drawing/2014/main" id="{F1B6F839-F5BC-4D8D-A39C-A21903D9A2C0}"/>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La fuente alimenta el equipo. Las kcal se calculan para el alimento.</a:t>
            </a:r>
          </a:p>
        </p:txBody>
      </p:sp>
      <p:sp>
        <p:nvSpPr>
          <p:cNvPr id="3" name="Fuentes [17], [19], [20], [22], [24] · Referencias al f">
            <a:extLst xmlns:a="http://schemas.openxmlformats.org/drawingml/2006/main">
              <a:ext uri="{FF2B5EF4-FFF2-40B4-BE49-F238E27FC236}">
                <a16:creationId xmlns:a16="http://schemas.microsoft.com/office/drawing/2014/main" id="{DBAC0F3F-9618-40F6-980D-B0C0C2CD637B}"/>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[17], [19], [20], [22], [24] · Referencias al final</a:t>
            </a:r>
          </a:p>
        </p:txBody>
      </p:sp>
      <p:sp>
        <p:nvSpPr>
          <p:cNvPr id="4" name="30">
            <a:extLst xmlns:a="http://schemas.openxmlformats.org/drawingml/2006/main">
              <a:ext uri="{FF2B5EF4-FFF2-40B4-BE49-F238E27FC236}">
                <a16:creationId xmlns:a16="http://schemas.microsoft.com/office/drawing/2014/main" id="{F7CA1EF0-5974-4560-B08E-776ADC226E8E}"/>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30</a:t>
            </a:r>
          </a:p>
        </p:txBody>
      </p:sp>
      <p:pic>
        <p:nvPicPr>
          <p:cNvPr id="5" name="">
            <a:extLst xmlns:a="http://schemas.openxmlformats.org/drawingml/2006/main">
              <a:ext uri="{FF2B5EF4-FFF2-40B4-BE49-F238E27FC236}">
                <a16:creationId xmlns:a16="http://schemas.microsoft.com/office/drawing/2014/main" id="{DFAD0870-4F5E-4F2C-B6BB-CA558765311C}"/>
              </a:ext>
            </a:extLst>
          </p:cNvPr>
          <p:cNvPicPr>
            <a:picLocks xmlns:a="http://schemas.openxmlformats.org/drawingml/2006/main" noChangeAspect="1"/>
          </p:cNvPicPr>
          <p:nvPr/>
        </p:nvPicPr>
        <p:blipFill>
          <a:blip xmlns:r="http://schemas.openxmlformats.org/officeDocument/2006/relationships" xmlns:a="http://schemas.openxmlformats.org/drawingml/2006/main" r:embed="Rcedf6ecb4c77431a"/>
          <a:stretch xmlns:a="http://schemas.openxmlformats.org/drawingml/2006/main"/>
        </p:blipFill>
        <p:spPr>
          <a:xfrm xmlns:a="http://schemas.openxmlformats.org/drawingml/2006/main">
            <a:off x="757238" y="1809750"/>
            <a:ext cx="1952625" cy="19526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0DA4FBD-17B1-41F7-BF1F-0DB437E234FC}"/>
              </a:ext>
            </a:extLst>
          </p:cNvPr>
          <p:cNvSpPr>
            <a:spLocks xmlns:a="http://schemas.openxmlformats.org/drawingml/2006/main" noGrp="1"/>
          </p:cNvSpPr>
          <p:nvPr/>
        </p:nvSpPr>
        <p:spPr>
          <a:xfrm xmlns:a="http://schemas.openxmlformats.org/drawingml/2006/main">
            <a:off x="3209925" y="2028825"/>
            <a:ext cx="2019300" cy="942975"/>
          </a:xfrm>
          <a:prstGeom xmlns:a="http://schemas.openxmlformats.org/drawingml/2006/main" prst="rect">
            <a:avLst/>
          </a:prstGeom>
          <a:solidFill xmlns:a="http://schemas.openxmlformats.org/drawingml/2006/main">
            <a:srgbClr val="E7EDDE"/>
          </a:solidFill>
          <a:ln xmlns:a="http://schemas.openxmlformats.org/drawingml/2006/main" w="9525">
            <a:solidFill>
              <a:srgbClr val="CED7C8"/>
            </a:solidFill>
          </a:ln>
        </p:spPr>
        <p:txBody>
          <a:bodyPr xmlns:a="http://schemas.openxmlformats.org/drawingml/2006/main" lIns="133350" tIns="133350" rIns="133350" bIns="13335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WODE</a:t>
            </a:r>
          </a:p>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5 V · 2,4 A</a:t>
            </a:r>
          </a:p>
        </p:txBody>
      </p:sp>
      <p:sp>
        <p:nvSpPr>
          <p:cNvPr id="7" name="">
            <a:extLst xmlns:a="http://schemas.openxmlformats.org/drawingml/2006/main">
              <a:ext uri="{FF2B5EF4-FFF2-40B4-BE49-F238E27FC236}">
                <a16:creationId xmlns:a16="http://schemas.microsoft.com/office/drawing/2014/main" id="{2A8BAC36-0142-4C94-B93A-174228C7A2A8}"/>
              </a:ext>
            </a:extLst>
          </p:cNvPr>
          <p:cNvSpPr>
            <a:spLocks xmlns:a="http://schemas.openxmlformats.org/drawingml/2006/main" noGrp="1"/>
          </p:cNvSpPr>
          <p:nvPr/>
        </p:nvSpPr>
        <p:spPr>
          <a:xfrm xmlns:a="http://schemas.openxmlformats.org/drawingml/2006/main">
            <a:off x="5629275" y="2028825"/>
            <a:ext cx="2466975" cy="942975"/>
          </a:xfrm>
          <a:prstGeom xmlns:a="http://schemas.openxmlformats.org/drawingml/2006/main" prst="rect">
            <a:avLst/>
          </a:prstGeom>
          <a:solidFill xmlns:a="http://schemas.openxmlformats.org/drawingml/2006/main">
            <a:srgbClr val="E7EDDE"/>
          </a:solidFill>
          <a:ln xmlns:a="http://schemas.openxmlformats.org/drawingml/2006/main" w="9525">
            <a:solidFill>
              <a:srgbClr val="CED7C8"/>
            </a:solidFill>
          </a:ln>
        </p:spPr>
        <p:txBody>
          <a:bodyPr xmlns:a="http://schemas.openxmlformats.org/drawingml/2006/main" lIns="133350" tIns="133350" rIns="133350" bIns="13335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Fusible 1,5 A</a:t>
            </a:r>
          </a:p>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 interruptor</a:t>
            </a:r>
          </a:p>
        </p:txBody>
      </p:sp>
      <p:cxnSp>
        <p:nvCxnSpPr>
          <p:cNvPr id="8" name="">
            <a:extLst xmlns:a="http://schemas.openxmlformats.org/drawingml/2006/main">
              <a:ext uri="{FF2B5EF4-FFF2-40B4-BE49-F238E27FC236}">
                <a16:creationId xmlns:a16="http://schemas.microsoft.com/office/drawing/2014/main" id="{C7CF63D8-6D2A-4A69-A8D8-F3BEEAD1E90F}"/>
              </a:ext>
            </a:extLst>
          </p:cNvPr>
          <p:cNvCxnSpPr/>
          <p:nvPr/>
        </p:nvCxnSpPr>
        <p:spPr>
          <a:xfrm xmlns:a="http://schemas.openxmlformats.org/drawingml/2006/main">
            <a:off x="5238750" y="2514600"/>
            <a:ext cx="304800" cy="0"/>
          </a:xfrm>
          <a:prstGeom xmlns:a="http://schemas.openxmlformats.org/drawingml/2006/main" prst="straightConnector1">
            <a:avLst/>
          </a:prstGeom>
          <a:ln xmlns:a="http://schemas.openxmlformats.org/drawingml/2006/main" w="23813">
            <a:solidFill>
              <a:srgbClr val="577161"/>
            </a:solidFill>
            <a:tailEnd type="triangle" w="med" len="med"/>
          </a:ln>
        </p:spPr>
      </p:cxnSp>
      <p:cxnSp>
        <p:nvCxnSpPr>
          <p:cNvPr id="9" name="">
            <a:extLst xmlns:a="http://schemas.openxmlformats.org/drawingml/2006/main">
              <a:ext uri="{FF2B5EF4-FFF2-40B4-BE49-F238E27FC236}">
                <a16:creationId xmlns:a16="http://schemas.microsoft.com/office/drawing/2014/main" id="{35869E5B-3584-40F1-A952-5113CD3F4E65}"/>
              </a:ext>
            </a:extLst>
          </p:cNvPr>
          <p:cNvCxnSpPr/>
          <p:nvPr/>
        </p:nvCxnSpPr>
        <p:spPr>
          <a:xfrm xmlns:a="http://schemas.openxmlformats.org/drawingml/2006/main">
            <a:off x="8096250" y="2514600"/>
            <a:ext cx="485775" cy="0"/>
          </a:xfrm>
          <a:prstGeom xmlns:a="http://schemas.openxmlformats.org/drawingml/2006/main" prst="straightConnector1">
            <a:avLst/>
          </a:prstGeom>
          <a:ln xmlns:a="http://schemas.openxmlformats.org/drawingml/2006/main" w="23813">
            <a:solidFill>
              <a:srgbClr val="577161"/>
            </a:solidFill>
            <a:tailEnd type="triangle" w="med" len="med"/>
          </a:ln>
        </p:spPr>
      </p:cxnSp>
      <p:sp>
        <p:nvSpPr>
          <p:cNvPr id="10" name="">
            <a:extLst xmlns:a="http://schemas.openxmlformats.org/drawingml/2006/main">
              <a:ext uri="{FF2B5EF4-FFF2-40B4-BE49-F238E27FC236}">
                <a16:creationId xmlns:a16="http://schemas.microsoft.com/office/drawing/2014/main" id="{203EFF57-9F9D-4D22-A1BE-C51187DEFF3C}"/>
              </a:ext>
            </a:extLst>
          </p:cNvPr>
          <p:cNvSpPr>
            <a:spLocks xmlns:a="http://schemas.openxmlformats.org/drawingml/2006/main" noGrp="1"/>
          </p:cNvSpPr>
          <p:nvPr/>
        </p:nvSpPr>
        <p:spPr>
          <a:xfrm xmlns:a="http://schemas.openxmlformats.org/drawingml/2006/main">
            <a:off x="8696325" y="2028825"/>
            <a:ext cx="2676525" cy="942975"/>
          </a:xfrm>
          <a:prstGeom xmlns:a="http://schemas.openxmlformats.org/drawingml/2006/main" prst="rect">
            <a:avLst/>
          </a:prstGeom>
          <a:solidFill xmlns:a="http://schemas.openxmlformats.org/drawingml/2006/main">
            <a:srgbClr val="173F2F"/>
          </a:solidFill>
          <a:ln xmlns:a="http://schemas.openxmlformats.org/drawingml/2006/main" w="9525">
            <a:solidFill>
              <a:srgbClr val="CED7C8"/>
            </a:solidFill>
          </a:ln>
        </p:spPr>
        <p:txBody>
          <a:bodyPr xmlns:a="http://schemas.openxmlformats.org/drawingml/2006/main" lIns="133350" tIns="133350" rIns="133350" bIns="133350"/>
          <a:lstStyle xmlns:a="http://schemas.openxmlformats.org/drawingml/2006/main">
            <a:defPPr>
              <a:defRPr sz="1875" b="1">
                <a:solidFill>
                  <a:srgbClr val="FFFFFF"/>
                </a:solidFill>
                <a:latin typeface="Arial"/>
                <a:ea typeface="Arial"/>
                <a:cs typeface="Arial"/>
              </a:defRPr>
            </a:defPPr>
          </a:lstStyle>
          <a:p xmlns:a="http://schemas.openxmlformats.org/drawingml/2006/main">
            <a:pPr>
              <a:defRPr sz="1875" b="1">
                <a:solidFill>
                  <a:srgbClr val="FFFFFF"/>
                </a:solidFill>
                <a:latin typeface="Arial"/>
                <a:ea typeface="Arial"/>
                <a:cs typeface="Arial"/>
              </a:defRPr>
            </a:pPr>
            <a:r>
              <a:rPr sz="1875" b="1">
                <a:solidFill>
                  <a:srgbClr val="FFFFFF"/>
                </a:solidFill>
                <a:latin typeface="Arial"/>
                <a:ea typeface="Arial"/>
                <a:cs typeface="Arial"/>
              </a:rPr>
              <a:t>Distribución</a:t>
            </a:r>
          </a:p>
          <a:p xmlns:a="http://schemas.openxmlformats.org/drawingml/2006/main">
            <a:pPr>
              <a:defRPr sz="1875" b="1">
                <a:solidFill>
                  <a:srgbClr val="FFFFFF"/>
                </a:solidFill>
                <a:latin typeface="Arial"/>
                <a:ea typeface="Arial"/>
                <a:cs typeface="Arial"/>
              </a:defRPr>
            </a:pPr>
            <a:r>
              <a:rPr sz="1875" b="1">
                <a:solidFill>
                  <a:srgbClr val="FFFFFF"/>
                </a:solidFill>
                <a:latin typeface="Arial"/>
                <a:ea typeface="Arial"/>
                <a:cs typeface="Arial"/>
              </a:rPr>
              <a:t>5 V</a:t>
            </a:r>
          </a:p>
        </p:txBody>
      </p:sp>
      <p:sp>
        <p:nvSpPr>
          <p:cNvPr id="11" name="">
            <a:extLst xmlns:a="http://schemas.openxmlformats.org/drawingml/2006/main">
              <a:ext uri="{FF2B5EF4-FFF2-40B4-BE49-F238E27FC236}">
                <a16:creationId xmlns:a16="http://schemas.microsoft.com/office/drawing/2014/main" id="{A7ADD483-3B42-45E5-BC6E-C17DF25D188F}"/>
              </a:ext>
            </a:extLst>
          </p:cNvPr>
          <p:cNvSpPr>
            <a:spLocks xmlns:a="http://schemas.openxmlformats.org/drawingml/2006/main" noGrp="1"/>
          </p:cNvSpPr>
          <p:nvPr/>
        </p:nvSpPr>
        <p:spPr>
          <a:xfrm xmlns:a="http://schemas.openxmlformats.org/drawingml/2006/main">
            <a:off x="3390900" y="3781425"/>
            <a:ext cx="2238375" cy="819150"/>
          </a:xfrm>
          <a:prstGeom xmlns:a="http://schemas.openxmlformats.org/drawingml/2006/main" prst="rect">
            <a:avLst/>
          </a:prstGeom>
          <a:solidFill xmlns:a="http://schemas.openxmlformats.org/drawingml/2006/main">
            <a:srgbClr val="FFFFFF"/>
          </a:solidFill>
          <a:ln xmlns:a="http://schemas.openxmlformats.org/drawingml/2006/main" w="9525">
            <a:solidFill>
              <a:srgbClr val="CED7C8"/>
            </a:solidFill>
          </a:ln>
        </p:spPr>
        <p:txBody>
          <a:bodyPr xmlns:a="http://schemas.openxmlformats.org/drawingml/2006/main" lIns="133350" tIns="133350" rIns="133350" bIns="133350"/>
          <a:lstStyle xmlns:a="http://schemas.openxmlformats.org/drawingml/2006/main">
            <a:defPPr>
              <a:defRPr sz="1950" b="1">
                <a:solidFill>
                  <a:srgbClr val="173F2F"/>
                </a:solidFill>
                <a:latin typeface="Arial"/>
                <a:ea typeface="Arial"/>
                <a:cs typeface="Arial"/>
              </a:defRPr>
            </a:defPPr>
          </a:lstStyle>
          <a:p xmlns:a="http://schemas.openxmlformats.org/drawingml/2006/main">
            <a:pPr>
              <a:defRPr sz="1950" b="1">
                <a:solidFill>
                  <a:srgbClr val="173F2F"/>
                </a:solidFill>
                <a:latin typeface="Arial"/>
                <a:ea typeface="Arial"/>
                <a:cs typeface="Arial"/>
              </a:defRPr>
            </a:pPr>
            <a:r>
              <a:rPr sz="1950" b="1">
                <a:solidFill>
                  <a:srgbClr val="173F2F"/>
                </a:solidFill>
                <a:latin typeface="Arial"/>
                <a:ea typeface="Arial"/>
                <a:cs typeface="Arial"/>
              </a:rPr>
              <a:t>ESP32-CAM</a:t>
            </a:r>
          </a:p>
          <a:p xmlns:a="http://schemas.openxmlformats.org/drawingml/2006/main">
            <a:pPr>
              <a:defRPr sz="1950" b="1">
                <a:solidFill>
                  <a:srgbClr val="173F2F"/>
                </a:solidFill>
                <a:latin typeface="Arial"/>
                <a:ea typeface="Arial"/>
                <a:cs typeface="Arial"/>
              </a:defRPr>
            </a:pPr>
            <a:r>
              <a:rPr sz="1950" b="1">
                <a:solidFill>
                  <a:srgbClr val="173F2F"/>
                </a:solidFill>
                <a:latin typeface="Arial"/>
                <a:ea typeface="Arial"/>
                <a:cs typeface="Arial"/>
              </a:rPr>
              <a:t>5 V</a:t>
            </a:r>
          </a:p>
        </p:txBody>
      </p:sp>
      <p:sp>
        <p:nvSpPr>
          <p:cNvPr id="12" name="">
            <a:extLst xmlns:a="http://schemas.openxmlformats.org/drawingml/2006/main">
              <a:ext uri="{FF2B5EF4-FFF2-40B4-BE49-F238E27FC236}">
                <a16:creationId xmlns:a16="http://schemas.microsoft.com/office/drawing/2014/main" id="{725B2F09-2F46-4082-8755-2655C0701DDC}"/>
              </a:ext>
            </a:extLst>
          </p:cNvPr>
          <p:cNvSpPr>
            <a:spLocks xmlns:a="http://schemas.openxmlformats.org/drawingml/2006/main" noGrp="1"/>
          </p:cNvSpPr>
          <p:nvPr/>
        </p:nvSpPr>
        <p:spPr>
          <a:xfrm xmlns:a="http://schemas.openxmlformats.org/drawingml/2006/main">
            <a:off x="5953125" y="3781425"/>
            <a:ext cx="2847975" cy="819150"/>
          </a:xfrm>
          <a:prstGeom xmlns:a="http://schemas.openxmlformats.org/drawingml/2006/main" prst="rect">
            <a:avLst/>
          </a:prstGeom>
          <a:solidFill xmlns:a="http://schemas.openxmlformats.org/drawingml/2006/main">
            <a:srgbClr val="FFFFFF"/>
          </a:solidFill>
          <a:ln xmlns:a="http://schemas.openxmlformats.org/drawingml/2006/main" w="9525">
            <a:solidFill>
              <a:srgbClr val="CED7C8"/>
            </a:solidFill>
          </a:ln>
        </p:spPr>
        <p:txBody>
          <a:bodyPr xmlns:a="http://schemas.openxmlformats.org/drawingml/2006/main" lIns="133350" tIns="133350" rIns="133350" bIns="13335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Regulador de placa</a:t>
            </a:r>
          </a:p>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3,3 V → HX711</a:t>
            </a:r>
          </a:p>
        </p:txBody>
      </p:sp>
      <p:sp>
        <p:nvSpPr>
          <p:cNvPr id="13" name="">
            <a:extLst xmlns:a="http://schemas.openxmlformats.org/drawingml/2006/main">
              <a:ext uri="{FF2B5EF4-FFF2-40B4-BE49-F238E27FC236}">
                <a16:creationId xmlns:a16="http://schemas.microsoft.com/office/drawing/2014/main" id="{08F2F696-872D-4DCB-8FE1-12EF06A978E3}"/>
              </a:ext>
            </a:extLst>
          </p:cNvPr>
          <p:cNvSpPr>
            <a:spLocks xmlns:a="http://schemas.openxmlformats.org/drawingml/2006/main" noGrp="1"/>
          </p:cNvSpPr>
          <p:nvPr/>
        </p:nvSpPr>
        <p:spPr>
          <a:xfrm xmlns:a="http://schemas.openxmlformats.org/drawingml/2006/main">
            <a:off x="9191625" y="3781425"/>
            <a:ext cx="2190750" cy="819150"/>
          </a:xfrm>
          <a:prstGeom xmlns:a="http://schemas.openxmlformats.org/drawingml/2006/main" prst="rect">
            <a:avLst/>
          </a:prstGeom>
          <a:solidFill xmlns:a="http://schemas.openxmlformats.org/drawingml/2006/main">
            <a:srgbClr val="FFFFFF"/>
          </a:solidFill>
          <a:ln xmlns:a="http://schemas.openxmlformats.org/drawingml/2006/main" w="9525">
            <a:solidFill>
              <a:srgbClr val="CED7C8"/>
            </a:solidFill>
          </a:ln>
        </p:spPr>
        <p:txBody>
          <a:bodyPr xmlns:a="http://schemas.openxmlformats.org/drawingml/2006/main" lIns="133350" tIns="133350" rIns="133350" bIns="133350"/>
          <a:lstStyle xmlns:a="http://schemas.openxmlformats.org/drawingml/2006/main">
            <a:defPPr>
              <a:defRPr sz="1875" b="1">
                <a:solidFill>
                  <a:srgbClr val="173F2F"/>
                </a:solidFill>
                <a:latin typeface="Arial"/>
                <a:ea typeface="Arial"/>
                <a:cs typeface="Arial"/>
              </a:defRPr>
            </a:defPPr>
          </a:lstStyle>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12 LED</a:t>
            </a:r>
          </a:p>
          <a:p xmlns:a="http://schemas.openxmlformats.org/drawingml/2006/main">
            <a:pPr>
              <a:defRPr sz="1875" b="1">
                <a:solidFill>
                  <a:srgbClr val="173F2F"/>
                </a:solidFill>
                <a:latin typeface="Arial"/>
                <a:ea typeface="Arial"/>
                <a:cs typeface="Arial"/>
              </a:defRPr>
            </a:pPr>
            <a:r>
              <a:rPr sz="1875" b="1">
                <a:solidFill>
                  <a:srgbClr val="173F2F"/>
                </a:solidFill>
                <a:latin typeface="Arial"/>
                <a:ea typeface="Arial"/>
                <a:cs typeface="Arial"/>
              </a:rPr>
              <a:t>+ 100 Ω c/u</a:t>
            </a:r>
          </a:p>
        </p:txBody>
      </p:sp>
      <p:cxnSp>
        <p:nvCxnSpPr>
          <p:cNvPr id="14" name="">
            <a:extLst xmlns:a="http://schemas.openxmlformats.org/drawingml/2006/main">
              <a:ext uri="{FF2B5EF4-FFF2-40B4-BE49-F238E27FC236}">
                <a16:creationId xmlns:a16="http://schemas.microsoft.com/office/drawing/2014/main" id="{CFAC995A-FBC1-41CD-85D2-7A0865FA5AFA}"/>
              </a:ext>
            </a:extLst>
          </p:cNvPr>
          <p:cNvCxnSpPr/>
          <p:nvPr/>
        </p:nvCxnSpPr>
        <p:spPr>
          <a:xfrm xmlns:a="http://schemas.openxmlformats.org/drawingml/2006/main">
            <a:off x="10001250" y="3009900"/>
            <a:ext cx="0" cy="657225"/>
          </a:xfrm>
          <a:prstGeom xmlns:a="http://schemas.openxmlformats.org/drawingml/2006/main" prst="straightConnector1">
            <a:avLst/>
          </a:prstGeom>
          <a:ln xmlns:a="http://schemas.openxmlformats.org/drawingml/2006/main" w="23813">
            <a:solidFill>
              <a:srgbClr val="577161"/>
            </a:solidFill>
            <a:tailEnd type="triangle" w="med" len="med"/>
          </a:ln>
        </p:spPr>
      </p:cxnSp>
      <p:cxnSp>
        <p:nvCxnSpPr>
          <p:cNvPr id="15" name="">
            <a:extLst xmlns:a="http://schemas.openxmlformats.org/drawingml/2006/main">
              <a:ext uri="{FF2B5EF4-FFF2-40B4-BE49-F238E27FC236}">
                <a16:creationId xmlns:a16="http://schemas.microsoft.com/office/drawing/2014/main" id="{E56B987A-3CFD-4F01-942A-169B9AF5F592}"/>
              </a:ext>
            </a:extLst>
          </p:cNvPr>
          <p:cNvCxnSpPr/>
          <p:nvPr/>
        </p:nvCxnSpPr>
        <p:spPr>
          <a:xfrm xmlns:a="http://schemas.openxmlformats.org/drawingml/2006/main">
            <a:off x="4514850" y="3400425"/>
            <a:ext cx="5486400" cy="0"/>
          </a:xfrm>
          <a:prstGeom xmlns:a="http://schemas.openxmlformats.org/drawingml/2006/main" prst="straightConnector1">
            <a:avLst/>
          </a:prstGeom>
          <a:ln xmlns:a="http://schemas.openxmlformats.org/drawingml/2006/main" w="23813">
            <a:solidFill>
              <a:srgbClr val="577161"/>
            </a:solidFill>
            <a:headEnd type="triangle" w="med" len="med"/>
          </a:ln>
        </p:spPr>
      </p:cxnSp>
      <p:cxnSp>
        <p:nvCxnSpPr>
          <p:cNvPr id="16" name="">
            <a:extLst xmlns:a="http://schemas.openxmlformats.org/drawingml/2006/main">
              <a:ext uri="{FF2B5EF4-FFF2-40B4-BE49-F238E27FC236}">
                <a16:creationId xmlns:a16="http://schemas.microsoft.com/office/drawing/2014/main" id="{E7B1D2A2-6211-4174-B563-72E6A79A540D}"/>
              </a:ext>
            </a:extLst>
          </p:cNvPr>
          <p:cNvCxnSpPr/>
          <p:nvPr/>
        </p:nvCxnSpPr>
        <p:spPr>
          <a:xfrm xmlns:a="http://schemas.openxmlformats.org/drawingml/2006/main">
            <a:off x="4514850" y="3400425"/>
            <a:ext cx="0" cy="247650"/>
          </a:xfrm>
          <a:prstGeom xmlns:a="http://schemas.openxmlformats.org/drawingml/2006/main" prst="straightConnector1">
            <a:avLst/>
          </a:prstGeom>
          <a:ln xmlns:a="http://schemas.openxmlformats.org/drawingml/2006/main" w="23813">
            <a:solidFill>
              <a:srgbClr val="577161"/>
            </a:solidFill>
            <a:tailEnd type="triangle" w="med" len="med"/>
          </a:ln>
        </p:spPr>
      </p:cxnSp>
      <p:cxnSp>
        <p:nvCxnSpPr>
          <p:cNvPr id="17" name="">
            <a:extLst xmlns:a="http://schemas.openxmlformats.org/drawingml/2006/main">
              <a:ext uri="{FF2B5EF4-FFF2-40B4-BE49-F238E27FC236}">
                <a16:creationId xmlns:a16="http://schemas.microsoft.com/office/drawing/2014/main" id="{4D811226-6667-4A3C-BB94-3D2819BC89AF}"/>
              </a:ext>
            </a:extLst>
          </p:cNvPr>
          <p:cNvCxnSpPr/>
          <p:nvPr/>
        </p:nvCxnSpPr>
        <p:spPr>
          <a:xfrm xmlns:a="http://schemas.openxmlformats.org/drawingml/2006/main">
            <a:off x="5657850" y="4200525"/>
            <a:ext cx="190500" cy="0"/>
          </a:xfrm>
          <a:prstGeom xmlns:a="http://schemas.openxmlformats.org/drawingml/2006/main" prst="straightConnector1">
            <a:avLst/>
          </a:prstGeom>
          <a:ln xmlns:a="http://schemas.openxmlformats.org/drawingml/2006/main" w="23813">
            <a:solidFill>
              <a:srgbClr val="577161"/>
            </a:solidFill>
            <a:tailEnd type="triangle" w="med" len="med"/>
          </a:ln>
        </p:spPr>
      </p:cxnSp>
      <p:sp>
        <p:nvSpPr>
          <p:cNvPr id="18" name="LED: ≈ 0,19–0,22 A calculados. Consumo total y estabili">
            <a:extLst xmlns:a="http://schemas.openxmlformats.org/drawingml/2006/main">
              <a:ext uri="{FF2B5EF4-FFF2-40B4-BE49-F238E27FC236}">
                <a16:creationId xmlns:a16="http://schemas.microsoft.com/office/drawing/2014/main" id="{DD8F3B42-6929-4C69-A28D-FD6350B91C38}"/>
              </a:ext>
            </a:extLst>
          </p:cNvPr>
          <p:cNvSpPr>
            <a:spLocks xmlns:a="http://schemas.openxmlformats.org/drawingml/2006/main" noGrp="1"/>
          </p:cNvSpPr>
          <p:nvPr/>
        </p:nvSpPr>
        <p:spPr>
          <a:xfrm xmlns:a="http://schemas.openxmlformats.org/drawingml/2006/main">
            <a:off x="571500" y="5133975"/>
            <a:ext cx="11049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73F2F"/>
                </a:solidFill>
                <a:latin typeface="Arial"/>
                <a:ea typeface="Arial"/>
                <a:cs typeface="Arial"/>
              </a:defRPr>
            </a:defPPr>
          </a:lstStyle>
          <a:p xmlns:a="http://schemas.openxmlformats.org/drawingml/2006/main">
            <a:pPr>
              <a:defRPr sz="2100" b="1">
                <a:solidFill>
                  <a:srgbClr val="173F2F"/>
                </a:solidFill>
                <a:latin typeface="Arial"/>
                <a:ea typeface="Arial"/>
                <a:cs typeface="Arial"/>
              </a:defRPr>
            </a:pPr>
            <a:r>
              <a:rPr sz="2100" b="1">
                <a:solidFill>
                  <a:srgbClr val="173F2F"/>
                </a:solidFill>
                <a:latin typeface="Arial"/>
                <a:ea typeface="Arial"/>
                <a:cs typeface="Arial"/>
              </a:rPr>
              <a:t>LED: ≈ 0,19–0,22 A calculados. Consumo total y estabilidad: pendientes de medir.</a:t>
            </a:r>
          </a:p>
        </p:txBody>
      </p:sp>
      <p:sp>
        <p:nvSpPr>
          <p:cNvPr id="19" name="Parcial: celular + balanza externa. Su alimentación se ">
            <a:extLst xmlns:a="http://schemas.openxmlformats.org/drawingml/2006/main">
              <a:ext uri="{FF2B5EF4-FFF2-40B4-BE49-F238E27FC236}">
                <a16:creationId xmlns:a16="http://schemas.microsoft.com/office/drawing/2014/main" id="{8826358E-56E0-4A10-AB15-BE1E1BBC28A2}"/>
              </a:ext>
            </a:extLst>
          </p:cNvPr>
          <p:cNvSpPr>
            <a:spLocks xmlns:a="http://schemas.openxmlformats.org/drawingml/2006/main" noGrp="1"/>
          </p:cNvSpPr>
          <p:nvPr/>
        </p:nvSpPr>
        <p:spPr>
          <a:xfrm xmlns:a="http://schemas.openxmlformats.org/drawingml/2006/main">
            <a:off x="571500" y="5800725"/>
            <a:ext cx="11049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77161"/>
                </a:solidFill>
                <a:latin typeface="Arial"/>
                <a:ea typeface="Arial"/>
                <a:cs typeface="Arial"/>
              </a:defRPr>
            </a:defPPr>
          </a:lstStyle>
          <a:p xmlns:a="http://schemas.openxmlformats.org/drawingml/2006/main">
            <a:pPr>
              <a:defRPr sz="1875" b="0">
                <a:solidFill>
                  <a:srgbClr val="577161"/>
                </a:solidFill>
                <a:latin typeface="Arial"/>
                <a:ea typeface="Arial"/>
                <a:cs typeface="Arial"/>
              </a:defRPr>
            </a:pPr>
            <a:r>
              <a:rPr sz="1875" b="0">
                <a:solidFill>
                  <a:srgbClr val="577161"/>
                </a:solidFill>
                <a:latin typeface="Arial"/>
                <a:ea typeface="Arial"/>
                <a:cs typeface="Arial"/>
              </a:rPr>
              <a:t>Parcial: celular + balanza externa. Su alimentación se verifica en la etiqueta del equipo.</a:t>
            </a:r>
          </a:p>
        </p:txBody>
      </p:sp>
    </p:spTree>
    <p:extLst>
      <p:ext uri="{BB962C8B-B14F-4D97-AF65-F5344CB8AC3E}">
        <p14:creationId xmlns:p14="http://schemas.microsoft.com/office/powerpoint/2010/main" val="167502747"/>
      </p:ext>
    </p:extLst>
  </p:cSld>
</p:sld>
</file>

<file path=ppt/slides/slide31.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0" name="Cómo calcula FoodScan">
            <a:extLst xmlns:a="http://schemas.openxmlformats.org/drawingml/2006/main">
              <a:ext uri="{FF2B5EF4-FFF2-40B4-BE49-F238E27FC236}">
                <a16:creationId xmlns:a16="http://schemas.microsoft.com/office/drawing/2014/main" id="{C9839BB6-0476-4F05-9C4D-6C39A6C8B768}"/>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Cómo calcula FoodScan</a:t>
            </a:r>
          </a:p>
        </p:txBody>
      </p:sp>
      <p:sp>
        <p:nvSpPr>
          <p:cNvPr id="2" name="Gemini propone alimentos y proporciones; el código calc">
            <a:extLst xmlns:a="http://schemas.openxmlformats.org/drawingml/2006/main">
              <a:ext uri="{FF2B5EF4-FFF2-40B4-BE49-F238E27FC236}">
                <a16:creationId xmlns:a16="http://schemas.microsoft.com/office/drawing/2014/main" id="{75D157A6-CE25-449D-90F9-5F47CE6BF43D}"/>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Gemini propone alimentos y proporciones; el código calcula con la TPCA del INS</a:t>
            </a:r>
          </a:p>
        </p:txBody>
      </p:sp>
      <p:sp>
        <p:nvSpPr>
          <p:cNvPr id="3" name="Fuentes [16], [24] · Referencias al final">
            <a:extLst xmlns:a="http://schemas.openxmlformats.org/drawingml/2006/main">
              <a:ext uri="{FF2B5EF4-FFF2-40B4-BE49-F238E27FC236}">
                <a16:creationId xmlns:a16="http://schemas.microsoft.com/office/drawing/2014/main" id="{D465AE59-B250-4003-BF50-0EE48F5486FB}"/>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[16], [24] · Referencias al final</a:t>
            </a:r>
          </a:p>
        </p:txBody>
      </p:sp>
      <p:sp>
        <p:nvSpPr>
          <p:cNvPr id="4" name="31">
            <a:extLst xmlns:a="http://schemas.openxmlformats.org/drawingml/2006/main">
              <a:ext uri="{FF2B5EF4-FFF2-40B4-BE49-F238E27FC236}">
                <a16:creationId xmlns:a16="http://schemas.microsoft.com/office/drawing/2014/main" id="{649548E9-9F1D-42BE-946E-6E09F01B4150}"/>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31</a:t>
            </a:r>
          </a:p>
        </p:txBody>
      </p:sp>
      <p:sp>
        <p:nvSpPr>
          <p:cNvPr id="5" name="Un único peso neto: 420 g">
            <a:extLst xmlns:a="http://schemas.openxmlformats.org/drawingml/2006/main">
              <a:ext uri="{FF2B5EF4-FFF2-40B4-BE49-F238E27FC236}">
                <a16:creationId xmlns:a16="http://schemas.microsoft.com/office/drawing/2014/main" id="{21F31926-94D7-41B2-818E-E18BEE0E3D24}"/>
              </a:ext>
            </a:extLst>
          </p:cNvPr>
          <p:cNvSpPr>
            <a:spLocks xmlns:a="http://schemas.openxmlformats.org/drawingml/2006/main" noGrp="1"/>
          </p:cNvSpPr>
          <p:nvPr/>
        </p:nvSpPr>
        <p:spPr>
          <a:xfrm xmlns:a="http://schemas.openxmlformats.org/drawingml/2006/main">
            <a:off x="571500" y="1685925"/>
            <a:ext cx="11049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73F2F"/>
                </a:solidFill>
                <a:latin typeface="Arial"/>
                <a:ea typeface="Arial"/>
                <a:cs typeface="Arial"/>
              </a:defRPr>
            </a:defPPr>
          </a:lstStyle>
          <a:p xmlns:a="http://schemas.openxmlformats.org/drawingml/2006/main">
            <a:pPr>
              <a:defRPr sz="2700" b="1">
                <a:solidFill>
                  <a:srgbClr val="173F2F"/>
                </a:solidFill>
                <a:latin typeface="Arial"/>
                <a:ea typeface="Arial"/>
                <a:cs typeface="Arial"/>
              </a:defRPr>
            </a:pPr>
            <a:r>
              <a:rPr sz="2700" b="1">
                <a:solidFill>
                  <a:srgbClr val="173F2F"/>
                </a:solidFill>
                <a:latin typeface="Arial"/>
                <a:ea typeface="Arial"/>
                <a:cs typeface="Arial"/>
              </a:rPr>
              <a:t>Un único peso neto: 420 g</a:t>
            </a:r>
          </a:p>
        </p:txBody>
      </p:sp>
      <p:graphicFrame>
        <p:nvGraphicFramePr>
          <p:cNvPr id="6" name="">
            <a:extLst xmlns:a="http://schemas.openxmlformats.org/drawingml/2006/main">
              <a:ext uri="{FF2B5EF4-FFF2-40B4-BE49-F238E27FC236}">
                <a16:creationId xmlns:a16="http://schemas.microsoft.com/office/drawing/2014/main" id="{F2862F1B-7873-4D3D-8171-85568A2EBA62}"/>
              </a:ext>
            </a:extLst>
          </p:cNvPr>
          <p:cNvGraphicFramePr/>
          <p:nvPr/>
        </p:nvGraphicFramePr>
        <p:xfrm>
          <a:off xmlns:a="http://schemas.openxmlformats.org/drawingml/2006/main" x="571500" y="2314575"/>
          <a:ext xmlns:a="http://schemas.openxmlformats.org/drawingml/2006/main" cx="11049000" cy="2143125"/>
        </p:xfrm>
        <a:graphic xmlns:a="http://schemas.openxmlformats.org/drawingml/2006/main">
          <a:graphicData uri="http://schemas.openxmlformats.org/drawingml/2006/table">
            <a:tbl>
              <a:tblPr/>
              <a:tblGrid>
                <a:gridCol w="4857750"/>
                <a:gridCol w="3095625"/>
                <a:gridCol w="3095625"/>
              </a:tblGrid>
              <a:tr h="428625">
                <a:tc>
                  <a:txBody>
                    <a:bodyPr/>
                    <a:lstStyle/>
                    <a:p>
                      <a:r>
                        <a:rPr sz="1875" b="1">
                          <a:solidFill>
                            <a:srgbClr val="FFFFFF"/>
                          </a:solidFill>
                          <a:latin typeface="Arial"/>
                          <a:ea typeface="Arial"/>
                          <a:cs typeface="Arial"/>
                        </a:rPr>
                        <a:t>Componente de ejemplo</a:t>
                      </a:r>
                    </a:p>
                  </a:txBody>
                  <a:tcPr marL="114300" marR="114300" marT="19050" marB="19050" anchor="ctr">
                    <a:solidFill>
                      <a:srgbClr val="173F2F"/>
                    </a:solidFill>
                  </a:tcPr>
                </a:tc>
                <a:tc>
                  <a:txBody>
                    <a:bodyPr/>
                    <a:lstStyle/>
                    <a:p>
                      <a:r>
                        <a:rPr sz="1875" b="1">
                          <a:solidFill>
                            <a:srgbClr val="FFFFFF"/>
                          </a:solidFill>
                          <a:latin typeface="Arial"/>
                          <a:ea typeface="Arial"/>
                          <a:cs typeface="Arial"/>
                        </a:rPr>
                        <a:t>Proporción estimada</a:t>
                      </a:r>
                    </a:p>
                  </a:txBody>
                  <a:tcPr marL="114300" marR="114300" marT="19050" marB="19050" anchor="ctr">
                    <a:solidFill>
                      <a:srgbClr val="173F2F"/>
                    </a:solidFill>
                  </a:tcPr>
                </a:tc>
                <a:tc>
                  <a:txBody>
                    <a:bodyPr/>
                    <a:lstStyle/>
                    <a:p>
                      <a:r>
                        <a:rPr sz="1875" b="1">
                          <a:solidFill>
                            <a:srgbClr val="FFFFFF"/>
                          </a:solidFill>
                          <a:latin typeface="Arial"/>
                          <a:ea typeface="Arial"/>
                          <a:cs typeface="Arial"/>
                        </a:rPr>
                        <a:t>Gramos repartidos</a:t>
                      </a:r>
                    </a:p>
                  </a:txBody>
                  <a:tcPr marL="114300" marR="114300" marT="19050" marB="19050" anchor="ctr">
                    <a:solidFill>
                      <a:srgbClr val="173F2F"/>
                    </a:solidFill>
                  </a:tcPr>
                </a:tc>
              </a:tr>
              <a:tr h="428625">
                <a:tc>
                  <a:txBody>
                    <a:bodyPr/>
                    <a:lstStyle/>
                    <a:p>
                      <a:r>
                        <a:rPr sz="1875">
                          <a:solidFill>
                            <a:srgbClr val="173F2F"/>
                          </a:solidFill>
                          <a:latin typeface="Arial"/>
                          <a:ea typeface="Arial"/>
                          <a:cs typeface="Arial"/>
                        </a:rPr>
                        <a:t>Arroz</a:t>
                      </a:r>
                    </a:p>
                  </a:txBody>
                  <a:tcPr marL="114300" marR="114300" marT="19050" marB="19050" anchor="ctr">
                    <a:solidFill>
                      <a:srgbClr val="FFFFFF"/>
                    </a:solidFill>
                  </a:tcPr>
                </a:tc>
                <a:tc>
                  <a:txBody>
                    <a:bodyPr/>
                    <a:lstStyle/>
                    <a:p>
                      <a:r>
                        <a:rPr sz="1875">
                          <a:solidFill>
                            <a:srgbClr val="173F2F"/>
                          </a:solidFill>
                          <a:latin typeface="Arial"/>
                          <a:ea typeface="Arial"/>
                          <a:cs typeface="Arial"/>
                        </a:rPr>
                        <a:t>60 %</a:t>
                      </a:r>
                    </a:p>
                  </a:txBody>
                  <a:tcPr marL="114300" marR="114300" marT="19050" marB="19050" anchor="ctr">
                    <a:solidFill>
                      <a:srgbClr val="FFFFFF"/>
                    </a:solidFill>
                  </a:tcPr>
                </a:tc>
                <a:tc>
                  <a:txBody>
                    <a:bodyPr/>
                    <a:lstStyle/>
                    <a:p>
                      <a:r>
                        <a:rPr sz="1875">
                          <a:solidFill>
                            <a:srgbClr val="173F2F"/>
                          </a:solidFill>
                          <a:latin typeface="Arial"/>
                          <a:ea typeface="Arial"/>
                          <a:cs typeface="Arial"/>
                        </a:rPr>
                        <a:t>252 g</a:t>
                      </a:r>
                    </a:p>
                  </a:txBody>
                  <a:tcPr marL="114300" marR="114300" marT="19050" marB="19050" anchor="ctr">
                    <a:solidFill>
                      <a:srgbClr val="FFFFFF"/>
                    </a:solidFill>
                  </a:tcPr>
                </a:tc>
              </a:tr>
              <a:tr h="428625">
                <a:tc>
                  <a:txBody>
                    <a:bodyPr/>
                    <a:lstStyle/>
                    <a:p>
                      <a:r>
                        <a:rPr sz="1875">
                          <a:solidFill>
                            <a:srgbClr val="173F2F"/>
                          </a:solidFill>
                          <a:latin typeface="Arial"/>
                          <a:ea typeface="Arial"/>
                          <a:cs typeface="Arial"/>
                        </a:rPr>
                        <a:t>Pollo</a:t>
                      </a:r>
                    </a:p>
                  </a:txBody>
                  <a:tcPr marL="114300" marR="114300" marT="19050" marB="19050" anchor="ctr">
                    <a:solidFill>
                      <a:srgbClr val="EFF2E8"/>
                    </a:solidFill>
                  </a:tcPr>
                </a:tc>
                <a:tc>
                  <a:txBody>
                    <a:bodyPr/>
                    <a:lstStyle/>
                    <a:p>
                      <a:r>
                        <a:rPr sz="1875">
                          <a:solidFill>
                            <a:srgbClr val="173F2F"/>
                          </a:solidFill>
                          <a:latin typeface="Arial"/>
                          <a:ea typeface="Arial"/>
                          <a:cs typeface="Arial"/>
                        </a:rPr>
                        <a:t>30 %</a:t>
                      </a:r>
                    </a:p>
                  </a:txBody>
                  <a:tcPr marL="114300" marR="114300" marT="19050" marB="19050" anchor="ctr">
                    <a:solidFill>
                      <a:srgbClr val="EFF2E8"/>
                    </a:solidFill>
                  </a:tcPr>
                </a:tc>
                <a:tc>
                  <a:txBody>
                    <a:bodyPr/>
                    <a:lstStyle/>
                    <a:p>
                      <a:r>
                        <a:rPr sz="1875">
                          <a:solidFill>
                            <a:srgbClr val="173F2F"/>
                          </a:solidFill>
                          <a:latin typeface="Arial"/>
                          <a:ea typeface="Arial"/>
                          <a:cs typeface="Arial"/>
                        </a:rPr>
                        <a:t>126 g</a:t>
                      </a:r>
                    </a:p>
                  </a:txBody>
                  <a:tcPr marL="114300" marR="114300" marT="19050" marB="19050" anchor="ctr">
                    <a:solidFill>
                      <a:srgbClr val="EFF2E8"/>
                    </a:solidFill>
                  </a:tcPr>
                </a:tc>
              </a:tr>
              <a:tr h="428625">
                <a:tc>
                  <a:txBody>
                    <a:bodyPr/>
                    <a:lstStyle/>
                    <a:p>
                      <a:r>
                        <a:rPr sz="1875">
                          <a:solidFill>
                            <a:srgbClr val="173F2F"/>
                          </a:solidFill>
                          <a:latin typeface="Arial"/>
                          <a:ea typeface="Arial"/>
                          <a:cs typeface="Arial"/>
                        </a:rPr>
                        <a:t>Verduras</a:t>
                      </a:r>
                    </a:p>
                  </a:txBody>
                  <a:tcPr marL="114300" marR="114300" marT="19050" marB="19050" anchor="ctr">
                    <a:solidFill>
                      <a:srgbClr val="FFFFFF"/>
                    </a:solidFill>
                  </a:tcPr>
                </a:tc>
                <a:tc>
                  <a:txBody>
                    <a:bodyPr/>
                    <a:lstStyle/>
                    <a:p>
                      <a:r>
                        <a:rPr sz="1875">
                          <a:solidFill>
                            <a:srgbClr val="173F2F"/>
                          </a:solidFill>
                          <a:latin typeface="Arial"/>
                          <a:ea typeface="Arial"/>
                          <a:cs typeface="Arial"/>
                        </a:rPr>
                        <a:t>10 %</a:t>
                      </a:r>
                    </a:p>
                  </a:txBody>
                  <a:tcPr marL="114300" marR="114300" marT="19050" marB="19050" anchor="ctr">
                    <a:solidFill>
                      <a:srgbClr val="FFFFFF"/>
                    </a:solidFill>
                  </a:tcPr>
                </a:tc>
                <a:tc>
                  <a:txBody>
                    <a:bodyPr/>
                    <a:lstStyle/>
                    <a:p>
                      <a:r>
                        <a:rPr sz="1875">
                          <a:solidFill>
                            <a:srgbClr val="173F2F"/>
                          </a:solidFill>
                          <a:latin typeface="Arial"/>
                          <a:ea typeface="Arial"/>
                          <a:cs typeface="Arial"/>
                        </a:rPr>
                        <a:t>42 g</a:t>
                      </a:r>
                    </a:p>
                  </a:txBody>
                  <a:tcPr marL="114300" marR="114300" marT="19050" marB="19050" anchor="ctr">
                    <a:solidFill>
                      <a:srgbClr val="FFFFFF"/>
                    </a:solidFill>
                  </a:tcPr>
                </a:tc>
              </a:tr>
              <a:tr h="428625">
                <a:tc>
                  <a:txBody>
                    <a:bodyPr/>
                    <a:lstStyle/>
                    <a:p>
                      <a:r>
                        <a:rPr sz="1875">
                          <a:solidFill>
                            <a:srgbClr val="173F2F"/>
                          </a:solidFill>
                          <a:latin typeface="Arial"/>
                          <a:ea typeface="Arial"/>
                          <a:cs typeface="Arial"/>
                        </a:rPr>
                        <a:t>Suma</a:t>
                      </a:r>
                    </a:p>
                  </a:txBody>
                  <a:tcPr marL="114300" marR="114300" marT="19050" marB="19050" anchor="ctr">
                    <a:solidFill>
                      <a:srgbClr val="EFF2E8"/>
                    </a:solidFill>
                  </a:tcPr>
                </a:tc>
                <a:tc>
                  <a:txBody>
                    <a:bodyPr/>
                    <a:lstStyle/>
                    <a:p>
                      <a:r>
                        <a:rPr sz="1875">
                          <a:solidFill>
                            <a:srgbClr val="173F2F"/>
                          </a:solidFill>
                          <a:latin typeface="Arial"/>
                          <a:ea typeface="Arial"/>
                          <a:cs typeface="Arial"/>
                        </a:rPr>
                        <a:t>100 %</a:t>
                      </a:r>
                    </a:p>
                  </a:txBody>
                  <a:tcPr marL="114300" marR="114300" marT="19050" marB="19050" anchor="ctr">
                    <a:solidFill>
                      <a:srgbClr val="EFF2E8"/>
                    </a:solidFill>
                  </a:tcPr>
                </a:tc>
                <a:tc>
                  <a:txBody>
                    <a:bodyPr/>
                    <a:lstStyle/>
                    <a:p>
                      <a:r>
                        <a:rPr sz="1875">
                          <a:solidFill>
                            <a:srgbClr val="173F2F"/>
                          </a:solidFill>
                          <a:latin typeface="Arial"/>
                          <a:ea typeface="Arial"/>
                          <a:cs typeface="Arial"/>
                        </a:rPr>
                        <a:t>420 g</a:t>
                      </a:r>
                    </a:p>
                  </a:txBody>
                  <a:tcPr marL="114300" marR="114300" marT="19050" marB="19050" anchor="ctr">
                    <a:solidFill>
                      <a:srgbClr val="EFF2E8"/>
                    </a:solidFill>
                  </a:tcPr>
                </a:tc>
              </a:tr>
            </a:tbl>
          </a:graphicData>
        </a:graphic>
      </p:graphicFrame>
      <p:sp>
        <p:nvSpPr>
          <p:cNvPr id="7" name="Nutriente de la porción = gramos × valor por 100 g / 10">
            <a:extLst xmlns:a="http://schemas.openxmlformats.org/drawingml/2006/main">
              <a:ext uri="{FF2B5EF4-FFF2-40B4-BE49-F238E27FC236}">
                <a16:creationId xmlns:a16="http://schemas.microsoft.com/office/drawing/2014/main" id="{4FCDA7D3-E1D2-4527-841C-DF5A33845598}"/>
              </a:ext>
            </a:extLst>
          </p:cNvPr>
          <p:cNvSpPr>
            <a:spLocks xmlns:a="http://schemas.openxmlformats.org/drawingml/2006/main" noGrp="1"/>
          </p:cNvSpPr>
          <p:nvPr/>
        </p:nvSpPr>
        <p:spPr>
          <a:xfrm xmlns:a="http://schemas.openxmlformats.org/drawingml/2006/main">
            <a:off x="571500" y="4810125"/>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173F2F"/>
                </a:solidFill>
                <a:latin typeface="Arial"/>
                <a:ea typeface="Arial"/>
                <a:cs typeface="Arial"/>
              </a:defRPr>
            </a:defPPr>
          </a:lstStyle>
          <a:p xmlns:a="http://schemas.openxmlformats.org/drawingml/2006/main">
            <a:pPr>
              <a:defRPr sz="2325" b="1">
                <a:solidFill>
                  <a:srgbClr val="173F2F"/>
                </a:solidFill>
                <a:latin typeface="Arial"/>
                <a:ea typeface="Arial"/>
                <a:cs typeface="Arial"/>
              </a:defRPr>
            </a:pPr>
            <a:r>
              <a:rPr sz="2325" b="1">
                <a:solidFill>
                  <a:srgbClr val="173F2F"/>
                </a:solidFill>
                <a:latin typeface="Arial"/>
                <a:ea typeface="Arial"/>
                <a:cs typeface="Arial"/>
              </a:rPr>
              <a:t>Nutriente de la porción = gramos × valor por 100 g / 100</a:t>
            </a:r>
          </a:p>
        </p:txBody>
      </p:sp>
      <p:sp>
        <p:nvSpPr>
          <p:cNvPr id="8" name="Arroz cocido: 252 × 115 / 100 = 289,8 kcal [16]">
            <a:extLst xmlns:a="http://schemas.openxmlformats.org/drawingml/2006/main">
              <a:ext uri="{FF2B5EF4-FFF2-40B4-BE49-F238E27FC236}">
                <a16:creationId xmlns:a16="http://schemas.microsoft.com/office/drawing/2014/main" id="{60F15B6E-838F-49B1-A55E-D01000EBA02F}"/>
              </a:ext>
            </a:extLst>
          </p:cNvPr>
          <p:cNvSpPr>
            <a:spLocks xmlns:a="http://schemas.openxmlformats.org/drawingml/2006/main" noGrp="1"/>
          </p:cNvSpPr>
          <p:nvPr/>
        </p:nvSpPr>
        <p:spPr>
          <a:xfrm xmlns:a="http://schemas.openxmlformats.org/drawingml/2006/main">
            <a:off x="571500" y="5410200"/>
            <a:ext cx="11049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577161"/>
                </a:solidFill>
                <a:latin typeface="Arial"/>
                <a:ea typeface="Arial"/>
                <a:cs typeface="Arial"/>
              </a:defRPr>
            </a:defPPr>
          </a:lstStyle>
          <a:p xmlns:a="http://schemas.openxmlformats.org/drawingml/2006/main">
            <a:pPr>
              <a:defRPr sz="2025" b="0">
                <a:solidFill>
                  <a:srgbClr val="577161"/>
                </a:solidFill>
                <a:latin typeface="Arial"/>
                <a:ea typeface="Arial"/>
                <a:cs typeface="Arial"/>
              </a:defRPr>
            </a:pPr>
            <a:r>
              <a:rPr sz="2025" b="0">
                <a:solidFill>
                  <a:srgbClr val="577161"/>
                </a:solidFill>
                <a:latin typeface="Arial"/>
                <a:ea typeface="Arial"/>
                <a:cs typeface="Arial"/>
              </a:rPr>
              <a:t>Arroz cocido: 252 × 115 / 100 = 289,8 kcal [16]</a:t>
            </a:r>
          </a:p>
        </p:txBody>
      </p:sp>
      <p:sp>
        <p:nvSpPr>
          <p:cNvPr id="9" name="Ejemplo matemático · INS 2017 · 924 entradas · datos au">
            <a:extLst xmlns:a="http://schemas.openxmlformats.org/drawingml/2006/main">
              <a:ext uri="{FF2B5EF4-FFF2-40B4-BE49-F238E27FC236}">
                <a16:creationId xmlns:a16="http://schemas.microsoft.com/office/drawing/2014/main" id="{17AD40C9-DCC6-4705-92B6-90A9991AF1DA}"/>
              </a:ext>
            </a:extLst>
          </p:cNvPr>
          <p:cNvSpPr>
            <a:spLocks xmlns:a="http://schemas.openxmlformats.org/drawingml/2006/main" noGrp="1"/>
          </p:cNvSpPr>
          <p:nvPr/>
        </p:nvSpPr>
        <p:spPr>
          <a:xfrm xmlns:a="http://schemas.openxmlformats.org/drawingml/2006/main">
            <a:off x="571500" y="5953125"/>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Ejemplo matemático · INS 2017 · 924 entradas · datos ausentes conservados como “—”</a:t>
            </a:r>
          </a:p>
        </p:txBody>
      </p:sp>
    </p:spTree>
    <p:extLst>
      <p:ext uri="{BB962C8B-B14F-4D97-AF65-F5344CB8AC3E}">
        <p14:creationId xmlns:p14="http://schemas.microsoft.com/office/powerpoint/2010/main" val="2052955696"/>
      </p:ext>
    </p:extLst>
  </p:cSld>
</p:sld>
</file>

<file path=ppt/slides/slide32.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1" name="Avance del parcial y siguiente etapa">
            <a:extLst xmlns:a="http://schemas.openxmlformats.org/drawingml/2006/main">
              <a:ext uri="{FF2B5EF4-FFF2-40B4-BE49-F238E27FC236}">
                <a16:creationId xmlns:a16="http://schemas.microsoft.com/office/drawing/2014/main" id="{422C63DD-66A8-4A6E-A471-16394E4B816C}"/>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Avance del parcial y siguiente etapa</a:t>
            </a:r>
          </a:p>
        </p:txBody>
      </p:sp>
      <p:sp>
        <p:nvSpPr>
          <p:cNvPr id="2" name="La demostración y su guion se prepararán por separado">
            <a:extLst xmlns:a="http://schemas.openxmlformats.org/drawingml/2006/main">
              <a:ext uri="{FF2B5EF4-FFF2-40B4-BE49-F238E27FC236}">
                <a16:creationId xmlns:a16="http://schemas.microsoft.com/office/drawing/2014/main" id="{637C69A9-24EF-4C54-843E-E72F588A0AB5}"/>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La demostración y su guion se prepararán por separado</a:t>
            </a:r>
          </a:p>
        </p:txBody>
      </p:sp>
      <p:sp>
        <p:nvSpPr>
          <p:cNvPr id="3" name="Fuentes [24] · Referencias al final">
            <a:extLst xmlns:a="http://schemas.openxmlformats.org/drawingml/2006/main">
              <a:ext uri="{FF2B5EF4-FFF2-40B4-BE49-F238E27FC236}">
                <a16:creationId xmlns:a16="http://schemas.microsoft.com/office/drawing/2014/main" id="{AEE3FEC9-6C54-4E8E-93A6-9A4F197E175D}"/>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[24] · Referencias al final</a:t>
            </a:r>
          </a:p>
        </p:txBody>
      </p:sp>
      <p:sp>
        <p:nvSpPr>
          <p:cNvPr id="4" name="32">
            <a:extLst xmlns:a="http://schemas.openxmlformats.org/drawingml/2006/main">
              <a:ext uri="{FF2B5EF4-FFF2-40B4-BE49-F238E27FC236}">
                <a16:creationId xmlns:a16="http://schemas.microsoft.com/office/drawing/2014/main" id="{418A0EDF-D5CD-408D-AB83-F75EF589E093}"/>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32</a:t>
            </a:r>
          </a:p>
        </p:txBody>
      </p:sp>
      <p:sp>
        <p:nvSpPr>
          <p:cNvPr id="5" name="Implementado en la app">
            <a:extLst xmlns:a="http://schemas.openxmlformats.org/drawingml/2006/main">
              <a:ext uri="{FF2B5EF4-FFF2-40B4-BE49-F238E27FC236}">
                <a16:creationId xmlns:a16="http://schemas.microsoft.com/office/drawing/2014/main" id="{7D0BB6E2-3A0E-453A-8C63-10C88097FEA7}"/>
              </a:ext>
            </a:extLst>
          </p:cNvPr>
          <p:cNvSpPr>
            <a:spLocks xmlns:a="http://schemas.openxmlformats.org/drawingml/2006/main" noGrp="1"/>
          </p:cNvSpPr>
          <p:nvPr/>
        </p:nvSpPr>
        <p:spPr>
          <a:xfrm xmlns:a="http://schemas.openxmlformats.org/drawingml/2006/main">
            <a:off x="571500" y="1790700"/>
            <a:ext cx="5095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73F2F"/>
                </a:solidFill>
                <a:latin typeface="Arial"/>
                <a:ea typeface="Arial"/>
                <a:cs typeface="Arial"/>
              </a:defRPr>
            </a:defPPr>
          </a:lstStyle>
          <a:p xmlns:a="http://schemas.openxmlformats.org/drawingml/2006/main">
            <a:pPr>
              <a:defRPr sz="2400" b="1">
                <a:solidFill>
                  <a:srgbClr val="173F2F"/>
                </a:solidFill>
                <a:latin typeface="Arial"/>
                <a:ea typeface="Arial"/>
                <a:cs typeface="Arial"/>
              </a:defRPr>
            </a:pPr>
            <a:r>
              <a:rPr sz="2400" b="1">
                <a:solidFill>
                  <a:srgbClr val="173F2F"/>
                </a:solidFill>
                <a:latin typeface="Arial"/>
                <a:ea typeface="Arial"/>
                <a:cs typeface="Arial"/>
              </a:rPr>
              <a:t>Implementado en la app</a:t>
            </a:r>
          </a:p>
        </p:txBody>
      </p:sp>
      <p:sp>
        <p:nvSpPr>
          <p:cNvPr id="6" name="Foto o galería + peso único&#10;Identificación y reparto po">
            <a:extLst xmlns:a="http://schemas.openxmlformats.org/drawingml/2006/main">
              <a:ext uri="{FF2B5EF4-FFF2-40B4-BE49-F238E27FC236}">
                <a16:creationId xmlns:a16="http://schemas.microsoft.com/office/drawing/2014/main" id="{E94E32D1-ACFC-406A-AEF0-6B3DF6C3037B}"/>
              </a:ext>
            </a:extLst>
          </p:cNvPr>
          <p:cNvSpPr>
            <a:spLocks xmlns:a="http://schemas.openxmlformats.org/drawingml/2006/main" noGrp="1"/>
          </p:cNvSpPr>
          <p:nvPr/>
        </p:nvSpPr>
        <p:spPr>
          <a:xfrm xmlns:a="http://schemas.openxmlformats.org/drawingml/2006/main">
            <a:off x="571500" y="2466975"/>
            <a:ext cx="5095875"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73F2F"/>
                </a:solidFill>
                <a:latin typeface="Arial"/>
                <a:ea typeface="Arial"/>
                <a:cs typeface="Arial"/>
              </a:defRPr>
            </a:defPPr>
          </a:lstStyle>
          <a:p xmlns:a="http://schemas.openxmlformats.org/drawingml/2006/main">
            <a:pPr>
              <a:defRPr sz="2100" b="0">
                <a:solidFill>
                  <a:srgbClr val="173F2F"/>
                </a:solidFill>
                <a:latin typeface="Arial"/>
                <a:ea typeface="Arial"/>
                <a:cs typeface="Arial"/>
              </a:defRPr>
            </a:pPr>
            <a:r>
              <a:rPr sz="2100" b="0">
                <a:solidFill>
                  <a:srgbClr val="173F2F"/>
                </a:solidFill>
                <a:latin typeface="Arial"/>
                <a:ea typeface="Arial"/>
                <a:cs typeface="Arial"/>
              </a:rPr>
              <a:t>Foto o galería + peso único</a:t>
            </a:r>
          </a:p>
          <a:p xmlns:a="http://schemas.openxmlformats.org/drawingml/2006/main">
            <a:pPr>
              <a:defRPr sz="2100" b="0">
                <a:solidFill>
                  <a:srgbClr val="173F2F"/>
                </a:solidFill>
                <a:latin typeface="Arial"/>
                <a:ea typeface="Arial"/>
                <a:cs typeface="Arial"/>
              </a:defRPr>
            </a:pPr>
            <a:r>
              <a:rPr sz="2100" b="0">
                <a:solidFill>
                  <a:srgbClr val="173F2F"/>
                </a:solidFill>
                <a:latin typeface="Arial"/>
                <a:ea typeface="Arial"/>
                <a:cs typeface="Arial"/>
              </a:rPr>
              <a:t>Identificación y reparto por IA</a:t>
            </a:r>
          </a:p>
          <a:p xmlns:a="http://schemas.openxmlformats.org/drawingml/2006/main">
            <a:pPr>
              <a:defRPr sz="2100" b="0">
                <a:solidFill>
                  <a:srgbClr val="173F2F"/>
                </a:solidFill>
                <a:latin typeface="Arial"/>
                <a:ea typeface="Arial"/>
                <a:cs typeface="Arial"/>
              </a:defRPr>
            </a:pPr>
            <a:r>
              <a:rPr sz="2100" b="0">
                <a:solidFill>
                  <a:srgbClr val="173F2F"/>
                </a:solidFill>
                <a:latin typeface="Arial"/>
                <a:ea typeface="Arial"/>
                <a:cs typeface="Arial"/>
              </a:rPr>
              <a:t>TPCA peruana y cálculo nutricional</a:t>
            </a:r>
          </a:p>
          <a:p xmlns:a="http://schemas.openxmlformats.org/drawingml/2006/main">
            <a:pPr>
              <a:defRPr sz="2100" b="0">
                <a:solidFill>
                  <a:srgbClr val="173F2F"/>
                </a:solidFill>
                <a:latin typeface="Arial"/>
                <a:ea typeface="Arial"/>
                <a:cs typeface="Arial"/>
              </a:defRPr>
            </a:pPr>
            <a:r>
              <a:rPr sz="2100" b="0">
                <a:solidFill>
                  <a:srgbClr val="173F2F"/>
                </a:solidFill>
                <a:latin typeface="Arial"/>
                <a:ea typeface="Arial"/>
                <a:cs typeface="Arial"/>
              </a:rPr>
              <a:t>Revisión, ajustes e historial local</a:t>
            </a:r>
          </a:p>
        </p:txBody>
      </p:sp>
      <p:sp>
        <p:nvSpPr>
          <p:cNvPr id="7" name="Construcción y validación">
            <a:extLst xmlns:a="http://schemas.openxmlformats.org/drawingml/2006/main">
              <a:ext uri="{FF2B5EF4-FFF2-40B4-BE49-F238E27FC236}">
                <a16:creationId xmlns:a16="http://schemas.microsoft.com/office/drawing/2014/main" id="{6C11D816-B34C-4B43-94C3-349D77BC08F1}"/>
              </a:ext>
            </a:extLst>
          </p:cNvPr>
          <p:cNvSpPr>
            <a:spLocks xmlns:a="http://schemas.openxmlformats.org/drawingml/2006/main" noGrp="1"/>
          </p:cNvSpPr>
          <p:nvPr/>
        </p:nvSpPr>
        <p:spPr>
          <a:xfrm xmlns:a="http://schemas.openxmlformats.org/drawingml/2006/main">
            <a:off x="6553200" y="1790700"/>
            <a:ext cx="5095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73F2F"/>
                </a:solidFill>
                <a:latin typeface="Arial"/>
                <a:ea typeface="Arial"/>
                <a:cs typeface="Arial"/>
              </a:defRPr>
            </a:defPPr>
          </a:lstStyle>
          <a:p xmlns:a="http://schemas.openxmlformats.org/drawingml/2006/main">
            <a:pPr>
              <a:defRPr sz="2400" b="1">
                <a:solidFill>
                  <a:srgbClr val="173F2F"/>
                </a:solidFill>
                <a:latin typeface="Arial"/>
                <a:ea typeface="Arial"/>
                <a:cs typeface="Arial"/>
              </a:defRPr>
            </a:pPr>
            <a:r>
              <a:rPr sz="2400" b="1">
                <a:solidFill>
                  <a:srgbClr val="173F2F"/>
                </a:solidFill>
                <a:latin typeface="Arial"/>
                <a:ea typeface="Arial"/>
                <a:cs typeface="Arial"/>
              </a:rPr>
              <a:t>Construcción y validación</a:t>
            </a:r>
          </a:p>
        </p:txBody>
      </p:sp>
      <p:sp>
        <p:nvSpPr>
          <p:cNvPr id="8" name="Montar celda, cámara y electrónica&#10;Calibrar y comprobar">
            <a:extLst xmlns:a="http://schemas.openxmlformats.org/drawingml/2006/main">
              <a:ext uri="{FF2B5EF4-FFF2-40B4-BE49-F238E27FC236}">
                <a16:creationId xmlns:a16="http://schemas.microsoft.com/office/drawing/2014/main" id="{F586D7A1-7D1E-463E-B1C5-1A439BB435CD}"/>
              </a:ext>
            </a:extLst>
          </p:cNvPr>
          <p:cNvSpPr>
            <a:spLocks xmlns:a="http://schemas.openxmlformats.org/drawingml/2006/main" noGrp="1"/>
          </p:cNvSpPr>
          <p:nvPr/>
        </p:nvSpPr>
        <p:spPr>
          <a:xfrm xmlns:a="http://schemas.openxmlformats.org/drawingml/2006/main">
            <a:off x="6553200" y="2466975"/>
            <a:ext cx="5095875"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73F2F"/>
                </a:solidFill>
                <a:latin typeface="Arial"/>
                <a:ea typeface="Arial"/>
                <a:cs typeface="Arial"/>
              </a:defRPr>
            </a:defPPr>
          </a:lstStyle>
          <a:p xmlns:a="http://schemas.openxmlformats.org/drawingml/2006/main">
            <a:pPr>
              <a:defRPr sz="2100" b="0">
                <a:solidFill>
                  <a:srgbClr val="173F2F"/>
                </a:solidFill>
                <a:latin typeface="Arial"/>
                <a:ea typeface="Arial"/>
                <a:cs typeface="Arial"/>
              </a:defRPr>
            </a:pPr>
            <a:r>
              <a:rPr sz="2100" b="0">
                <a:solidFill>
                  <a:srgbClr val="173F2F"/>
                </a:solidFill>
                <a:latin typeface="Arial"/>
                <a:ea typeface="Arial"/>
                <a:cs typeface="Arial"/>
              </a:rPr>
              <a:t>Montar celda, cámara y electrónica</a:t>
            </a:r>
          </a:p>
          <a:p xmlns:a="http://schemas.openxmlformats.org/drawingml/2006/main">
            <a:pPr>
              <a:defRPr sz="2100" b="0">
                <a:solidFill>
                  <a:srgbClr val="173F2F"/>
                </a:solidFill>
                <a:latin typeface="Arial"/>
                <a:ea typeface="Arial"/>
                <a:cs typeface="Arial"/>
              </a:defRPr>
            </a:pPr>
            <a:r>
              <a:rPr sz="2100" b="0">
                <a:solidFill>
                  <a:srgbClr val="173F2F"/>
                </a:solidFill>
                <a:latin typeface="Arial"/>
                <a:ea typeface="Arial"/>
                <a:cs typeface="Arial"/>
              </a:rPr>
              <a:t>Calibrar y comprobar repetibilidad</a:t>
            </a:r>
          </a:p>
          <a:p xmlns:a="http://schemas.openxmlformats.org/drawingml/2006/main">
            <a:pPr>
              <a:defRPr sz="2100" b="0">
                <a:solidFill>
                  <a:srgbClr val="173F2F"/>
                </a:solidFill>
                <a:latin typeface="Arial"/>
                <a:ea typeface="Arial"/>
                <a:cs typeface="Arial"/>
              </a:defRPr>
            </a:pPr>
            <a:r>
              <a:rPr sz="2100" b="0">
                <a:solidFill>
                  <a:srgbClr val="173F2F"/>
                </a:solidFill>
                <a:latin typeface="Arial"/>
                <a:ea typeface="Arial"/>
                <a:cs typeface="Arial"/>
              </a:rPr>
              <a:t>Conectar caja y app por Wi-Fi</a:t>
            </a:r>
          </a:p>
          <a:p xmlns:a="http://schemas.openxmlformats.org/drawingml/2006/main">
            <a:pPr>
              <a:defRPr sz="2100" b="0">
                <a:solidFill>
                  <a:srgbClr val="173F2F"/>
                </a:solidFill>
                <a:latin typeface="Arial"/>
                <a:ea typeface="Arial"/>
                <a:cs typeface="Arial"/>
              </a:defRPr>
            </a:pPr>
            <a:r>
              <a:rPr sz="2100" b="0">
                <a:solidFill>
                  <a:srgbClr val="173F2F"/>
                </a:solidFill>
                <a:latin typeface="Arial"/>
                <a:ea typeface="Arial"/>
                <a:cs typeface="Arial"/>
              </a:rPr>
              <a:t>Comparar al menos 30 porciones</a:t>
            </a:r>
          </a:p>
        </p:txBody>
      </p:sp>
      <p:sp>
        <p:nvSpPr>
          <p:cNvPr id="9" name="Medido: peso total externo&#10;Estimado: gramos por aliment">
            <a:extLst xmlns:a="http://schemas.openxmlformats.org/drawingml/2006/main">
              <a:ext uri="{FF2B5EF4-FFF2-40B4-BE49-F238E27FC236}">
                <a16:creationId xmlns:a16="http://schemas.microsoft.com/office/drawing/2014/main" id="{DF7CCDAA-460F-47EA-9D0D-2170372C99E4}"/>
              </a:ext>
            </a:extLst>
          </p:cNvPr>
          <p:cNvSpPr>
            <a:spLocks xmlns:a="http://schemas.openxmlformats.org/drawingml/2006/main" noGrp="1"/>
          </p:cNvSpPr>
          <p:nvPr/>
        </p:nvSpPr>
        <p:spPr>
          <a:xfrm xmlns:a="http://schemas.openxmlformats.org/drawingml/2006/main">
            <a:off x="571500" y="4876800"/>
            <a:ext cx="50958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577161"/>
                </a:solidFill>
                <a:latin typeface="Arial"/>
                <a:ea typeface="Arial"/>
                <a:cs typeface="Arial"/>
              </a:defRPr>
            </a:defPPr>
          </a:lstStyle>
          <a:p xmlns:a="http://schemas.openxmlformats.org/drawingml/2006/main">
            <a:pPr>
              <a:defRPr sz="2100" b="0">
                <a:solidFill>
                  <a:srgbClr val="577161"/>
                </a:solidFill>
                <a:latin typeface="Arial"/>
                <a:ea typeface="Arial"/>
                <a:cs typeface="Arial"/>
              </a:defRPr>
            </a:pPr>
            <a:r>
              <a:rPr sz="2100" b="0">
                <a:solidFill>
                  <a:srgbClr val="577161"/>
                </a:solidFill>
                <a:latin typeface="Arial"/>
                <a:ea typeface="Arial"/>
                <a:cs typeface="Arial"/>
              </a:rPr>
              <a:t>Medido: peso total externo</a:t>
            </a:r>
          </a:p>
          <a:p xmlns:a="http://schemas.openxmlformats.org/drawingml/2006/main">
            <a:pPr>
              <a:defRPr sz="2100" b="0">
                <a:solidFill>
                  <a:srgbClr val="577161"/>
                </a:solidFill>
                <a:latin typeface="Arial"/>
                <a:ea typeface="Arial"/>
                <a:cs typeface="Arial"/>
              </a:defRPr>
            </a:pPr>
            <a:r>
              <a:rPr sz="2100" b="0">
                <a:solidFill>
                  <a:srgbClr val="577161"/>
                </a:solidFill>
                <a:latin typeface="Arial"/>
                <a:ea typeface="Arial"/>
                <a:cs typeface="Arial"/>
              </a:rPr>
              <a:t>Estimado: gramos por alimento</a:t>
            </a:r>
          </a:p>
          <a:p xmlns:a="http://schemas.openxmlformats.org/drawingml/2006/main">
            <a:pPr>
              <a:defRPr sz="2100" b="0">
                <a:solidFill>
                  <a:srgbClr val="577161"/>
                </a:solidFill>
                <a:latin typeface="Arial"/>
                <a:ea typeface="Arial"/>
                <a:cs typeface="Arial"/>
              </a:defRPr>
            </a:pPr>
            <a:r>
              <a:rPr sz="2100" b="0">
                <a:solidFill>
                  <a:srgbClr val="577161"/>
                </a:solidFill>
                <a:latin typeface="Arial"/>
                <a:ea typeface="Arial"/>
                <a:cs typeface="Arial"/>
              </a:rPr>
              <a:t>Calculado: kcal y macronutrientes</a:t>
            </a:r>
          </a:p>
        </p:txBody>
      </p:sp>
      <p:sp>
        <p:nvSpPr>
          <p:cNvPr id="10" name="Metas pendientes&#10;≤ 20 % error de cantidad&#10;≤ 1 % error d">
            <a:extLst xmlns:a="http://schemas.openxmlformats.org/drawingml/2006/main">
              <a:ext uri="{FF2B5EF4-FFF2-40B4-BE49-F238E27FC236}">
                <a16:creationId xmlns:a16="http://schemas.microsoft.com/office/drawing/2014/main" id="{1DD27997-0D6F-4650-AE46-86E8CD29163F}"/>
              </a:ext>
            </a:extLst>
          </p:cNvPr>
          <p:cNvSpPr>
            <a:spLocks xmlns:a="http://schemas.openxmlformats.org/drawingml/2006/main" noGrp="1"/>
          </p:cNvSpPr>
          <p:nvPr/>
        </p:nvSpPr>
        <p:spPr>
          <a:xfrm xmlns:a="http://schemas.openxmlformats.org/drawingml/2006/main">
            <a:off x="6553200" y="4762500"/>
            <a:ext cx="5095875"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577161"/>
                </a:solidFill>
                <a:latin typeface="Arial"/>
                <a:ea typeface="Arial"/>
                <a:cs typeface="Arial"/>
              </a:defRPr>
            </a:defPPr>
          </a:lstStyle>
          <a:p xmlns:a="http://schemas.openxmlformats.org/drawingml/2006/main">
            <a:pPr>
              <a:defRPr sz="2100" b="0">
                <a:solidFill>
                  <a:srgbClr val="577161"/>
                </a:solidFill>
                <a:latin typeface="Arial"/>
                <a:ea typeface="Arial"/>
                <a:cs typeface="Arial"/>
              </a:defRPr>
            </a:pPr>
            <a:r>
              <a:rPr sz="2100" b="0">
                <a:solidFill>
                  <a:srgbClr val="577161"/>
                </a:solidFill>
                <a:latin typeface="Arial"/>
                <a:ea typeface="Arial"/>
                <a:cs typeface="Arial"/>
              </a:rPr>
              <a:t>Metas pendientes</a:t>
            </a:r>
          </a:p>
          <a:p xmlns:a="http://schemas.openxmlformats.org/drawingml/2006/main">
            <a:pPr>
              <a:defRPr sz="2100" b="0">
                <a:solidFill>
                  <a:srgbClr val="577161"/>
                </a:solidFill>
                <a:latin typeface="Arial"/>
                <a:ea typeface="Arial"/>
                <a:cs typeface="Arial"/>
              </a:defRPr>
            </a:pPr>
            <a:r>
              <a:rPr sz="2100" b="0">
                <a:solidFill>
                  <a:srgbClr val="577161"/>
                </a:solidFill>
                <a:latin typeface="Arial"/>
                <a:ea typeface="Arial"/>
                <a:cs typeface="Arial"/>
              </a:rPr>
              <a:t>≤ 20 % error de cantidad</a:t>
            </a:r>
          </a:p>
          <a:p xmlns:a="http://schemas.openxmlformats.org/drawingml/2006/main">
            <a:pPr>
              <a:defRPr sz="2100" b="0">
                <a:solidFill>
                  <a:srgbClr val="577161"/>
                </a:solidFill>
                <a:latin typeface="Arial"/>
                <a:ea typeface="Arial"/>
                <a:cs typeface="Arial"/>
              </a:defRPr>
            </a:pPr>
            <a:r>
              <a:rPr sz="2100" b="0">
                <a:solidFill>
                  <a:srgbClr val="577161"/>
                </a:solidFill>
                <a:latin typeface="Arial"/>
                <a:ea typeface="Arial"/>
                <a:cs typeface="Arial"/>
              </a:rPr>
              <a:t>≤ 1 % error del cálculo</a:t>
            </a:r>
          </a:p>
          <a:p xmlns:a="http://schemas.openxmlformats.org/drawingml/2006/main">
            <a:pPr>
              <a:defRPr sz="2100" b="0">
                <a:solidFill>
                  <a:srgbClr val="577161"/>
                </a:solidFill>
                <a:latin typeface="Arial"/>
                <a:ea typeface="Arial"/>
                <a:cs typeface="Arial"/>
              </a:defRPr>
            </a:pPr>
            <a:r>
              <a:rPr sz="2100" b="0">
                <a:solidFill>
                  <a:srgbClr val="577161"/>
                </a:solidFill>
                <a:latin typeface="Arial"/>
                <a:ea typeface="Arial"/>
                <a:cs typeface="Arial"/>
              </a:rPr>
              <a:t>≤ 60 s y ≤ 5 acciones</a:t>
            </a:r>
          </a:p>
        </p:txBody>
      </p:sp>
    </p:spTree>
    <p:extLst>
      <p:ext uri="{BB962C8B-B14F-4D97-AF65-F5344CB8AC3E}">
        <p14:creationId xmlns:p14="http://schemas.microsoft.com/office/powerpoint/2010/main" val="930717065"/>
      </p:ext>
    </p:extLst>
  </p:cSld>
</p:sld>
</file>

<file path=ppt/slides/slide33.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8" name="Una porción que puedes revisar">
            <a:extLst xmlns:a="http://schemas.openxmlformats.org/drawingml/2006/main">
              <a:ext uri="{FF2B5EF4-FFF2-40B4-BE49-F238E27FC236}">
                <a16:creationId xmlns:a16="http://schemas.microsoft.com/office/drawing/2014/main" id="{45AB23CD-2FEE-4E09-9171-EDD51D5E7056}"/>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Una porción que puedes revisar</a:t>
            </a:r>
          </a:p>
        </p:txBody>
      </p:sp>
      <p:sp>
        <p:nvSpPr>
          <p:cNvPr id="2" name="FoodScan · Equipo 10">
            <a:extLst xmlns:a="http://schemas.openxmlformats.org/drawingml/2006/main">
              <a:ext uri="{FF2B5EF4-FFF2-40B4-BE49-F238E27FC236}">
                <a16:creationId xmlns:a16="http://schemas.microsoft.com/office/drawing/2014/main" id="{938CB1B5-3F8D-497F-9751-1066D8866C87}"/>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FoodScan · Equipo 10</a:t>
            </a:r>
          </a:p>
        </p:txBody>
      </p:sp>
      <p:sp>
        <p:nvSpPr>
          <p:cNvPr id="3" name="33">
            <a:extLst xmlns:a="http://schemas.openxmlformats.org/drawingml/2006/main">
              <a:ext uri="{FF2B5EF4-FFF2-40B4-BE49-F238E27FC236}">
                <a16:creationId xmlns:a16="http://schemas.microsoft.com/office/drawing/2014/main" id="{D624BA1B-84E1-4006-9838-54109B582D0E}"/>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33</a:t>
            </a:r>
          </a:p>
        </p:txBody>
      </p:sp>
      <p:sp>
        <p:nvSpPr>
          <p:cNvPr id="4" name="Foto + peso total&#10;+ referencia peruana">
            <a:extLst xmlns:a="http://schemas.openxmlformats.org/drawingml/2006/main">
              <a:ext uri="{FF2B5EF4-FFF2-40B4-BE49-F238E27FC236}">
                <a16:creationId xmlns:a16="http://schemas.microsoft.com/office/drawing/2014/main" id="{50D4086D-DA30-4A7D-B79E-D3051D48A63F}"/>
              </a:ext>
            </a:extLst>
          </p:cNvPr>
          <p:cNvSpPr>
            <a:spLocks xmlns:a="http://schemas.openxmlformats.org/drawingml/2006/main" noGrp="1"/>
          </p:cNvSpPr>
          <p:nvPr/>
        </p:nvSpPr>
        <p:spPr>
          <a:xfrm xmlns:a="http://schemas.openxmlformats.org/drawingml/2006/main">
            <a:off x="571500" y="1809750"/>
            <a:ext cx="6953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275" b="1">
                <a:solidFill>
                  <a:srgbClr val="173F2F"/>
                </a:solidFill>
                <a:latin typeface="Arial"/>
                <a:ea typeface="Arial"/>
                <a:cs typeface="Arial"/>
              </a:defRPr>
            </a:defPPr>
          </a:lstStyle>
          <a:p xmlns:a="http://schemas.openxmlformats.org/drawingml/2006/main">
            <a:pPr>
              <a:defRPr sz="4275" b="1">
                <a:solidFill>
                  <a:srgbClr val="173F2F"/>
                </a:solidFill>
                <a:latin typeface="Arial"/>
                <a:ea typeface="Arial"/>
                <a:cs typeface="Arial"/>
              </a:defRPr>
            </a:pPr>
            <a:r>
              <a:rPr sz="4275" b="1">
                <a:solidFill>
                  <a:srgbClr val="173F2F"/>
                </a:solidFill>
                <a:latin typeface="Arial"/>
                <a:ea typeface="Arial"/>
                <a:cs typeface="Arial"/>
              </a:rPr>
              <a:t>Foto + peso total</a:t>
            </a:r>
          </a:p>
          <a:p xmlns:a="http://schemas.openxmlformats.org/drawingml/2006/main">
            <a:pPr>
              <a:defRPr sz="4275" b="1">
                <a:solidFill>
                  <a:srgbClr val="173F2F"/>
                </a:solidFill>
                <a:latin typeface="Arial"/>
                <a:ea typeface="Arial"/>
                <a:cs typeface="Arial"/>
              </a:defRPr>
            </a:pPr>
            <a:r>
              <a:rPr sz="4275" b="1">
                <a:solidFill>
                  <a:srgbClr val="173F2F"/>
                </a:solidFill>
                <a:latin typeface="Arial"/>
                <a:ea typeface="Arial"/>
                <a:cs typeface="Arial"/>
              </a:rPr>
              <a:t>+ referencia peruana</a:t>
            </a:r>
          </a:p>
        </p:txBody>
      </p:sp>
      <p:sp>
        <p:nvSpPr>
          <p:cNvPr id="5" name="Gramos, kcal y macronutrientes&#10;con revisión antes de gu">
            <a:extLst xmlns:a="http://schemas.openxmlformats.org/drawingml/2006/main">
              <a:ext uri="{FF2B5EF4-FFF2-40B4-BE49-F238E27FC236}">
                <a16:creationId xmlns:a16="http://schemas.microsoft.com/office/drawing/2014/main" id="{EF9EB695-2FCB-4B48-8F6D-F002CF9D96E4}"/>
              </a:ext>
            </a:extLst>
          </p:cNvPr>
          <p:cNvSpPr>
            <a:spLocks xmlns:a="http://schemas.openxmlformats.org/drawingml/2006/main" noGrp="1"/>
          </p:cNvSpPr>
          <p:nvPr/>
        </p:nvSpPr>
        <p:spPr>
          <a:xfrm xmlns:a="http://schemas.openxmlformats.org/drawingml/2006/main">
            <a:off x="571500" y="4133850"/>
            <a:ext cx="70770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0">
                <a:solidFill>
                  <a:srgbClr val="577161"/>
                </a:solidFill>
                <a:latin typeface="Arial"/>
                <a:ea typeface="Arial"/>
                <a:cs typeface="Arial"/>
              </a:defRPr>
            </a:defPPr>
          </a:lstStyle>
          <a:p xmlns:a="http://schemas.openxmlformats.org/drawingml/2006/main">
            <a:pPr>
              <a:defRPr sz="2700" b="0">
                <a:solidFill>
                  <a:srgbClr val="577161"/>
                </a:solidFill>
                <a:latin typeface="Arial"/>
                <a:ea typeface="Arial"/>
                <a:cs typeface="Arial"/>
              </a:defRPr>
            </a:pPr>
            <a:r>
              <a:rPr sz="2700" b="0">
                <a:solidFill>
                  <a:srgbClr val="577161"/>
                </a:solidFill>
                <a:latin typeface="Arial"/>
                <a:ea typeface="Arial"/>
                <a:cs typeface="Arial"/>
              </a:rPr>
              <a:t>Gramos, kcal y macronutrientes</a:t>
            </a:r>
          </a:p>
          <a:p xmlns:a="http://schemas.openxmlformats.org/drawingml/2006/main">
            <a:pPr>
              <a:defRPr sz="2700" b="0">
                <a:solidFill>
                  <a:srgbClr val="577161"/>
                </a:solidFill>
                <a:latin typeface="Arial"/>
                <a:ea typeface="Arial"/>
                <a:cs typeface="Arial"/>
              </a:defRPr>
            </a:pPr>
            <a:r>
              <a:rPr sz="2700" b="0">
                <a:solidFill>
                  <a:srgbClr val="577161"/>
                </a:solidFill>
                <a:latin typeface="Arial"/>
                <a:ea typeface="Arial"/>
                <a:cs typeface="Arial"/>
              </a:rPr>
              <a:t>con revisión antes de guardar</a:t>
            </a:r>
          </a:p>
        </p:txBody>
      </p:sp>
      <p:pic>
        <p:nvPicPr>
          <p:cNvPr id="6" name="">
            <a:extLst xmlns:a="http://schemas.openxmlformats.org/drawingml/2006/main">
              <a:ext uri="{FF2B5EF4-FFF2-40B4-BE49-F238E27FC236}">
                <a16:creationId xmlns:a16="http://schemas.microsoft.com/office/drawing/2014/main" id="{6E62F5B2-A528-40DA-8320-9132E5B89A01}"/>
              </a:ext>
            </a:extLst>
          </p:cNvPr>
          <p:cNvPicPr>
            <a:picLocks xmlns:a="http://schemas.openxmlformats.org/drawingml/2006/main" noChangeAspect="1"/>
          </p:cNvPicPr>
          <p:nvPr/>
        </p:nvPicPr>
        <p:blipFill>
          <a:blip xmlns:r="http://schemas.openxmlformats.org/officeDocument/2006/relationships" xmlns:a="http://schemas.openxmlformats.org/drawingml/2006/main" r:embed="R5ba0d83683ce44c1"/>
          <a:stretch xmlns:a="http://schemas.openxmlformats.org/drawingml/2006/main"/>
        </p:blipFill>
        <p:spPr>
          <a:xfrm xmlns:a="http://schemas.openxmlformats.org/drawingml/2006/main">
            <a:off x="8511500" y="1590675"/>
            <a:ext cx="2646124" cy="3790950"/>
          </a:xfrm>
          <a:prstGeom xmlns:a="http://schemas.openxmlformats.org/drawingml/2006/main" prst="rect">
            <a:avLst/>
          </a:prstGeom>
        </p:spPr>
      </p:pic>
      <p:sp>
        <p:nvSpPr>
          <p:cNvPr id="7" name="FoodScan · Equipo 10">
            <a:extLst xmlns:a="http://schemas.openxmlformats.org/drawingml/2006/main">
              <a:ext uri="{FF2B5EF4-FFF2-40B4-BE49-F238E27FC236}">
                <a16:creationId xmlns:a16="http://schemas.microsoft.com/office/drawing/2014/main" id="{90A17DED-43A3-40B5-871A-0D56A9558DF7}"/>
              </a:ext>
            </a:extLst>
          </p:cNvPr>
          <p:cNvSpPr>
            <a:spLocks xmlns:a="http://schemas.openxmlformats.org/drawingml/2006/main" noGrp="1"/>
          </p:cNvSpPr>
          <p:nvPr/>
        </p:nvSpPr>
        <p:spPr>
          <a:xfrm xmlns:a="http://schemas.openxmlformats.org/drawingml/2006/main">
            <a:off x="571500" y="5772150"/>
            <a:ext cx="704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173F2F"/>
                </a:solidFill>
                <a:latin typeface="Arial"/>
                <a:ea typeface="Arial"/>
                <a:cs typeface="Arial"/>
              </a:defRPr>
            </a:defPPr>
          </a:lstStyle>
          <a:p xmlns:a="http://schemas.openxmlformats.org/drawingml/2006/main">
            <a:pPr>
              <a:defRPr sz="2325" b="1">
                <a:solidFill>
                  <a:srgbClr val="173F2F"/>
                </a:solidFill>
                <a:latin typeface="Arial"/>
                <a:ea typeface="Arial"/>
                <a:cs typeface="Arial"/>
              </a:defRPr>
            </a:pPr>
            <a:r>
              <a:rPr sz="2325" b="1">
                <a:solidFill>
                  <a:srgbClr val="173F2F"/>
                </a:solidFill>
                <a:latin typeface="Arial"/>
                <a:ea typeface="Arial"/>
                <a:cs typeface="Arial"/>
              </a:rPr>
              <a:t>FoodScan · Equipo 10</a:t>
            </a:r>
          </a:p>
        </p:txBody>
      </p:sp>
    </p:spTree>
    <p:extLst>
      <p:ext uri="{BB962C8B-B14F-4D97-AF65-F5344CB8AC3E}">
        <p14:creationId xmlns:p14="http://schemas.microsoft.com/office/powerpoint/2010/main" val="1266338316"/>
      </p:ext>
    </p:extLst>
  </p:cSld>
</p:sld>
</file>

<file path=ppt/slides/slide34.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7" name="Anexo · Lista completa de exigencias (1/2)">
            <a:extLst xmlns:a="http://schemas.openxmlformats.org/drawingml/2006/main">
              <a:ext uri="{FF2B5EF4-FFF2-40B4-BE49-F238E27FC236}">
                <a16:creationId xmlns:a16="http://schemas.microsoft.com/office/drawing/2014/main" id="{CF039AE0-E4F8-4D63-BFAA-A9706D386705}"/>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Anexo · Lista completa de exigencias (1/2)</a:t>
            </a:r>
          </a:p>
        </p:txBody>
      </p:sp>
      <p:sp>
        <p:nvSpPr>
          <p:cNvPr id="2" name="Versión del Taller 04 y LE25 incorporada en el Taller 7">
            <a:extLst xmlns:a="http://schemas.openxmlformats.org/drawingml/2006/main">
              <a:ext uri="{FF2B5EF4-FFF2-40B4-BE49-F238E27FC236}">
                <a16:creationId xmlns:a16="http://schemas.microsoft.com/office/drawing/2014/main" id="{33942DD5-3795-4665-ADCD-741A5A0EA18C}"/>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Versión del Taller 04 y LE25 incorporada en el Taller 7. E obligatoria; D deseable.</a:t>
            </a:r>
          </a:p>
        </p:txBody>
      </p:sp>
      <p:sp>
        <p:nvSpPr>
          <p:cNvPr id="3" name="Fuentes [24] · Referencias al final">
            <a:extLst xmlns:a="http://schemas.openxmlformats.org/drawingml/2006/main">
              <a:ext uri="{FF2B5EF4-FFF2-40B4-BE49-F238E27FC236}">
                <a16:creationId xmlns:a16="http://schemas.microsoft.com/office/drawing/2014/main" id="{3838E7A3-E124-4806-B462-4CD6FEB0A13C}"/>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[24] · Referencias al final</a:t>
            </a:r>
          </a:p>
        </p:txBody>
      </p:sp>
      <p:sp>
        <p:nvSpPr>
          <p:cNvPr id="4" name="34">
            <a:extLst xmlns:a="http://schemas.openxmlformats.org/drawingml/2006/main">
              <a:ext uri="{FF2B5EF4-FFF2-40B4-BE49-F238E27FC236}">
                <a16:creationId xmlns:a16="http://schemas.microsoft.com/office/drawing/2014/main" id="{DFEAC0F4-609A-466D-BBCF-26DA1B069B2A}"/>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34</a:t>
            </a:r>
          </a:p>
        </p:txBody>
      </p:sp>
      <p:graphicFrame>
        <p:nvGraphicFramePr>
          <p:cNvPr id="5" name="">
            <a:extLst xmlns:a="http://schemas.openxmlformats.org/drawingml/2006/main">
              <a:ext uri="{FF2B5EF4-FFF2-40B4-BE49-F238E27FC236}">
                <a16:creationId xmlns:a16="http://schemas.microsoft.com/office/drawing/2014/main" id="{3828CFAB-F1A1-4D4F-BF5C-A569D6AF536B}"/>
              </a:ext>
            </a:extLst>
          </p:cNvPr>
          <p:cNvGraphicFramePr/>
          <p:nvPr/>
        </p:nvGraphicFramePr>
        <p:xfrm>
          <a:off xmlns:a="http://schemas.openxmlformats.org/drawingml/2006/main" x="571500" y="1733550"/>
          <a:ext xmlns:a="http://schemas.openxmlformats.org/drawingml/2006/main" cx="11049000" cy="4181475"/>
        </p:xfrm>
        <a:graphic xmlns:a="http://schemas.openxmlformats.org/drawingml/2006/main">
          <a:graphicData uri="http://schemas.openxmlformats.org/drawingml/2006/table">
            <a:tbl>
              <a:tblPr/>
              <a:tblGrid>
                <a:gridCol w="1114425"/>
                <a:gridCol w="952500"/>
                <a:gridCol w="8982075"/>
              </a:tblGrid>
              <a:tr h="298677">
                <a:tc>
                  <a:txBody>
                    <a:bodyPr/>
                    <a:lstStyle/>
                    <a:p>
                      <a:r>
                        <a:rPr sz="1650" b="1">
                          <a:solidFill>
                            <a:srgbClr val="FFFFFF"/>
                          </a:solidFill>
                          <a:latin typeface="Arial"/>
                          <a:ea typeface="Arial"/>
                          <a:cs typeface="Arial"/>
                        </a:rPr>
                        <a:t>ID</a:t>
                      </a:r>
                    </a:p>
                  </a:txBody>
                  <a:tcPr marL="114300" marR="114300" marT="19050" marB="19050" anchor="ctr">
                    <a:solidFill>
                      <a:srgbClr val="173F2F"/>
                    </a:solidFill>
                  </a:tcPr>
                </a:tc>
                <a:tc>
                  <a:txBody>
                    <a:bodyPr/>
                    <a:lstStyle/>
                    <a:p>
                      <a:r>
                        <a:rPr sz="1650" b="1">
                          <a:solidFill>
                            <a:srgbClr val="FFFFFF"/>
                          </a:solidFill>
                          <a:latin typeface="Arial"/>
                          <a:ea typeface="Arial"/>
                          <a:cs typeface="Arial"/>
                        </a:rPr>
                        <a:t>Tipo</a:t>
                      </a:r>
                    </a:p>
                  </a:txBody>
                  <a:tcPr marL="114300" marR="114300" marT="19050" marB="19050" anchor="ctr">
                    <a:solidFill>
                      <a:srgbClr val="173F2F"/>
                    </a:solidFill>
                  </a:tcPr>
                </a:tc>
                <a:tc>
                  <a:txBody>
                    <a:bodyPr/>
                    <a:lstStyle/>
                    <a:p>
                      <a:r>
                        <a:rPr sz="1650" b="1">
                          <a:solidFill>
                            <a:srgbClr val="FFFFFF"/>
                          </a:solidFill>
                          <a:latin typeface="Arial"/>
                          <a:ea typeface="Arial"/>
                          <a:cs typeface="Arial"/>
                        </a:rPr>
                        <a:t>Descripción</a:t>
                      </a:r>
                    </a:p>
                  </a:txBody>
                  <a:tcPr marL="114300" marR="114300" marT="19050" marB="19050" anchor="ctr">
                    <a:solidFill>
                      <a:srgbClr val="173F2F"/>
                    </a:solidFill>
                  </a:tcPr>
                </a:tc>
              </a:tr>
              <a:tr h="298677">
                <a:tc>
                  <a:txBody>
                    <a:bodyPr/>
                    <a:lstStyle/>
                    <a:p>
                      <a:r>
                        <a:rPr sz="1650">
                          <a:solidFill>
                            <a:srgbClr val="173F2F"/>
                          </a:solidFill>
                          <a:latin typeface="Arial"/>
                          <a:ea typeface="Arial"/>
                          <a:cs typeface="Arial"/>
                        </a:rPr>
                        <a:t>LE01</a:t>
                      </a:r>
                    </a:p>
                  </a:txBody>
                  <a:tcPr marL="114300" marR="114300" marT="19050" marB="19050" anchor="ctr">
                    <a:solidFill>
                      <a:srgbClr val="FFFFFF"/>
                    </a:solidFill>
                  </a:tcPr>
                </a:tc>
                <a:tc>
                  <a:txBody>
                    <a:bodyPr/>
                    <a:lstStyle/>
                    <a:p>
                      <a:r>
                        <a:rPr sz="1650">
                          <a:solidFill>
                            <a:srgbClr val="173F2F"/>
                          </a:solidFill>
                          <a:latin typeface="Arial"/>
                          <a:ea typeface="Arial"/>
                          <a:cs typeface="Arial"/>
                        </a:rPr>
                        <a:t>E</a:t>
                      </a:r>
                    </a:p>
                  </a:txBody>
                  <a:tcPr marL="114300" marR="114300" marT="19050" marB="19050" anchor="ctr">
                    <a:solidFill>
                      <a:srgbClr val="FFFFFF"/>
                    </a:solidFill>
                  </a:tcPr>
                </a:tc>
                <a:tc>
                  <a:txBody>
                    <a:bodyPr/>
                    <a:lstStyle/>
                    <a:p>
                      <a:r>
                        <a:rPr sz="1650">
                          <a:solidFill>
                            <a:srgbClr val="173F2F"/>
                          </a:solidFill>
                          <a:latin typeface="Arial"/>
                          <a:ea typeface="Arial"/>
                          <a:cs typeface="Arial"/>
                        </a:rPr>
                        <a:t>Informar cantidad, kcal, proteínas, carbohidratos y grasas.</a:t>
                      </a:r>
                    </a:p>
                  </a:txBody>
                  <a:tcPr marL="114300" marR="114300" marT="19050" marB="19050" anchor="ctr">
                    <a:solidFill>
                      <a:srgbClr val="FFFFFF"/>
                    </a:solidFill>
                  </a:tcPr>
                </a:tc>
              </a:tr>
              <a:tr h="298677">
                <a:tc>
                  <a:txBody>
                    <a:bodyPr/>
                    <a:lstStyle/>
                    <a:p>
                      <a:r>
                        <a:rPr sz="1650">
                          <a:solidFill>
                            <a:srgbClr val="173F2F"/>
                          </a:solidFill>
                          <a:latin typeface="Arial"/>
                          <a:ea typeface="Arial"/>
                          <a:cs typeface="Arial"/>
                        </a:rPr>
                        <a:t>LE02</a:t>
                      </a:r>
                    </a:p>
                  </a:txBody>
                  <a:tcPr marL="114300" marR="114300" marT="19050" marB="19050" anchor="ctr">
                    <a:solidFill>
                      <a:srgbClr val="EFF2E8"/>
                    </a:solidFill>
                  </a:tcPr>
                </a:tc>
                <a:tc>
                  <a:txBody>
                    <a:bodyPr/>
                    <a:lstStyle/>
                    <a:p>
                      <a:r>
                        <a:rPr sz="1650">
                          <a:solidFill>
                            <a:srgbClr val="173F2F"/>
                          </a:solidFill>
                          <a:latin typeface="Arial"/>
                          <a:ea typeface="Arial"/>
                          <a:cs typeface="Arial"/>
                        </a:rPr>
                        <a:t>D</a:t>
                      </a:r>
                    </a:p>
                  </a:txBody>
                  <a:tcPr marL="114300" marR="114300" marT="19050" marB="19050" anchor="ctr">
                    <a:solidFill>
                      <a:srgbClr val="EFF2E8"/>
                    </a:solidFill>
                  </a:tcPr>
                </a:tc>
                <a:tc>
                  <a:txBody>
                    <a:bodyPr/>
                    <a:lstStyle/>
                    <a:p>
                      <a:r>
                        <a:rPr sz="1650">
                          <a:solidFill>
                            <a:srgbClr val="173F2F"/>
                          </a:solidFill>
                          <a:latin typeface="Arial"/>
                          <a:ea typeface="Arial"/>
                          <a:cs typeface="Arial"/>
                        </a:rPr>
                        <a:t>Componente físico: dimensión mayor ≤ 30 cm.</a:t>
                      </a:r>
                    </a:p>
                  </a:txBody>
                  <a:tcPr marL="114300" marR="114300" marT="19050" marB="19050" anchor="ctr">
                    <a:solidFill>
                      <a:srgbClr val="EFF2E8"/>
                    </a:solidFill>
                  </a:tcPr>
                </a:tc>
              </a:tr>
              <a:tr h="298677">
                <a:tc>
                  <a:txBody>
                    <a:bodyPr/>
                    <a:lstStyle/>
                    <a:p>
                      <a:r>
                        <a:rPr sz="1650">
                          <a:solidFill>
                            <a:srgbClr val="173F2F"/>
                          </a:solidFill>
                          <a:latin typeface="Arial"/>
                          <a:ea typeface="Arial"/>
                          <a:cs typeface="Arial"/>
                        </a:rPr>
                        <a:t>LE03</a:t>
                      </a:r>
                    </a:p>
                  </a:txBody>
                  <a:tcPr marL="114300" marR="114300" marT="19050" marB="19050" anchor="ctr">
                    <a:solidFill>
                      <a:srgbClr val="FFFFFF"/>
                    </a:solidFill>
                  </a:tcPr>
                </a:tc>
                <a:tc>
                  <a:txBody>
                    <a:bodyPr/>
                    <a:lstStyle/>
                    <a:p>
                      <a:r>
                        <a:rPr sz="1650">
                          <a:solidFill>
                            <a:srgbClr val="173F2F"/>
                          </a:solidFill>
                          <a:latin typeface="Arial"/>
                          <a:ea typeface="Arial"/>
                          <a:cs typeface="Arial"/>
                        </a:rPr>
                        <a:t>D</a:t>
                      </a:r>
                    </a:p>
                  </a:txBody>
                  <a:tcPr marL="114300" marR="114300" marT="19050" marB="19050" anchor="ctr">
                    <a:solidFill>
                      <a:srgbClr val="FFFFFF"/>
                    </a:solidFill>
                  </a:tcPr>
                </a:tc>
                <a:tc>
                  <a:txBody>
                    <a:bodyPr/>
                    <a:lstStyle/>
                    <a:p>
                      <a:r>
                        <a:rPr sz="1650">
                          <a:solidFill>
                            <a:srgbClr val="173F2F"/>
                          </a:solidFill>
                          <a:latin typeface="Arial"/>
                          <a:ea typeface="Arial"/>
                          <a:cs typeface="Arial"/>
                        </a:rPr>
                        <a:t>Componente físico: masa total ≤ 1,5 kg.</a:t>
                      </a:r>
                    </a:p>
                  </a:txBody>
                  <a:tcPr marL="114300" marR="114300" marT="19050" marB="19050" anchor="ctr">
                    <a:solidFill>
                      <a:srgbClr val="FFFFFF"/>
                    </a:solidFill>
                  </a:tcPr>
                </a:tc>
              </a:tr>
              <a:tr h="298677">
                <a:tc>
                  <a:txBody>
                    <a:bodyPr/>
                    <a:lstStyle/>
                    <a:p>
                      <a:r>
                        <a:rPr sz="1650">
                          <a:solidFill>
                            <a:srgbClr val="173F2F"/>
                          </a:solidFill>
                          <a:latin typeface="Arial"/>
                          <a:ea typeface="Arial"/>
                          <a:cs typeface="Arial"/>
                        </a:rPr>
                        <a:t>LE04</a:t>
                      </a:r>
                    </a:p>
                  </a:txBody>
                  <a:tcPr marL="114300" marR="114300" marT="19050" marB="19050" anchor="ctr">
                    <a:solidFill>
                      <a:srgbClr val="EFF2E8"/>
                    </a:solidFill>
                  </a:tcPr>
                </a:tc>
                <a:tc>
                  <a:txBody>
                    <a:bodyPr/>
                    <a:lstStyle/>
                    <a:p>
                      <a:r>
                        <a:rPr sz="1650">
                          <a:solidFill>
                            <a:srgbClr val="173F2F"/>
                          </a:solidFill>
                          <a:latin typeface="Arial"/>
                          <a:ea typeface="Arial"/>
                          <a:cs typeface="Arial"/>
                        </a:rPr>
                        <a:t>E</a:t>
                      </a:r>
                    </a:p>
                  </a:txBody>
                  <a:tcPr marL="114300" marR="114300" marT="19050" marB="19050" anchor="ctr">
                    <a:solidFill>
                      <a:srgbClr val="EFF2E8"/>
                    </a:solidFill>
                  </a:tcPr>
                </a:tc>
                <a:tc>
                  <a:txBody>
                    <a:bodyPr/>
                    <a:lstStyle/>
                    <a:p>
                      <a:r>
                        <a:rPr sz="1650">
                          <a:solidFill>
                            <a:srgbClr val="173F2F"/>
                          </a:solidFill>
                          <a:latin typeface="Arial"/>
                          <a:ea typeface="Arial"/>
                          <a:cs typeface="Arial"/>
                        </a:rPr>
                        <a:t>Procesar porciones sólidas y semisólidas.</a:t>
                      </a:r>
                    </a:p>
                  </a:txBody>
                  <a:tcPr marL="114300" marR="114300" marT="19050" marB="19050" anchor="ctr">
                    <a:solidFill>
                      <a:srgbClr val="EFF2E8"/>
                    </a:solidFill>
                  </a:tcPr>
                </a:tc>
              </a:tr>
              <a:tr h="298677">
                <a:tc>
                  <a:txBody>
                    <a:bodyPr/>
                    <a:lstStyle/>
                    <a:p>
                      <a:r>
                        <a:rPr sz="1650">
                          <a:solidFill>
                            <a:srgbClr val="173F2F"/>
                          </a:solidFill>
                          <a:latin typeface="Arial"/>
                          <a:ea typeface="Arial"/>
                          <a:cs typeface="Arial"/>
                        </a:rPr>
                        <a:t>LE05</a:t>
                      </a:r>
                    </a:p>
                  </a:txBody>
                  <a:tcPr marL="114300" marR="114300" marT="19050" marB="19050" anchor="ctr">
                    <a:solidFill>
                      <a:srgbClr val="FFFFFF"/>
                    </a:solidFill>
                  </a:tcPr>
                </a:tc>
                <a:tc>
                  <a:txBody>
                    <a:bodyPr/>
                    <a:lstStyle/>
                    <a:p>
                      <a:r>
                        <a:rPr sz="1650">
                          <a:solidFill>
                            <a:srgbClr val="173F2F"/>
                          </a:solidFill>
                          <a:latin typeface="Arial"/>
                          <a:ea typeface="Arial"/>
                          <a:cs typeface="Arial"/>
                        </a:rPr>
                        <a:t>D</a:t>
                      </a:r>
                    </a:p>
                  </a:txBody>
                  <a:tcPr marL="114300" marR="114300" marT="19050" marB="19050" anchor="ctr">
                    <a:solidFill>
                      <a:srgbClr val="FFFFFF"/>
                    </a:solidFill>
                  </a:tcPr>
                </a:tc>
                <a:tc>
                  <a:txBody>
                    <a:bodyPr/>
                    <a:lstStyle/>
                    <a:p>
                      <a:r>
                        <a:rPr sz="1650">
                          <a:solidFill>
                            <a:srgbClr val="173F2F"/>
                          </a:solidFill>
                          <a:latin typeface="Arial"/>
                          <a:ea typeface="Arial"/>
                          <a:cs typeface="Arial"/>
                        </a:rPr>
                        <a:t>Incluir bebidas y preparaciones mixtas.</a:t>
                      </a:r>
                    </a:p>
                  </a:txBody>
                  <a:tcPr marL="114300" marR="114300" marT="19050" marB="19050" anchor="ctr">
                    <a:solidFill>
                      <a:srgbClr val="FFFFFF"/>
                    </a:solidFill>
                  </a:tcPr>
                </a:tc>
              </a:tr>
              <a:tr h="298677">
                <a:tc>
                  <a:txBody>
                    <a:bodyPr/>
                    <a:lstStyle/>
                    <a:p>
                      <a:r>
                        <a:rPr sz="1650">
                          <a:solidFill>
                            <a:srgbClr val="173F2F"/>
                          </a:solidFill>
                          <a:latin typeface="Arial"/>
                          <a:ea typeface="Arial"/>
                          <a:cs typeface="Arial"/>
                        </a:rPr>
                        <a:t>LE06</a:t>
                      </a:r>
                    </a:p>
                  </a:txBody>
                  <a:tcPr marL="114300" marR="114300" marT="19050" marB="19050" anchor="ctr">
                    <a:solidFill>
                      <a:srgbClr val="EFF2E8"/>
                    </a:solidFill>
                  </a:tcPr>
                </a:tc>
                <a:tc>
                  <a:txBody>
                    <a:bodyPr/>
                    <a:lstStyle/>
                    <a:p>
                      <a:r>
                        <a:rPr sz="1650">
                          <a:solidFill>
                            <a:srgbClr val="173F2F"/>
                          </a:solidFill>
                          <a:latin typeface="Arial"/>
                          <a:ea typeface="Arial"/>
                          <a:cs typeface="Arial"/>
                        </a:rPr>
                        <a:t>D</a:t>
                      </a:r>
                    </a:p>
                  </a:txBody>
                  <a:tcPr marL="114300" marR="114300" marT="19050" marB="19050" anchor="ctr">
                    <a:solidFill>
                      <a:srgbClr val="EFF2E8"/>
                    </a:solidFill>
                  </a:tcPr>
                </a:tc>
                <a:tc>
                  <a:txBody>
                    <a:bodyPr/>
                    <a:lstStyle/>
                    <a:p>
                      <a:r>
                        <a:rPr sz="1650">
                          <a:solidFill>
                            <a:srgbClr val="173F2F"/>
                          </a:solidFill>
                          <a:latin typeface="Arial"/>
                          <a:ea typeface="Arial"/>
                          <a:cs typeface="Arial"/>
                        </a:rPr>
                        <a:t>Módulo propio: USB de 5 V o autonomía ≥ 4 h.</a:t>
                      </a:r>
                    </a:p>
                  </a:txBody>
                  <a:tcPr marL="114300" marR="114300" marT="19050" marB="19050" anchor="ctr">
                    <a:solidFill>
                      <a:srgbClr val="EFF2E8"/>
                    </a:solidFill>
                  </a:tcPr>
                </a:tc>
              </a:tr>
              <a:tr h="298677">
                <a:tc>
                  <a:txBody>
                    <a:bodyPr/>
                    <a:lstStyle/>
                    <a:p>
                      <a:r>
                        <a:rPr sz="1650">
                          <a:solidFill>
                            <a:srgbClr val="173F2F"/>
                          </a:solidFill>
                          <a:latin typeface="Arial"/>
                          <a:ea typeface="Arial"/>
                          <a:cs typeface="Arial"/>
                        </a:rPr>
                        <a:t>LE07</a:t>
                      </a:r>
                    </a:p>
                  </a:txBody>
                  <a:tcPr marL="114300" marR="114300" marT="19050" marB="19050" anchor="ctr">
                    <a:solidFill>
                      <a:srgbClr val="FFFFFF"/>
                    </a:solidFill>
                  </a:tcPr>
                </a:tc>
                <a:tc>
                  <a:txBody>
                    <a:bodyPr/>
                    <a:lstStyle/>
                    <a:p>
                      <a:r>
                        <a:rPr sz="1650">
                          <a:solidFill>
                            <a:srgbClr val="173F2F"/>
                          </a:solidFill>
                          <a:latin typeface="Arial"/>
                          <a:ea typeface="Arial"/>
                          <a:cs typeface="Arial"/>
                        </a:rPr>
                        <a:t>E</a:t>
                      </a:r>
                    </a:p>
                  </a:txBody>
                  <a:tcPr marL="114300" marR="114300" marT="19050" marB="19050" anchor="ctr">
                    <a:solidFill>
                      <a:srgbClr val="FFFFFF"/>
                    </a:solidFill>
                  </a:tcPr>
                </a:tc>
                <a:tc>
                  <a:txBody>
                    <a:bodyPr/>
                    <a:lstStyle/>
                    <a:p>
                      <a:r>
                        <a:rPr sz="1650">
                          <a:solidFill>
                            <a:srgbClr val="173F2F"/>
                          </a:solidFill>
                          <a:latin typeface="Arial"/>
                          <a:ea typeface="Arial"/>
                          <a:cs typeface="Arial"/>
                        </a:rPr>
                        <a:t>Entradas: identidad del alimento y cantidad de la porción.</a:t>
                      </a:r>
                    </a:p>
                  </a:txBody>
                  <a:tcPr marL="114300" marR="114300" marT="19050" marB="19050" anchor="ctr">
                    <a:solidFill>
                      <a:srgbClr val="FFFFFF"/>
                    </a:solidFill>
                  </a:tcPr>
                </a:tc>
              </a:tr>
              <a:tr h="298677">
                <a:tc>
                  <a:txBody>
                    <a:bodyPr/>
                    <a:lstStyle/>
                    <a:p>
                      <a:r>
                        <a:rPr sz="1650">
                          <a:solidFill>
                            <a:srgbClr val="173F2F"/>
                          </a:solidFill>
                          <a:latin typeface="Arial"/>
                          <a:ea typeface="Arial"/>
                          <a:cs typeface="Arial"/>
                        </a:rPr>
                        <a:t>LE08</a:t>
                      </a:r>
                    </a:p>
                  </a:txBody>
                  <a:tcPr marL="114300" marR="114300" marT="19050" marB="19050" anchor="ctr">
                    <a:solidFill>
                      <a:srgbClr val="EFF2E8"/>
                    </a:solidFill>
                  </a:tcPr>
                </a:tc>
                <a:tc>
                  <a:txBody>
                    <a:bodyPr/>
                    <a:lstStyle/>
                    <a:p>
                      <a:r>
                        <a:rPr sz="1650">
                          <a:solidFill>
                            <a:srgbClr val="173F2F"/>
                          </a:solidFill>
                          <a:latin typeface="Arial"/>
                          <a:ea typeface="Arial"/>
                          <a:cs typeface="Arial"/>
                        </a:rPr>
                        <a:t>D</a:t>
                      </a:r>
                    </a:p>
                  </a:txBody>
                  <a:tcPr marL="114300" marR="114300" marT="19050" marB="19050" anchor="ctr">
                    <a:solidFill>
                      <a:srgbClr val="EFF2E8"/>
                    </a:solidFill>
                  </a:tcPr>
                </a:tc>
                <a:tc>
                  <a:txBody>
                    <a:bodyPr/>
                    <a:lstStyle/>
                    <a:p>
                      <a:r>
                        <a:rPr sz="1650">
                          <a:solidFill>
                            <a:srgbClr val="173F2F"/>
                          </a:solidFill>
                          <a:latin typeface="Arial"/>
                          <a:ea typeface="Arial"/>
                          <a:cs typeface="Arial"/>
                        </a:rPr>
                        <a:t>Foto, voz o texto como alternativa de registro.</a:t>
                      </a:r>
                    </a:p>
                  </a:txBody>
                  <a:tcPr marL="114300" marR="114300" marT="19050" marB="19050" anchor="ctr">
                    <a:solidFill>
                      <a:srgbClr val="EFF2E8"/>
                    </a:solidFill>
                  </a:tcPr>
                </a:tc>
              </a:tr>
              <a:tr h="298677">
                <a:tc>
                  <a:txBody>
                    <a:bodyPr/>
                    <a:lstStyle/>
                    <a:p>
                      <a:r>
                        <a:rPr sz="1650">
                          <a:solidFill>
                            <a:srgbClr val="173F2F"/>
                          </a:solidFill>
                          <a:latin typeface="Arial"/>
                          <a:ea typeface="Arial"/>
                          <a:cs typeface="Arial"/>
                        </a:rPr>
                        <a:t>LE09</a:t>
                      </a:r>
                    </a:p>
                  </a:txBody>
                  <a:tcPr marL="114300" marR="114300" marT="19050" marB="19050" anchor="ctr">
                    <a:solidFill>
                      <a:srgbClr val="FFFFFF"/>
                    </a:solidFill>
                  </a:tcPr>
                </a:tc>
                <a:tc>
                  <a:txBody>
                    <a:bodyPr/>
                    <a:lstStyle/>
                    <a:p>
                      <a:r>
                        <a:rPr sz="1650">
                          <a:solidFill>
                            <a:srgbClr val="173F2F"/>
                          </a:solidFill>
                          <a:latin typeface="Arial"/>
                          <a:ea typeface="Arial"/>
                          <a:cs typeface="Arial"/>
                        </a:rPr>
                        <a:t>E</a:t>
                      </a:r>
                    </a:p>
                  </a:txBody>
                  <a:tcPr marL="114300" marR="114300" marT="19050" marB="19050" anchor="ctr">
                    <a:solidFill>
                      <a:srgbClr val="FFFFFF"/>
                    </a:solidFill>
                  </a:tcPr>
                </a:tc>
                <a:tc>
                  <a:txBody>
                    <a:bodyPr/>
                    <a:lstStyle/>
                    <a:p>
                      <a:r>
                        <a:rPr sz="1650">
                          <a:solidFill>
                            <a:srgbClr val="173F2F"/>
                          </a:solidFill>
                          <a:latin typeface="Arial"/>
                          <a:ea typeface="Arial"/>
                          <a:cs typeface="Arial"/>
                        </a:rPr>
                        <a:t>Salidas: cantidad en g y energía nutricional en kcal.</a:t>
                      </a:r>
                    </a:p>
                  </a:txBody>
                  <a:tcPr marL="114300" marR="114300" marT="19050" marB="19050" anchor="ctr">
                    <a:solidFill>
                      <a:srgbClr val="FFFFFF"/>
                    </a:solidFill>
                  </a:tcPr>
                </a:tc>
              </a:tr>
              <a:tr h="298677">
                <a:tc>
                  <a:txBody>
                    <a:bodyPr/>
                    <a:lstStyle/>
                    <a:p>
                      <a:r>
                        <a:rPr sz="1650">
                          <a:solidFill>
                            <a:srgbClr val="173F2F"/>
                          </a:solidFill>
                          <a:latin typeface="Arial"/>
                          <a:ea typeface="Arial"/>
                          <a:cs typeface="Arial"/>
                        </a:rPr>
                        <a:t>LE10</a:t>
                      </a:r>
                    </a:p>
                  </a:txBody>
                  <a:tcPr marL="114300" marR="114300" marT="19050" marB="19050" anchor="ctr">
                    <a:solidFill>
                      <a:srgbClr val="EFF2E8"/>
                    </a:solidFill>
                  </a:tcPr>
                </a:tc>
                <a:tc>
                  <a:txBody>
                    <a:bodyPr/>
                    <a:lstStyle/>
                    <a:p>
                      <a:r>
                        <a:rPr sz="1650">
                          <a:solidFill>
                            <a:srgbClr val="173F2F"/>
                          </a:solidFill>
                          <a:latin typeface="Arial"/>
                          <a:ea typeface="Arial"/>
                          <a:cs typeface="Arial"/>
                        </a:rPr>
                        <a:t>E</a:t>
                      </a:r>
                    </a:p>
                  </a:txBody>
                  <a:tcPr marL="114300" marR="114300" marT="19050" marB="19050" anchor="ctr">
                    <a:solidFill>
                      <a:srgbClr val="EFF2E8"/>
                    </a:solidFill>
                  </a:tcPr>
                </a:tc>
                <a:tc>
                  <a:txBody>
                    <a:bodyPr/>
                    <a:lstStyle/>
                    <a:p>
                      <a:r>
                        <a:rPr sz="1650">
                          <a:solidFill>
                            <a:srgbClr val="173F2F"/>
                          </a:solidFill>
                          <a:latin typeface="Arial"/>
                          <a:ea typeface="Arial"/>
                          <a:cs typeface="Arial"/>
                        </a:rPr>
                        <a:t>Proteínas, carbohidratos y grasas en g, con fuente.</a:t>
                      </a:r>
                    </a:p>
                  </a:txBody>
                  <a:tcPr marL="114300" marR="114300" marT="19050" marB="19050" anchor="ctr">
                    <a:solidFill>
                      <a:srgbClr val="EFF2E8"/>
                    </a:solidFill>
                  </a:tcPr>
                </a:tc>
              </a:tr>
              <a:tr h="298677">
                <a:tc>
                  <a:txBody>
                    <a:bodyPr/>
                    <a:lstStyle/>
                    <a:p>
                      <a:r>
                        <a:rPr sz="1650">
                          <a:solidFill>
                            <a:srgbClr val="173F2F"/>
                          </a:solidFill>
                          <a:latin typeface="Arial"/>
                          <a:ea typeface="Arial"/>
                          <a:cs typeface="Arial"/>
                        </a:rPr>
                        <a:t>LE11</a:t>
                      </a:r>
                    </a:p>
                  </a:txBody>
                  <a:tcPr marL="114300" marR="114300" marT="19050" marB="19050" anchor="ctr">
                    <a:solidFill>
                      <a:srgbClr val="FFFFFF"/>
                    </a:solidFill>
                  </a:tcPr>
                </a:tc>
                <a:tc>
                  <a:txBody>
                    <a:bodyPr/>
                    <a:lstStyle/>
                    <a:p>
                      <a:r>
                        <a:rPr sz="1650">
                          <a:solidFill>
                            <a:srgbClr val="173F2F"/>
                          </a:solidFill>
                          <a:latin typeface="Arial"/>
                          <a:ea typeface="Arial"/>
                          <a:cs typeface="Arial"/>
                        </a:rPr>
                        <a:t>E</a:t>
                      </a:r>
                    </a:p>
                  </a:txBody>
                  <a:tcPr marL="114300" marR="114300" marT="19050" marB="19050" anchor="ctr">
                    <a:solidFill>
                      <a:srgbClr val="FFFFFF"/>
                    </a:solidFill>
                  </a:tcPr>
                </a:tc>
                <a:tc>
                  <a:txBody>
                    <a:bodyPr/>
                    <a:lstStyle/>
                    <a:p>
                      <a:r>
                        <a:rPr sz="1650">
                          <a:solidFill>
                            <a:srgbClr val="173F2F"/>
                          </a:solidFill>
                          <a:latin typeface="Arial"/>
                          <a:ea typeface="Arial"/>
                          <a:cs typeface="Arial"/>
                        </a:rPr>
                        <a:t>Corregir alimento y cantidad antes de confirmar.</a:t>
                      </a:r>
                    </a:p>
                  </a:txBody>
                  <a:tcPr marL="114300" marR="114300" marT="19050" marB="19050" anchor="ctr">
                    <a:solidFill>
                      <a:srgbClr val="FFFFFF"/>
                    </a:solidFill>
                  </a:tcPr>
                </a:tc>
              </a:tr>
              <a:tr h="298677">
                <a:tc>
                  <a:txBody>
                    <a:bodyPr/>
                    <a:lstStyle/>
                    <a:p>
                      <a:r>
                        <a:rPr sz="1650">
                          <a:solidFill>
                            <a:srgbClr val="173F2F"/>
                          </a:solidFill>
                          <a:latin typeface="Arial"/>
                          <a:ea typeface="Arial"/>
                          <a:cs typeface="Arial"/>
                        </a:rPr>
                        <a:t>LE12</a:t>
                      </a:r>
                    </a:p>
                  </a:txBody>
                  <a:tcPr marL="114300" marR="114300" marT="19050" marB="19050" anchor="ctr">
                    <a:solidFill>
                      <a:srgbClr val="EFF2E8"/>
                    </a:solidFill>
                  </a:tcPr>
                </a:tc>
                <a:tc>
                  <a:txBody>
                    <a:bodyPr/>
                    <a:lstStyle/>
                    <a:p>
                      <a:r>
                        <a:rPr sz="1650">
                          <a:solidFill>
                            <a:srgbClr val="173F2F"/>
                          </a:solidFill>
                          <a:latin typeface="Arial"/>
                          <a:ea typeface="Arial"/>
                          <a:cs typeface="Arial"/>
                        </a:rPr>
                        <a:t>D</a:t>
                      </a:r>
                    </a:p>
                  </a:txBody>
                  <a:tcPr marL="114300" marR="114300" marT="19050" marB="19050" anchor="ctr">
                    <a:solidFill>
                      <a:srgbClr val="EFF2E8"/>
                    </a:solidFill>
                  </a:tcPr>
                </a:tc>
                <a:tc>
                  <a:txBody>
                    <a:bodyPr/>
                    <a:lstStyle/>
                    <a:p>
                      <a:r>
                        <a:rPr sz="1650">
                          <a:solidFill>
                            <a:srgbClr val="173F2F"/>
                          </a:solidFill>
                          <a:latin typeface="Arial"/>
                          <a:ea typeface="Arial"/>
                          <a:cs typeface="Arial"/>
                        </a:rPr>
                        <a:t>Usar cámara o sensor de masa disponible, según el concepto.</a:t>
                      </a:r>
                    </a:p>
                  </a:txBody>
                  <a:tcPr marL="114300" marR="114300" marT="19050" marB="19050" anchor="ctr">
                    <a:solidFill>
                      <a:srgbClr val="EFF2E8"/>
                    </a:solidFill>
                  </a:tcPr>
                </a:tc>
              </a:tr>
              <a:tr h="298677">
                <a:tc>
                  <a:txBody>
                    <a:bodyPr/>
                    <a:lstStyle/>
                    <a:p>
                      <a:r>
                        <a:rPr sz="1650">
                          <a:solidFill>
                            <a:srgbClr val="173F2F"/>
                          </a:solidFill>
                          <a:latin typeface="Arial"/>
                          <a:ea typeface="Arial"/>
                          <a:cs typeface="Arial"/>
                        </a:rPr>
                        <a:t>LE13</a:t>
                      </a:r>
                    </a:p>
                  </a:txBody>
                  <a:tcPr marL="114300" marR="114300" marT="19050" marB="19050" anchor="ctr">
                    <a:solidFill>
                      <a:srgbClr val="FFFFFF"/>
                    </a:solidFill>
                  </a:tcPr>
                </a:tc>
                <a:tc>
                  <a:txBody>
                    <a:bodyPr/>
                    <a:lstStyle/>
                    <a:p>
                      <a:r>
                        <a:rPr sz="1650">
                          <a:solidFill>
                            <a:srgbClr val="173F2F"/>
                          </a:solidFill>
                          <a:latin typeface="Arial"/>
                          <a:ea typeface="Arial"/>
                          <a:cs typeface="Arial"/>
                        </a:rPr>
                        <a:t>E</a:t>
                      </a:r>
                    </a:p>
                  </a:txBody>
                  <a:tcPr marL="114300" marR="114300" marT="19050" marB="19050" anchor="ctr">
                    <a:solidFill>
                      <a:srgbClr val="FFFFFF"/>
                    </a:solidFill>
                  </a:tcPr>
                </a:tc>
                <a:tc>
                  <a:txBody>
                    <a:bodyPr/>
                    <a:lstStyle/>
                    <a:p>
                      <a:r>
                        <a:rPr sz="1650">
                          <a:solidFill>
                            <a:srgbClr val="173F2F"/>
                          </a:solidFill>
                          <a:latin typeface="Arial"/>
                          <a:ea typeface="Arial"/>
                          <a:cs typeface="Arial"/>
                        </a:rPr>
                        <a:t>Escalar nutrientes según cantidad. Error de cálculo ≤ 1 %.</a:t>
                      </a:r>
                    </a:p>
                  </a:txBody>
                  <a:tcPr marL="114300" marR="114300" marT="19050" marB="19050" anchor="ctr">
                    <a:solidFill>
                      <a:srgbClr val="FFFFFF"/>
                    </a:solidFill>
                  </a:tcPr>
                </a:tc>
              </a:tr>
            </a:tbl>
          </a:graphicData>
        </a:graphic>
      </p:graphicFrame>
      <p:sp>
        <p:nvSpPr>
          <p:cNvPr id="6" name="Revisar LE02/06: caja propuesta 32 × 32 × 35 cm y adapt">
            <a:extLst xmlns:a="http://schemas.openxmlformats.org/drawingml/2006/main">
              <a:ext uri="{FF2B5EF4-FFF2-40B4-BE49-F238E27FC236}">
                <a16:creationId xmlns:a16="http://schemas.microsoft.com/office/drawing/2014/main" id="{4954B002-0DAC-4CA6-9C11-C8DAA8B33B31}"/>
              </a:ext>
            </a:extLst>
          </p:cNvPr>
          <p:cNvSpPr>
            <a:spLocks xmlns:a="http://schemas.openxmlformats.org/drawingml/2006/main" noGrp="1"/>
          </p:cNvSpPr>
          <p:nvPr/>
        </p:nvSpPr>
        <p:spPr>
          <a:xfrm xmlns:a="http://schemas.openxmlformats.org/drawingml/2006/main">
            <a:off x="571500" y="606742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Revisar LE02/06: caja propuesta 32 × 32 × 35 cm y adaptador externo de 5 V.</a:t>
            </a:r>
          </a:p>
        </p:txBody>
      </p:sp>
    </p:spTree>
    <p:extLst>
      <p:ext uri="{BB962C8B-B14F-4D97-AF65-F5344CB8AC3E}">
        <p14:creationId xmlns:p14="http://schemas.microsoft.com/office/powerpoint/2010/main" val="944399240"/>
      </p:ext>
    </p:extLst>
  </p:cSld>
</p:sld>
</file>

<file path=ppt/slides/slide35.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7" name="Anexo · Lista completa de exigencias (2/2)">
            <a:extLst xmlns:a="http://schemas.openxmlformats.org/drawingml/2006/main">
              <a:ext uri="{FF2B5EF4-FFF2-40B4-BE49-F238E27FC236}">
                <a16:creationId xmlns:a16="http://schemas.microsoft.com/office/drawing/2014/main" id="{1FFF63EB-D7E7-4C8D-B530-8B4A4C1E610A}"/>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Anexo · Lista completa de exigencias (2/2)</a:t>
            </a:r>
          </a:p>
        </p:txBody>
      </p:sp>
      <p:sp>
        <p:nvSpPr>
          <p:cNvPr id="2" name="Versión del Taller 04 y LE25 incorporada en el Taller 7">
            <a:extLst xmlns:a="http://schemas.openxmlformats.org/drawingml/2006/main">
              <a:ext uri="{FF2B5EF4-FFF2-40B4-BE49-F238E27FC236}">
                <a16:creationId xmlns:a16="http://schemas.microsoft.com/office/drawing/2014/main" id="{F44A051B-F79A-4684-ABAB-6E986ADE52D4}"/>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Versión del Taller 04 y LE25 incorporada en el Taller 7. E obligatoria; D deseable.</a:t>
            </a:r>
          </a:p>
        </p:txBody>
      </p:sp>
      <p:sp>
        <p:nvSpPr>
          <p:cNvPr id="3" name="Fuentes [24] · Referencias al final">
            <a:extLst xmlns:a="http://schemas.openxmlformats.org/drawingml/2006/main">
              <a:ext uri="{FF2B5EF4-FFF2-40B4-BE49-F238E27FC236}">
                <a16:creationId xmlns:a16="http://schemas.microsoft.com/office/drawing/2014/main" id="{BA86D399-B60F-4512-8F0B-767690704D85}"/>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[24] · Referencias al final</a:t>
            </a:r>
          </a:p>
        </p:txBody>
      </p:sp>
      <p:sp>
        <p:nvSpPr>
          <p:cNvPr id="4" name="35">
            <a:extLst xmlns:a="http://schemas.openxmlformats.org/drawingml/2006/main">
              <a:ext uri="{FF2B5EF4-FFF2-40B4-BE49-F238E27FC236}">
                <a16:creationId xmlns:a16="http://schemas.microsoft.com/office/drawing/2014/main" id="{22E09BD4-953D-4EFA-8BF3-74B68442F18F}"/>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35</a:t>
            </a:r>
          </a:p>
        </p:txBody>
      </p:sp>
      <p:graphicFrame>
        <p:nvGraphicFramePr>
          <p:cNvPr id="5" name="">
            <a:extLst xmlns:a="http://schemas.openxmlformats.org/drawingml/2006/main">
              <a:ext uri="{FF2B5EF4-FFF2-40B4-BE49-F238E27FC236}">
                <a16:creationId xmlns:a16="http://schemas.microsoft.com/office/drawing/2014/main" id="{EEE76995-990D-400D-B9BC-9E53B75B6CE0}"/>
              </a:ext>
            </a:extLst>
          </p:cNvPr>
          <p:cNvGraphicFramePr/>
          <p:nvPr/>
        </p:nvGraphicFramePr>
        <p:xfrm>
          <a:off xmlns:a="http://schemas.openxmlformats.org/drawingml/2006/main" x="571500" y="1733550"/>
          <a:ext xmlns:a="http://schemas.openxmlformats.org/drawingml/2006/main" cx="11049000" cy="3933825"/>
        </p:xfrm>
        <a:graphic xmlns:a="http://schemas.openxmlformats.org/drawingml/2006/main">
          <a:graphicData uri="http://schemas.openxmlformats.org/drawingml/2006/table">
            <a:tbl>
              <a:tblPr/>
              <a:tblGrid>
                <a:gridCol w="1114425"/>
                <a:gridCol w="952500"/>
                <a:gridCol w="8982075"/>
              </a:tblGrid>
              <a:tr h="302602">
                <a:tc>
                  <a:txBody>
                    <a:bodyPr/>
                    <a:lstStyle/>
                    <a:p>
                      <a:r>
                        <a:rPr sz="1650" b="1">
                          <a:solidFill>
                            <a:srgbClr val="FFFFFF"/>
                          </a:solidFill>
                          <a:latin typeface="Arial"/>
                          <a:ea typeface="Arial"/>
                          <a:cs typeface="Arial"/>
                        </a:rPr>
                        <a:t>ID</a:t>
                      </a:r>
                    </a:p>
                  </a:txBody>
                  <a:tcPr marL="114300" marR="114300" marT="19050" marB="19050" anchor="ctr">
                    <a:solidFill>
                      <a:srgbClr val="173F2F"/>
                    </a:solidFill>
                  </a:tcPr>
                </a:tc>
                <a:tc>
                  <a:txBody>
                    <a:bodyPr/>
                    <a:lstStyle/>
                    <a:p>
                      <a:r>
                        <a:rPr sz="1650" b="1">
                          <a:solidFill>
                            <a:srgbClr val="FFFFFF"/>
                          </a:solidFill>
                          <a:latin typeface="Arial"/>
                          <a:ea typeface="Arial"/>
                          <a:cs typeface="Arial"/>
                        </a:rPr>
                        <a:t>Tipo</a:t>
                      </a:r>
                    </a:p>
                  </a:txBody>
                  <a:tcPr marL="114300" marR="114300" marT="19050" marB="19050" anchor="ctr">
                    <a:solidFill>
                      <a:srgbClr val="173F2F"/>
                    </a:solidFill>
                  </a:tcPr>
                </a:tc>
                <a:tc>
                  <a:txBody>
                    <a:bodyPr/>
                    <a:lstStyle/>
                    <a:p>
                      <a:r>
                        <a:rPr sz="1650" b="1">
                          <a:solidFill>
                            <a:srgbClr val="FFFFFF"/>
                          </a:solidFill>
                          <a:latin typeface="Arial"/>
                          <a:ea typeface="Arial"/>
                          <a:cs typeface="Arial"/>
                        </a:rPr>
                        <a:t>Descripción</a:t>
                      </a:r>
                    </a:p>
                  </a:txBody>
                  <a:tcPr marL="114300" marR="114300" marT="19050" marB="19050" anchor="ctr">
                    <a:solidFill>
                      <a:srgbClr val="173F2F"/>
                    </a:solidFill>
                  </a:tcPr>
                </a:tc>
              </a:tr>
              <a:tr h="302602">
                <a:tc>
                  <a:txBody>
                    <a:bodyPr/>
                    <a:lstStyle/>
                    <a:p>
                      <a:r>
                        <a:rPr sz="1650">
                          <a:solidFill>
                            <a:srgbClr val="173F2F"/>
                          </a:solidFill>
                          <a:latin typeface="Arial"/>
                          <a:ea typeface="Arial"/>
                          <a:cs typeface="Arial"/>
                        </a:rPr>
                        <a:t>LE14</a:t>
                      </a:r>
                    </a:p>
                  </a:txBody>
                  <a:tcPr marL="114300" marR="114300" marT="19050" marB="19050" anchor="ctr">
                    <a:solidFill>
                      <a:srgbClr val="FFFFFF"/>
                    </a:solidFill>
                  </a:tcPr>
                </a:tc>
                <a:tc>
                  <a:txBody>
                    <a:bodyPr/>
                    <a:lstStyle/>
                    <a:p>
                      <a:r>
                        <a:rPr sz="1650">
                          <a:solidFill>
                            <a:srgbClr val="173F2F"/>
                          </a:solidFill>
                          <a:latin typeface="Arial"/>
                          <a:ea typeface="Arial"/>
                          <a:cs typeface="Arial"/>
                        </a:rPr>
                        <a:t>D</a:t>
                      </a:r>
                    </a:p>
                  </a:txBody>
                  <a:tcPr marL="114300" marR="114300" marT="19050" marB="19050" anchor="ctr">
                    <a:solidFill>
                      <a:srgbClr val="FFFFFF"/>
                    </a:solidFill>
                  </a:tcPr>
                </a:tc>
                <a:tc>
                  <a:txBody>
                    <a:bodyPr/>
                    <a:lstStyle/>
                    <a:p>
                      <a:r>
                        <a:rPr sz="1650">
                          <a:solidFill>
                            <a:srgbClr val="173F2F"/>
                          </a:solidFill>
                          <a:latin typeface="Arial"/>
                          <a:ea typeface="Arial"/>
                          <a:cs typeface="Arial"/>
                        </a:rPr>
                        <a:t>Guardar historial por fecha y comida.</a:t>
                      </a:r>
                    </a:p>
                  </a:txBody>
                  <a:tcPr marL="114300" marR="114300" marT="19050" marB="19050" anchor="ctr">
                    <a:solidFill>
                      <a:srgbClr val="FFFFFF"/>
                    </a:solidFill>
                  </a:tcPr>
                </a:tc>
              </a:tr>
              <a:tr h="302602">
                <a:tc>
                  <a:txBody>
                    <a:bodyPr/>
                    <a:lstStyle/>
                    <a:p>
                      <a:r>
                        <a:rPr sz="1650">
                          <a:solidFill>
                            <a:srgbClr val="173F2F"/>
                          </a:solidFill>
                          <a:latin typeface="Arial"/>
                          <a:ea typeface="Arial"/>
                          <a:cs typeface="Arial"/>
                        </a:rPr>
                        <a:t>LE15</a:t>
                      </a:r>
                    </a:p>
                  </a:txBody>
                  <a:tcPr marL="114300" marR="114300" marT="19050" marB="19050" anchor="ctr">
                    <a:solidFill>
                      <a:srgbClr val="EFF2E8"/>
                    </a:solidFill>
                  </a:tcPr>
                </a:tc>
                <a:tc>
                  <a:txBody>
                    <a:bodyPr/>
                    <a:lstStyle/>
                    <a:p>
                      <a:r>
                        <a:rPr sz="1650">
                          <a:solidFill>
                            <a:srgbClr val="173F2F"/>
                          </a:solidFill>
                          <a:latin typeface="Arial"/>
                          <a:ea typeface="Arial"/>
                          <a:cs typeface="Arial"/>
                        </a:rPr>
                        <a:t>D</a:t>
                      </a:r>
                    </a:p>
                  </a:txBody>
                  <a:tcPr marL="114300" marR="114300" marT="19050" marB="19050" anchor="ctr">
                    <a:solidFill>
                      <a:srgbClr val="EFF2E8"/>
                    </a:solidFill>
                  </a:tcPr>
                </a:tc>
                <a:tc>
                  <a:txBody>
                    <a:bodyPr/>
                    <a:lstStyle/>
                    <a:p>
                      <a:r>
                        <a:rPr sz="1650">
                          <a:solidFill>
                            <a:srgbClr val="173F2F"/>
                          </a:solidFill>
                          <a:latin typeface="Arial"/>
                          <a:ea typeface="Arial"/>
                          <a:cs typeface="Arial"/>
                        </a:rPr>
                        <a:t>Registrar sin Internet y sincronizar al reconectar.</a:t>
                      </a:r>
                    </a:p>
                  </a:txBody>
                  <a:tcPr marL="114300" marR="114300" marT="19050" marB="19050" anchor="ctr">
                    <a:solidFill>
                      <a:srgbClr val="EFF2E8"/>
                    </a:solidFill>
                  </a:tcPr>
                </a:tc>
              </a:tr>
              <a:tr h="302602">
                <a:tc>
                  <a:txBody>
                    <a:bodyPr/>
                    <a:lstStyle/>
                    <a:p>
                      <a:r>
                        <a:rPr sz="1650">
                          <a:solidFill>
                            <a:srgbClr val="173F2F"/>
                          </a:solidFill>
                          <a:latin typeface="Arial"/>
                          <a:ea typeface="Arial"/>
                          <a:cs typeface="Arial"/>
                        </a:rPr>
                        <a:t>LE16</a:t>
                      </a:r>
                    </a:p>
                  </a:txBody>
                  <a:tcPr marL="114300" marR="114300" marT="19050" marB="19050" anchor="ctr">
                    <a:solidFill>
                      <a:srgbClr val="FFFFFF"/>
                    </a:solidFill>
                  </a:tcPr>
                </a:tc>
                <a:tc>
                  <a:txBody>
                    <a:bodyPr/>
                    <a:lstStyle/>
                    <a:p>
                      <a:r>
                        <a:rPr sz="1650">
                          <a:solidFill>
                            <a:srgbClr val="173F2F"/>
                          </a:solidFill>
                          <a:latin typeface="Arial"/>
                          <a:ea typeface="Arial"/>
                          <a:cs typeface="Arial"/>
                        </a:rPr>
                        <a:t>E</a:t>
                      </a:r>
                    </a:p>
                  </a:txBody>
                  <a:tcPr marL="114300" marR="114300" marT="19050" marB="19050" anchor="ctr">
                    <a:solidFill>
                      <a:srgbClr val="FFFFFF"/>
                    </a:solidFill>
                  </a:tcPr>
                </a:tc>
                <a:tc>
                  <a:txBody>
                    <a:bodyPr/>
                    <a:lstStyle/>
                    <a:p>
                      <a:r>
                        <a:rPr sz="1650">
                          <a:solidFill>
                            <a:srgbClr val="173F2F"/>
                          </a:solidFill>
                          <a:latin typeface="Arial"/>
                          <a:ea typeface="Arial"/>
                          <a:cs typeface="Arial"/>
                        </a:rPr>
                        <a:t>Distinguir medición y estimación. Sin diagnósticos.</a:t>
                      </a:r>
                    </a:p>
                  </a:txBody>
                  <a:tcPr marL="114300" marR="114300" marT="19050" marB="19050" anchor="ctr">
                    <a:solidFill>
                      <a:srgbClr val="FFFFFF"/>
                    </a:solidFill>
                  </a:tcPr>
                </a:tc>
              </a:tr>
              <a:tr h="302602">
                <a:tc>
                  <a:txBody>
                    <a:bodyPr/>
                    <a:lstStyle/>
                    <a:p>
                      <a:r>
                        <a:rPr sz="1650">
                          <a:solidFill>
                            <a:srgbClr val="173F2F"/>
                          </a:solidFill>
                          <a:latin typeface="Arial"/>
                          <a:ea typeface="Arial"/>
                          <a:cs typeface="Arial"/>
                        </a:rPr>
                        <a:t>LE17</a:t>
                      </a:r>
                    </a:p>
                  </a:txBody>
                  <a:tcPr marL="114300" marR="114300" marT="19050" marB="19050" anchor="ctr">
                    <a:solidFill>
                      <a:srgbClr val="EFF2E8"/>
                    </a:solidFill>
                  </a:tcPr>
                </a:tc>
                <a:tc>
                  <a:txBody>
                    <a:bodyPr/>
                    <a:lstStyle/>
                    <a:p>
                      <a:r>
                        <a:rPr sz="1650">
                          <a:solidFill>
                            <a:srgbClr val="173F2F"/>
                          </a:solidFill>
                          <a:latin typeface="Arial"/>
                          <a:ea typeface="Arial"/>
                          <a:cs typeface="Arial"/>
                        </a:rPr>
                        <a:t>E</a:t>
                      </a:r>
                    </a:p>
                  </a:txBody>
                  <a:tcPr marL="114300" marR="114300" marT="19050" marB="19050" anchor="ctr">
                    <a:solidFill>
                      <a:srgbClr val="EFF2E8"/>
                    </a:solidFill>
                  </a:tcPr>
                </a:tc>
                <a:tc>
                  <a:txBody>
                    <a:bodyPr/>
                    <a:lstStyle/>
                    <a:p>
                      <a:r>
                        <a:rPr sz="1650">
                          <a:solidFill>
                            <a:srgbClr val="173F2F"/>
                          </a:solidFill>
                          <a:latin typeface="Arial"/>
                          <a:ea typeface="Arial"/>
                          <a:cs typeface="Arial"/>
                        </a:rPr>
                        <a:t>Interfaz en español. Registro ≤ 60 s y ≤ 5 acciones.</a:t>
                      </a:r>
                    </a:p>
                  </a:txBody>
                  <a:tcPr marL="114300" marR="114300" marT="19050" marB="19050" anchor="ctr">
                    <a:solidFill>
                      <a:srgbClr val="EFF2E8"/>
                    </a:solidFill>
                  </a:tcPr>
                </a:tc>
              </a:tr>
              <a:tr h="302602">
                <a:tc>
                  <a:txBody>
                    <a:bodyPr/>
                    <a:lstStyle/>
                    <a:p>
                      <a:r>
                        <a:rPr sz="1650">
                          <a:solidFill>
                            <a:srgbClr val="173F2F"/>
                          </a:solidFill>
                          <a:latin typeface="Arial"/>
                          <a:ea typeface="Arial"/>
                          <a:cs typeface="Arial"/>
                        </a:rPr>
                        <a:t>LE18</a:t>
                      </a:r>
                    </a:p>
                  </a:txBody>
                  <a:tcPr marL="114300" marR="114300" marT="19050" marB="19050" anchor="ctr">
                    <a:solidFill>
                      <a:srgbClr val="FFFFFF"/>
                    </a:solidFill>
                  </a:tcPr>
                </a:tc>
                <a:tc>
                  <a:txBody>
                    <a:bodyPr/>
                    <a:lstStyle/>
                    <a:p>
                      <a:r>
                        <a:rPr sz="1650">
                          <a:solidFill>
                            <a:srgbClr val="173F2F"/>
                          </a:solidFill>
                          <a:latin typeface="Arial"/>
                          <a:ea typeface="Arial"/>
                          <a:cs typeface="Arial"/>
                        </a:rPr>
                        <a:t>D</a:t>
                      </a:r>
                    </a:p>
                  </a:txBody>
                  <a:tcPr marL="114300" marR="114300" marT="19050" marB="19050" anchor="ctr">
                    <a:solidFill>
                      <a:srgbClr val="FFFFFF"/>
                    </a:solidFill>
                  </a:tcPr>
                </a:tc>
                <a:tc>
                  <a:txBody>
                    <a:bodyPr/>
                    <a:lstStyle/>
                    <a:p>
                      <a:r>
                        <a:rPr sz="1650">
                          <a:solidFill>
                            <a:srgbClr val="173F2F"/>
                          </a:solidFill>
                          <a:latin typeface="Arial"/>
                          <a:ea typeface="Arial"/>
                          <a:cs typeface="Arial"/>
                        </a:rPr>
                        <a:t>Componentes disponibles localmente.</a:t>
                      </a:r>
                    </a:p>
                  </a:txBody>
                  <a:tcPr marL="114300" marR="114300" marT="19050" marB="19050" anchor="ctr">
                    <a:solidFill>
                      <a:srgbClr val="FFFFFF"/>
                    </a:solidFill>
                  </a:tcPr>
                </a:tc>
              </a:tr>
              <a:tr h="302602">
                <a:tc>
                  <a:txBody>
                    <a:bodyPr/>
                    <a:lstStyle/>
                    <a:p>
                      <a:r>
                        <a:rPr sz="1650">
                          <a:solidFill>
                            <a:srgbClr val="173F2F"/>
                          </a:solidFill>
                          <a:latin typeface="Arial"/>
                          <a:ea typeface="Arial"/>
                          <a:cs typeface="Arial"/>
                        </a:rPr>
                        <a:t>LE19</a:t>
                      </a:r>
                    </a:p>
                  </a:txBody>
                  <a:tcPr marL="114300" marR="114300" marT="19050" marB="19050" anchor="ctr">
                    <a:solidFill>
                      <a:srgbClr val="EFF2E8"/>
                    </a:solidFill>
                  </a:tcPr>
                </a:tc>
                <a:tc>
                  <a:txBody>
                    <a:bodyPr/>
                    <a:lstStyle/>
                    <a:p>
                      <a:r>
                        <a:rPr sz="1650">
                          <a:solidFill>
                            <a:srgbClr val="173F2F"/>
                          </a:solidFill>
                          <a:latin typeface="Arial"/>
                          <a:ea typeface="Arial"/>
                          <a:cs typeface="Arial"/>
                        </a:rPr>
                        <a:t>E</a:t>
                      </a:r>
                    </a:p>
                  </a:txBody>
                  <a:tcPr marL="114300" marR="114300" marT="19050" marB="19050" anchor="ctr">
                    <a:solidFill>
                      <a:srgbClr val="EFF2E8"/>
                    </a:solidFill>
                  </a:tcPr>
                </a:tc>
                <a:tc>
                  <a:txBody>
                    <a:bodyPr/>
                    <a:lstStyle/>
                    <a:p>
                      <a:r>
                        <a:rPr sz="1650">
                          <a:solidFill>
                            <a:srgbClr val="173F2F"/>
                          </a:solidFill>
                          <a:latin typeface="Arial"/>
                          <a:ea typeface="Arial"/>
                          <a:cs typeface="Arial"/>
                        </a:rPr>
                        <a:t>Contacto alimentario con material apto y lavable.</a:t>
                      </a:r>
                    </a:p>
                  </a:txBody>
                  <a:tcPr marL="114300" marR="114300" marT="19050" marB="19050" anchor="ctr">
                    <a:solidFill>
                      <a:srgbClr val="EFF2E8"/>
                    </a:solidFill>
                  </a:tcPr>
                </a:tc>
              </a:tr>
              <a:tr h="302602">
                <a:tc>
                  <a:txBody>
                    <a:bodyPr/>
                    <a:lstStyle/>
                    <a:p>
                      <a:r>
                        <a:rPr sz="1650">
                          <a:solidFill>
                            <a:srgbClr val="173F2F"/>
                          </a:solidFill>
                          <a:latin typeface="Arial"/>
                          <a:ea typeface="Arial"/>
                          <a:cs typeface="Arial"/>
                        </a:rPr>
                        <a:t>LE20</a:t>
                      </a:r>
                    </a:p>
                  </a:txBody>
                  <a:tcPr marL="114300" marR="114300" marT="19050" marB="19050" anchor="ctr">
                    <a:solidFill>
                      <a:srgbClr val="FFFFFF"/>
                    </a:solidFill>
                  </a:tcPr>
                </a:tc>
                <a:tc>
                  <a:txBody>
                    <a:bodyPr/>
                    <a:lstStyle/>
                    <a:p>
                      <a:r>
                        <a:rPr sz="1650">
                          <a:solidFill>
                            <a:srgbClr val="173F2F"/>
                          </a:solidFill>
                          <a:latin typeface="Arial"/>
                          <a:ea typeface="Arial"/>
                          <a:cs typeface="Arial"/>
                        </a:rPr>
                        <a:t>E</a:t>
                      </a:r>
                    </a:p>
                  </a:txBody>
                  <a:tcPr marL="114300" marR="114300" marT="19050" marB="19050" anchor="ctr">
                    <a:solidFill>
                      <a:srgbClr val="FFFFFF"/>
                    </a:solidFill>
                  </a:tcPr>
                </a:tc>
                <a:tc>
                  <a:txBody>
                    <a:bodyPr/>
                    <a:lstStyle/>
                    <a:p>
                      <a:r>
                        <a:rPr sz="1650">
                          <a:solidFill>
                            <a:srgbClr val="173F2F"/>
                          </a:solidFill>
                          <a:latin typeface="Arial"/>
                          <a:ea typeface="Arial"/>
                          <a:cs typeface="Arial"/>
                        </a:rPr>
                        <a:t>Validar ≥ 30 porciones. Error porcentual medio ≤ 20 %.</a:t>
                      </a:r>
                    </a:p>
                  </a:txBody>
                  <a:tcPr marL="114300" marR="114300" marT="19050" marB="19050" anchor="ctr">
                    <a:solidFill>
                      <a:srgbClr val="FFFFFF"/>
                    </a:solidFill>
                  </a:tcPr>
                </a:tc>
              </a:tr>
              <a:tr h="302602">
                <a:tc>
                  <a:txBody>
                    <a:bodyPr/>
                    <a:lstStyle/>
                    <a:p>
                      <a:r>
                        <a:rPr sz="1650">
                          <a:solidFill>
                            <a:srgbClr val="173F2F"/>
                          </a:solidFill>
                          <a:latin typeface="Arial"/>
                          <a:ea typeface="Arial"/>
                          <a:cs typeface="Arial"/>
                        </a:rPr>
                        <a:t>LE21</a:t>
                      </a:r>
                    </a:p>
                  </a:txBody>
                  <a:tcPr marL="114300" marR="114300" marT="19050" marB="19050" anchor="ctr">
                    <a:solidFill>
                      <a:srgbClr val="EFF2E8"/>
                    </a:solidFill>
                  </a:tcPr>
                </a:tc>
                <a:tc>
                  <a:txBody>
                    <a:bodyPr/>
                    <a:lstStyle/>
                    <a:p>
                      <a:r>
                        <a:rPr sz="1650">
                          <a:solidFill>
                            <a:srgbClr val="173F2F"/>
                          </a:solidFill>
                          <a:latin typeface="Arial"/>
                          <a:ea typeface="Arial"/>
                          <a:cs typeface="Arial"/>
                        </a:rPr>
                        <a:t>E</a:t>
                      </a:r>
                    </a:p>
                  </a:txBody>
                  <a:tcPr marL="114300" marR="114300" marT="19050" marB="19050" anchor="ctr">
                    <a:solidFill>
                      <a:srgbClr val="EFF2E8"/>
                    </a:solidFill>
                  </a:tcPr>
                </a:tc>
                <a:tc>
                  <a:txBody>
                    <a:bodyPr/>
                    <a:lstStyle/>
                    <a:p>
                      <a:r>
                        <a:rPr sz="1650">
                          <a:solidFill>
                            <a:srgbClr val="173F2F"/>
                          </a:solidFill>
                          <a:latin typeface="Arial"/>
                          <a:ea typeface="Arial"/>
                          <a:cs typeface="Arial"/>
                        </a:rPr>
                        <a:t>Uso doméstico: porciones de 3 a 5000 g.</a:t>
                      </a:r>
                    </a:p>
                  </a:txBody>
                  <a:tcPr marL="114300" marR="114300" marT="19050" marB="19050" anchor="ctr">
                    <a:solidFill>
                      <a:srgbClr val="EFF2E8"/>
                    </a:solidFill>
                  </a:tcPr>
                </a:tc>
              </a:tr>
              <a:tr h="302602">
                <a:tc>
                  <a:txBody>
                    <a:bodyPr/>
                    <a:lstStyle/>
                    <a:p>
                      <a:r>
                        <a:rPr sz="1650">
                          <a:solidFill>
                            <a:srgbClr val="173F2F"/>
                          </a:solidFill>
                          <a:latin typeface="Arial"/>
                          <a:ea typeface="Arial"/>
                          <a:cs typeface="Arial"/>
                        </a:rPr>
                        <a:t>LE22</a:t>
                      </a:r>
                    </a:p>
                  </a:txBody>
                  <a:tcPr marL="114300" marR="114300" marT="19050" marB="19050" anchor="ctr">
                    <a:solidFill>
                      <a:srgbClr val="FFFFFF"/>
                    </a:solidFill>
                  </a:tcPr>
                </a:tc>
                <a:tc>
                  <a:txBody>
                    <a:bodyPr/>
                    <a:lstStyle/>
                    <a:p>
                      <a:r>
                        <a:rPr sz="1650">
                          <a:solidFill>
                            <a:srgbClr val="173F2F"/>
                          </a:solidFill>
                          <a:latin typeface="Arial"/>
                          <a:ea typeface="Arial"/>
                          <a:cs typeface="Arial"/>
                        </a:rPr>
                        <a:t>D</a:t>
                      </a:r>
                    </a:p>
                  </a:txBody>
                  <a:tcPr marL="114300" marR="114300" marT="19050" marB="19050" anchor="ctr">
                    <a:solidFill>
                      <a:srgbClr val="FFFFFF"/>
                    </a:solidFill>
                  </a:tcPr>
                </a:tc>
                <a:tc>
                  <a:txBody>
                    <a:bodyPr/>
                    <a:lstStyle/>
                    <a:p>
                      <a:r>
                        <a:rPr sz="1650">
                          <a:solidFill>
                            <a:srgbClr val="173F2F"/>
                          </a:solidFill>
                          <a:latin typeface="Arial"/>
                          <a:ea typeface="Arial"/>
                          <a:cs typeface="Arial"/>
                        </a:rPr>
                        <a:t>Actualizar datos conservando fuente y versión.</a:t>
                      </a:r>
                    </a:p>
                  </a:txBody>
                  <a:tcPr marL="114300" marR="114300" marT="19050" marB="19050" anchor="ctr">
                    <a:solidFill>
                      <a:srgbClr val="FFFFFF"/>
                    </a:solidFill>
                  </a:tcPr>
                </a:tc>
              </a:tr>
              <a:tr h="302602">
                <a:tc>
                  <a:txBody>
                    <a:bodyPr/>
                    <a:lstStyle/>
                    <a:p>
                      <a:r>
                        <a:rPr sz="1650">
                          <a:solidFill>
                            <a:srgbClr val="173F2F"/>
                          </a:solidFill>
                          <a:latin typeface="Arial"/>
                          <a:ea typeface="Arial"/>
                          <a:cs typeface="Arial"/>
                        </a:rPr>
                        <a:t>LE23</a:t>
                      </a:r>
                    </a:p>
                  </a:txBody>
                  <a:tcPr marL="114300" marR="114300" marT="19050" marB="19050" anchor="ctr">
                    <a:solidFill>
                      <a:srgbClr val="EFF2E8"/>
                    </a:solidFill>
                  </a:tcPr>
                </a:tc>
                <a:tc>
                  <a:txBody>
                    <a:bodyPr/>
                    <a:lstStyle/>
                    <a:p>
                      <a:r>
                        <a:rPr sz="1650">
                          <a:solidFill>
                            <a:srgbClr val="173F2F"/>
                          </a:solidFill>
                          <a:latin typeface="Arial"/>
                          <a:ea typeface="Arial"/>
                          <a:cs typeface="Arial"/>
                        </a:rPr>
                        <a:t>D</a:t>
                      </a:r>
                    </a:p>
                  </a:txBody>
                  <a:tcPr marL="114300" marR="114300" marT="19050" marB="19050" anchor="ctr">
                    <a:solidFill>
                      <a:srgbClr val="EFF2E8"/>
                    </a:solidFill>
                  </a:tcPr>
                </a:tc>
                <a:tc>
                  <a:txBody>
                    <a:bodyPr/>
                    <a:lstStyle/>
                    <a:p>
                      <a:r>
                        <a:rPr sz="1650">
                          <a:solidFill>
                            <a:srgbClr val="173F2F"/>
                          </a:solidFill>
                          <a:latin typeface="Arial"/>
                          <a:ea typeface="Arial"/>
                          <a:cs typeface="Arial"/>
                        </a:rPr>
                        <a:t>Costo del prototipo ≤ S/ 500, sin suscripción obligatoria.</a:t>
                      </a:r>
                    </a:p>
                  </a:txBody>
                  <a:tcPr marL="114300" marR="114300" marT="19050" marB="19050" anchor="ctr">
                    <a:solidFill>
                      <a:srgbClr val="EFF2E8"/>
                    </a:solidFill>
                  </a:tcPr>
                </a:tc>
              </a:tr>
              <a:tr h="302602">
                <a:tc>
                  <a:txBody>
                    <a:bodyPr/>
                    <a:lstStyle/>
                    <a:p>
                      <a:r>
                        <a:rPr sz="1650">
                          <a:solidFill>
                            <a:srgbClr val="173F2F"/>
                          </a:solidFill>
                          <a:latin typeface="Arial"/>
                          <a:ea typeface="Arial"/>
                          <a:cs typeface="Arial"/>
                        </a:rPr>
                        <a:t>LE24</a:t>
                      </a:r>
                    </a:p>
                  </a:txBody>
                  <a:tcPr marL="114300" marR="114300" marT="19050" marB="19050" anchor="ctr">
                    <a:solidFill>
                      <a:srgbClr val="FFFFFF"/>
                    </a:solidFill>
                  </a:tcPr>
                </a:tc>
                <a:tc>
                  <a:txBody>
                    <a:bodyPr/>
                    <a:lstStyle/>
                    <a:p>
                      <a:r>
                        <a:rPr sz="1650">
                          <a:solidFill>
                            <a:srgbClr val="173F2F"/>
                          </a:solidFill>
                          <a:latin typeface="Arial"/>
                          <a:ea typeface="Arial"/>
                          <a:cs typeface="Arial"/>
                        </a:rPr>
                        <a:t>E</a:t>
                      </a:r>
                    </a:p>
                  </a:txBody>
                  <a:tcPr marL="114300" marR="114300" marT="19050" marB="19050" anchor="ctr">
                    <a:solidFill>
                      <a:srgbClr val="FFFFFF"/>
                    </a:solidFill>
                  </a:tcPr>
                </a:tc>
                <a:tc>
                  <a:txBody>
                    <a:bodyPr/>
                    <a:lstStyle/>
                    <a:p>
                      <a:r>
                        <a:rPr sz="1650">
                          <a:solidFill>
                            <a:srgbClr val="173F2F"/>
                          </a:solidFill>
                          <a:latin typeface="Arial"/>
                          <a:ea typeface="Arial"/>
                          <a:cs typeface="Arial"/>
                        </a:rPr>
                        <a:t>Completar el Entregable 2 hasta el 08/10/2026.</a:t>
                      </a:r>
                    </a:p>
                  </a:txBody>
                  <a:tcPr marL="114300" marR="114300" marT="19050" marB="19050" anchor="ctr">
                    <a:solidFill>
                      <a:srgbClr val="FFFFFF"/>
                    </a:solidFill>
                  </a:tcPr>
                </a:tc>
              </a:tr>
              <a:tr h="302602">
                <a:tc>
                  <a:txBody>
                    <a:bodyPr/>
                    <a:lstStyle/>
                    <a:p>
                      <a:r>
                        <a:rPr sz="1650">
                          <a:solidFill>
                            <a:srgbClr val="173F2F"/>
                          </a:solidFill>
                          <a:latin typeface="Arial"/>
                          <a:ea typeface="Arial"/>
                          <a:cs typeface="Arial"/>
                        </a:rPr>
                        <a:t>LE25</a:t>
                      </a:r>
                    </a:p>
                  </a:txBody>
                  <a:tcPr marL="114300" marR="114300" marT="19050" marB="19050" anchor="ctr">
                    <a:solidFill>
                      <a:srgbClr val="EFF2E8"/>
                    </a:solidFill>
                  </a:tcPr>
                </a:tc>
                <a:tc>
                  <a:txBody>
                    <a:bodyPr/>
                    <a:lstStyle/>
                    <a:p>
                      <a:r>
                        <a:rPr sz="1650">
                          <a:solidFill>
                            <a:srgbClr val="173F2F"/>
                          </a:solidFill>
                          <a:latin typeface="Arial"/>
                          <a:ea typeface="Arial"/>
                          <a:cs typeface="Arial"/>
                        </a:rPr>
                        <a:t>E</a:t>
                      </a:r>
                    </a:p>
                  </a:txBody>
                  <a:tcPr marL="114300" marR="114300" marT="19050" marB="19050" anchor="ctr">
                    <a:solidFill>
                      <a:srgbClr val="EFF2E8"/>
                    </a:solidFill>
                  </a:tcPr>
                </a:tc>
                <a:tc>
                  <a:txBody>
                    <a:bodyPr/>
                    <a:lstStyle/>
                    <a:p>
                      <a:r>
                        <a:rPr sz="1650">
                          <a:solidFill>
                            <a:srgbClr val="173F2F"/>
                          </a:solidFill>
                          <a:latin typeface="Arial"/>
                          <a:ea typeface="Arial"/>
                          <a:cs typeface="Arial"/>
                        </a:rPr>
                        <a:t>Conectar prototipo y app. Intercambiar cantidad, estado y comandos.</a:t>
                      </a:r>
                    </a:p>
                  </a:txBody>
                  <a:tcPr marL="114300" marR="114300" marT="19050" marB="19050" anchor="ctr">
                    <a:solidFill>
                      <a:srgbClr val="EFF2E8"/>
                    </a:solidFill>
                  </a:tcPr>
                </a:tc>
              </a:tr>
            </a:tbl>
          </a:graphicData>
        </a:graphic>
      </p:graphicFrame>
      <p:sp>
        <p:nvSpPr>
          <p:cNvPr id="6" name="Revisar LE15/21/25: historial local, app 10–3000 g e in">
            <a:extLst xmlns:a="http://schemas.openxmlformats.org/drawingml/2006/main">
              <a:ext uri="{FF2B5EF4-FFF2-40B4-BE49-F238E27FC236}">
                <a16:creationId xmlns:a16="http://schemas.microsoft.com/office/drawing/2014/main" id="{655E433E-DA05-47E1-A9B7-F719A9A778B7}"/>
              </a:ext>
            </a:extLst>
          </p:cNvPr>
          <p:cNvSpPr>
            <a:spLocks xmlns:a="http://schemas.openxmlformats.org/drawingml/2006/main" noGrp="1"/>
          </p:cNvSpPr>
          <p:nvPr/>
        </p:nvSpPr>
        <p:spPr>
          <a:xfrm xmlns:a="http://schemas.openxmlformats.org/drawingml/2006/main">
            <a:off x="571500" y="606742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AD6240"/>
                </a:solidFill>
                <a:latin typeface="Arial"/>
                <a:ea typeface="Arial"/>
                <a:cs typeface="Arial"/>
              </a:defRPr>
            </a:defPPr>
          </a:lstStyle>
          <a:p xmlns:a="http://schemas.openxmlformats.org/drawingml/2006/main">
            <a:pPr>
              <a:defRPr sz="1575" b="1">
                <a:solidFill>
                  <a:srgbClr val="AD6240"/>
                </a:solidFill>
                <a:latin typeface="Arial"/>
                <a:ea typeface="Arial"/>
                <a:cs typeface="Arial"/>
              </a:defRPr>
            </a:pPr>
            <a:r>
              <a:rPr sz="1575" b="1">
                <a:solidFill>
                  <a:srgbClr val="AD6240"/>
                </a:solidFill>
                <a:latin typeface="Arial"/>
                <a:ea typeface="Arial"/>
                <a:cs typeface="Arial"/>
              </a:rPr>
              <a:t>Revisar LE15/21/25: historial local, app 10–3000 g e integración física pendiente.</a:t>
            </a:r>
          </a:p>
        </p:txBody>
      </p:sp>
    </p:spTree>
    <p:extLst>
      <p:ext uri="{BB962C8B-B14F-4D97-AF65-F5344CB8AC3E}">
        <p14:creationId xmlns:p14="http://schemas.microsoft.com/office/powerpoint/2010/main" val="385539531"/>
      </p:ext>
    </p:extLst>
  </p:cSld>
</p:sld>
</file>

<file path=ppt/slides/slide36.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4" name="Anexo · Pesaje con celda de carga y HX711">
            <a:extLst xmlns:a="http://schemas.openxmlformats.org/drawingml/2006/main">
              <a:ext uri="{FF2B5EF4-FFF2-40B4-BE49-F238E27FC236}">
                <a16:creationId xmlns:a16="http://schemas.microsoft.com/office/drawing/2014/main" id="{F47776B8-D91D-4A54-897D-1B32D2F576C0}"/>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Anexo · Pesaje con celda de carga y HX711</a:t>
            </a:r>
          </a:p>
        </p:txBody>
      </p:sp>
      <p:sp>
        <p:nvSpPr>
          <p:cNvPr id="2" name="La balanza externa del parcial es independiente de este">
            <a:extLst xmlns:a="http://schemas.openxmlformats.org/drawingml/2006/main">
              <a:ext uri="{FF2B5EF4-FFF2-40B4-BE49-F238E27FC236}">
                <a16:creationId xmlns:a16="http://schemas.microsoft.com/office/drawing/2014/main" id="{E017BFFB-69CF-48D4-8A52-721072AB2D76}"/>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La balanza externa del parcial es independiente de este sensor propuesto</a:t>
            </a:r>
          </a:p>
        </p:txBody>
      </p:sp>
      <p:sp>
        <p:nvSpPr>
          <p:cNvPr id="3" name="Fuentes [18], [19], [24] · Referencias al final">
            <a:extLst xmlns:a="http://schemas.openxmlformats.org/drawingml/2006/main">
              <a:ext uri="{FF2B5EF4-FFF2-40B4-BE49-F238E27FC236}">
                <a16:creationId xmlns:a16="http://schemas.microsoft.com/office/drawing/2014/main" id="{0997195B-0D7A-445F-8EEC-FB252AB680FF}"/>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[18], [19], [24] · Referencias al final</a:t>
            </a:r>
          </a:p>
        </p:txBody>
      </p:sp>
      <p:sp>
        <p:nvSpPr>
          <p:cNvPr id="4" name="36">
            <a:extLst xmlns:a="http://schemas.openxmlformats.org/drawingml/2006/main">
              <a:ext uri="{FF2B5EF4-FFF2-40B4-BE49-F238E27FC236}">
                <a16:creationId xmlns:a16="http://schemas.microsoft.com/office/drawing/2014/main" id="{8C2DD492-5D35-46C0-AEA3-468CCB1D1D3C}"/>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36</a:t>
            </a:r>
          </a:p>
        </p:txBody>
      </p:sp>
      <p:pic>
        <p:nvPicPr>
          <p:cNvPr id="5" name="">
            <a:extLst xmlns:a="http://schemas.openxmlformats.org/drawingml/2006/main">
              <a:ext uri="{FF2B5EF4-FFF2-40B4-BE49-F238E27FC236}">
                <a16:creationId xmlns:a16="http://schemas.microsoft.com/office/drawing/2014/main" id="{A8128828-8D8E-4C69-AFDA-E689FB052862}"/>
              </a:ext>
            </a:extLst>
          </p:cNvPr>
          <p:cNvPicPr>
            <a:picLocks xmlns:a="http://schemas.openxmlformats.org/drawingml/2006/main" noChangeAspect="1"/>
          </p:cNvPicPr>
          <p:nvPr/>
        </p:nvPicPr>
        <p:blipFill>
          <a:blip xmlns:r="http://schemas.openxmlformats.org/officeDocument/2006/relationships" xmlns:a="http://schemas.openxmlformats.org/drawingml/2006/main" r:embed="Rcd6e5047ff9b4ab5"/>
          <a:stretch xmlns:a="http://schemas.openxmlformats.org/drawingml/2006/main"/>
        </p:blipFill>
        <p:spPr>
          <a:xfrm xmlns:a="http://schemas.openxmlformats.org/drawingml/2006/main">
            <a:off x="1152525" y="1647825"/>
            <a:ext cx="1981200" cy="19812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3C8E7FF8-402F-40B1-BF48-0CC605415308}"/>
              </a:ext>
            </a:extLst>
          </p:cNvPr>
          <p:cNvPicPr>
            <a:picLocks xmlns:a="http://schemas.openxmlformats.org/drawingml/2006/main" noChangeAspect="1"/>
          </p:cNvPicPr>
          <p:nvPr/>
        </p:nvPicPr>
        <p:blipFill>
          <a:blip xmlns:r="http://schemas.openxmlformats.org/officeDocument/2006/relationships" xmlns:a="http://schemas.openxmlformats.org/drawingml/2006/main" r:embed="Rb6e518ec03774842"/>
          <a:stretch xmlns:a="http://schemas.openxmlformats.org/drawingml/2006/main"/>
        </p:blipFill>
        <p:spPr>
          <a:xfrm xmlns:a="http://schemas.openxmlformats.org/drawingml/2006/main">
            <a:off x="4600575" y="1647825"/>
            <a:ext cx="1981200" cy="19812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70CAD313-6F48-4901-BBB0-951084085705}"/>
              </a:ext>
            </a:extLst>
          </p:cNvPr>
          <p:cNvPicPr>
            <a:picLocks xmlns:a="http://schemas.openxmlformats.org/drawingml/2006/main" noChangeAspect="1"/>
          </p:cNvPicPr>
          <p:nvPr/>
        </p:nvPicPr>
        <p:blipFill>
          <a:blip xmlns:r="http://schemas.openxmlformats.org/officeDocument/2006/relationships" xmlns:a="http://schemas.openxmlformats.org/drawingml/2006/main" r:embed="R62ee8e48de6e449d"/>
          <a:stretch xmlns:a="http://schemas.openxmlformats.org/drawingml/2006/main"/>
        </p:blipFill>
        <p:spPr>
          <a:xfrm xmlns:a="http://schemas.openxmlformats.org/drawingml/2006/main">
            <a:off x="8239125" y="1647825"/>
            <a:ext cx="1981200" cy="1981200"/>
          </a:xfrm>
          <a:prstGeom xmlns:a="http://schemas.openxmlformats.org/drawingml/2006/main" prst="rect">
            <a:avLst/>
          </a:prstGeom>
        </p:spPr>
      </p:pic>
      <p:cxnSp>
        <p:nvCxnSpPr>
          <p:cNvPr id="8" name="">
            <a:extLst xmlns:a="http://schemas.openxmlformats.org/drawingml/2006/main">
              <a:ext uri="{FF2B5EF4-FFF2-40B4-BE49-F238E27FC236}">
                <a16:creationId xmlns:a16="http://schemas.microsoft.com/office/drawing/2014/main" id="{C526EB20-A5F0-4391-82D6-E5CACDC886E2}"/>
              </a:ext>
            </a:extLst>
          </p:cNvPr>
          <p:cNvCxnSpPr/>
          <p:nvPr/>
        </p:nvCxnSpPr>
        <p:spPr>
          <a:xfrm xmlns:a="http://schemas.openxmlformats.org/drawingml/2006/main">
            <a:off x="3771900" y="2600325"/>
            <a:ext cx="361950" cy="0"/>
          </a:xfrm>
          <a:prstGeom xmlns:a="http://schemas.openxmlformats.org/drawingml/2006/main" prst="straightConnector1">
            <a:avLst/>
          </a:prstGeom>
          <a:ln xmlns:a="http://schemas.openxmlformats.org/drawingml/2006/main" w="23813">
            <a:solidFill>
              <a:srgbClr val="577161"/>
            </a:solidFill>
            <a:tailEnd type="triangle" w="med" len="med"/>
          </a:ln>
        </p:spPr>
      </p:cxnSp>
      <p:cxnSp>
        <p:nvCxnSpPr>
          <p:cNvPr id="9" name="">
            <a:extLst xmlns:a="http://schemas.openxmlformats.org/drawingml/2006/main">
              <a:ext uri="{FF2B5EF4-FFF2-40B4-BE49-F238E27FC236}">
                <a16:creationId xmlns:a16="http://schemas.microsoft.com/office/drawing/2014/main" id="{22B27806-8208-4396-84B3-A5CFD4B9DF0F}"/>
              </a:ext>
            </a:extLst>
          </p:cNvPr>
          <p:cNvCxnSpPr/>
          <p:nvPr/>
        </p:nvCxnSpPr>
        <p:spPr>
          <a:xfrm xmlns:a="http://schemas.openxmlformats.org/drawingml/2006/main">
            <a:off x="7000875" y="2600325"/>
            <a:ext cx="771525" cy="0"/>
          </a:xfrm>
          <a:prstGeom xmlns:a="http://schemas.openxmlformats.org/drawingml/2006/main" prst="straightConnector1">
            <a:avLst/>
          </a:prstGeom>
          <a:ln xmlns:a="http://schemas.openxmlformats.org/drawingml/2006/main" w="23813">
            <a:solidFill>
              <a:srgbClr val="577161"/>
            </a:solidFill>
            <a:tailEnd type="triangle" w="med" len="med"/>
          </a:ln>
        </p:spPr>
      </p:cxnSp>
      <p:sp>
        <p:nvSpPr>
          <p:cNvPr id="10" name="Deformación → señal eléctrica → lectura digital → gramo">
            <a:extLst xmlns:a="http://schemas.openxmlformats.org/drawingml/2006/main">
              <a:ext uri="{FF2B5EF4-FFF2-40B4-BE49-F238E27FC236}">
                <a16:creationId xmlns:a16="http://schemas.microsoft.com/office/drawing/2014/main" id="{6955DBBE-A50F-4782-ABDF-83F0984BB5BF}"/>
              </a:ext>
            </a:extLst>
          </p:cNvPr>
          <p:cNvSpPr>
            <a:spLocks xmlns:a="http://schemas.openxmlformats.org/drawingml/2006/main" noGrp="1"/>
          </p:cNvSpPr>
          <p:nvPr/>
        </p:nvSpPr>
        <p:spPr>
          <a:xfrm xmlns:a="http://schemas.openxmlformats.org/drawingml/2006/main">
            <a:off x="571500" y="3867150"/>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73F2F"/>
                </a:solidFill>
                <a:latin typeface="Arial"/>
                <a:ea typeface="Arial"/>
                <a:cs typeface="Arial"/>
              </a:defRPr>
            </a:defPPr>
          </a:lstStyle>
          <a:p xmlns:a="http://schemas.openxmlformats.org/drawingml/2006/main">
            <a:pPr>
              <a:defRPr sz="2250" b="1">
                <a:solidFill>
                  <a:srgbClr val="173F2F"/>
                </a:solidFill>
                <a:latin typeface="Arial"/>
                <a:ea typeface="Arial"/>
                <a:cs typeface="Arial"/>
              </a:defRPr>
            </a:pPr>
            <a:r>
              <a:rPr sz="2250" b="1">
                <a:solidFill>
                  <a:srgbClr val="173F2F"/>
                </a:solidFill>
                <a:latin typeface="Arial"/>
                <a:ea typeface="Arial"/>
                <a:cs typeface="Arial"/>
              </a:rPr>
              <a:t>Deformación → señal eléctrica → lectura digital → gramos calibrados</a:t>
            </a:r>
          </a:p>
        </p:txBody>
      </p:sp>
      <p:sp>
        <p:nvSpPr>
          <p:cNvPr id="11" name="Celda: 5 kg, cuatro hilos. HX711: conversión de 24 bits">
            <a:extLst xmlns:a="http://schemas.openxmlformats.org/drawingml/2006/main">
              <a:ext uri="{FF2B5EF4-FFF2-40B4-BE49-F238E27FC236}">
                <a16:creationId xmlns:a16="http://schemas.microsoft.com/office/drawing/2014/main" id="{A0BBC79D-025B-40FD-B0F2-6C101B180A50}"/>
              </a:ext>
            </a:extLst>
          </p:cNvPr>
          <p:cNvSpPr>
            <a:spLocks xmlns:a="http://schemas.openxmlformats.org/drawingml/2006/main" noGrp="1"/>
          </p:cNvSpPr>
          <p:nvPr/>
        </p:nvSpPr>
        <p:spPr>
          <a:xfrm xmlns:a="http://schemas.openxmlformats.org/drawingml/2006/main">
            <a:off x="571500" y="4543425"/>
            <a:ext cx="1104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73F2F"/>
                </a:solidFill>
                <a:latin typeface="Arial"/>
                <a:ea typeface="Arial"/>
                <a:cs typeface="Arial"/>
              </a:defRPr>
            </a:defPPr>
          </a:lstStyle>
          <a:p xmlns:a="http://schemas.openxmlformats.org/drawingml/2006/main">
            <a:pPr>
              <a:defRPr sz="1950" b="0">
                <a:solidFill>
                  <a:srgbClr val="173F2F"/>
                </a:solidFill>
                <a:latin typeface="Arial"/>
                <a:ea typeface="Arial"/>
                <a:cs typeface="Arial"/>
              </a:defRPr>
            </a:pPr>
            <a:r>
              <a:rPr sz="1950" b="0">
                <a:solidFill>
                  <a:srgbClr val="173F2F"/>
                </a:solidFill>
                <a:latin typeface="Arial"/>
                <a:ea typeface="Arial"/>
                <a:cs typeface="Arial"/>
              </a:rPr>
              <a:t>Celda: 5 kg, cuatro hilos. HX711: conversión de 24 bits, alimentación elegida 3,3 V.</a:t>
            </a:r>
          </a:p>
        </p:txBody>
      </p:sp>
      <p:sp>
        <p:nvSpPr>
          <p:cNvPr id="12" name="Masa neta = masa con recipiente − tara del recipiente">
            <a:extLst xmlns:a="http://schemas.openxmlformats.org/drawingml/2006/main">
              <a:ext uri="{FF2B5EF4-FFF2-40B4-BE49-F238E27FC236}">
                <a16:creationId xmlns:a16="http://schemas.microsoft.com/office/drawing/2014/main" id="{362BA90D-06ED-4ADE-A24B-ED7A2C26B07A}"/>
              </a:ext>
            </a:extLst>
          </p:cNvPr>
          <p:cNvSpPr>
            <a:spLocks xmlns:a="http://schemas.openxmlformats.org/drawingml/2006/main" noGrp="1"/>
          </p:cNvSpPr>
          <p:nvPr/>
        </p:nvSpPr>
        <p:spPr>
          <a:xfrm xmlns:a="http://schemas.openxmlformats.org/drawingml/2006/main">
            <a:off x="571500" y="5257800"/>
            <a:ext cx="11049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3F2F"/>
                </a:solidFill>
                <a:latin typeface="Arial"/>
                <a:ea typeface="Arial"/>
                <a:cs typeface="Arial"/>
              </a:defRPr>
            </a:defPPr>
          </a:lstStyle>
          <a:p xmlns:a="http://schemas.openxmlformats.org/drawingml/2006/main">
            <a:pPr>
              <a:defRPr sz="2175" b="1">
                <a:solidFill>
                  <a:srgbClr val="173F2F"/>
                </a:solidFill>
                <a:latin typeface="Arial"/>
                <a:ea typeface="Arial"/>
                <a:cs typeface="Arial"/>
              </a:defRPr>
            </a:pPr>
            <a:r>
              <a:rPr sz="2175" b="1">
                <a:solidFill>
                  <a:srgbClr val="173F2F"/>
                </a:solidFill>
                <a:latin typeface="Arial"/>
                <a:ea typeface="Arial"/>
                <a:cs typeface="Arial"/>
              </a:rPr>
              <a:t>Masa neta = masa con recipiente − tara del recipiente</a:t>
            </a:r>
          </a:p>
        </p:txBody>
      </p:sp>
      <p:sp>
        <p:nvSpPr>
          <p:cNvPr id="13" name="Meta preliminar: 50–1000 g; error ≤ máximo de 5 g o 2 %">
            <a:extLst xmlns:a="http://schemas.openxmlformats.org/drawingml/2006/main">
              <a:ext uri="{FF2B5EF4-FFF2-40B4-BE49-F238E27FC236}">
                <a16:creationId xmlns:a16="http://schemas.microsoft.com/office/drawing/2014/main" id="{6E266EC4-839A-4EAD-A553-3DC8A02A42D4}"/>
              </a:ext>
            </a:extLst>
          </p:cNvPr>
          <p:cNvSpPr>
            <a:spLocks xmlns:a="http://schemas.openxmlformats.org/drawingml/2006/main" noGrp="1"/>
          </p:cNvSpPr>
          <p:nvPr/>
        </p:nvSpPr>
        <p:spPr>
          <a:xfrm xmlns:a="http://schemas.openxmlformats.org/drawingml/2006/main">
            <a:off x="571500" y="59436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Meta preliminar: 50–1000 g; error ≤ máximo de 5 g o 2 %. Todavía sin comprobar.</a:t>
            </a:r>
          </a:p>
        </p:txBody>
      </p:sp>
    </p:spTree>
    <p:extLst>
      <p:ext uri="{BB962C8B-B14F-4D97-AF65-F5344CB8AC3E}">
        <p14:creationId xmlns:p14="http://schemas.microsoft.com/office/powerpoint/2010/main" val="1130672859"/>
      </p:ext>
    </p:extLst>
  </p:cSld>
</p:sld>
</file>

<file path=ppt/slides/slide37.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8" name="Anexo · Conexiones y compatibilidad">
            <a:extLst xmlns:a="http://schemas.openxmlformats.org/drawingml/2006/main">
              <a:ext uri="{FF2B5EF4-FFF2-40B4-BE49-F238E27FC236}">
                <a16:creationId xmlns:a16="http://schemas.microsoft.com/office/drawing/2014/main" id="{66C9678E-BD29-485B-BF9C-E87319326C0B}"/>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Anexo · Conexiones y compatibilidad</a:t>
            </a:r>
          </a:p>
        </p:txBody>
      </p:sp>
      <p:sp>
        <p:nvSpPr>
          <p:cNvPr id="2" name="ESP32-CAM con distribución AI-Thinker; microSD sin usar">
            <a:extLst xmlns:a="http://schemas.openxmlformats.org/drawingml/2006/main">
              <a:ext uri="{FF2B5EF4-FFF2-40B4-BE49-F238E27FC236}">
                <a16:creationId xmlns:a16="http://schemas.microsoft.com/office/drawing/2014/main" id="{3B3FA566-D2D3-438D-B089-FB7C8B9B140B}"/>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ESP32-CAM con distribución AI-Thinker; microSD sin usar</a:t>
            </a:r>
          </a:p>
        </p:txBody>
      </p:sp>
      <p:sp>
        <p:nvSpPr>
          <p:cNvPr id="3" name="Fuentes [17], [19], [20], [21], [22], [23], [24] · Refe">
            <a:extLst xmlns:a="http://schemas.openxmlformats.org/drawingml/2006/main">
              <a:ext uri="{FF2B5EF4-FFF2-40B4-BE49-F238E27FC236}">
                <a16:creationId xmlns:a16="http://schemas.microsoft.com/office/drawing/2014/main" id="{60F6C48C-FFDF-4138-B735-CFBB889F9AFD}"/>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Fuentes [17], [19], [20], [21], [22], [23], [24] · Referencias al final</a:t>
            </a:r>
          </a:p>
        </p:txBody>
      </p:sp>
      <p:sp>
        <p:nvSpPr>
          <p:cNvPr id="4" name="37">
            <a:extLst xmlns:a="http://schemas.openxmlformats.org/drawingml/2006/main">
              <a:ext uri="{FF2B5EF4-FFF2-40B4-BE49-F238E27FC236}">
                <a16:creationId xmlns:a16="http://schemas.microsoft.com/office/drawing/2014/main" id="{0091104E-CAB3-424E-862B-EB3730DD2595}"/>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37</a:t>
            </a:r>
          </a:p>
        </p:txBody>
      </p:sp>
      <p:graphicFrame>
        <p:nvGraphicFramePr>
          <p:cNvPr id="5" name="">
            <a:extLst xmlns:a="http://schemas.openxmlformats.org/drawingml/2006/main">
              <a:ext uri="{FF2B5EF4-FFF2-40B4-BE49-F238E27FC236}">
                <a16:creationId xmlns:a16="http://schemas.microsoft.com/office/drawing/2014/main" id="{04D198AA-D1A1-470E-A3FE-BCA53A394680}"/>
              </a:ext>
            </a:extLst>
          </p:cNvPr>
          <p:cNvGraphicFramePr/>
          <p:nvPr/>
        </p:nvGraphicFramePr>
        <p:xfrm>
          <a:off xmlns:a="http://schemas.openxmlformats.org/drawingml/2006/main" x="571500" y="1743075"/>
          <a:ext xmlns:a="http://schemas.openxmlformats.org/drawingml/2006/main" cx="11049000" cy="3562350"/>
        </p:xfrm>
        <a:graphic xmlns:a="http://schemas.openxmlformats.org/drawingml/2006/main">
          <a:graphicData uri="http://schemas.openxmlformats.org/drawingml/2006/table">
            <a:tbl>
              <a:tblPr/>
              <a:tblGrid>
                <a:gridCol w="2105025"/>
                <a:gridCol w="6143625"/>
                <a:gridCol w="2800350"/>
              </a:tblGrid>
              <a:tr h="508907">
                <a:tc>
                  <a:txBody>
                    <a:bodyPr/>
                    <a:lstStyle/>
                    <a:p>
                      <a:r>
                        <a:rPr sz="1725" b="1">
                          <a:solidFill>
                            <a:srgbClr val="FFFFFF"/>
                          </a:solidFill>
                          <a:latin typeface="Arial"/>
                          <a:ea typeface="Arial"/>
                          <a:cs typeface="Arial"/>
                        </a:rPr>
                        <a:t>Elemento</a:t>
                      </a:r>
                    </a:p>
                  </a:txBody>
                  <a:tcPr marL="114300" marR="114300" marT="19050" marB="19050" anchor="ctr">
                    <a:solidFill>
                      <a:srgbClr val="173F2F"/>
                    </a:solidFill>
                  </a:tcPr>
                </a:tc>
                <a:tc>
                  <a:txBody>
                    <a:bodyPr/>
                    <a:lstStyle/>
                    <a:p>
                      <a:r>
                        <a:rPr sz="1725" b="1">
                          <a:solidFill>
                            <a:srgbClr val="FFFFFF"/>
                          </a:solidFill>
                          <a:latin typeface="Arial"/>
                          <a:ea typeface="Arial"/>
                          <a:cs typeface="Arial"/>
                        </a:rPr>
                        <a:t>Conexión definida</a:t>
                      </a:r>
                    </a:p>
                  </a:txBody>
                  <a:tcPr marL="114300" marR="114300" marT="19050" marB="19050" anchor="ctr">
                    <a:solidFill>
                      <a:srgbClr val="173F2F"/>
                    </a:solidFill>
                  </a:tcPr>
                </a:tc>
                <a:tc>
                  <a:txBody>
                    <a:bodyPr/>
                    <a:lstStyle/>
                    <a:p>
                      <a:r>
                        <a:rPr sz="1725" b="1">
                          <a:solidFill>
                            <a:srgbClr val="FFFFFF"/>
                          </a:solidFill>
                          <a:latin typeface="Arial"/>
                          <a:ea typeface="Arial"/>
                          <a:cs typeface="Arial"/>
                        </a:rPr>
                        <a:t>Condición</a:t>
                      </a:r>
                    </a:p>
                  </a:txBody>
                  <a:tcPr marL="114300" marR="114300" marT="19050" marB="19050" anchor="ctr">
                    <a:solidFill>
                      <a:srgbClr val="173F2F"/>
                    </a:solidFill>
                  </a:tcPr>
                </a:tc>
              </a:tr>
              <a:tr h="508907">
                <a:tc>
                  <a:txBody>
                    <a:bodyPr/>
                    <a:lstStyle/>
                    <a:p>
                      <a:r>
                        <a:rPr sz="1725">
                          <a:solidFill>
                            <a:srgbClr val="173F2F"/>
                          </a:solidFill>
                          <a:latin typeface="Arial"/>
                          <a:ea typeface="Arial"/>
                          <a:cs typeface="Arial"/>
                        </a:rPr>
                        <a:t>Adaptador</a:t>
                      </a:r>
                    </a:p>
                  </a:txBody>
                  <a:tcPr marL="114300" marR="114300" marT="19050" marB="19050" anchor="ctr">
                    <a:solidFill>
                      <a:srgbClr val="FFFFFF"/>
                    </a:solidFill>
                  </a:tcPr>
                </a:tc>
                <a:tc>
                  <a:txBody>
                    <a:bodyPr/>
                    <a:lstStyle/>
                    <a:p>
                      <a:r>
                        <a:rPr sz="1725">
                          <a:solidFill>
                            <a:srgbClr val="173F2F"/>
                          </a:solidFill>
                          <a:latin typeface="Arial"/>
                          <a:ea typeface="Arial"/>
                          <a:cs typeface="Arial"/>
                        </a:rPr>
                        <a:t>Jack → fusible 1,5 A → interruptor → 5 V</a:t>
                      </a:r>
                    </a:p>
                  </a:txBody>
                  <a:tcPr marL="114300" marR="114300" marT="19050" marB="19050" anchor="ctr">
                    <a:solidFill>
                      <a:srgbClr val="FFFFFF"/>
                    </a:solidFill>
                  </a:tcPr>
                </a:tc>
                <a:tc>
                  <a:txBody>
                    <a:bodyPr/>
                    <a:lstStyle/>
                    <a:p>
                      <a:r>
                        <a:rPr sz="1725">
                          <a:solidFill>
                            <a:srgbClr val="173F2F"/>
                          </a:solidFill>
                          <a:latin typeface="Arial"/>
                          <a:ea typeface="Arial"/>
                          <a:cs typeface="Arial"/>
                        </a:rPr>
                        <a:t>ESP32-CAM por pin 5V</a:t>
                      </a:r>
                    </a:p>
                  </a:txBody>
                  <a:tcPr marL="114300" marR="114300" marT="19050" marB="19050" anchor="ctr">
                    <a:solidFill>
                      <a:srgbClr val="FFFFFF"/>
                    </a:solidFill>
                  </a:tcPr>
                </a:tc>
              </a:tr>
              <a:tr h="508907">
                <a:tc>
                  <a:txBody>
                    <a:bodyPr/>
                    <a:lstStyle/>
                    <a:p>
                      <a:r>
                        <a:rPr sz="1725">
                          <a:solidFill>
                            <a:srgbClr val="173F2F"/>
                          </a:solidFill>
                          <a:latin typeface="Arial"/>
                          <a:ea typeface="Arial"/>
                          <a:cs typeface="Arial"/>
                        </a:rPr>
                        <a:t>HX711</a:t>
                      </a:r>
                    </a:p>
                  </a:txBody>
                  <a:tcPr marL="114300" marR="114300" marT="19050" marB="19050" anchor="ctr">
                    <a:solidFill>
                      <a:srgbClr val="EFF2E8"/>
                    </a:solidFill>
                  </a:tcPr>
                </a:tc>
                <a:tc>
                  <a:txBody>
                    <a:bodyPr/>
                    <a:lstStyle/>
                    <a:p>
                      <a:r>
                        <a:rPr sz="1725">
                          <a:solidFill>
                            <a:srgbClr val="173F2F"/>
                          </a:solidFill>
                          <a:latin typeface="Arial"/>
                          <a:ea typeface="Arial"/>
                          <a:cs typeface="Arial"/>
                        </a:rPr>
                        <a:t>3V3 y GND; DOUT a GPIO13; SCK a GPIO14</a:t>
                      </a:r>
                    </a:p>
                  </a:txBody>
                  <a:tcPr marL="114300" marR="114300" marT="19050" marB="19050" anchor="ctr">
                    <a:solidFill>
                      <a:srgbClr val="EFF2E8"/>
                    </a:solidFill>
                  </a:tcPr>
                </a:tc>
                <a:tc>
                  <a:txBody>
                    <a:bodyPr/>
                    <a:lstStyle/>
                    <a:p>
                      <a:r>
                        <a:rPr sz="1725">
                          <a:solidFill>
                            <a:srgbClr val="173F2F"/>
                          </a:solidFill>
                          <a:latin typeface="Arial"/>
                          <a:ea typeface="Arial"/>
                          <a:cs typeface="Arial"/>
                        </a:rPr>
                        <a:t>Celda a E+/E− y A+/A−</a:t>
                      </a:r>
                    </a:p>
                  </a:txBody>
                  <a:tcPr marL="114300" marR="114300" marT="19050" marB="19050" anchor="ctr">
                    <a:solidFill>
                      <a:srgbClr val="EFF2E8"/>
                    </a:solidFill>
                  </a:tcPr>
                </a:tc>
              </a:tr>
              <a:tr h="508907">
                <a:tc>
                  <a:txBody>
                    <a:bodyPr/>
                    <a:lstStyle/>
                    <a:p>
                      <a:r>
                        <a:rPr sz="1725">
                          <a:solidFill>
                            <a:srgbClr val="173F2F"/>
                          </a:solidFill>
                          <a:latin typeface="Arial"/>
                          <a:ea typeface="Arial"/>
                          <a:cs typeface="Arial"/>
                        </a:rPr>
                        <a:t>Puerta KW11</a:t>
                      </a:r>
                    </a:p>
                  </a:txBody>
                  <a:tcPr marL="114300" marR="114300" marT="19050" marB="19050" anchor="ctr">
                    <a:solidFill>
                      <a:srgbClr val="FFFFFF"/>
                    </a:solidFill>
                  </a:tcPr>
                </a:tc>
                <a:tc>
                  <a:txBody>
                    <a:bodyPr/>
                    <a:lstStyle/>
                    <a:p>
                      <a:r>
                        <a:rPr sz="1725">
                          <a:solidFill>
                            <a:srgbClr val="173F2F"/>
                          </a:solidFill>
                          <a:latin typeface="Arial"/>
                          <a:ea typeface="Arial"/>
                          <a:cs typeface="Arial"/>
                        </a:rPr>
                        <a:t>GPIO15; pull-up 10 kΩ a 3,3 V; COM-NO a GND</a:t>
                      </a:r>
                    </a:p>
                  </a:txBody>
                  <a:tcPr marL="114300" marR="114300" marT="19050" marB="19050" anchor="ctr">
                    <a:solidFill>
                      <a:srgbClr val="FFFFFF"/>
                    </a:solidFill>
                  </a:tcPr>
                </a:tc>
                <a:tc>
                  <a:txBody>
                    <a:bodyPr/>
                    <a:lstStyle/>
                    <a:p>
                      <a:r>
                        <a:rPr sz="1725">
                          <a:solidFill>
                            <a:srgbClr val="173F2F"/>
                          </a:solidFill>
                          <a:latin typeface="Arial"/>
                          <a:ea typeface="Arial"/>
                          <a:cs typeface="Arial"/>
                        </a:rPr>
                        <a:t>Cerrada = nivel bajo</a:t>
                      </a:r>
                    </a:p>
                  </a:txBody>
                  <a:tcPr marL="114300" marR="114300" marT="19050" marB="19050" anchor="ctr">
                    <a:solidFill>
                      <a:srgbClr val="FFFFFF"/>
                    </a:solidFill>
                  </a:tcPr>
                </a:tc>
              </a:tr>
              <a:tr h="508907">
                <a:tc>
                  <a:txBody>
                    <a:bodyPr/>
                    <a:lstStyle/>
                    <a:p>
                      <a:r>
                        <a:rPr sz="1725">
                          <a:solidFill>
                            <a:srgbClr val="173F2F"/>
                          </a:solidFill>
                          <a:latin typeface="Arial"/>
                          <a:ea typeface="Arial"/>
                          <a:cs typeface="Arial"/>
                        </a:rPr>
                        <a:t>Iluminación</a:t>
                      </a:r>
                    </a:p>
                  </a:txBody>
                  <a:tcPr marL="114300" marR="114300" marT="19050" marB="19050" anchor="ctr">
                    <a:solidFill>
                      <a:srgbClr val="EFF2E8"/>
                    </a:solidFill>
                  </a:tcPr>
                </a:tc>
                <a:tc>
                  <a:txBody>
                    <a:bodyPr/>
                    <a:lstStyle/>
                    <a:p>
                      <a:r>
                        <a:rPr sz="1725">
                          <a:solidFill>
                            <a:srgbClr val="173F2F"/>
                          </a:solidFill>
                          <a:latin typeface="Arial"/>
                          <a:ea typeface="Arial"/>
                          <a:cs typeface="Arial"/>
                        </a:rPr>
                        <a:t>12 ramas en paralelo: 5 V → 100 Ω → LED → GND</a:t>
                      </a:r>
                    </a:p>
                  </a:txBody>
                  <a:tcPr marL="114300" marR="114300" marT="19050" marB="19050" anchor="ctr">
                    <a:solidFill>
                      <a:srgbClr val="EFF2E8"/>
                    </a:solidFill>
                  </a:tcPr>
                </a:tc>
                <a:tc>
                  <a:txBody>
                    <a:bodyPr/>
                    <a:lstStyle/>
                    <a:p>
                      <a:r>
                        <a:rPr sz="1725">
                          <a:solidFill>
                            <a:srgbClr val="173F2F"/>
                          </a:solidFill>
                          <a:latin typeface="Arial"/>
                          <a:ea typeface="Arial"/>
                          <a:cs typeface="Arial"/>
                        </a:rPr>
                        <a:t>Tres grupos de cuatro LED</a:t>
                      </a:r>
                    </a:p>
                  </a:txBody>
                  <a:tcPr marL="114300" marR="114300" marT="19050" marB="19050" anchor="ctr">
                    <a:solidFill>
                      <a:srgbClr val="EFF2E8"/>
                    </a:solidFill>
                  </a:tcPr>
                </a:tc>
              </a:tr>
              <a:tr h="508907">
                <a:tc>
                  <a:txBody>
                    <a:bodyPr/>
                    <a:lstStyle/>
                    <a:p>
                      <a:r>
                        <a:rPr sz="1725">
                          <a:solidFill>
                            <a:srgbClr val="173F2F"/>
                          </a:solidFill>
                          <a:latin typeface="Arial"/>
                          <a:ea typeface="Arial"/>
                          <a:cs typeface="Arial"/>
                        </a:rPr>
                        <a:t>Estabilización</a:t>
                      </a:r>
                    </a:p>
                  </a:txBody>
                  <a:tcPr marL="114300" marR="114300" marT="19050" marB="19050" anchor="ctr">
                    <a:solidFill>
                      <a:srgbClr val="FFFFFF"/>
                    </a:solidFill>
                  </a:tcPr>
                </a:tc>
                <a:tc>
                  <a:txBody>
                    <a:bodyPr/>
                    <a:lstStyle/>
                    <a:p>
                      <a:r>
                        <a:rPr sz="1725">
                          <a:solidFill>
                            <a:srgbClr val="173F2F"/>
                          </a:solidFill>
                          <a:latin typeface="Arial"/>
                          <a:ea typeface="Arial"/>
                          <a:cs typeface="Arial"/>
                        </a:rPr>
                        <a:t>470 µF + 100 nF entre 5 V y GND</a:t>
                      </a:r>
                    </a:p>
                  </a:txBody>
                  <a:tcPr marL="114300" marR="114300" marT="19050" marB="19050" anchor="ctr">
                    <a:solidFill>
                      <a:srgbClr val="FFFFFF"/>
                    </a:solidFill>
                  </a:tcPr>
                </a:tc>
                <a:tc>
                  <a:txBody>
                    <a:bodyPr/>
                    <a:lstStyle/>
                    <a:p>
                      <a:r>
                        <a:rPr sz="1725">
                          <a:solidFill>
                            <a:srgbClr val="173F2F"/>
                          </a:solidFill>
                          <a:latin typeface="Arial"/>
                          <a:ea typeface="Arial"/>
                          <a:cs typeface="Arial"/>
                        </a:rPr>
                        <a:t>Cerca de la placa</a:t>
                      </a:r>
                    </a:p>
                  </a:txBody>
                  <a:tcPr marL="114300" marR="114300" marT="19050" marB="19050" anchor="ctr">
                    <a:solidFill>
                      <a:srgbClr val="FFFFFF"/>
                    </a:solidFill>
                  </a:tcPr>
                </a:tc>
              </a:tr>
              <a:tr h="508907">
                <a:tc>
                  <a:txBody>
                    <a:bodyPr/>
                    <a:lstStyle/>
                    <a:p>
                      <a:r>
                        <a:rPr sz="1725">
                          <a:solidFill>
                            <a:srgbClr val="173F2F"/>
                          </a:solidFill>
                          <a:latin typeface="Arial"/>
                          <a:ea typeface="Arial"/>
                          <a:cs typeface="Arial"/>
                        </a:rPr>
                        <a:t>Interfaz</a:t>
                      </a:r>
                    </a:p>
                  </a:txBody>
                  <a:tcPr marL="114300" marR="114300" marT="19050" marB="19050" anchor="ctr">
                    <a:solidFill>
                      <a:srgbClr val="EFF2E8"/>
                    </a:solidFill>
                  </a:tcPr>
                </a:tc>
                <a:tc>
                  <a:txBody>
                    <a:bodyPr/>
                    <a:lstStyle/>
                    <a:p>
                      <a:r>
                        <a:rPr sz="1725">
                          <a:solidFill>
                            <a:srgbClr val="173F2F"/>
                          </a:solidFill>
                          <a:latin typeface="Arial"/>
                          <a:ea typeface="Arial"/>
                          <a:cs typeface="Arial"/>
                        </a:rPr>
                        <a:t>Celular: tara, análisis, corrección e historial</a:t>
                      </a:r>
                    </a:p>
                  </a:txBody>
                  <a:tcPr marL="114300" marR="114300" marT="19050" marB="19050" anchor="ctr">
                    <a:solidFill>
                      <a:srgbClr val="EFF2E8"/>
                    </a:solidFill>
                  </a:tcPr>
                </a:tc>
                <a:tc>
                  <a:txBody>
                    <a:bodyPr/>
                    <a:lstStyle/>
                    <a:p>
                      <a:r>
                        <a:rPr sz="1725">
                          <a:solidFill>
                            <a:srgbClr val="173F2F"/>
                          </a:solidFill>
                          <a:latin typeface="Arial"/>
                          <a:ea typeface="Arial"/>
                          <a:cs typeface="Arial"/>
                        </a:rPr>
                        <a:t>Adaptación de hardware pendiente</a:t>
                      </a:r>
                    </a:p>
                  </a:txBody>
                  <a:tcPr marL="114300" marR="114300" marT="19050" marB="19050" anchor="ctr">
                    <a:solidFill>
                      <a:srgbClr val="EFF2E8"/>
                    </a:solidFill>
                  </a:tcPr>
                </a:tc>
              </a:tr>
            </a:tbl>
          </a:graphicData>
        </a:graphic>
      </p:graphicFrame>
      <p:sp>
        <p:nvSpPr>
          <p:cNvPr id="6" name="La plataforma transmite toda la carga a la celda y debe">
            <a:extLst xmlns:a="http://schemas.openxmlformats.org/drawingml/2006/main">
              <a:ext uri="{FF2B5EF4-FFF2-40B4-BE49-F238E27FC236}">
                <a16:creationId xmlns:a16="http://schemas.microsoft.com/office/drawing/2014/main" id="{DFD22920-9EB0-42A5-8BF8-4CA563E51A07}"/>
              </a:ext>
            </a:extLst>
          </p:cNvPr>
          <p:cNvSpPr>
            <a:spLocks xmlns:a="http://schemas.openxmlformats.org/drawingml/2006/main" noGrp="1"/>
          </p:cNvSpPr>
          <p:nvPr/>
        </p:nvSpPr>
        <p:spPr>
          <a:xfrm xmlns:a="http://schemas.openxmlformats.org/drawingml/2006/main">
            <a:off x="571500" y="5572125"/>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73F2F"/>
                </a:solidFill>
                <a:latin typeface="Arial"/>
                <a:ea typeface="Arial"/>
                <a:cs typeface="Arial"/>
              </a:defRPr>
            </a:defPPr>
          </a:lstStyle>
          <a:p xmlns:a="http://schemas.openxmlformats.org/drawingml/2006/main">
            <a:pPr>
              <a:defRPr sz="2100" b="1">
                <a:solidFill>
                  <a:srgbClr val="173F2F"/>
                </a:solidFill>
                <a:latin typeface="Arial"/>
                <a:ea typeface="Arial"/>
                <a:cs typeface="Arial"/>
              </a:defRPr>
            </a:pPr>
            <a:r>
              <a:rPr sz="2100" b="1">
                <a:solidFill>
                  <a:srgbClr val="173F2F"/>
                </a:solidFill>
                <a:latin typeface="Arial"/>
                <a:ea typeface="Arial"/>
                <a:cs typeface="Arial"/>
              </a:rPr>
              <a:t>La plataforma transmite toda la carga a la celda y debe quedar libre de roces.</a:t>
            </a:r>
          </a:p>
        </p:txBody>
      </p:sp>
      <p:sp>
        <p:nvSpPr>
          <p:cNvPr id="7" name="USB de programación y adaptador externo se usan por sep">
            <a:extLst xmlns:a="http://schemas.openxmlformats.org/drawingml/2006/main">
              <a:ext uri="{FF2B5EF4-FFF2-40B4-BE49-F238E27FC236}">
                <a16:creationId xmlns:a16="http://schemas.microsoft.com/office/drawing/2014/main" id="{1359893F-EDC5-40F9-B1D7-B2E3E039581F}"/>
              </a:ext>
            </a:extLst>
          </p:cNvPr>
          <p:cNvSpPr>
            <a:spLocks xmlns:a="http://schemas.openxmlformats.org/drawingml/2006/main" noGrp="1"/>
          </p:cNvSpPr>
          <p:nvPr/>
        </p:nvSpPr>
        <p:spPr>
          <a:xfrm xmlns:a="http://schemas.openxmlformats.org/drawingml/2006/main">
            <a:off x="571500" y="6076950"/>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USB de programación y adaptador externo se usan por separado.</a:t>
            </a:r>
          </a:p>
        </p:txBody>
      </p:sp>
    </p:spTree>
    <p:extLst>
      <p:ext uri="{BB962C8B-B14F-4D97-AF65-F5344CB8AC3E}">
        <p14:creationId xmlns:p14="http://schemas.microsoft.com/office/powerpoint/2010/main" val="1769551480"/>
      </p:ext>
    </p:extLst>
  </p:cSld>
</p:sld>
</file>

<file path=ppt/slides/slide38.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7" name="Referencias · 1/4">
            <a:extLst xmlns:a="http://schemas.openxmlformats.org/drawingml/2006/main">
              <a:ext uri="{FF2B5EF4-FFF2-40B4-BE49-F238E27FC236}">
                <a16:creationId xmlns:a16="http://schemas.microsoft.com/office/drawing/2014/main" id="{168C83CD-75C0-4D41-A023-6D33D9B0A1A7}"/>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Referencias · 1/4</a:t>
            </a:r>
          </a:p>
        </p:txBody>
      </p:sp>
      <p:sp>
        <p:nvSpPr>
          <p:cNvPr id="2" name="Formato Vancouver · figuras originales y fuentes técnic">
            <a:extLst xmlns:a="http://schemas.openxmlformats.org/drawingml/2006/main">
              <a:ext uri="{FF2B5EF4-FFF2-40B4-BE49-F238E27FC236}">
                <a16:creationId xmlns:a16="http://schemas.microsoft.com/office/drawing/2014/main" id="{FE2399E5-8C06-496E-9296-ED3E191C7F1D}"/>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Formato Vancouver · figuras originales y fuentes técnicas</a:t>
            </a:r>
          </a:p>
        </p:txBody>
      </p:sp>
      <p:sp>
        <p:nvSpPr>
          <p:cNvPr id="3" name="FoodScan · Equipo 10">
            <a:extLst xmlns:a="http://schemas.openxmlformats.org/drawingml/2006/main">
              <a:ext uri="{FF2B5EF4-FFF2-40B4-BE49-F238E27FC236}">
                <a16:creationId xmlns:a16="http://schemas.microsoft.com/office/drawing/2014/main" id="{93F05C21-16A4-4917-821E-5E1C08E4CF43}"/>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FoodScan · Equipo 10</a:t>
            </a:r>
          </a:p>
        </p:txBody>
      </p:sp>
      <p:sp>
        <p:nvSpPr>
          <p:cNvPr id="4" name="38">
            <a:extLst xmlns:a="http://schemas.openxmlformats.org/drawingml/2006/main">
              <a:ext uri="{FF2B5EF4-FFF2-40B4-BE49-F238E27FC236}">
                <a16:creationId xmlns:a16="http://schemas.microsoft.com/office/drawing/2014/main" id="{F3E893AF-5CC5-45C1-B3F0-AF352CBB8895}"/>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38</a:t>
            </a:r>
          </a:p>
        </p:txBody>
      </p:sp>
      <p:sp>
        <p:nvSpPr>
          <p:cNvPr id="5" name="1.">
            <a:extLst xmlns:a="http://schemas.openxmlformats.org/drawingml/2006/main">
              <a:ext uri="{FF2B5EF4-FFF2-40B4-BE49-F238E27FC236}">
                <a16:creationId xmlns:a16="http://schemas.microsoft.com/office/drawing/2014/main" id="{BCCDCC35-F2F1-41A6-9A7A-B38B8A276E2C}"/>
              </a:ext>
            </a:extLst>
          </p:cNvPr>
          <p:cNvSpPr>
            <a:spLocks xmlns:a="http://schemas.openxmlformats.org/drawingml/2006/main" noGrp="1"/>
          </p:cNvSpPr>
          <p:nvPr/>
        </p:nvSpPr>
        <p:spPr>
          <a:xfrm xmlns:a="http://schemas.openxmlformats.org/drawingml/2006/main">
            <a:off x="571500" y="17240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1.</a:t>
            </a:r>
          </a:p>
        </p:txBody>
      </p:sp>
      <p:sp>
        <p:nvSpPr>
          <p:cNvPr id="6" name="Fang S, Zhu F, Jiang C, Zhang S, Boushey CJ, Delp EJ. A">
            <a:extLst xmlns:a="http://schemas.openxmlformats.org/drawingml/2006/main">
              <a:ext uri="{FF2B5EF4-FFF2-40B4-BE49-F238E27FC236}">
                <a16:creationId xmlns:a16="http://schemas.microsoft.com/office/drawing/2014/main" id="{7BCD2169-B9F0-494C-A625-F39CC148D582}"/>
              </a:ext>
            </a:extLst>
          </p:cNvPr>
          <p:cNvSpPr>
            <a:spLocks xmlns:a="http://schemas.openxmlformats.org/drawingml/2006/main" noGrp="1"/>
          </p:cNvSpPr>
          <p:nvPr/>
        </p:nvSpPr>
        <p:spPr>
          <a:xfrm xmlns:a="http://schemas.openxmlformats.org/drawingml/2006/main">
            <a:off x="1057275" y="1724025"/>
            <a:ext cx="105060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Fang S, Zhu F, Jiang C, Zhang S, Boushey CJ, Delp EJ. A comparison of food portion size estimation using geometric models and depth images. En: IEEE ICIP. 2016. p. 26-30. doi:10.1109/ICIP.2016.7532312.</a:t>
            </a:r>
          </a:p>
        </p:txBody>
      </p:sp>
      <p:sp>
        <p:nvSpPr>
          <p:cNvPr id="7" name="2.">
            <a:extLst xmlns:a="http://schemas.openxmlformats.org/drawingml/2006/main">
              <a:ext uri="{FF2B5EF4-FFF2-40B4-BE49-F238E27FC236}">
                <a16:creationId xmlns:a16="http://schemas.microsoft.com/office/drawing/2014/main" id="{730D7BC0-4638-42FA-95B1-BE143B30322E}"/>
              </a:ext>
            </a:extLst>
          </p:cNvPr>
          <p:cNvSpPr>
            <a:spLocks xmlns:a="http://schemas.openxmlformats.org/drawingml/2006/main" noGrp="1"/>
          </p:cNvSpPr>
          <p:nvPr/>
        </p:nvSpPr>
        <p:spPr>
          <a:xfrm xmlns:a="http://schemas.openxmlformats.org/drawingml/2006/main">
            <a:off x="571500" y="246697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2.</a:t>
            </a:r>
          </a:p>
        </p:txBody>
      </p:sp>
      <p:sp>
        <p:nvSpPr>
          <p:cNvPr id="8" name="Konstantakopoulos FS, Georga EI, Fotiadis DI. A novel a">
            <a:extLst xmlns:a="http://schemas.openxmlformats.org/drawingml/2006/main">
              <a:ext uri="{FF2B5EF4-FFF2-40B4-BE49-F238E27FC236}">
                <a16:creationId xmlns:a16="http://schemas.microsoft.com/office/drawing/2014/main" id="{A0B608A2-5F05-4F40-A63E-B07C217B992C}"/>
              </a:ext>
            </a:extLst>
          </p:cNvPr>
          <p:cNvSpPr>
            <a:spLocks xmlns:a="http://schemas.openxmlformats.org/drawingml/2006/main" noGrp="1"/>
          </p:cNvSpPr>
          <p:nvPr/>
        </p:nvSpPr>
        <p:spPr>
          <a:xfrm xmlns:a="http://schemas.openxmlformats.org/drawingml/2006/main">
            <a:off x="1057275" y="2466975"/>
            <a:ext cx="105060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Konstantakopoulos FS, Georga EI, Fotiadis DI. A novel approach to estimate the weight of food items based on features extracted from an image using boosting algorithms. Sci Rep. 2023;13:21040. doi:10.1038/s41598-023-47885-0.</a:t>
            </a:r>
          </a:p>
        </p:txBody>
      </p:sp>
      <p:sp>
        <p:nvSpPr>
          <p:cNvPr id="9" name="3.">
            <a:extLst xmlns:a="http://schemas.openxmlformats.org/drawingml/2006/main">
              <a:ext uri="{FF2B5EF4-FFF2-40B4-BE49-F238E27FC236}">
                <a16:creationId xmlns:a16="http://schemas.microsoft.com/office/drawing/2014/main" id="{54A1100E-C592-4666-9FAE-81007A75ACBB}"/>
              </a:ext>
            </a:extLst>
          </p:cNvPr>
          <p:cNvSpPr>
            <a:spLocks xmlns:a="http://schemas.openxmlformats.org/drawingml/2006/main" noGrp="1"/>
          </p:cNvSpPr>
          <p:nvPr/>
        </p:nvSpPr>
        <p:spPr>
          <a:xfrm xmlns:a="http://schemas.openxmlformats.org/drawingml/2006/main">
            <a:off x="571500" y="32099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3.</a:t>
            </a:r>
          </a:p>
        </p:txBody>
      </p:sp>
      <p:sp>
        <p:nvSpPr>
          <p:cNvPr id="10" name="Dalakleidi KV, Papadelli M, Kapolos I, Papadimitriou K.">
            <a:extLst xmlns:a="http://schemas.openxmlformats.org/drawingml/2006/main">
              <a:ext uri="{FF2B5EF4-FFF2-40B4-BE49-F238E27FC236}">
                <a16:creationId xmlns:a16="http://schemas.microsoft.com/office/drawing/2014/main" id="{70F2E071-25A3-4599-852A-6F5FFDF20DD7}"/>
              </a:ext>
            </a:extLst>
          </p:cNvPr>
          <p:cNvSpPr>
            <a:spLocks xmlns:a="http://schemas.openxmlformats.org/drawingml/2006/main" noGrp="1"/>
          </p:cNvSpPr>
          <p:nvPr/>
        </p:nvSpPr>
        <p:spPr>
          <a:xfrm xmlns:a="http://schemas.openxmlformats.org/drawingml/2006/main">
            <a:off x="1057275" y="3209925"/>
            <a:ext cx="105060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Dalakleidi KV, Papadelli M, Kapolos I, Papadimitriou K. Applying image-based food-recognition systems on dietary assessment: a systematic review. Adv Nutr. 2022;13(6):2590-2619. doi:10.1093/advances/nmac078.</a:t>
            </a:r>
          </a:p>
        </p:txBody>
      </p:sp>
      <p:sp>
        <p:nvSpPr>
          <p:cNvPr id="11" name="4.">
            <a:extLst xmlns:a="http://schemas.openxmlformats.org/drawingml/2006/main">
              <a:ext uri="{FF2B5EF4-FFF2-40B4-BE49-F238E27FC236}">
                <a16:creationId xmlns:a16="http://schemas.microsoft.com/office/drawing/2014/main" id="{B1AB34BE-6058-4100-BE81-3545079D1F0A}"/>
              </a:ext>
            </a:extLst>
          </p:cNvPr>
          <p:cNvSpPr>
            <a:spLocks xmlns:a="http://schemas.openxmlformats.org/drawingml/2006/main" noGrp="1"/>
          </p:cNvSpPr>
          <p:nvPr/>
        </p:nvSpPr>
        <p:spPr>
          <a:xfrm xmlns:a="http://schemas.openxmlformats.org/drawingml/2006/main">
            <a:off x="571500" y="395287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4.</a:t>
            </a:r>
          </a:p>
        </p:txBody>
      </p:sp>
      <p:sp>
        <p:nvSpPr>
          <p:cNvPr id="12" name="Wan J, inventora. Calculating instrument for nutrients ">
            <a:extLst xmlns:a="http://schemas.openxmlformats.org/drawingml/2006/main">
              <a:ext uri="{FF2B5EF4-FFF2-40B4-BE49-F238E27FC236}">
                <a16:creationId xmlns:a16="http://schemas.microsoft.com/office/drawing/2014/main" id="{F3BE5499-D788-41FA-B640-3E044BD2A6E1}"/>
              </a:ext>
            </a:extLst>
          </p:cNvPr>
          <p:cNvSpPr>
            <a:spLocks xmlns:a="http://schemas.openxmlformats.org/drawingml/2006/main" noGrp="1"/>
          </p:cNvSpPr>
          <p:nvPr/>
        </p:nvSpPr>
        <p:spPr>
          <a:xfrm xmlns:a="http://schemas.openxmlformats.org/drawingml/2006/main">
            <a:off x="1057275" y="3952875"/>
            <a:ext cx="105060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Wan J, inventora. Calculating instrument for nutrients such as calorie and protein. Solicitud de patente CN114360689A. 15 abr 2022.</a:t>
            </a:r>
          </a:p>
        </p:txBody>
      </p:sp>
      <p:sp>
        <p:nvSpPr>
          <p:cNvPr id="13" name="5.">
            <a:extLst xmlns:a="http://schemas.openxmlformats.org/drawingml/2006/main">
              <a:ext uri="{FF2B5EF4-FFF2-40B4-BE49-F238E27FC236}">
                <a16:creationId xmlns:a16="http://schemas.microsoft.com/office/drawing/2014/main" id="{0CB47167-F032-45CB-A7AA-243F64CF090E}"/>
              </a:ext>
            </a:extLst>
          </p:cNvPr>
          <p:cNvSpPr>
            <a:spLocks xmlns:a="http://schemas.openxmlformats.org/drawingml/2006/main" noGrp="1"/>
          </p:cNvSpPr>
          <p:nvPr/>
        </p:nvSpPr>
        <p:spPr>
          <a:xfrm xmlns:a="http://schemas.openxmlformats.org/drawingml/2006/main">
            <a:off x="571500" y="46958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5.</a:t>
            </a:r>
          </a:p>
        </p:txBody>
      </p:sp>
      <p:sp>
        <p:nvSpPr>
          <p:cNvPr id="14" name="Tkach A, inventor. Methods, system and apparatus to imp">
            <a:extLst xmlns:a="http://schemas.openxmlformats.org/drawingml/2006/main">
              <a:ext uri="{FF2B5EF4-FFF2-40B4-BE49-F238E27FC236}">
                <a16:creationId xmlns:a16="http://schemas.microsoft.com/office/drawing/2014/main" id="{06420D94-DF93-476D-A1F9-38F265227CBB}"/>
              </a:ext>
            </a:extLst>
          </p:cNvPr>
          <p:cNvSpPr>
            <a:spLocks xmlns:a="http://schemas.openxmlformats.org/drawingml/2006/main" noGrp="1"/>
          </p:cNvSpPr>
          <p:nvPr/>
        </p:nvSpPr>
        <p:spPr>
          <a:xfrm xmlns:a="http://schemas.openxmlformats.org/drawingml/2006/main">
            <a:off x="1057275" y="4695825"/>
            <a:ext cx="105060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Tkach A, inventor. Methods, system and apparatus to improve motivation and control when taking meals and to automate the process of monitoring nutrition. Patente US10292511B2. 21 may 2019.</a:t>
            </a:r>
          </a:p>
        </p:txBody>
      </p:sp>
      <p:sp>
        <p:nvSpPr>
          <p:cNvPr id="15" name="6.">
            <a:extLst xmlns:a="http://schemas.openxmlformats.org/drawingml/2006/main">
              <a:ext uri="{FF2B5EF4-FFF2-40B4-BE49-F238E27FC236}">
                <a16:creationId xmlns:a16="http://schemas.microsoft.com/office/drawing/2014/main" id="{A48F85B3-0038-4432-9B66-E1140DF0591E}"/>
              </a:ext>
            </a:extLst>
          </p:cNvPr>
          <p:cNvSpPr>
            <a:spLocks xmlns:a="http://schemas.openxmlformats.org/drawingml/2006/main" noGrp="1"/>
          </p:cNvSpPr>
          <p:nvPr/>
        </p:nvSpPr>
        <p:spPr>
          <a:xfrm xmlns:a="http://schemas.openxmlformats.org/drawingml/2006/main">
            <a:off x="571500" y="543877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6.</a:t>
            </a:r>
          </a:p>
        </p:txBody>
      </p:sp>
      <p:sp>
        <p:nvSpPr>
          <p:cNvPr id="16" name="Kourtesis G, inventor. Method and system for planning a">
            <a:extLst xmlns:a="http://schemas.openxmlformats.org/drawingml/2006/main">
              <a:ext uri="{FF2B5EF4-FFF2-40B4-BE49-F238E27FC236}">
                <a16:creationId xmlns:a16="http://schemas.microsoft.com/office/drawing/2014/main" id="{88434DC2-435C-42A2-B7CF-D738013E3CEC}"/>
              </a:ext>
            </a:extLst>
          </p:cNvPr>
          <p:cNvSpPr>
            <a:spLocks xmlns:a="http://schemas.openxmlformats.org/drawingml/2006/main" noGrp="1"/>
          </p:cNvSpPr>
          <p:nvPr/>
        </p:nvSpPr>
        <p:spPr>
          <a:xfrm xmlns:a="http://schemas.openxmlformats.org/drawingml/2006/main">
            <a:off x="1057275" y="5438775"/>
            <a:ext cx="105060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Kourtesis G, inventor. Method and system for planning and monitoring calorie consumption. Solicitud internacional WO2014008555A1. 16 ene 2014.</a:t>
            </a:r>
          </a:p>
        </p:txBody>
      </p:sp>
    </p:spTree>
    <p:extLst>
      <p:ext uri="{BB962C8B-B14F-4D97-AF65-F5344CB8AC3E}">
        <p14:creationId xmlns:p14="http://schemas.microsoft.com/office/powerpoint/2010/main" val="1901531829"/>
      </p:ext>
    </p:extLst>
  </p:cSld>
</p:sld>
</file>

<file path=ppt/slides/slide39.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7" name="Referencias · 2/4">
            <a:extLst xmlns:a="http://schemas.openxmlformats.org/drawingml/2006/main">
              <a:ext uri="{FF2B5EF4-FFF2-40B4-BE49-F238E27FC236}">
                <a16:creationId xmlns:a16="http://schemas.microsoft.com/office/drawing/2014/main" id="{C8F5A84F-840C-40DA-9075-68CE3F88293E}"/>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Referencias · 2/4</a:t>
            </a:r>
          </a:p>
        </p:txBody>
      </p:sp>
      <p:sp>
        <p:nvSpPr>
          <p:cNvPr id="2" name="Formato Vancouver · figuras originales y fuentes técnic">
            <a:extLst xmlns:a="http://schemas.openxmlformats.org/drawingml/2006/main">
              <a:ext uri="{FF2B5EF4-FFF2-40B4-BE49-F238E27FC236}">
                <a16:creationId xmlns:a16="http://schemas.microsoft.com/office/drawing/2014/main" id="{DBAA39F7-21FD-4443-AB55-8C88792236EE}"/>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Formato Vancouver · figuras originales y fuentes técnicas</a:t>
            </a:r>
          </a:p>
        </p:txBody>
      </p:sp>
      <p:sp>
        <p:nvSpPr>
          <p:cNvPr id="3" name="FoodScan · Equipo 10">
            <a:extLst xmlns:a="http://schemas.openxmlformats.org/drawingml/2006/main">
              <a:ext uri="{FF2B5EF4-FFF2-40B4-BE49-F238E27FC236}">
                <a16:creationId xmlns:a16="http://schemas.microsoft.com/office/drawing/2014/main" id="{1720067D-9C21-4FDC-B16C-7DD5125FDD9F}"/>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FoodScan · Equipo 10</a:t>
            </a:r>
          </a:p>
        </p:txBody>
      </p:sp>
      <p:sp>
        <p:nvSpPr>
          <p:cNvPr id="4" name="39">
            <a:extLst xmlns:a="http://schemas.openxmlformats.org/drawingml/2006/main">
              <a:ext uri="{FF2B5EF4-FFF2-40B4-BE49-F238E27FC236}">
                <a16:creationId xmlns:a16="http://schemas.microsoft.com/office/drawing/2014/main" id="{C59C23F6-9E0B-4D63-B613-AA11A2C96120}"/>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39</a:t>
            </a:r>
          </a:p>
        </p:txBody>
      </p:sp>
      <p:sp>
        <p:nvSpPr>
          <p:cNvPr id="5" name="7.">
            <a:extLst xmlns:a="http://schemas.openxmlformats.org/drawingml/2006/main">
              <a:ext uri="{FF2B5EF4-FFF2-40B4-BE49-F238E27FC236}">
                <a16:creationId xmlns:a16="http://schemas.microsoft.com/office/drawing/2014/main" id="{247D204E-F43D-4D81-A8ED-65D2445FB17D}"/>
              </a:ext>
            </a:extLst>
          </p:cNvPr>
          <p:cNvSpPr>
            <a:spLocks xmlns:a="http://schemas.openxmlformats.org/drawingml/2006/main" noGrp="1"/>
          </p:cNvSpPr>
          <p:nvPr/>
        </p:nvSpPr>
        <p:spPr>
          <a:xfrm xmlns:a="http://schemas.openxmlformats.org/drawingml/2006/main">
            <a:off x="571500" y="17240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7.</a:t>
            </a:r>
          </a:p>
        </p:txBody>
      </p:sp>
      <p:sp>
        <p:nvSpPr>
          <p:cNvPr id="6" name="Puri M, Zhu Z, Lubin J, Pschar T, Divakaran A, Sawhney ">
            <a:extLst xmlns:a="http://schemas.openxmlformats.org/drawingml/2006/main">
              <a:ext uri="{FF2B5EF4-FFF2-40B4-BE49-F238E27FC236}">
                <a16:creationId xmlns:a16="http://schemas.microsoft.com/office/drawing/2014/main" id="{C6E29CBA-1C1B-4FBD-8B5F-E526617B8152}"/>
              </a:ext>
            </a:extLst>
          </p:cNvPr>
          <p:cNvSpPr>
            <a:spLocks xmlns:a="http://schemas.openxmlformats.org/drawingml/2006/main" noGrp="1"/>
          </p:cNvSpPr>
          <p:nvPr/>
        </p:nvSpPr>
        <p:spPr>
          <a:xfrm xmlns:a="http://schemas.openxmlformats.org/drawingml/2006/main">
            <a:off x="1057275" y="1724025"/>
            <a:ext cx="105060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Puri M, Zhu Z, Lubin J, Pschar T, Divakaran A, Sawhney HS, inventores. Food recognition using visual analysis and speech recognition. Patente US8439683B2. SRI International Inc. 14 may 2013.</a:t>
            </a:r>
          </a:p>
        </p:txBody>
      </p:sp>
      <p:sp>
        <p:nvSpPr>
          <p:cNvPr id="7" name="8.">
            <a:extLst xmlns:a="http://schemas.openxmlformats.org/drawingml/2006/main">
              <a:ext uri="{FF2B5EF4-FFF2-40B4-BE49-F238E27FC236}">
                <a16:creationId xmlns:a16="http://schemas.microsoft.com/office/drawing/2014/main" id="{7E8D5767-A92B-4868-9E99-5DE81349318B}"/>
              </a:ext>
            </a:extLst>
          </p:cNvPr>
          <p:cNvSpPr>
            <a:spLocks xmlns:a="http://schemas.openxmlformats.org/drawingml/2006/main" noGrp="1"/>
          </p:cNvSpPr>
          <p:nvPr/>
        </p:nvSpPr>
        <p:spPr>
          <a:xfrm xmlns:a="http://schemas.openxmlformats.org/drawingml/2006/main">
            <a:off x="571500" y="246697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8.</a:t>
            </a:r>
          </a:p>
        </p:txBody>
      </p:sp>
      <p:sp>
        <p:nvSpPr>
          <p:cNvPr id="8" name="Sharma A, inventor. Connected food scale system and met">
            <a:extLst xmlns:a="http://schemas.openxmlformats.org/drawingml/2006/main">
              <a:ext uri="{FF2B5EF4-FFF2-40B4-BE49-F238E27FC236}">
                <a16:creationId xmlns:a16="http://schemas.microsoft.com/office/drawing/2014/main" id="{1E0B0C0D-2E4C-4119-97F7-4031050EAC54}"/>
              </a:ext>
            </a:extLst>
          </p:cNvPr>
          <p:cNvSpPr>
            <a:spLocks xmlns:a="http://schemas.openxmlformats.org/drawingml/2006/main" noGrp="1"/>
          </p:cNvSpPr>
          <p:nvPr/>
        </p:nvSpPr>
        <p:spPr>
          <a:xfrm xmlns:a="http://schemas.openxmlformats.org/drawingml/2006/main">
            <a:off x="1057275" y="2466975"/>
            <a:ext cx="105060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Sharma A, inventor. Connected food scale system and method. Solicitud de patente US20140063180A1. BBY Solutions Inc. 6 mar 2014.</a:t>
            </a:r>
          </a:p>
        </p:txBody>
      </p:sp>
      <p:sp>
        <p:nvSpPr>
          <p:cNvPr id="9" name="9.">
            <a:extLst xmlns:a="http://schemas.openxmlformats.org/drawingml/2006/main">
              <a:ext uri="{FF2B5EF4-FFF2-40B4-BE49-F238E27FC236}">
                <a16:creationId xmlns:a16="http://schemas.microsoft.com/office/drawing/2014/main" id="{BBAE1D81-7B88-49A9-9222-2F5437AA6163}"/>
              </a:ext>
            </a:extLst>
          </p:cNvPr>
          <p:cNvSpPr>
            <a:spLocks xmlns:a="http://schemas.openxmlformats.org/drawingml/2006/main" noGrp="1"/>
          </p:cNvSpPr>
          <p:nvPr/>
        </p:nvSpPr>
        <p:spPr>
          <a:xfrm xmlns:a="http://schemas.openxmlformats.org/drawingml/2006/main">
            <a:off x="571500" y="32099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9.</a:t>
            </a:r>
          </a:p>
        </p:txBody>
      </p:sp>
      <p:sp>
        <p:nvSpPr>
          <p:cNvPr id="10" name="Gong WJ, inventora. Electronic scale and method for aut">
            <a:extLst xmlns:a="http://schemas.openxmlformats.org/drawingml/2006/main">
              <a:ext uri="{FF2B5EF4-FFF2-40B4-BE49-F238E27FC236}">
                <a16:creationId xmlns:a16="http://schemas.microsoft.com/office/drawing/2014/main" id="{860A013E-5EC2-41A0-A7E6-C021B44163A3}"/>
              </a:ext>
            </a:extLst>
          </p:cNvPr>
          <p:cNvSpPr>
            <a:spLocks xmlns:a="http://schemas.openxmlformats.org/drawingml/2006/main" noGrp="1"/>
          </p:cNvSpPr>
          <p:nvPr/>
        </p:nvSpPr>
        <p:spPr>
          <a:xfrm xmlns:a="http://schemas.openxmlformats.org/drawingml/2006/main">
            <a:off x="1057275" y="3209925"/>
            <a:ext cx="105060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Gong WJ, inventora. Electronic scale and method for automatically recognizing food calories. Solicitud de patente CN108871530A. Sichuan Feixun Information Technology Co. Ltd. 23 nov 2018.</a:t>
            </a:r>
          </a:p>
        </p:txBody>
      </p:sp>
      <p:sp>
        <p:nvSpPr>
          <p:cNvPr id="11" name="10.">
            <a:extLst xmlns:a="http://schemas.openxmlformats.org/drawingml/2006/main">
              <a:ext uri="{FF2B5EF4-FFF2-40B4-BE49-F238E27FC236}">
                <a16:creationId xmlns:a16="http://schemas.microsoft.com/office/drawing/2014/main" id="{FAFD5E12-E761-4F49-86C2-C86DC930D909}"/>
              </a:ext>
            </a:extLst>
          </p:cNvPr>
          <p:cNvSpPr>
            <a:spLocks xmlns:a="http://schemas.openxmlformats.org/drawingml/2006/main" noGrp="1"/>
          </p:cNvSpPr>
          <p:nvPr/>
        </p:nvSpPr>
        <p:spPr>
          <a:xfrm xmlns:a="http://schemas.openxmlformats.org/drawingml/2006/main">
            <a:off x="571500" y="395287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10.</a:t>
            </a:r>
          </a:p>
        </p:txBody>
      </p:sp>
      <p:sp>
        <p:nvSpPr>
          <p:cNvPr id="12" name="Fang S. Single view reconstruction for food portion est">
            <a:extLst xmlns:a="http://schemas.openxmlformats.org/drawingml/2006/main">
              <a:ext uri="{FF2B5EF4-FFF2-40B4-BE49-F238E27FC236}">
                <a16:creationId xmlns:a16="http://schemas.microsoft.com/office/drawing/2014/main" id="{9AD2C30B-1F87-40A4-99E5-EF7513BDA063}"/>
              </a:ext>
            </a:extLst>
          </p:cNvPr>
          <p:cNvSpPr>
            <a:spLocks xmlns:a="http://schemas.openxmlformats.org/drawingml/2006/main" noGrp="1"/>
          </p:cNvSpPr>
          <p:nvPr/>
        </p:nvSpPr>
        <p:spPr>
          <a:xfrm xmlns:a="http://schemas.openxmlformats.org/drawingml/2006/main">
            <a:off x="1057275" y="3952875"/>
            <a:ext cx="105060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Fang S. Single view reconstruction for food portion estimation [tesis doctoral]. West Lafayette: Purdue University; 2019. doi:10.25394/PGS.7767125.v1.</a:t>
            </a:r>
          </a:p>
        </p:txBody>
      </p:sp>
      <p:sp>
        <p:nvSpPr>
          <p:cNvPr id="13" name="11.">
            <a:extLst xmlns:a="http://schemas.openxmlformats.org/drawingml/2006/main">
              <a:ext uri="{FF2B5EF4-FFF2-40B4-BE49-F238E27FC236}">
                <a16:creationId xmlns:a16="http://schemas.microsoft.com/office/drawing/2014/main" id="{9FF00BF0-8C7A-415B-A768-069EE3D07556}"/>
              </a:ext>
            </a:extLst>
          </p:cNvPr>
          <p:cNvSpPr>
            <a:spLocks xmlns:a="http://schemas.openxmlformats.org/drawingml/2006/main" noGrp="1"/>
          </p:cNvSpPr>
          <p:nvPr/>
        </p:nvSpPr>
        <p:spPr>
          <a:xfrm xmlns:a="http://schemas.openxmlformats.org/drawingml/2006/main">
            <a:off x="571500" y="46958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11.</a:t>
            </a:r>
          </a:p>
        </p:txBody>
      </p:sp>
      <p:sp>
        <p:nvSpPr>
          <p:cNvPr id="14" name="Romero De Chorié GE, Tineo Ramón ME, Benavides Santur J">
            <a:extLst xmlns:a="http://schemas.openxmlformats.org/drawingml/2006/main">
              <a:ext uri="{FF2B5EF4-FFF2-40B4-BE49-F238E27FC236}">
                <a16:creationId xmlns:a16="http://schemas.microsoft.com/office/drawing/2014/main" id="{FDF17EAD-E301-45C7-9229-1AB06AC18718}"/>
              </a:ext>
            </a:extLst>
          </p:cNvPr>
          <p:cNvSpPr>
            <a:spLocks xmlns:a="http://schemas.openxmlformats.org/drawingml/2006/main" noGrp="1"/>
          </p:cNvSpPr>
          <p:nvPr/>
        </p:nvSpPr>
        <p:spPr>
          <a:xfrm xmlns:a="http://schemas.openxmlformats.org/drawingml/2006/main">
            <a:off x="1057275" y="4695825"/>
            <a:ext cx="105060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Romero De Chorié GE, Tineo Ramón ME, Benavides Santur JD, Guerrero Reyes FA, Rosas Arbildo G. Modelo ProLab: Checkifood, aplicación móvil que ayuda al régimen alimenticio con machine learning [tesis de maestría]. Lima: PUCP; 2024.</a:t>
            </a:r>
          </a:p>
        </p:txBody>
      </p:sp>
      <p:sp>
        <p:nvSpPr>
          <p:cNvPr id="15" name="12.">
            <a:extLst xmlns:a="http://schemas.openxmlformats.org/drawingml/2006/main">
              <a:ext uri="{FF2B5EF4-FFF2-40B4-BE49-F238E27FC236}">
                <a16:creationId xmlns:a16="http://schemas.microsoft.com/office/drawing/2014/main" id="{A13F2625-6D41-49D7-B3C9-4E672B73437D}"/>
              </a:ext>
            </a:extLst>
          </p:cNvPr>
          <p:cNvSpPr>
            <a:spLocks xmlns:a="http://schemas.openxmlformats.org/drawingml/2006/main" noGrp="1"/>
          </p:cNvSpPr>
          <p:nvPr/>
        </p:nvSpPr>
        <p:spPr>
          <a:xfrm xmlns:a="http://schemas.openxmlformats.org/drawingml/2006/main">
            <a:off x="571500" y="543877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12.</a:t>
            </a:r>
          </a:p>
        </p:txBody>
      </p:sp>
      <p:sp>
        <p:nvSpPr>
          <p:cNvPr id="16" name="López Aliaga Pantigoso SC. Evaluación del aporte nutric">
            <a:extLst xmlns:a="http://schemas.openxmlformats.org/drawingml/2006/main">
              <a:ext uri="{FF2B5EF4-FFF2-40B4-BE49-F238E27FC236}">
                <a16:creationId xmlns:a16="http://schemas.microsoft.com/office/drawing/2014/main" id="{032E704B-C28C-4B8E-A5CE-FD9500C821AA}"/>
              </a:ext>
            </a:extLst>
          </p:cNvPr>
          <p:cNvSpPr>
            <a:spLocks xmlns:a="http://schemas.openxmlformats.org/drawingml/2006/main" noGrp="1"/>
          </p:cNvSpPr>
          <p:nvPr/>
        </p:nvSpPr>
        <p:spPr>
          <a:xfrm xmlns:a="http://schemas.openxmlformats.org/drawingml/2006/main">
            <a:off x="1057275" y="5438775"/>
            <a:ext cx="105060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López Aliaga Pantigoso SC. Evaluación del aporte nutricional del menú del servicio de alimentación para deportistas albergados del IPD y su relación con sus requerimientos nutricionales [tesis de licenciatura]. Lima: UPC; 2019.</a:t>
            </a:r>
          </a:p>
        </p:txBody>
      </p:sp>
    </p:spTree>
    <p:extLst>
      <p:ext uri="{BB962C8B-B14F-4D97-AF65-F5344CB8AC3E}">
        <p14:creationId xmlns:p14="http://schemas.microsoft.com/office/powerpoint/2010/main" val="154454818"/>
      </p:ext>
    </p:extLst>
  </p:cSld>
</p:sld>
</file>

<file path=ppt/slides/slide40.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7" name="Referencias · 3/4">
            <a:extLst xmlns:a="http://schemas.openxmlformats.org/drawingml/2006/main">
              <a:ext uri="{FF2B5EF4-FFF2-40B4-BE49-F238E27FC236}">
                <a16:creationId xmlns:a16="http://schemas.microsoft.com/office/drawing/2014/main" id="{4FDCA708-7BC2-4FB3-B132-EC08BE7E313B}"/>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Referencias · 3/4</a:t>
            </a:r>
          </a:p>
        </p:txBody>
      </p:sp>
      <p:sp>
        <p:nvSpPr>
          <p:cNvPr id="2" name="Formato Vancouver · figuras originales y fuentes técnic">
            <a:extLst xmlns:a="http://schemas.openxmlformats.org/drawingml/2006/main">
              <a:ext uri="{FF2B5EF4-FFF2-40B4-BE49-F238E27FC236}">
                <a16:creationId xmlns:a16="http://schemas.microsoft.com/office/drawing/2014/main" id="{6B53A375-CF74-4300-A3BC-BC5AF942AA8F}"/>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Formato Vancouver · figuras originales y fuentes técnicas</a:t>
            </a:r>
          </a:p>
        </p:txBody>
      </p:sp>
      <p:sp>
        <p:nvSpPr>
          <p:cNvPr id="3" name="FoodScan · Equipo 10">
            <a:extLst xmlns:a="http://schemas.openxmlformats.org/drawingml/2006/main">
              <a:ext uri="{FF2B5EF4-FFF2-40B4-BE49-F238E27FC236}">
                <a16:creationId xmlns:a16="http://schemas.microsoft.com/office/drawing/2014/main" id="{29134D9D-E5B2-45D9-BDF5-FF4D8C220370}"/>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FoodScan · Equipo 10</a:t>
            </a:r>
          </a:p>
        </p:txBody>
      </p:sp>
      <p:sp>
        <p:nvSpPr>
          <p:cNvPr id="4" name="40">
            <a:extLst xmlns:a="http://schemas.openxmlformats.org/drawingml/2006/main">
              <a:ext uri="{FF2B5EF4-FFF2-40B4-BE49-F238E27FC236}">
                <a16:creationId xmlns:a16="http://schemas.microsoft.com/office/drawing/2014/main" id="{38EB9445-9DF7-4C0D-81B5-1FADC97922D0}"/>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40</a:t>
            </a:r>
          </a:p>
        </p:txBody>
      </p:sp>
      <p:sp>
        <p:nvSpPr>
          <p:cNvPr id="5" name="13.">
            <a:extLst xmlns:a="http://schemas.openxmlformats.org/drawingml/2006/main">
              <a:ext uri="{FF2B5EF4-FFF2-40B4-BE49-F238E27FC236}">
                <a16:creationId xmlns:a16="http://schemas.microsoft.com/office/drawing/2014/main" id="{26D2BA8C-625B-4AB8-8A70-983EEAB87F2D}"/>
              </a:ext>
            </a:extLst>
          </p:cNvPr>
          <p:cNvSpPr>
            <a:spLocks xmlns:a="http://schemas.openxmlformats.org/drawingml/2006/main" noGrp="1"/>
          </p:cNvSpPr>
          <p:nvPr/>
        </p:nvSpPr>
        <p:spPr>
          <a:xfrm xmlns:a="http://schemas.openxmlformats.org/drawingml/2006/main">
            <a:off x="571500" y="17240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13.</a:t>
            </a:r>
          </a:p>
        </p:txBody>
      </p:sp>
      <p:sp>
        <p:nvSpPr>
          <p:cNvPr id="6" name="Etekcity. ESN00 Smart Nutrition Scale [Internet]. [cita">
            <a:extLst xmlns:a="http://schemas.openxmlformats.org/drawingml/2006/main">
              <a:ext uri="{FF2B5EF4-FFF2-40B4-BE49-F238E27FC236}">
                <a16:creationId xmlns:a16="http://schemas.microsoft.com/office/drawing/2014/main" id="{1D4FB1F7-1437-48BB-9313-E0E11E839F3F}"/>
              </a:ext>
            </a:extLst>
          </p:cNvPr>
          <p:cNvSpPr>
            <a:spLocks xmlns:a="http://schemas.openxmlformats.org/drawingml/2006/main" noGrp="1"/>
          </p:cNvSpPr>
          <p:nvPr/>
        </p:nvSpPr>
        <p:spPr>
          <a:xfrm xmlns:a="http://schemas.openxmlformats.org/drawingml/2006/main">
            <a:off x="1057275" y="1724025"/>
            <a:ext cx="105060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Etekcity. ESN00 Smart Nutrition Scale [Internet]. [citado 7 oct 2026].</a:t>
            </a:r>
          </a:p>
        </p:txBody>
      </p:sp>
      <p:sp>
        <p:nvSpPr>
          <p:cNvPr id="7" name="14.">
            <a:extLst xmlns:a="http://schemas.openxmlformats.org/drawingml/2006/main">
              <a:ext uri="{FF2B5EF4-FFF2-40B4-BE49-F238E27FC236}">
                <a16:creationId xmlns:a16="http://schemas.microsoft.com/office/drawing/2014/main" id="{4A59B5F7-87F7-4C9C-AFA9-B9F47D7F439C}"/>
              </a:ext>
            </a:extLst>
          </p:cNvPr>
          <p:cNvSpPr>
            <a:spLocks xmlns:a="http://schemas.openxmlformats.org/drawingml/2006/main" noGrp="1"/>
          </p:cNvSpPr>
          <p:nvPr/>
        </p:nvSpPr>
        <p:spPr>
          <a:xfrm xmlns:a="http://schemas.openxmlformats.org/drawingml/2006/main">
            <a:off x="571500" y="246697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14.</a:t>
            </a:r>
          </a:p>
        </p:txBody>
      </p:sp>
      <p:sp>
        <p:nvSpPr>
          <p:cNvPr id="8" name="Fitia. Contador de calorías y dietas con IA [Internet].">
            <a:extLst xmlns:a="http://schemas.openxmlformats.org/drawingml/2006/main">
              <a:ext uri="{FF2B5EF4-FFF2-40B4-BE49-F238E27FC236}">
                <a16:creationId xmlns:a16="http://schemas.microsoft.com/office/drawing/2014/main" id="{A5F7D371-D0B5-4E3D-AE33-EB7A86D36056}"/>
              </a:ext>
            </a:extLst>
          </p:cNvPr>
          <p:cNvSpPr>
            <a:spLocks xmlns:a="http://schemas.openxmlformats.org/drawingml/2006/main" noGrp="1"/>
          </p:cNvSpPr>
          <p:nvPr/>
        </p:nvSpPr>
        <p:spPr>
          <a:xfrm xmlns:a="http://schemas.openxmlformats.org/drawingml/2006/main">
            <a:off x="1057275" y="2466975"/>
            <a:ext cx="105060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Fitia. Contador de calorías y dietas con IA [Internet]. [citado 7 oct 2026].</a:t>
            </a:r>
          </a:p>
        </p:txBody>
      </p:sp>
      <p:sp>
        <p:nvSpPr>
          <p:cNvPr id="9" name="15.">
            <a:extLst xmlns:a="http://schemas.openxmlformats.org/drawingml/2006/main">
              <a:ext uri="{FF2B5EF4-FFF2-40B4-BE49-F238E27FC236}">
                <a16:creationId xmlns:a16="http://schemas.microsoft.com/office/drawing/2014/main" id="{B78FFBDB-BAC1-44FF-A1AB-E2DD76A94C33}"/>
              </a:ext>
            </a:extLst>
          </p:cNvPr>
          <p:cNvSpPr>
            <a:spLocks xmlns:a="http://schemas.openxmlformats.org/drawingml/2006/main" noGrp="1"/>
          </p:cNvSpPr>
          <p:nvPr/>
        </p:nvSpPr>
        <p:spPr>
          <a:xfrm xmlns:a="http://schemas.openxmlformats.org/drawingml/2006/main">
            <a:off x="571500" y="32099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15.</a:t>
            </a:r>
          </a:p>
        </p:txBody>
      </p:sp>
      <p:sp>
        <p:nvSpPr>
          <p:cNvPr id="10" name="PerceptionLabs Inc. SnapCalorie: AI calorie tracking ma">
            <a:extLst xmlns:a="http://schemas.openxmlformats.org/drawingml/2006/main">
              <a:ext uri="{FF2B5EF4-FFF2-40B4-BE49-F238E27FC236}">
                <a16:creationId xmlns:a16="http://schemas.microsoft.com/office/drawing/2014/main" id="{30D1AE62-AF0A-44B6-95FB-4AB15E675FB0}"/>
              </a:ext>
            </a:extLst>
          </p:cNvPr>
          <p:cNvSpPr>
            <a:spLocks xmlns:a="http://schemas.openxmlformats.org/drawingml/2006/main" noGrp="1"/>
          </p:cNvSpPr>
          <p:nvPr/>
        </p:nvSpPr>
        <p:spPr>
          <a:xfrm xmlns:a="http://schemas.openxmlformats.org/drawingml/2006/main">
            <a:off x="1057275" y="3209925"/>
            <a:ext cx="105060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PerceptionLabs Inc. SnapCalorie: AI calorie tracking made simple [Internet]. [citado 7 oct 2026].</a:t>
            </a:r>
          </a:p>
        </p:txBody>
      </p:sp>
      <p:sp>
        <p:nvSpPr>
          <p:cNvPr id="11" name="16.">
            <a:extLst xmlns:a="http://schemas.openxmlformats.org/drawingml/2006/main">
              <a:ext uri="{FF2B5EF4-FFF2-40B4-BE49-F238E27FC236}">
                <a16:creationId xmlns:a16="http://schemas.microsoft.com/office/drawing/2014/main" id="{04C6E149-6574-48B7-BA82-77C54D9EFE97}"/>
              </a:ext>
            </a:extLst>
          </p:cNvPr>
          <p:cNvSpPr>
            <a:spLocks xmlns:a="http://schemas.openxmlformats.org/drawingml/2006/main" noGrp="1"/>
          </p:cNvSpPr>
          <p:nvPr/>
        </p:nvSpPr>
        <p:spPr>
          <a:xfrm xmlns:a="http://schemas.openxmlformats.org/drawingml/2006/main">
            <a:off x="571500" y="395287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16.</a:t>
            </a:r>
          </a:p>
        </p:txBody>
      </p:sp>
      <p:sp>
        <p:nvSpPr>
          <p:cNvPr id="12" name="Reyes García M, Gómez-Sánchez Prieto I, Espinoza Barrie">
            <a:extLst xmlns:a="http://schemas.openxmlformats.org/drawingml/2006/main">
              <a:ext uri="{FF2B5EF4-FFF2-40B4-BE49-F238E27FC236}">
                <a16:creationId xmlns:a16="http://schemas.microsoft.com/office/drawing/2014/main" id="{CBBB1FD3-5774-4D77-9AF4-AFAC7A77AE81}"/>
              </a:ext>
            </a:extLst>
          </p:cNvPr>
          <p:cNvSpPr>
            <a:spLocks xmlns:a="http://schemas.openxmlformats.org/drawingml/2006/main" noGrp="1"/>
          </p:cNvSpPr>
          <p:nvPr/>
        </p:nvSpPr>
        <p:spPr>
          <a:xfrm xmlns:a="http://schemas.openxmlformats.org/drawingml/2006/main">
            <a:off x="1057275" y="3952875"/>
            <a:ext cx="105060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Reyes García M, Gómez-Sánchez Prieto I, Espinoza Barrientos C. Tablas peruanas de composición de alimentos. 10.ª ed. Lima: Instituto Nacional de Salud; 2017. Impresión 2018. Archivo proporcionado al equipo: Tablas-peruanas.pdf.</a:t>
            </a:r>
          </a:p>
        </p:txBody>
      </p:sp>
      <p:sp>
        <p:nvSpPr>
          <p:cNvPr id="13" name="17.">
            <a:extLst xmlns:a="http://schemas.openxmlformats.org/drawingml/2006/main">
              <a:ext uri="{FF2B5EF4-FFF2-40B4-BE49-F238E27FC236}">
                <a16:creationId xmlns:a16="http://schemas.microsoft.com/office/drawing/2014/main" id="{E6B0F1AD-AD71-444F-A910-38F19CEFDA08}"/>
              </a:ext>
            </a:extLst>
          </p:cNvPr>
          <p:cNvSpPr>
            <a:spLocks xmlns:a="http://schemas.openxmlformats.org/drawingml/2006/main" noGrp="1"/>
          </p:cNvSpPr>
          <p:nvPr/>
        </p:nvSpPr>
        <p:spPr>
          <a:xfrm xmlns:a="http://schemas.openxmlformats.org/drawingml/2006/main">
            <a:off x="571500" y="46958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17.</a:t>
            </a:r>
          </a:p>
        </p:txBody>
      </p:sp>
      <p:sp>
        <p:nvSpPr>
          <p:cNvPr id="14" name="Stacktronics Perú. ESP32-CAM con cámara OV2640&#10;2 MP y b">
            <a:extLst xmlns:a="http://schemas.openxmlformats.org/drawingml/2006/main">
              <a:ext uri="{FF2B5EF4-FFF2-40B4-BE49-F238E27FC236}">
                <a16:creationId xmlns:a16="http://schemas.microsoft.com/office/drawing/2014/main" id="{271E5F0B-747F-4088-A6E4-9DDC89E43262}"/>
              </a:ext>
            </a:extLst>
          </p:cNvPr>
          <p:cNvSpPr>
            <a:spLocks xmlns:a="http://schemas.openxmlformats.org/drawingml/2006/main" noGrp="1"/>
          </p:cNvSpPr>
          <p:nvPr/>
        </p:nvSpPr>
        <p:spPr>
          <a:xfrm xmlns:a="http://schemas.openxmlformats.org/drawingml/2006/main">
            <a:off x="1057275" y="4695825"/>
            <a:ext cx="105060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Stacktronics Perú. ESP32-CAM con cámara OV2640</a:t>
            </a:r>
          </a:p>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2 MP y base programadora [Internet]. [citado 7 oct 2026].</a:t>
            </a:r>
          </a:p>
        </p:txBody>
      </p:sp>
      <p:sp>
        <p:nvSpPr>
          <p:cNvPr id="15" name="18.">
            <a:extLst xmlns:a="http://schemas.openxmlformats.org/drawingml/2006/main">
              <a:ext uri="{FF2B5EF4-FFF2-40B4-BE49-F238E27FC236}">
                <a16:creationId xmlns:a16="http://schemas.microsoft.com/office/drawing/2014/main" id="{3FC44293-C82E-487A-AC0B-D13F56D8CF80}"/>
              </a:ext>
            </a:extLst>
          </p:cNvPr>
          <p:cNvSpPr>
            <a:spLocks xmlns:a="http://schemas.openxmlformats.org/drawingml/2006/main" noGrp="1"/>
          </p:cNvSpPr>
          <p:nvPr/>
        </p:nvSpPr>
        <p:spPr>
          <a:xfrm xmlns:a="http://schemas.openxmlformats.org/drawingml/2006/main">
            <a:off x="571500" y="543877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18.</a:t>
            </a:r>
          </a:p>
        </p:txBody>
      </p:sp>
      <p:sp>
        <p:nvSpPr>
          <p:cNvPr id="16" name="Naylamp Mechatronics. Celda de carga 5 kg, SKU 000155 [">
            <a:extLst xmlns:a="http://schemas.openxmlformats.org/drawingml/2006/main">
              <a:ext uri="{FF2B5EF4-FFF2-40B4-BE49-F238E27FC236}">
                <a16:creationId xmlns:a16="http://schemas.microsoft.com/office/drawing/2014/main" id="{CD21FC8B-8846-4002-8136-BA041223BAC0}"/>
              </a:ext>
            </a:extLst>
          </p:cNvPr>
          <p:cNvSpPr>
            <a:spLocks xmlns:a="http://schemas.openxmlformats.org/drawingml/2006/main" noGrp="1"/>
          </p:cNvSpPr>
          <p:nvPr/>
        </p:nvSpPr>
        <p:spPr>
          <a:xfrm xmlns:a="http://schemas.openxmlformats.org/drawingml/2006/main">
            <a:off x="1057275" y="5438775"/>
            <a:ext cx="105060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Naylamp Mechatronics. Celda de carga 5 kg, SKU 000155 [Internet]. [citado 7 oct 2026].</a:t>
            </a:r>
          </a:p>
        </p:txBody>
      </p:sp>
    </p:spTree>
    <p:extLst>
      <p:ext uri="{BB962C8B-B14F-4D97-AF65-F5344CB8AC3E}">
        <p14:creationId xmlns:p14="http://schemas.microsoft.com/office/powerpoint/2010/main" val="151934434"/>
      </p:ext>
    </p:extLst>
  </p:cSld>
</p:sld>
</file>

<file path=ppt/slides/slide41.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7" name="Referencias · 4/4">
            <a:extLst xmlns:a="http://schemas.openxmlformats.org/drawingml/2006/main">
              <a:ext uri="{FF2B5EF4-FFF2-40B4-BE49-F238E27FC236}">
                <a16:creationId xmlns:a16="http://schemas.microsoft.com/office/drawing/2014/main" id="{6B8567DD-35C5-4646-B80E-3BFD88FCB61B}"/>
              </a:ext>
            </a:extLst>
          </p:cNvPr>
          <p:cNvSpPr>
            <a:spLocks xmlns:a="http://schemas.openxmlformats.org/drawingml/2006/main" noGrp="1"/>
          </p:cNvSpPr>
          <p:nvPr/>
        </p:nvSpPr>
        <p:spPr>
          <a:xfrm xmlns:a="http://schemas.openxmlformats.org/drawingml/2006/main">
            <a:off x="552450" y="333375"/>
            <a:ext cx="11087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3F2F"/>
                </a:solidFill>
                <a:latin typeface="Arial"/>
                <a:ea typeface="Arial"/>
                <a:cs typeface="Arial"/>
              </a:defRPr>
            </a:defPPr>
          </a:lstStyle>
          <a:p xmlns:a="http://schemas.openxmlformats.org/drawingml/2006/main">
            <a:pPr>
              <a:defRPr sz="3225" b="1">
                <a:solidFill>
                  <a:srgbClr val="173F2F"/>
                </a:solidFill>
                <a:latin typeface="Arial"/>
                <a:ea typeface="Arial"/>
                <a:cs typeface="Arial"/>
              </a:defRPr>
            </a:pPr>
            <a:r>
              <a:rPr sz="3225" b="1">
                <a:solidFill>
                  <a:srgbClr val="173F2F"/>
                </a:solidFill>
                <a:latin typeface="Arial"/>
                <a:ea typeface="Arial"/>
                <a:cs typeface="Arial"/>
              </a:rPr>
              <a:t>Referencias · 4/4</a:t>
            </a:r>
          </a:p>
        </p:txBody>
      </p:sp>
      <p:sp>
        <p:nvSpPr>
          <p:cNvPr id="2" name="Formato Vancouver · figuras originales y fuentes técnic">
            <a:extLst xmlns:a="http://schemas.openxmlformats.org/drawingml/2006/main">
              <a:ext uri="{FF2B5EF4-FFF2-40B4-BE49-F238E27FC236}">
                <a16:creationId xmlns:a16="http://schemas.microsoft.com/office/drawing/2014/main" id="{C89C2C20-091F-49C7-8CDB-E148947716DC}"/>
              </a:ext>
            </a:extLst>
          </p:cNvPr>
          <p:cNvSpPr>
            <a:spLocks xmlns:a="http://schemas.openxmlformats.org/drawingml/2006/main" noGrp="1"/>
          </p:cNvSpPr>
          <p:nvPr/>
        </p:nvSpPr>
        <p:spPr>
          <a:xfrm xmlns:a="http://schemas.openxmlformats.org/drawingml/2006/main">
            <a:off x="571500" y="10763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77161"/>
                </a:solidFill>
                <a:latin typeface="Arial"/>
                <a:ea typeface="Arial"/>
                <a:cs typeface="Arial"/>
              </a:defRPr>
            </a:defPPr>
          </a:lstStyle>
          <a:p xmlns:a="http://schemas.openxmlformats.org/drawingml/2006/main">
            <a:pPr>
              <a:defRPr sz="1650" b="0">
                <a:solidFill>
                  <a:srgbClr val="577161"/>
                </a:solidFill>
                <a:latin typeface="Arial"/>
                <a:ea typeface="Arial"/>
                <a:cs typeface="Arial"/>
              </a:defRPr>
            </a:pPr>
            <a:r>
              <a:rPr sz="1650" b="0">
                <a:solidFill>
                  <a:srgbClr val="577161"/>
                </a:solidFill>
                <a:latin typeface="Arial"/>
                <a:ea typeface="Arial"/>
                <a:cs typeface="Arial"/>
              </a:rPr>
              <a:t>Formato Vancouver · figuras originales y fuentes técnicas</a:t>
            </a:r>
          </a:p>
        </p:txBody>
      </p:sp>
      <p:sp>
        <p:nvSpPr>
          <p:cNvPr id="3" name="FoodScan · Equipo 10">
            <a:extLst xmlns:a="http://schemas.openxmlformats.org/drawingml/2006/main">
              <a:ext uri="{FF2B5EF4-FFF2-40B4-BE49-F238E27FC236}">
                <a16:creationId xmlns:a16="http://schemas.microsoft.com/office/drawing/2014/main" id="{3FA29496-9E9E-4340-8617-FE8DDB821B81}"/>
              </a:ext>
            </a:extLst>
          </p:cNvPr>
          <p:cNvSpPr>
            <a:spLocks xmlns:a="http://schemas.openxmlformats.org/drawingml/2006/main" noGrp="1"/>
          </p:cNvSpPr>
          <p:nvPr/>
        </p:nvSpPr>
        <p:spPr>
          <a:xfrm xmlns:a="http://schemas.openxmlformats.org/drawingml/2006/main">
            <a:off x="571500" y="643890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77161"/>
                </a:solidFill>
                <a:latin typeface="Arial"/>
                <a:ea typeface="Arial"/>
                <a:cs typeface="Arial"/>
              </a:defRPr>
            </a:defPPr>
          </a:lstStyle>
          <a:p xmlns:a="http://schemas.openxmlformats.org/drawingml/2006/main">
            <a:pPr>
              <a:defRPr sz="1125" b="0">
                <a:solidFill>
                  <a:srgbClr val="577161"/>
                </a:solidFill>
                <a:latin typeface="Arial"/>
                <a:ea typeface="Arial"/>
                <a:cs typeface="Arial"/>
              </a:defRPr>
            </a:pPr>
            <a:r>
              <a:rPr sz="1125" b="0">
                <a:solidFill>
                  <a:srgbClr val="577161"/>
                </a:solidFill>
                <a:latin typeface="Arial"/>
                <a:ea typeface="Arial"/>
                <a:cs typeface="Arial"/>
              </a:rPr>
              <a:t>FoodScan · Equipo 10</a:t>
            </a:r>
          </a:p>
        </p:txBody>
      </p:sp>
      <p:sp>
        <p:nvSpPr>
          <p:cNvPr id="4" name="41">
            <a:extLst xmlns:a="http://schemas.openxmlformats.org/drawingml/2006/main">
              <a:ext uri="{FF2B5EF4-FFF2-40B4-BE49-F238E27FC236}">
                <a16:creationId xmlns:a16="http://schemas.microsoft.com/office/drawing/2014/main" id="{C772663B-BB56-4297-8080-A2D344BA63F5}"/>
              </a:ext>
            </a:extLst>
          </p:cNvPr>
          <p:cNvSpPr>
            <a:spLocks xmlns:a="http://schemas.openxmlformats.org/drawingml/2006/main" noGrp="1"/>
          </p:cNvSpPr>
          <p:nvPr/>
        </p:nvSpPr>
        <p:spPr>
          <a:xfrm xmlns:a="http://schemas.openxmlformats.org/drawingml/2006/main">
            <a:off x="11334750" y="64008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577161"/>
                </a:solidFill>
                <a:latin typeface="Arial"/>
                <a:ea typeface="Arial"/>
                <a:cs typeface="Arial"/>
              </a:defRPr>
            </a:defPPr>
          </a:lstStyle>
          <a:p xmlns:a="http://schemas.openxmlformats.org/drawingml/2006/main">
            <a:pPr>
              <a:defRPr sz="1500" b="1">
                <a:solidFill>
                  <a:srgbClr val="577161"/>
                </a:solidFill>
                <a:latin typeface="Arial"/>
                <a:ea typeface="Arial"/>
                <a:cs typeface="Arial"/>
              </a:defRPr>
            </a:pPr>
            <a:r>
              <a:rPr sz="1500" b="1">
                <a:solidFill>
                  <a:srgbClr val="577161"/>
                </a:solidFill>
                <a:latin typeface="Arial"/>
                <a:ea typeface="Arial"/>
                <a:cs typeface="Arial"/>
              </a:rPr>
              <a:t>41</a:t>
            </a:r>
          </a:p>
        </p:txBody>
      </p:sp>
      <p:sp>
        <p:nvSpPr>
          <p:cNvPr id="5" name="19.">
            <a:extLst xmlns:a="http://schemas.openxmlformats.org/drawingml/2006/main">
              <a:ext uri="{FF2B5EF4-FFF2-40B4-BE49-F238E27FC236}">
                <a16:creationId xmlns:a16="http://schemas.microsoft.com/office/drawing/2014/main" id="{FA73E478-AB2B-493E-A641-6BA9EED9C85B}"/>
              </a:ext>
            </a:extLst>
          </p:cNvPr>
          <p:cNvSpPr>
            <a:spLocks xmlns:a="http://schemas.openxmlformats.org/drawingml/2006/main" noGrp="1"/>
          </p:cNvSpPr>
          <p:nvPr/>
        </p:nvSpPr>
        <p:spPr>
          <a:xfrm xmlns:a="http://schemas.openxmlformats.org/drawingml/2006/main">
            <a:off x="571500" y="17240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19.</a:t>
            </a:r>
          </a:p>
        </p:txBody>
      </p:sp>
      <p:sp>
        <p:nvSpPr>
          <p:cNvPr id="6" name="Naylamp Mechatronics. Módulo HX711 transmisor de celda ">
            <a:extLst xmlns:a="http://schemas.openxmlformats.org/drawingml/2006/main">
              <a:ext uri="{FF2B5EF4-FFF2-40B4-BE49-F238E27FC236}">
                <a16:creationId xmlns:a16="http://schemas.microsoft.com/office/drawing/2014/main" id="{8F8CB11A-F6DB-4CA5-8EDC-3B99C4F60163}"/>
              </a:ext>
            </a:extLst>
          </p:cNvPr>
          <p:cNvSpPr>
            <a:spLocks xmlns:a="http://schemas.openxmlformats.org/drawingml/2006/main" noGrp="1"/>
          </p:cNvSpPr>
          <p:nvPr/>
        </p:nvSpPr>
        <p:spPr>
          <a:xfrm xmlns:a="http://schemas.openxmlformats.org/drawingml/2006/main">
            <a:off x="1057275" y="1724025"/>
            <a:ext cx="105060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Naylamp Mechatronics. Módulo HX711 transmisor de celda de carga, SKU 000147 [Internet]. [citado 7 oct 2026].</a:t>
            </a:r>
          </a:p>
        </p:txBody>
      </p:sp>
      <p:sp>
        <p:nvSpPr>
          <p:cNvPr id="7" name="20.">
            <a:extLst xmlns:a="http://schemas.openxmlformats.org/drawingml/2006/main">
              <a:ext uri="{FF2B5EF4-FFF2-40B4-BE49-F238E27FC236}">
                <a16:creationId xmlns:a16="http://schemas.microsoft.com/office/drawing/2014/main" id="{EA402B02-1299-4133-9AE5-893E8F41CD8B}"/>
              </a:ext>
            </a:extLst>
          </p:cNvPr>
          <p:cNvSpPr>
            <a:spLocks xmlns:a="http://schemas.openxmlformats.org/drawingml/2006/main" noGrp="1"/>
          </p:cNvSpPr>
          <p:nvPr/>
        </p:nvSpPr>
        <p:spPr>
          <a:xfrm xmlns:a="http://schemas.openxmlformats.org/drawingml/2006/main">
            <a:off x="571500" y="246697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20.</a:t>
            </a:r>
          </a:p>
        </p:txBody>
      </p:sp>
      <p:sp>
        <p:nvSpPr>
          <p:cNvPr id="8" name="Naylamp Mechatronics. Adaptador WODE WA-12-5, 5 V, 2.4 ">
            <a:extLst xmlns:a="http://schemas.openxmlformats.org/drawingml/2006/main">
              <a:ext uri="{FF2B5EF4-FFF2-40B4-BE49-F238E27FC236}">
                <a16:creationId xmlns:a16="http://schemas.microsoft.com/office/drawing/2014/main" id="{C7FD4D43-8027-4F4F-99E1-7743B33FB960}"/>
              </a:ext>
            </a:extLst>
          </p:cNvPr>
          <p:cNvSpPr>
            <a:spLocks xmlns:a="http://schemas.openxmlformats.org/drawingml/2006/main" noGrp="1"/>
          </p:cNvSpPr>
          <p:nvPr/>
        </p:nvSpPr>
        <p:spPr>
          <a:xfrm xmlns:a="http://schemas.openxmlformats.org/drawingml/2006/main">
            <a:off x="1057275" y="2466975"/>
            <a:ext cx="105060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Naylamp Mechatronics. Adaptador WODE WA-12-5, 5 V, 2.4 A [Internet]. [citado 7 oct 2026].</a:t>
            </a:r>
          </a:p>
        </p:txBody>
      </p:sp>
      <p:sp>
        <p:nvSpPr>
          <p:cNvPr id="9" name="21.">
            <a:extLst xmlns:a="http://schemas.openxmlformats.org/drawingml/2006/main">
              <a:ext uri="{FF2B5EF4-FFF2-40B4-BE49-F238E27FC236}">
                <a16:creationId xmlns:a16="http://schemas.microsoft.com/office/drawing/2014/main" id="{C740BF1B-18F1-46DA-81C8-E11CA783FBDB}"/>
              </a:ext>
            </a:extLst>
          </p:cNvPr>
          <p:cNvSpPr>
            <a:spLocks xmlns:a="http://schemas.openxmlformats.org/drawingml/2006/main" noGrp="1"/>
          </p:cNvSpPr>
          <p:nvPr/>
        </p:nvSpPr>
        <p:spPr>
          <a:xfrm xmlns:a="http://schemas.openxmlformats.org/drawingml/2006/main">
            <a:off x="571500" y="32099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21.</a:t>
            </a:r>
          </a:p>
        </p:txBody>
      </p:sp>
      <p:sp>
        <p:nvSpPr>
          <p:cNvPr id="10" name="Nanoparuro. Microswitch KW11-3Z-3F con palanca y rueda ">
            <a:extLst xmlns:a="http://schemas.openxmlformats.org/drawingml/2006/main">
              <a:ext uri="{FF2B5EF4-FFF2-40B4-BE49-F238E27FC236}">
                <a16:creationId xmlns:a16="http://schemas.microsoft.com/office/drawing/2014/main" id="{CFD8EF70-A0C0-44CB-9465-90E1AEBFC832}"/>
              </a:ext>
            </a:extLst>
          </p:cNvPr>
          <p:cNvSpPr>
            <a:spLocks xmlns:a="http://schemas.openxmlformats.org/drawingml/2006/main" noGrp="1"/>
          </p:cNvSpPr>
          <p:nvPr/>
        </p:nvSpPr>
        <p:spPr>
          <a:xfrm xmlns:a="http://schemas.openxmlformats.org/drawingml/2006/main">
            <a:off x="1057275" y="3209925"/>
            <a:ext cx="105060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Nanoparuro. Microswitch KW11-3Z-3F con palanca y rueda [Internet]. [citado 7 oct 2026].</a:t>
            </a:r>
          </a:p>
        </p:txBody>
      </p:sp>
      <p:sp>
        <p:nvSpPr>
          <p:cNvPr id="11" name="22.">
            <a:extLst xmlns:a="http://schemas.openxmlformats.org/drawingml/2006/main">
              <a:ext uri="{FF2B5EF4-FFF2-40B4-BE49-F238E27FC236}">
                <a16:creationId xmlns:a16="http://schemas.microsoft.com/office/drawing/2014/main" id="{440DD8A3-A041-4338-BBB4-11732694B3F7}"/>
              </a:ext>
            </a:extLst>
          </p:cNvPr>
          <p:cNvSpPr>
            <a:spLocks xmlns:a="http://schemas.openxmlformats.org/drawingml/2006/main" noGrp="1"/>
          </p:cNvSpPr>
          <p:nvPr/>
        </p:nvSpPr>
        <p:spPr>
          <a:xfrm xmlns:a="http://schemas.openxmlformats.org/drawingml/2006/main">
            <a:off x="571500" y="395287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22.</a:t>
            </a:r>
          </a:p>
        </p:txBody>
      </p:sp>
      <p:sp>
        <p:nvSpPr>
          <p:cNvPr id="12" name="Nanoparuro. LED blanco straw hat de 5 mm, 6000 K, Vf 3.">
            <a:extLst xmlns:a="http://schemas.openxmlformats.org/drawingml/2006/main">
              <a:ext uri="{FF2B5EF4-FFF2-40B4-BE49-F238E27FC236}">
                <a16:creationId xmlns:a16="http://schemas.microsoft.com/office/drawing/2014/main" id="{2803F6F8-8FB3-47CE-82CA-98475C587875}"/>
              </a:ext>
            </a:extLst>
          </p:cNvPr>
          <p:cNvSpPr>
            <a:spLocks xmlns:a="http://schemas.openxmlformats.org/drawingml/2006/main" noGrp="1"/>
          </p:cNvSpPr>
          <p:nvPr/>
        </p:nvSpPr>
        <p:spPr>
          <a:xfrm xmlns:a="http://schemas.openxmlformats.org/drawingml/2006/main">
            <a:off x="1057275" y="3952875"/>
            <a:ext cx="105060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Nanoparuro. LED blanco straw hat de 5 mm, 6000 K, Vf 3.2-3.4 V [Internet]. [citado 7 oct 2026].</a:t>
            </a:r>
          </a:p>
        </p:txBody>
      </p:sp>
      <p:sp>
        <p:nvSpPr>
          <p:cNvPr id="13" name="23.">
            <a:extLst xmlns:a="http://schemas.openxmlformats.org/drawingml/2006/main">
              <a:ext uri="{FF2B5EF4-FFF2-40B4-BE49-F238E27FC236}">
                <a16:creationId xmlns:a16="http://schemas.microsoft.com/office/drawing/2014/main" id="{3A347BAC-BB91-45DD-85BF-790C890933A5}"/>
              </a:ext>
            </a:extLst>
          </p:cNvPr>
          <p:cNvSpPr>
            <a:spLocks xmlns:a="http://schemas.openxmlformats.org/drawingml/2006/main" noGrp="1"/>
          </p:cNvSpPr>
          <p:nvPr/>
        </p:nvSpPr>
        <p:spPr>
          <a:xfrm xmlns:a="http://schemas.openxmlformats.org/drawingml/2006/main">
            <a:off x="571500" y="46958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23.</a:t>
            </a:r>
          </a:p>
        </p:txBody>
      </p:sp>
      <p:sp>
        <p:nvSpPr>
          <p:cNvPr id="14" name="Espressif Systems. ESP32 series datasheet [Internet]. [">
            <a:extLst xmlns:a="http://schemas.openxmlformats.org/drawingml/2006/main">
              <a:ext uri="{FF2B5EF4-FFF2-40B4-BE49-F238E27FC236}">
                <a16:creationId xmlns:a16="http://schemas.microsoft.com/office/drawing/2014/main" id="{D249BE74-C132-451D-833C-C76157A1A5BD}"/>
              </a:ext>
            </a:extLst>
          </p:cNvPr>
          <p:cNvSpPr>
            <a:spLocks xmlns:a="http://schemas.openxmlformats.org/drawingml/2006/main" noGrp="1"/>
          </p:cNvSpPr>
          <p:nvPr/>
        </p:nvSpPr>
        <p:spPr>
          <a:xfrm xmlns:a="http://schemas.openxmlformats.org/drawingml/2006/main">
            <a:off x="1057275" y="4695825"/>
            <a:ext cx="105060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Espressif Systems. ESP32 series datasheet [Internet]. [citado 7 oct 2026].</a:t>
            </a:r>
          </a:p>
        </p:txBody>
      </p:sp>
      <p:sp>
        <p:nvSpPr>
          <p:cNvPr id="15" name="24.">
            <a:extLst xmlns:a="http://schemas.openxmlformats.org/drawingml/2006/main">
              <a:ext uri="{FF2B5EF4-FFF2-40B4-BE49-F238E27FC236}">
                <a16:creationId xmlns:a16="http://schemas.microsoft.com/office/drawing/2014/main" id="{8B20E035-1497-4BD7-8496-F5F67F654016}"/>
              </a:ext>
            </a:extLst>
          </p:cNvPr>
          <p:cNvSpPr>
            <a:spLocks xmlns:a="http://schemas.openxmlformats.org/drawingml/2006/main" noGrp="1"/>
          </p:cNvSpPr>
          <p:nvPr/>
        </p:nvSpPr>
        <p:spPr>
          <a:xfrm xmlns:a="http://schemas.openxmlformats.org/drawingml/2006/main">
            <a:off x="571500" y="543877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D6240"/>
                </a:solidFill>
                <a:latin typeface="Arial"/>
                <a:ea typeface="Arial"/>
                <a:cs typeface="Arial"/>
              </a:defRPr>
            </a:defPPr>
          </a:lstStyle>
          <a:p xmlns:a="http://schemas.openxmlformats.org/drawingml/2006/main">
            <a:pPr>
              <a:defRPr sz="1650" b="1">
                <a:solidFill>
                  <a:srgbClr val="AD6240"/>
                </a:solidFill>
                <a:latin typeface="Arial"/>
                <a:ea typeface="Arial"/>
                <a:cs typeface="Arial"/>
              </a:defRPr>
            </a:pPr>
            <a:r>
              <a:rPr sz="1650" b="1">
                <a:solidFill>
                  <a:srgbClr val="AD6240"/>
                </a:solidFill>
                <a:latin typeface="Arial"/>
                <a:ea typeface="Arial"/>
                <a:cs typeface="Arial"/>
              </a:rPr>
              <a:t>24.</a:t>
            </a:r>
          </a:p>
        </p:txBody>
      </p:sp>
      <p:sp>
        <p:nvSpPr>
          <p:cNvPr id="16" name="Equipo 10. Lista de exigencias, informe del Taller 7, c">
            <a:extLst xmlns:a="http://schemas.openxmlformats.org/drawingml/2006/main">
              <a:ext uri="{FF2B5EF4-FFF2-40B4-BE49-F238E27FC236}">
                <a16:creationId xmlns:a16="http://schemas.microsoft.com/office/drawing/2014/main" id="{A0142396-B206-416F-A7AD-34046AB92D07}"/>
              </a:ext>
            </a:extLst>
          </p:cNvPr>
          <p:cNvSpPr>
            <a:spLocks xmlns:a="http://schemas.openxmlformats.org/drawingml/2006/main" noGrp="1"/>
          </p:cNvSpPr>
          <p:nvPr/>
        </p:nvSpPr>
        <p:spPr>
          <a:xfrm xmlns:a="http://schemas.openxmlformats.org/drawingml/2006/main">
            <a:off x="1057275" y="5438775"/>
            <a:ext cx="105060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73F2F"/>
                </a:solidFill>
                <a:latin typeface="Arial"/>
                <a:ea typeface="Arial"/>
                <a:cs typeface="Arial"/>
              </a:defRPr>
            </a:defPPr>
          </a:lstStyle>
          <a:p xmlns:a="http://schemas.openxmlformats.org/drawingml/2006/main">
            <a:pPr>
              <a:defRPr sz="1575" b="0">
                <a:solidFill>
                  <a:srgbClr val="173F2F"/>
                </a:solidFill>
                <a:latin typeface="Arial"/>
                <a:ea typeface="Arial"/>
                <a:cs typeface="Arial"/>
              </a:defRPr>
            </a:pPr>
            <a:r>
              <a:rPr sz="1575" b="0">
                <a:solidFill>
                  <a:srgbClr val="173F2F"/>
                </a:solidFill>
                <a:latin typeface="Arial"/>
                <a:ea typeface="Arial"/>
                <a:cs typeface="Arial"/>
              </a:rPr>
              <a:t>Equipo 10. Lista de exigencias, informe del Taller 7, componentes y documentación del aplicativo FoodScan. Fundamentos de Diseño, UPCH. Documentos internos. 2026.</a:t>
            </a:r>
          </a:p>
        </p:txBody>
      </p:sp>
    </p:spTree>
    <p:extLst>
      <p:ext uri="{BB962C8B-B14F-4D97-AF65-F5344CB8AC3E}">
        <p14:creationId xmlns:p14="http://schemas.microsoft.com/office/powerpoint/2010/main" val="4755497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2026-10-07T22:35:45.6810000Z</dcterms:created>
  <dcterms:modified xsi:type="dcterms:W3CDTF">2026-10-07T22:35:45.6810000Z</dcterms:modified>
</coreProperties>
</file>