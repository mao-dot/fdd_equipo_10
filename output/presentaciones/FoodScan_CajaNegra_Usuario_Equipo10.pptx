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af89640219473b" /><Relationship Type="http://schemas.openxmlformats.org/officeDocument/2006/relationships/extended-properties" Target="/docProps/app.xml" Id="R47c10cc22bf74679" /><Relationship Type="http://schemas.openxmlformats.org/officeDocument/2006/relationships/officeDocument" Target="/ppt/presentation.xml" Id="Ra877379d35bd4d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8728b7c5374dfe"/>
  </p:sldMasterIdLst>
  <p:notesMasterIdLst>
    <p:notesMasterId xmlns:r="http://schemas.openxmlformats.org/officeDocument/2006/relationships" r:id="R4b9c0f309bba4373"/>
  </p:notesMasterIdLst>
  <p:sldIdLst>
    <p:sldId xmlns:r="http://schemas.openxmlformats.org/officeDocument/2006/relationships" id="256" r:id="R5f52fd655ece4e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d1ae4bce7d4e84" /><Relationship Type="http://schemas.openxmlformats.org/officeDocument/2006/relationships/slideMaster" Target="/ppt/slideMasters/slideMaster1.xml" Id="R588728b7c5374dfe" /><Relationship Type="http://schemas.openxmlformats.org/officeDocument/2006/relationships/notesMaster" Target="/ppt/notesMasters/notesMaster1.xml" Id="R4b9c0f309bba4373" /><Relationship Type="http://schemas.openxmlformats.org/officeDocument/2006/relationships/presProps" Target="/ppt/presProps.xml" Id="Ra45c132f55b14226" /><Relationship Type="http://schemas.openxmlformats.org/officeDocument/2006/relationships/tableStyles" Target="/ppt/tableStyles.xml" Id="Rcf8cab77a2a64fbe" /><Relationship Type="http://schemas.openxmlformats.org/officeDocument/2006/relationships/slide" Target="/ppt/slides/slide1.xml" Id="R5f52fd655ece4e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7b2b1141a644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81503976064f12" /><Relationship Type="http://schemas.openxmlformats.org/officeDocument/2006/relationships/notesMaster" Target="/ppt/notesMasters/notesMaster1.xml" Id="R58b9f656062e4e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Límite del sistema: módulo de captura y pesaje más aplicación web. Es una caja negra funcional: no se dibujan componentes ni algoritmos dentro del bloque.</a:t>
            </a:r>
          </a:p>
          <a:p xmlns:a="http://schemas.openxmlformats.org/drawingml/2006/main">
            <a:r>
              <a:t>Materia: el usuario coloca y retira la porción y el recipiente. El sistema no modifica intencionalmente el alimento.</a:t>
            </a:r>
          </a:p>
          <a:p xmlns:a="http://schemas.openxmlformats.org/drawingml/2006/main">
            <a:r>
              <a:t>Energía: electricidad suministrada por el adaptador propuesto de 5 V / 2,4 A y por la batería del celular. El usuario conecta y enciende; la alimentación y su regulación operan después automáticamente. Se disipa calor. Las kcal del alimento son información, no electricidad entregada al usuario.</a:t>
            </a:r>
          </a:p>
          <a:p xmlns:a="http://schemas.openxmlformats.org/drawingml/2006/main">
            <a:r>
              <a:t>Señales que aporta el usuario en la web: foto, masa neta total, descripción opcional y tipo de comida. Las órdenes son analizar, modificar alimento o cantidad, cancelar el registro y confirmar el guardado. Cancelar el registro no implica afirmar que la app puede interrumpir una solicitud de IA en curso. La confirmación permite guardar, y la cancelación o salida evita confirmar ese registro.</a:t>
            </a:r>
          </a:p>
          <a:p xmlns:a="http://schemas.openxmlformats.org/drawingml/2006/main">
            <a:r>
              <a:t>Señales automáticas: respuesta de IA con identidades y proporciones, y referencia TPCA con código, nutrientes por 100 g y edición. La referencia puede estar precargada: no se afirma que exista una consulta web a TPCA en cada registro. El sistema genera solicitudes al servicio de IA, escala los nutrientes y entrega gramos, kcal, macronutrientes, fuente, estados, errores e historial. La interfaz puede informar confirmación o cancelación del registro.</a:t>
            </a:r>
          </a:p>
          <a:p xmlns:a="http://schemas.openxmlformats.org/drawingml/2006/main">
            <a:r>
              <a:t>La IA propone y el usuario revisa. El usuario puede corregir identidad y cantidad, pero no calcula manualmente cada nutriente. Se recalcula antes de guardar.</a:t>
            </a:r>
          </a:p>
          <a:p xmlns:a="http://schemas.openxmlformats.org/drawingml/2006/main">
            <a:r>
              <a:t>En el parcial, el usuario descuenta la tara en la balanza externa e ingresa un único peso neto total. El módulo integrado sigue como diseño propuesto. El flujo físico no prueba construcción ni conexión automática actual.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6a43263e5344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3ce0088d0447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7f72099b6545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c1072a9b7c46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57d9a6d152417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08e868b73846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477134-09CD-49B1-88A9-9CD2D1EF71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83AFD0E-39CB-42E5-A072-63414B6FE0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97BC9AD-12B2-48D1-98BF-0A939F94CB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A85819-520D-497B-B938-DFDA5FFA61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695893A-26BA-45F5-B154-48FD42948F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F4F02E-97AA-4FDB-A946-64A3C88D66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74C00E-A68E-4D68-ADFC-F76718600A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8114503-AB6F-4F2F-B0CE-CF045B3F2A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D89182-2508-4C94-B5A4-6C12DCD6C9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D41A46-3338-4555-892F-85809B565A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10a136bc0e473f" /><Relationship Type="http://schemas.openxmlformats.org/officeDocument/2006/relationships/slideLayout" Target="/ppt/slideLayouts/slideLayout1.xml" Id="R28533235670d4bd4" /><Relationship Type="http://schemas.openxmlformats.org/officeDocument/2006/relationships/slideLayout" Target="/ppt/slideLayouts/slideLayout2.xml" Id="R0a774b7159cd472b" /><Relationship Type="http://schemas.openxmlformats.org/officeDocument/2006/relationships/slideLayout" Target="/ppt/slideLayouts/slideLayout3.xml" Id="R7d42d49dc27a46cc" /><Relationship Type="http://schemas.openxmlformats.org/officeDocument/2006/relationships/slideLayout" Target="/ppt/slideLayouts/slideLayout4.xml" Id="R6034c87bd8a24e9c" /><Relationship Type="http://schemas.openxmlformats.org/officeDocument/2006/relationships/slideLayout" Target="/ppt/slideLayouts/slideLayout5.xml" Id="R606b9a2f9c904d2c" /><Relationship Type="http://schemas.openxmlformats.org/officeDocument/2006/relationships/slideLayout" Target="/ppt/slideLayouts/slideLayout6.xml" Id="R365a115208d94d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533235670d4bd4"/>
    <p:sldLayoutId xmlns:r="http://schemas.openxmlformats.org/officeDocument/2006/relationships" id="2147483650" r:id="R0a774b7159cd472b"/>
    <p:sldLayoutId xmlns:r="http://schemas.openxmlformats.org/officeDocument/2006/relationships" id="2147483651" r:id="R7d42d49dc27a46cc"/>
    <p:sldLayoutId xmlns:r="http://schemas.openxmlformats.org/officeDocument/2006/relationships" id="2147483652" r:id="R6034c87bd8a24e9c"/>
    <p:sldLayoutId xmlns:r="http://schemas.openxmlformats.org/officeDocument/2006/relationships" id="2147483653" r:id="R606b9a2f9c904d2c"/>
    <p:sldLayoutId xmlns:r="http://schemas.openxmlformats.org/officeDocument/2006/relationships" id="2147483654" r:id="R365a115208d94d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e58b12556407e" /><Relationship Type="http://schemas.openxmlformats.org/officeDocument/2006/relationships/notesSlide" Target="/ppt/notesSlides/notesSlide1.xml" Id="Rd65f81a21a454b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4. Caja negra">
            <a:extLst xmlns:a="http://schemas.openxmlformats.org/drawingml/2006/main">
              <a:ext uri="{FF2B5EF4-FFF2-40B4-BE49-F238E27FC236}">
                <a16:creationId xmlns:a16="http://schemas.microsoft.com/office/drawing/2014/main" id="{C7D51219-B551-42DD-8A09-9BA84916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F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F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F2F"/>
                </a:solidFill>
                <a:latin typeface="Arial"/>
                <a:ea typeface="Arial"/>
                <a:cs typeface="Arial"/>
              </a:rPr>
              <a:t>4. Caja negra</a:t>
            </a:r>
          </a:p>
        </p:txBody>
      </p:sp>
      <p:sp>
        <p:nvSpPr>
          <p:cNvPr id="2" name="Entradas y salidas del sistema, con el control del">
            <a:extLst xmlns:a="http://schemas.openxmlformats.org/drawingml/2006/main">
              <a:ext uri="{FF2B5EF4-FFF2-40B4-BE49-F238E27FC236}">
                <a16:creationId xmlns:a16="http://schemas.microsoft.com/office/drawing/2014/main" id="{D310EEA1-0F0E-457E-A6A5-5E5D2ED5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771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771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77161"/>
                </a:solidFill>
                <a:latin typeface="Arial"/>
                <a:ea typeface="Arial"/>
                <a:cs typeface="Arial"/>
              </a:rPr>
              <a:t>Entradas y salidas del sistema, con el control del usuario visible.</a:t>
            </a:r>
          </a:p>
        </p:txBody>
      </p:sp>
      <p:sp>
        <p:nvSpPr>
          <p:cNvPr id="3" name="Fuentes [16], [20], [24]. Referencias al final.">
            <a:extLst xmlns:a="http://schemas.openxmlformats.org/drawingml/2006/main">
              <a:ext uri="{FF2B5EF4-FFF2-40B4-BE49-F238E27FC236}">
                <a16:creationId xmlns:a16="http://schemas.microsoft.com/office/drawing/2014/main" id="{5A9D54E6-E954-4338-9EF1-C71B0C14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47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771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7716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77161"/>
                </a:solidFill>
                <a:latin typeface="Arial"/>
                <a:ea typeface="Arial"/>
                <a:cs typeface="Arial"/>
              </a:rPr>
              <a:t>Fuentes [16], [20], [24]. Referencias al final.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83F78C8A-9B4D-4FDB-A1F5-A3A8F5DE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5771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7716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7716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Bloque de flujo">
            <a:extLst xmlns:a="http://schemas.openxmlformats.org/drawingml/2006/main">
              <a:ext uri="{FF2B5EF4-FFF2-40B4-BE49-F238E27FC236}">
                <a16:creationId xmlns:a16="http://schemas.microsoft.com/office/drawing/2014/main" id="{143BE910-8C79-4C0B-B42D-4E6C413B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2886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6240"/>
          </a:solidFill>
          <a:ln xmlns:a="http://schemas.openxmlformats.org/drawingml/2006/main" w="0">
            <a:solidFill>
              <a:srgbClr val="AD6240"/>
            </a:solidFill>
          </a:ln>
        </p:spPr>
      </p:sp>
      <p:sp>
        <p:nvSpPr>
          <p:cNvPr id="6" name="USUARIO · interviene y decide">
            <a:extLst xmlns:a="http://schemas.openxmlformats.org/drawingml/2006/main">
              <a:ext uri="{FF2B5EF4-FFF2-40B4-BE49-F238E27FC236}">
                <a16:creationId xmlns:a16="http://schemas.microsoft.com/office/drawing/2014/main" id="{585E3956-27A2-4B8A-8C08-EBFE1D80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269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USUARIO · interviene y decide</a:t>
            </a:r>
          </a:p>
        </p:txBody>
      </p:sp>
      <p:sp>
        <p:nvSpPr>
          <p:cNvPr id="7" name="Bloque de flujo">
            <a:extLst xmlns:a="http://schemas.openxmlformats.org/drawingml/2006/main">
              <a:ext uri="{FF2B5EF4-FFF2-40B4-BE49-F238E27FC236}">
                <a16:creationId xmlns:a16="http://schemas.microsoft.com/office/drawing/2014/main" id="{E137CE9A-5543-4C73-AFA8-69EF658A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438275"/>
            <a:ext cx="3276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2F"/>
          </a:solidFill>
          <a:ln xmlns:a="http://schemas.openxmlformats.org/drawingml/2006/main" w="0">
            <a:solidFill>
              <a:srgbClr val="173F2F"/>
            </a:solidFill>
          </a:ln>
        </p:spPr>
      </p:sp>
      <p:sp>
        <p:nvSpPr>
          <p:cNvPr id="8" name="AUTOMÁTICO · sin cálculo manual">
            <a:extLst xmlns:a="http://schemas.openxmlformats.org/drawingml/2006/main">
              <a:ext uri="{FF2B5EF4-FFF2-40B4-BE49-F238E27FC236}">
                <a16:creationId xmlns:a16="http://schemas.microsoft.com/office/drawing/2014/main" id="{52911330-6705-4CFD-A406-97CE268D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49542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AUTOMÁTICO · sin cálculo manual</a:t>
            </a:r>
          </a:p>
        </p:txBody>
      </p:sp>
      <p:sp>
        <p:nvSpPr>
          <p:cNvPr id="9" name="M: materia   E: energía   S: señales">
            <a:extLst xmlns:a="http://schemas.openxmlformats.org/drawingml/2006/main">
              <a:ext uri="{FF2B5EF4-FFF2-40B4-BE49-F238E27FC236}">
                <a16:creationId xmlns:a16="http://schemas.microsoft.com/office/drawing/2014/main" id="{98214A81-C918-46F0-8610-B207C202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0495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771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771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7161"/>
                </a:solidFill>
                <a:latin typeface="Arial"/>
                <a:ea typeface="Arial"/>
                <a:cs typeface="Arial"/>
              </a:rPr>
              <a:t>M: materia   E: energía   S: señales</a:t>
            </a:r>
          </a:p>
        </p:txBody>
      </p:sp>
      <p:sp>
        <p:nvSpPr>
          <p:cNvPr id="10" name="ENTRADAS">
            <a:extLst xmlns:a="http://schemas.openxmlformats.org/drawingml/2006/main">
              <a:ext uri="{FF2B5EF4-FFF2-40B4-BE49-F238E27FC236}">
                <a16:creationId xmlns:a16="http://schemas.microsoft.com/office/drawing/2014/main" id="{890298EB-4C9D-4261-BF11-ABF1D353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3400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73F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3F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F2F"/>
                </a:solidFill>
                <a:latin typeface="Arial"/>
                <a:ea typeface="Arial"/>
                <a:cs typeface="Arial"/>
              </a:rPr>
              <a:t>ENTRADAS</a:t>
            </a:r>
          </a:p>
        </p:txBody>
      </p:sp>
      <p:sp>
        <p:nvSpPr>
          <p:cNvPr id="11" name="SALIDAS">
            <a:extLst xmlns:a="http://schemas.openxmlformats.org/drawingml/2006/main">
              <a:ext uri="{FF2B5EF4-FFF2-40B4-BE49-F238E27FC236}">
                <a16:creationId xmlns:a16="http://schemas.microsoft.com/office/drawing/2014/main" id="{5964B723-5F20-459E-B817-11F357F2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885950"/>
            <a:ext cx="3495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73F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3F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F2F"/>
                </a:solidFill>
                <a:latin typeface="Arial"/>
                <a:ea typeface="Arial"/>
                <a:cs typeface="Arial"/>
              </a:rPr>
              <a:t>SALIDAS</a:t>
            </a:r>
          </a:p>
        </p:txBody>
      </p:sp>
      <p:sp>
        <p:nvSpPr>
          <p:cNvPr id="12" name="Bloque de flujo">
            <a:extLst xmlns:a="http://schemas.openxmlformats.org/drawingml/2006/main">
              <a:ext uri="{FF2B5EF4-FFF2-40B4-BE49-F238E27FC236}">
                <a16:creationId xmlns:a16="http://schemas.microsoft.com/office/drawing/2014/main" id="{F72681D6-188B-43C3-9EAE-1EC3588D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34004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C8"/>
            </a:solidFill>
          </a:ln>
        </p:spPr>
      </p:sp>
      <p:sp>
        <p:nvSpPr>
          <p:cNvPr id="13" name="Bloque de flujo">
            <a:extLst xmlns:a="http://schemas.openxmlformats.org/drawingml/2006/main">
              <a:ext uri="{FF2B5EF4-FFF2-40B4-BE49-F238E27FC236}">
                <a16:creationId xmlns:a16="http://schemas.microsoft.com/office/drawing/2014/main" id="{F22B7E58-C2B2-4823-8107-7CEBFFDF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8548"/>
          </a:solidFill>
          <a:ln xmlns:a="http://schemas.openxmlformats.org/drawingml/2006/main" w="0">
            <a:solidFill>
              <a:srgbClr val="958548"/>
            </a:solidFill>
          </a:ln>
        </p:spPr>
      </p:sp>
      <p:sp>
        <p:nvSpPr>
          <p:cNvPr id="14" name="M · Porción y recipiente">
            <a:extLst xmlns:a="http://schemas.openxmlformats.org/drawingml/2006/main">
              <a:ext uri="{FF2B5EF4-FFF2-40B4-BE49-F238E27FC236}">
                <a16:creationId xmlns:a16="http://schemas.microsoft.com/office/drawing/2014/main" id="{53024139-D9AB-4687-BCFA-01F7B76E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312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9585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95854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58548"/>
                </a:solidFill>
                <a:latin typeface="Arial"/>
                <a:ea typeface="Arial"/>
                <a:cs typeface="Arial"/>
              </a:rPr>
              <a:t>M · Porción y recipiente</a:t>
            </a:r>
          </a:p>
        </p:txBody>
      </p:sp>
      <p:sp>
        <p:nvSpPr>
          <p:cNvPr id="15" name="Usuario: coloca y retira el alimento.">
            <a:extLst xmlns:a="http://schemas.openxmlformats.org/drawingml/2006/main">
              <a:ext uri="{FF2B5EF4-FFF2-40B4-BE49-F238E27FC236}">
                <a16:creationId xmlns:a16="http://schemas.microsoft.com/office/drawing/2014/main" id="{E68B63D7-7782-4A92-88DD-C39C8FE7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133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F2F"/>
                </a:solidFill>
                <a:latin typeface="Arial"/>
                <a:ea typeface="Arial"/>
                <a:cs typeface="Arial"/>
              </a:rPr>
              <a:t>Usuario: coloca y retira el alimento.</a:t>
            </a:r>
          </a:p>
        </p:txBody>
      </p:sp>
      <p:sp>
        <p:nvSpPr>
          <p:cNvPr id="16" name="Bloque de flujo">
            <a:extLst xmlns:a="http://schemas.openxmlformats.org/drawingml/2006/main">
              <a:ext uri="{FF2B5EF4-FFF2-40B4-BE49-F238E27FC236}">
                <a16:creationId xmlns:a16="http://schemas.microsoft.com/office/drawing/2014/main" id="{97D5A1B0-B240-49FB-A92A-A5BE6A3A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34004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C8"/>
            </a:solidFill>
          </a:ln>
        </p:spPr>
      </p:sp>
      <p:sp>
        <p:nvSpPr>
          <p:cNvPr id="17" name="Bloque de flujo">
            <a:extLst xmlns:a="http://schemas.openxmlformats.org/drawingml/2006/main">
              <a:ext uri="{FF2B5EF4-FFF2-40B4-BE49-F238E27FC236}">
                <a16:creationId xmlns:a16="http://schemas.microsoft.com/office/drawing/2014/main" id="{681D8591-7E25-445D-8EC8-0AA18517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6240"/>
          </a:solidFill>
          <a:ln xmlns:a="http://schemas.openxmlformats.org/drawingml/2006/main" w="0">
            <a:solidFill>
              <a:srgbClr val="AD6240"/>
            </a:solidFill>
          </a:ln>
        </p:spPr>
      </p:sp>
      <p:sp>
        <p:nvSpPr>
          <p:cNvPr id="18" name="E · Alimentación eléctrica">
            <a:extLst xmlns:a="http://schemas.openxmlformats.org/drawingml/2006/main">
              <a:ext uri="{FF2B5EF4-FFF2-40B4-BE49-F238E27FC236}">
                <a16:creationId xmlns:a16="http://schemas.microsoft.com/office/drawing/2014/main" id="{4051BF52-BB1D-483E-BD55-F16AEEFC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312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AD62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AD62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D6240"/>
                </a:solidFill>
                <a:latin typeface="Arial"/>
                <a:ea typeface="Arial"/>
                <a:cs typeface="Arial"/>
              </a:rPr>
              <a:t>E · Alimentación eléctrica</a:t>
            </a:r>
          </a:p>
        </p:txBody>
      </p:sp>
      <p:sp>
        <p:nvSpPr>
          <p:cNvPr id="19" name="5 V / 2,4 A + batería del celular.&#10;Usuario: conect">
            <a:extLst xmlns:a="http://schemas.openxmlformats.org/drawingml/2006/main">
              <a:ext uri="{FF2B5EF4-FFF2-40B4-BE49-F238E27FC236}">
                <a16:creationId xmlns:a16="http://schemas.microsoft.com/office/drawing/2014/main" id="{574C3B70-C924-4CE3-9BC7-19AB3A42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24225"/>
            <a:ext cx="31337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F2F"/>
                </a:solidFill>
                <a:latin typeface="Arial"/>
                <a:ea typeface="Arial"/>
                <a:cs typeface="Arial"/>
              </a:rPr>
              <a:t>5 V / 2,4 A + batería del celular.</a:t>
            </a:r>
          </a:p>
          <a:p xmlns:a="http://schemas.openxmlformats.org/drawingml/2006/main">
            <a: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F2F"/>
                </a:solidFill>
                <a:latin typeface="Arial"/>
                <a:ea typeface="Arial"/>
                <a:cs typeface="Arial"/>
              </a:rPr>
              <a:t>Usuario: conecta y enciende.</a:t>
            </a:r>
          </a:p>
        </p:txBody>
      </p:sp>
      <p:sp>
        <p:nvSpPr>
          <p:cNvPr id="20" name="Bloque de flujo">
            <a:extLst xmlns:a="http://schemas.openxmlformats.org/drawingml/2006/main">
              <a:ext uri="{FF2B5EF4-FFF2-40B4-BE49-F238E27FC236}">
                <a16:creationId xmlns:a16="http://schemas.microsoft.com/office/drawing/2014/main" id="{E66594CD-7149-4461-AC29-C4395131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3400425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C8"/>
            </a:solidFill>
          </a:ln>
        </p:spPr>
      </p:sp>
      <p:sp>
        <p:nvSpPr>
          <p:cNvPr id="21" name="Bloque de flujo">
            <a:extLst xmlns:a="http://schemas.openxmlformats.org/drawingml/2006/main">
              <a:ext uri="{FF2B5EF4-FFF2-40B4-BE49-F238E27FC236}">
                <a16:creationId xmlns:a16="http://schemas.microsoft.com/office/drawing/2014/main" id="{66A5C437-5024-46C2-81B0-827359C9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47625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D88"/>
          </a:solidFill>
          <a:ln xmlns:a="http://schemas.openxmlformats.org/drawingml/2006/main" w="0">
            <a:solidFill>
              <a:srgbClr val="486D88"/>
            </a:solidFill>
          </a:ln>
        </p:spPr>
      </p:sp>
      <p:sp>
        <p:nvSpPr>
          <p:cNvPr id="22" name="S · Datos y órdenes de la web">
            <a:extLst xmlns:a="http://schemas.openxmlformats.org/drawingml/2006/main">
              <a:ext uri="{FF2B5EF4-FFF2-40B4-BE49-F238E27FC236}">
                <a16:creationId xmlns:a16="http://schemas.microsoft.com/office/drawing/2014/main" id="{B9C4A024-40FF-4BB7-BB6C-52CBB019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312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486D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486D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86D88"/>
                </a:solidFill>
                <a:latin typeface="Arial"/>
                <a:ea typeface="Arial"/>
                <a:cs typeface="Arial"/>
              </a:rPr>
              <a:t>S · Datos y órdenes de la web</a:t>
            </a:r>
          </a:p>
        </p:txBody>
      </p:sp>
      <p:sp>
        <p:nvSpPr>
          <p:cNvPr id="23" name="USUARIO">
            <a:extLst xmlns:a="http://schemas.openxmlformats.org/drawingml/2006/main">
              <a:ext uri="{FF2B5EF4-FFF2-40B4-BE49-F238E27FC236}">
                <a16:creationId xmlns:a16="http://schemas.microsoft.com/office/drawing/2014/main" id="{DBB6D036-76AE-4E57-B640-836AA2C7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3133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AD62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AD62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D6240"/>
                </a:solidFill>
                <a:latin typeface="Arial"/>
                <a:ea typeface="Arial"/>
                <a:cs typeface="Arial"/>
              </a:rPr>
              <a:t>USUARIO</a:t>
            </a:r>
          </a:p>
        </p:txBody>
      </p:sp>
      <p:sp>
        <p:nvSpPr>
          <p:cNvPr id="24" name="Foto, peso, descripción y comida.&#10;Analizar y modif">
            <a:extLst xmlns:a="http://schemas.openxmlformats.org/drawingml/2006/main">
              <a:ext uri="{FF2B5EF4-FFF2-40B4-BE49-F238E27FC236}">
                <a16:creationId xmlns:a16="http://schemas.microsoft.com/office/drawing/2014/main" id="{12B92309-9032-4D9D-80CC-BBBD7134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31337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F2F"/>
                </a:solidFill>
                <a:latin typeface="Arial"/>
                <a:ea typeface="Arial"/>
                <a:cs typeface="Arial"/>
              </a:rPr>
              <a:t>Foto, peso, descripción y comida.</a:t>
            </a:r>
          </a:p>
          <a:p xmlns:a="http://schemas.openxmlformats.org/drawingml/2006/main">
            <a: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F2F"/>
                </a:solidFill>
                <a:latin typeface="Arial"/>
                <a:ea typeface="Arial"/>
                <a:cs typeface="Arial"/>
              </a:rPr>
              <a:t>Analizar y modificar alimento/masa.</a:t>
            </a:r>
          </a:p>
          <a:p xmlns:a="http://schemas.openxmlformats.org/drawingml/2006/main">
            <a: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F2F"/>
                </a:solidFill>
                <a:latin typeface="Arial"/>
                <a:ea typeface="Arial"/>
                <a:cs typeface="Arial"/>
              </a:rPr>
              <a:t>Cancelar registro o confirmar.</a:t>
            </a:r>
          </a:p>
        </p:txBody>
      </p:sp>
      <p:sp>
        <p:nvSpPr>
          <p:cNvPr id="25" name="AUTOMÁTICO">
            <a:extLst xmlns:a="http://schemas.openxmlformats.org/drawingml/2006/main">
              <a:ext uri="{FF2B5EF4-FFF2-40B4-BE49-F238E27FC236}">
                <a16:creationId xmlns:a16="http://schemas.microsoft.com/office/drawing/2014/main" id="{A8887F31-78C7-46C3-8DE9-7FBE7C75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2075"/>
            <a:ext cx="3133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73F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F2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F2F"/>
                </a:solidFill>
                <a:latin typeface="Arial"/>
                <a:ea typeface="Arial"/>
                <a:cs typeface="Arial"/>
              </a:rPr>
              <a:t>AUTOMÁTICO</a:t>
            </a:r>
          </a:p>
        </p:txBody>
      </p:sp>
      <p:sp>
        <p:nvSpPr>
          <p:cNvPr id="26" name="Identidades y proporciones de IA.&#10;TPCA: código y n">
            <a:extLst xmlns:a="http://schemas.openxmlformats.org/drawingml/2006/main">
              <a:ext uri="{FF2B5EF4-FFF2-40B4-BE49-F238E27FC236}">
                <a16:creationId xmlns:a16="http://schemas.microsoft.com/office/drawing/2014/main" id="{FABDEC63-B4C8-45FE-AFC6-73A883D1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133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F2F"/>
                </a:solidFill>
                <a:latin typeface="Arial"/>
                <a:ea typeface="Arial"/>
                <a:cs typeface="Arial"/>
              </a:rPr>
              <a:t>Identidades y proporciones de IA.</a:t>
            </a:r>
          </a:p>
          <a:p xmlns:a="http://schemas.openxmlformats.org/drawingml/2006/main">
            <a: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F2F"/>
                </a:solidFill>
                <a:latin typeface="Arial"/>
                <a:ea typeface="Arial"/>
                <a:cs typeface="Arial"/>
              </a:rPr>
              <a:t>TPCA: código y nutrientes/100 g.</a:t>
            </a:r>
          </a:p>
        </p:txBody>
      </p:sp>
      <p:sp>
        <p:nvSpPr>
          <p:cNvPr id="27" name="Bloque de flujo">
            <a:extLst xmlns:a="http://schemas.openxmlformats.org/drawingml/2006/main">
              <a:ext uri="{FF2B5EF4-FFF2-40B4-BE49-F238E27FC236}">
                <a16:creationId xmlns:a16="http://schemas.microsoft.com/office/drawing/2014/main" id="{F2B4F165-D3AF-464B-BDAC-BAD8498D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38375"/>
            <a:ext cx="3429000" cy="3705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2F"/>
          </a:solidFill>
          <a:ln xmlns:a="http://schemas.openxmlformats.org/drawingml/2006/main" w="0">
            <a:solidFill>
              <a:srgbClr val="173F2F"/>
            </a:solidFill>
          </a:ln>
        </p:spPr>
      </p:sp>
      <p:sp>
        <p:nvSpPr>
          <p:cNvPr id="28" name="Bloque de flujo">
            <a:extLst xmlns:a="http://schemas.openxmlformats.org/drawingml/2006/main">
              <a:ext uri="{FF2B5EF4-FFF2-40B4-BE49-F238E27FC236}">
                <a16:creationId xmlns:a16="http://schemas.microsoft.com/office/drawing/2014/main" id="{2D229F39-47FD-4D92-B0EE-95234FCE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52675"/>
            <a:ext cx="32004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A392"/>
            </a:solidFill>
          </a:ln>
        </p:spPr>
      </p:sp>
      <p:sp>
        <p:nvSpPr>
          <p:cNvPr id="29" name="FoodScan">
            <a:extLst xmlns:a="http://schemas.openxmlformats.org/drawingml/2006/main">
              <a:ext uri="{FF2B5EF4-FFF2-40B4-BE49-F238E27FC236}">
                <a16:creationId xmlns:a16="http://schemas.microsoft.com/office/drawing/2014/main" id="{30DD6695-F9D1-472C-AFE1-35B9C52D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FoodScan</a:t>
            </a:r>
          </a:p>
        </p:txBody>
      </p:sp>
      <p:sp>
        <p:nvSpPr>
          <p:cNvPr id="30" name="Módulo + aplicación web">
            <a:extLst xmlns:a="http://schemas.openxmlformats.org/drawingml/2006/main">
              <a:ext uri="{FF2B5EF4-FFF2-40B4-BE49-F238E27FC236}">
                <a16:creationId xmlns:a16="http://schemas.microsoft.com/office/drawing/2014/main" id="{B004D763-3ACE-4D28-91C9-0E280998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76575"/>
            <a:ext cx="2895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C7D8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C7D8C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7D8CB"/>
                </a:solidFill>
                <a:latin typeface="Arial"/>
                <a:ea typeface="Arial"/>
                <a:cs typeface="Arial"/>
              </a:rPr>
              <a:t>Módulo + aplicación web</a:t>
            </a:r>
          </a:p>
        </p:txBody>
      </p:sp>
      <p:sp>
        <p:nvSpPr>
          <p:cNvPr id="31" name="FUNCIÓN GLOBAL">
            <a:extLst xmlns:a="http://schemas.openxmlformats.org/drawingml/2006/main">
              <a:ext uri="{FF2B5EF4-FFF2-40B4-BE49-F238E27FC236}">
                <a16:creationId xmlns:a16="http://schemas.microsoft.com/office/drawing/2014/main" id="{30501B24-9D97-45CE-A000-8AACD261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48075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C7D8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7D8C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D8CB"/>
                </a:solidFill>
                <a:latin typeface="Arial"/>
                <a:ea typeface="Arial"/>
                <a:cs typeface="Arial"/>
              </a:rPr>
              <a:t>FUNCIÓN GLOBAL</a:t>
            </a:r>
          </a:p>
        </p:txBody>
      </p:sp>
      <p:sp>
        <p:nvSpPr>
          <p:cNvPr id="32" name="Transformar alimento,&#10;cantidad y referencia&#10;en dat">
            <a:extLst xmlns:a="http://schemas.openxmlformats.org/drawingml/2006/main">
              <a:ext uri="{FF2B5EF4-FFF2-40B4-BE49-F238E27FC236}">
                <a16:creationId xmlns:a16="http://schemas.microsoft.com/office/drawing/2014/main" id="{D339EB7C-017C-49BE-B5C6-1990344A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57650"/>
            <a:ext cx="2895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Transformar alimento,</a:t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cantidad y referencia</a:t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 datos nutricionales</a:t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trazables de la porción.</a:t>
            </a:r>
          </a:p>
        </p:txBody>
      </p:sp>
      <p:sp>
        <p:nvSpPr>
          <p:cNvPr id="33" name="Bloque de flujo">
            <a:extLst xmlns:a="http://schemas.openxmlformats.org/drawingml/2006/main">
              <a:ext uri="{FF2B5EF4-FFF2-40B4-BE49-F238E27FC236}">
                <a16:creationId xmlns:a16="http://schemas.microsoft.com/office/drawing/2014/main" id="{A8350000-F7AB-421A-9399-856C64D1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38375"/>
            <a:ext cx="3495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C8"/>
            </a:solidFill>
          </a:ln>
        </p:spPr>
      </p:sp>
      <p:sp>
        <p:nvSpPr>
          <p:cNvPr id="34" name="Bloque de flujo">
            <a:extLst xmlns:a="http://schemas.openxmlformats.org/drawingml/2006/main">
              <a:ext uri="{FF2B5EF4-FFF2-40B4-BE49-F238E27FC236}">
                <a16:creationId xmlns:a16="http://schemas.microsoft.com/office/drawing/2014/main" id="{972E6033-FEEF-4516-B197-CB15D3D3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38375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8548"/>
          </a:solidFill>
          <a:ln xmlns:a="http://schemas.openxmlformats.org/drawingml/2006/main" w="0">
            <a:solidFill>
              <a:srgbClr val="958548"/>
            </a:solidFill>
          </a:ln>
        </p:spPr>
      </p:sp>
      <p:sp>
        <p:nvSpPr>
          <p:cNvPr id="35" name="M · Porción y recipiente">
            <a:extLst xmlns:a="http://schemas.openxmlformats.org/drawingml/2006/main">
              <a:ext uri="{FF2B5EF4-FFF2-40B4-BE49-F238E27FC236}">
                <a16:creationId xmlns:a16="http://schemas.microsoft.com/office/drawing/2014/main" id="{DA7FE10A-E259-4E12-A111-D5D5FFB5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343150"/>
            <a:ext cx="3219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9585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95854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58548"/>
                </a:solidFill>
                <a:latin typeface="Arial"/>
                <a:ea typeface="Arial"/>
                <a:cs typeface="Arial"/>
              </a:rPr>
              <a:t>M · Porción y recipiente</a:t>
            </a:r>
          </a:p>
        </p:txBody>
      </p:sp>
      <p:sp>
        <p:nvSpPr>
          <p:cNvPr id="36" name="Sin modificación intencional.">
            <a:extLst xmlns:a="http://schemas.openxmlformats.org/drawingml/2006/main">
              <a:ext uri="{FF2B5EF4-FFF2-40B4-BE49-F238E27FC236}">
                <a16:creationId xmlns:a16="http://schemas.microsoft.com/office/drawing/2014/main" id="{6E31E598-8AC4-4803-ABC7-7EA4935F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571750"/>
            <a:ext cx="3228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F2F"/>
                </a:solidFill>
                <a:latin typeface="Arial"/>
                <a:ea typeface="Arial"/>
                <a:cs typeface="Arial"/>
              </a:rPr>
              <a:t>Sin modificación intencional.</a:t>
            </a:r>
          </a:p>
        </p:txBody>
      </p:sp>
      <p:sp>
        <p:nvSpPr>
          <p:cNvPr id="37" name="Bloque de flujo">
            <a:extLst xmlns:a="http://schemas.openxmlformats.org/drawingml/2006/main">
              <a:ext uri="{FF2B5EF4-FFF2-40B4-BE49-F238E27FC236}">
                <a16:creationId xmlns:a16="http://schemas.microsoft.com/office/drawing/2014/main" id="{1114D123-F6DF-45EB-A503-4F8B3040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90850"/>
            <a:ext cx="3495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C8"/>
            </a:solidFill>
          </a:ln>
        </p:spPr>
      </p:sp>
      <p:sp>
        <p:nvSpPr>
          <p:cNvPr id="38" name="Bloque de flujo">
            <a:extLst xmlns:a="http://schemas.openxmlformats.org/drawingml/2006/main">
              <a:ext uri="{FF2B5EF4-FFF2-40B4-BE49-F238E27FC236}">
                <a16:creationId xmlns:a16="http://schemas.microsoft.com/office/drawing/2014/main" id="{A8AA97C9-0EAF-4AFC-8439-2A3229F7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908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6240"/>
          </a:solidFill>
          <a:ln xmlns:a="http://schemas.openxmlformats.org/drawingml/2006/main" w="0">
            <a:solidFill>
              <a:srgbClr val="AD6240"/>
            </a:solidFill>
          </a:ln>
        </p:spPr>
      </p:sp>
      <p:sp>
        <p:nvSpPr>
          <p:cNvPr id="39" name="E · Calor disipado">
            <a:extLst xmlns:a="http://schemas.openxmlformats.org/drawingml/2006/main">
              <a:ext uri="{FF2B5EF4-FFF2-40B4-BE49-F238E27FC236}">
                <a16:creationId xmlns:a16="http://schemas.microsoft.com/office/drawing/2014/main" id="{C0D2A4F0-7F24-4174-B375-E5E4931C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95625"/>
            <a:ext cx="3219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AD62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AD62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D6240"/>
                </a:solidFill>
                <a:latin typeface="Arial"/>
                <a:ea typeface="Arial"/>
                <a:cs typeface="Arial"/>
              </a:rPr>
              <a:t>E · Calor disipado</a:t>
            </a:r>
          </a:p>
        </p:txBody>
      </p:sp>
      <p:sp>
        <p:nvSpPr>
          <p:cNvPr id="40" name="Disipación durante el funcionamiento.&#10;Automático, ">
            <a:extLst xmlns:a="http://schemas.openxmlformats.org/drawingml/2006/main">
              <a:ext uri="{FF2B5EF4-FFF2-40B4-BE49-F238E27FC236}">
                <a16:creationId xmlns:a16="http://schemas.microsoft.com/office/drawing/2014/main" id="{DAE841B4-6A48-4EDA-B9DD-C3367EDE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324225"/>
            <a:ext cx="3228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F2F"/>
                </a:solidFill>
                <a:latin typeface="Arial"/>
                <a:ea typeface="Arial"/>
                <a:cs typeface="Arial"/>
              </a:rPr>
              <a:t>Disipación durante el funcionamiento.</a:t>
            </a:r>
          </a:p>
          <a:p xmlns:a="http://schemas.openxmlformats.org/drawingml/2006/main">
            <a: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F2F"/>
                </a:solidFill>
                <a:latin typeface="Arial"/>
                <a:ea typeface="Arial"/>
                <a:cs typeface="Arial"/>
              </a:rPr>
              <a:t>Automático, sin intervención.</a:t>
            </a:r>
          </a:p>
        </p:txBody>
      </p:sp>
      <p:sp>
        <p:nvSpPr>
          <p:cNvPr id="41" name="Bloque de flujo">
            <a:extLst xmlns:a="http://schemas.openxmlformats.org/drawingml/2006/main">
              <a:ext uri="{FF2B5EF4-FFF2-40B4-BE49-F238E27FC236}">
                <a16:creationId xmlns:a16="http://schemas.microsoft.com/office/drawing/2014/main" id="{63347FD5-9276-4D84-A212-2C552501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838575"/>
            <a:ext cx="3495675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C8"/>
            </a:solidFill>
          </a:ln>
        </p:spPr>
      </p:sp>
      <p:sp>
        <p:nvSpPr>
          <p:cNvPr id="42" name="Bloque de flujo">
            <a:extLst xmlns:a="http://schemas.openxmlformats.org/drawingml/2006/main">
              <a:ext uri="{FF2B5EF4-FFF2-40B4-BE49-F238E27FC236}">
                <a16:creationId xmlns:a16="http://schemas.microsoft.com/office/drawing/2014/main" id="{7DF3D683-0E5A-46B8-A901-80CDEDCB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838575"/>
            <a:ext cx="47625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D88"/>
          </a:solidFill>
          <a:ln xmlns:a="http://schemas.openxmlformats.org/drawingml/2006/main" w="0">
            <a:solidFill>
              <a:srgbClr val="486D88"/>
            </a:solidFill>
          </a:ln>
        </p:spPr>
      </p:sp>
      <p:sp>
        <p:nvSpPr>
          <p:cNvPr id="43" name="S · Información y estados">
            <a:extLst xmlns:a="http://schemas.openxmlformats.org/drawingml/2006/main">
              <a:ext uri="{FF2B5EF4-FFF2-40B4-BE49-F238E27FC236}">
                <a16:creationId xmlns:a16="http://schemas.microsoft.com/office/drawing/2014/main" id="{5AB1A9F5-12E5-48CA-9F67-BD65A16D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943350"/>
            <a:ext cx="3219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486D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486D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86D88"/>
                </a:solidFill>
                <a:latin typeface="Arial"/>
                <a:ea typeface="Arial"/>
                <a:cs typeface="Arial"/>
              </a:rPr>
              <a:t>S · Información y estados</a:t>
            </a:r>
          </a:p>
        </p:txBody>
      </p:sp>
      <p:sp>
        <p:nvSpPr>
          <p:cNvPr id="44" name="AUTOMÁTICO">
            <a:extLst xmlns:a="http://schemas.openxmlformats.org/drawingml/2006/main">
              <a:ext uri="{FF2B5EF4-FFF2-40B4-BE49-F238E27FC236}">
                <a16:creationId xmlns:a16="http://schemas.microsoft.com/office/drawing/2014/main" id="{0B563D32-4285-4CF7-941E-8CA4B9D1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181475"/>
            <a:ext cx="3228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73F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F2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F2F"/>
                </a:solidFill>
                <a:latin typeface="Arial"/>
                <a:ea typeface="Arial"/>
                <a:cs typeface="Arial"/>
              </a:rPr>
              <a:t>AUTOMÁTICO</a:t>
            </a:r>
          </a:p>
        </p:txBody>
      </p:sp>
      <p:sp>
        <p:nvSpPr>
          <p:cNvPr id="45" name="Solicitud de análisis a IA.&#10;g, kcal y macros con f">
            <a:extLst xmlns:a="http://schemas.openxmlformats.org/drawingml/2006/main">
              <a:ext uri="{FF2B5EF4-FFF2-40B4-BE49-F238E27FC236}">
                <a16:creationId xmlns:a16="http://schemas.microsoft.com/office/drawing/2014/main" id="{C8632027-16A9-4A79-8E4E-594A98D0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410075"/>
            <a:ext cx="32289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F2F"/>
                </a:solidFill>
                <a:latin typeface="Arial"/>
                <a:ea typeface="Arial"/>
                <a:cs typeface="Arial"/>
              </a:rPr>
              <a:t>Solicitud de análisis a IA.</a:t>
            </a:r>
          </a:p>
          <a:p xmlns:a="http://schemas.openxmlformats.org/drawingml/2006/main">
            <a: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F2F"/>
                </a:solidFill>
                <a:latin typeface="Arial"/>
                <a:ea typeface="Arial"/>
                <a:cs typeface="Arial"/>
              </a:rPr>
              <a:t>g, kcal y macros con fuente.</a:t>
            </a:r>
          </a:p>
          <a:p xmlns:a="http://schemas.openxmlformats.org/drawingml/2006/main">
            <a: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F2F"/>
                </a:solidFill>
                <a:latin typeface="Arial"/>
                <a:ea typeface="Arial"/>
                <a:cs typeface="Arial"/>
              </a:rPr>
              <a:t>Estado, errores e historial.</a:t>
            </a:r>
          </a:p>
          <a:p xmlns:a="http://schemas.openxmlformats.org/drawingml/2006/main">
            <a: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F2F"/>
                </a:solidFill>
                <a:latin typeface="Arial"/>
                <a:ea typeface="Arial"/>
                <a:cs typeface="Arial"/>
              </a:rPr>
              <a:t>Confirmación o cancelación.</a:t>
            </a:r>
          </a:p>
        </p:txBody>
      </p:sp>
      <p:sp>
        <p:nvSpPr>
          <p:cNvPr id="46" name="USUARIO">
            <a:extLst xmlns:a="http://schemas.openxmlformats.org/drawingml/2006/main">
              <a:ext uri="{FF2B5EF4-FFF2-40B4-BE49-F238E27FC236}">
                <a16:creationId xmlns:a16="http://schemas.microsoft.com/office/drawing/2014/main" id="{EA80F146-F04C-439E-8037-5B1CC84F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391150"/>
            <a:ext cx="3228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AD62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AD62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D6240"/>
                </a:solidFill>
                <a:latin typeface="Arial"/>
                <a:ea typeface="Arial"/>
                <a:cs typeface="Arial"/>
              </a:rPr>
              <a:t>USUARIO</a:t>
            </a:r>
          </a:p>
        </p:txBody>
      </p:sp>
      <p:sp>
        <p:nvSpPr>
          <p:cNvPr id="47" name="Revisa y corrige. Confirma o cancela.">
            <a:extLst xmlns:a="http://schemas.openxmlformats.org/drawingml/2006/main">
              <a:ext uri="{FF2B5EF4-FFF2-40B4-BE49-F238E27FC236}">
                <a16:creationId xmlns:a16="http://schemas.microsoft.com/office/drawing/2014/main" id="{231E97CE-1362-4562-9818-1BCA70ED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629275"/>
            <a:ext cx="3228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88" b="0">
                <a:solidFill>
                  <a:srgbClr val="173F2F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F2F"/>
                </a:solidFill>
                <a:latin typeface="Arial"/>
                <a:ea typeface="Arial"/>
                <a:cs typeface="Arial"/>
              </a:rPr>
              <a:t>Revisa y corrige. Confirma o cancela.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7AD1B3-95E8-4380-BB9E-B73ED7BD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125" y="2528888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8548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A3A209-AC2D-425B-9503-3E8FA345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00525" y="2495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58548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BED79A1-E485-475F-9625-1D1DF75B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7175" y="2528888"/>
            <a:ext cx="857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8548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D4AFEC-CC52-44B0-883C-AED340EB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43850" y="2495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58548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5B2FF13-B3A4-4321-B10F-FCD970B6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125" y="3328988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6240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B86563-6AD3-4A55-843F-908EBA86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00525" y="32956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D6240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151582-0FF6-4C11-BDFC-3971F84E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7175" y="3328988"/>
            <a:ext cx="857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6240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07FAEBC-EBAB-450E-8D08-1609B70A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43850" y="32956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D6240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4A0CCB1-97F3-45C9-ACF5-9A2DADA5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125" y="4852988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D88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BAF9F4-CB59-4409-8F6B-71A33ECF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00525" y="48196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86D88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E9978DE-BA5E-4F9D-B74D-63E9F64F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7175" y="4852988"/>
            <a:ext cx="857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D88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C0505A3-1496-4002-AE8B-0B368496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43850" y="48196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86D88"/>
          </a:solidFill>
          <a:ln xmlns:a="http://schemas.openxmlformats.org/drawingml/2006/main" w="0">
            <a:noFill/>
          </a:ln>
        </p:spPr>
      </p:sp>
      <p:sp>
        <p:nvSpPr>
          <p:cNvPr id="60" name="En el parcial, el usuario ingresa el peso neto de ">
            <a:extLst xmlns:a="http://schemas.openxmlformats.org/drawingml/2006/main">
              <a:ext uri="{FF2B5EF4-FFF2-40B4-BE49-F238E27FC236}">
                <a16:creationId xmlns:a16="http://schemas.microsoft.com/office/drawing/2014/main" id="{9517854E-DF5E-4D8C-95B2-4E6BA19D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05525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AD62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AD62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D6240"/>
                </a:solidFill>
                <a:latin typeface="Arial"/>
                <a:ea typeface="Arial"/>
                <a:cs typeface="Arial"/>
              </a:rPr>
              <a:t>En el parcial, el usuario ingresa el peso neto de la balanza externa. La consulta y el cálculo son automáticos.</a:t>
            </a:r>
          </a:p>
        </p:txBody>
      </p:sp>
    </p:spTree>
    <p:extLst>
      <p:ext uri="{BB962C8B-B14F-4D97-AF65-F5344CB8AC3E}">
        <p14:creationId xmlns:p14="http://schemas.microsoft.com/office/powerpoint/2010/main" val="277423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2026-10-08T00:45:28.7990000Z</dcterms:created>
  <dcterms:modified xsi:type="dcterms:W3CDTF">2026-10-08T00:45:28.7990000Z</dcterms:modified>
</coreProperties>
</file>